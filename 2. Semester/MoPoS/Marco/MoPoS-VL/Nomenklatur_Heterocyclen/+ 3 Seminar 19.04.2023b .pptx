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g"/>
  <Default Extension="png" ContentType="image/pn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85"/>
  </p:notesMasterIdLst>
  <p:sldIdLst>
    <p:sldId id="256" r:id="rId2"/>
    <p:sldId id="259" r:id="rId3"/>
    <p:sldId id="260" r:id="rId4"/>
    <p:sldId id="261" r:id="rId5"/>
    <p:sldId id="262" r:id="rId6"/>
    <p:sldId id="263" r:id="rId7"/>
    <p:sldId id="264" r:id="rId8"/>
    <p:sldId id="265" r:id="rId9"/>
    <p:sldId id="273" r:id="rId10"/>
    <p:sldId id="281" r:id="rId11"/>
    <p:sldId id="283" r:id="rId12"/>
    <p:sldId id="285" r:id="rId13"/>
    <p:sldId id="284" r:id="rId14"/>
    <p:sldId id="278" r:id="rId15"/>
    <p:sldId id="279" r:id="rId16"/>
    <p:sldId id="286" r:id="rId17"/>
    <p:sldId id="307" r:id="rId18"/>
    <p:sldId id="282" r:id="rId19"/>
    <p:sldId id="266" r:id="rId20"/>
    <p:sldId id="274" r:id="rId21"/>
    <p:sldId id="287" r:id="rId22"/>
    <p:sldId id="275" r:id="rId23"/>
    <p:sldId id="288" r:id="rId24"/>
    <p:sldId id="289" r:id="rId25"/>
    <p:sldId id="339" r:id="rId26"/>
    <p:sldId id="290" r:id="rId27"/>
    <p:sldId id="291" r:id="rId28"/>
    <p:sldId id="292" r:id="rId29"/>
    <p:sldId id="293" r:id="rId30"/>
    <p:sldId id="294" r:id="rId31"/>
    <p:sldId id="295" r:id="rId32"/>
    <p:sldId id="296" r:id="rId33"/>
    <p:sldId id="297" r:id="rId34"/>
    <p:sldId id="298" r:id="rId35"/>
    <p:sldId id="313" r:id="rId36"/>
    <p:sldId id="311" r:id="rId37"/>
    <p:sldId id="300" r:id="rId38"/>
    <p:sldId id="312" r:id="rId39"/>
    <p:sldId id="299" r:id="rId40"/>
    <p:sldId id="301" r:id="rId41"/>
    <p:sldId id="277" r:id="rId42"/>
    <p:sldId id="302" r:id="rId43"/>
    <p:sldId id="268" r:id="rId44"/>
    <p:sldId id="269" r:id="rId45"/>
    <p:sldId id="270" r:id="rId46"/>
    <p:sldId id="271" r:id="rId47"/>
    <p:sldId id="272" r:id="rId48"/>
    <p:sldId id="276" r:id="rId49"/>
    <p:sldId id="258" r:id="rId50"/>
    <p:sldId id="303" r:id="rId51"/>
    <p:sldId id="304" r:id="rId52"/>
    <p:sldId id="305" r:id="rId53"/>
    <p:sldId id="306" r:id="rId54"/>
    <p:sldId id="308" r:id="rId55"/>
    <p:sldId id="309" r:id="rId56"/>
    <p:sldId id="345" r:id="rId57"/>
    <p:sldId id="310" r:id="rId58"/>
    <p:sldId id="333" r:id="rId59"/>
    <p:sldId id="352" r:id="rId60"/>
    <p:sldId id="334" r:id="rId61"/>
    <p:sldId id="335" r:id="rId62"/>
    <p:sldId id="316" r:id="rId63"/>
    <p:sldId id="317" r:id="rId64"/>
    <p:sldId id="346" r:id="rId65"/>
    <p:sldId id="319" r:id="rId66"/>
    <p:sldId id="341" r:id="rId67"/>
    <p:sldId id="353" r:id="rId68"/>
    <p:sldId id="321" r:id="rId69"/>
    <p:sldId id="323" r:id="rId70"/>
    <p:sldId id="347" r:id="rId71"/>
    <p:sldId id="342" r:id="rId72"/>
    <p:sldId id="343" r:id="rId73"/>
    <p:sldId id="325" r:id="rId74"/>
    <p:sldId id="338" r:id="rId75"/>
    <p:sldId id="354" r:id="rId76"/>
    <p:sldId id="348" r:id="rId77"/>
    <p:sldId id="327" r:id="rId78"/>
    <p:sldId id="329" r:id="rId79"/>
    <p:sldId id="331" r:id="rId80"/>
    <p:sldId id="349" r:id="rId81"/>
    <p:sldId id="336" r:id="rId82"/>
    <p:sldId id="344" r:id="rId83"/>
    <p:sldId id="351" r:id="rId8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7853C-536D-4A76-A0AE-DD22124D55A5}" styleName="Стиль из темы 1 - акцент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8799B23B-EC83-4686-B30A-512413B5E67A}" styleName="Светлый стиль 3 — акцент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Светлый стиль 1 — акцент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5620"/>
    <p:restoredTop sz="88889" autoAdjust="0"/>
  </p:normalViewPr>
  <p:slideViewPr>
    <p:cSldViewPr snapToGrid="0">
      <p:cViewPr>
        <p:scale>
          <a:sx n="60" d="100"/>
          <a:sy n="60" d="100"/>
        </p:scale>
        <p:origin x="1287" y="243"/>
      </p:cViewPr>
      <p:guideLst/>
    </p:cSldViewPr>
  </p:slideViewPr>
  <p:notesTextViewPr>
    <p:cViewPr>
      <p:scale>
        <a:sx n="1" d="1"/>
        <a:sy n="1" d="1"/>
      </p:scale>
      <p:origin x="0" y="0"/>
    </p:cViewPr>
  </p:notesTextViewPr>
  <p:sorterViewPr>
    <p:cViewPr>
      <p:scale>
        <a:sx n="110" d="100"/>
        <a:sy n="110" d="100"/>
      </p:scale>
      <p:origin x="0" y="-38736"/>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tableStyles" Target="tableStyle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1.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07.e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156.emf"/><Relationship Id="rId1" Type="http://schemas.openxmlformats.org/officeDocument/2006/relationships/image" Target="../media/image155.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57.e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159.emf"/><Relationship Id="rId1" Type="http://schemas.openxmlformats.org/officeDocument/2006/relationships/image" Target="../media/image158.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60.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62.e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164.emf"/><Relationship Id="rId1" Type="http://schemas.openxmlformats.org/officeDocument/2006/relationships/image" Target="../media/image163.e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205.emf"/><Relationship Id="rId2" Type="http://schemas.openxmlformats.org/officeDocument/2006/relationships/image" Target="../media/image204.emf"/><Relationship Id="rId1" Type="http://schemas.openxmlformats.org/officeDocument/2006/relationships/image" Target="../media/image203.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210.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217.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229.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238.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7E1F43E-DECC-4502-B469-37DA2D5F347A}" type="datetimeFigureOut">
              <a:rPr lang="en-GB" smtClean="0"/>
              <a:t>23/04/2023</a:t>
            </a:fld>
            <a:endParaRPr lang="en-GB"/>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GB"/>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41B13D-778D-478C-B4BF-1CC34C88EC1F}" type="slidenum">
              <a:rPr lang="en-GB" smtClean="0"/>
              <a:t>‹#›</a:t>
            </a:fld>
            <a:endParaRPr lang="en-GB"/>
          </a:p>
        </p:txBody>
      </p:sp>
    </p:spTree>
    <p:extLst>
      <p:ext uri="{BB962C8B-B14F-4D97-AF65-F5344CB8AC3E}">
        <p14:creationId xmlns:p14="http://schemas.microsoft.com/office/powerpoint/2010/main" val="21297327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3" Type="http://schemas.openxmlformats.org/officeDocument/2006/relationships/hyperlink" Target="https://www.masterorganicchemistry.com/glossary/cis/" TargetMode="External"/><Relationship Id="rId2" Type="http://schemas.openxmlformats.org/officeDocument/2006/relationships/slide" Target="../slides/slide71.xml"/><Relationship Id="rId1" Type="http://schemas.openxmlformats.org/officeDocument/2006/relationships/notesMaster" Target="../notesMasters/notesMaster1.xml"/><Relationship Id="rId6" Type="http://schemas.openxmlformats.org/officeDocument/2006/relationships/hyperlink" Target="https://www.masterorganicchemistry.com/glossary/angle-strain/" TargetMode="External"/><Relationship Id="rId5" Type="http://schemas.openxmlformats.org/officeDocument/2006/relationships/hyperlink" Target="https://www.masterorganicchemistry.com/2014/08/14/bridged-bicyclic-compounds-and-how-to-name-them/#notetwo" TargetMode="External"/><Relationship Id="rId4" Type="http://schemas.openxmlformats.org/officeDocument/2006/relationships/hyperlink" Target="https://www.masterorganicchemistry.com/glossary/trans/" TargetMode="Externa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en-GB" dirty="0"/>
              <a:t>Allow me to introduce myself.</a:t>
            </a:r>
          </a:p>
          <a:p>
            <a:r>
              <a:rPr lang="en-GB" dirty="0"/>
              <a:t>I am Marina Kornet, I am a visiting professor here.</a:t>
            </a:r>
          </a:p>
          <a:p>
            <a:r>
              <a:rPr lang="en-GB" dirty="0"/>
              <a:t>Today is my first such experience, so I will be extremely grateful for your support and help.</a:t>
            </a:r>
          </a:p>
          <a:p>
            <a:r>
              <a:rPr lang="en-GB" dirty="0"/>
              <a:t>Today we have an enough important topic for the seminar - the nomenclature of organic compounds.</a:t>
            </a:r>
          </a:p>
        </p:txBody>
      </p:sp>
      <p:sp>
        <p:nvSpPr>
          <p:cNvPr id="4" name="Номер слайда 3"/>
          <p:cNvSpPr>
            <a:spLocks noGrp="1"/>
          </p:cNvSpPr>
          <p:nvPr>
            <p:ph type="sldNum" sz="quarter" idx="5"/>
          </p:nvPr>
        </p:nvSpPr>
        <p:spPr/>
        <p:txBody>
          <a:bodyPr/>
          <a:lstStyle/>
          <a:p>
            <a:fld id="{8541B13D-778D-478C-B4BF-1CC34C88EC1F}" type="slidenum">
              <a:rPr lang="en-GB" smtClean="0"/>
              <a:t>1</a:t>
            </a:fld>
            <a:endParaRPr lang="en-GB"/>
          </a:p>
        </p:txBody>
      </p:sp>
    </p:spTree>
    <p:extLst>
      <p:ext uri="{BB962C8B-B14F-4D97-AF65-F5344CB8AC3E}">
        <p14:creationId xmlns:p14="http://schemas.microsoft.com/office/powerpoint/2010/main" val="29971904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en-GB" dirty="0"/>
              <a:t>On this slide, you can see additional resources related to this topic.</a:t>
            </a:r>
          </a:p>
        </p:txBody>
      </p:sp>
      <p:sp>
        <p:nvSpPr>
          <p:cNvPr id="4" name="Номер слайда 3"/>
          <p:cNvSpPr>
            <a:spLocks noGrp="1"/>
          </p:cNvSpPr>
          <p:nvPr>
            <p:ph type="sldNum" sz="quarter" idx="5"/>
          </p:nvPr>
        </p:nvSpPr>
        <p:spPr/>
        <p:txBody>
          <a:bodyPr/>
          <a:lstStyle/>
          <a:p>
            <a:fld id="{8541B13D-778D-478C-B4BF-1CC34C88EC1F}" type="slidenum">
              <a:rPr lang="en-GB" smtClean="0"/>
              <a:t>2</a:t>
            </a:fld>
            <a:endParaRPr lang="en-GB"/>
          </a:p>
        </p:txBody>
      </p:sp>
    </p:spTree>
    <p:extLst>
      <p:ext uri="{BB962C8B-B14F-4D97-AF65-F5344CB8AC3E}">
        <p14:creationId xmlns:p14="http://schemas.microsoft.com/office/powerpoint/2010/main" val="35465409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en-GB" dirty="0"/>
              <a:t>Before we begin, let's remember what heterocycles are and why they are so important to us.</a:t>
            </a:r>
            <a:r>
              <a:rPr lang="uk-UA" dirty="0"/>
              <a:t> </a:t>
            </a:r>
          </a:p>
          <a:p>
            <a:r>
              <a:rPr lang="en-GB" dirty="0"/>
              <a:t>I'm sure you understand the word hetero, which means different, quite clearly. And in our case, it is the presence of other atoms in the cycle, except carbon.</a:t>
            </a:r>
            <a:endParaRPr lang="uk-UA" dirty="0"/>
          </a:p>
          <a:p>
            <a:endParaRPr lang="uk-UA" dirty="0"/>
          </a:p>
          <a:p>
            <a:r>
              <a:rPr lang="en-GB" dirty="0" err="1"/>
              <a:t>Sulfur</a:t>
            </a:r>
            <a:r>
              <a:rPr lang="uk-UA" dirty="0"/>
              <a:t> (</a:t>
            </a:r>
            <a:r>
              <a:rPr lang="uk-UA" dirty="0" err="1"/>
              <a:t>салфа</a:t>
            </a:r>
            <a:r>
              <a:rPr lang="uk-UA" dirty="0"/>
              <a:t>)</a:t>
            </a:r>
            <a:endParaRPr lang="en-GB" dirty="0"/>
          </a:p>
        </p:txBody>
      </p:sp>
      <p:sp>
        <p:nvSpPr>
          <p:cNvPr id="4" name="Номер слайда 3"/>
          <p:cNvSpPr>
            <a:spLocks noGrp="1"/>
          </p:cNvSpPr>
          <p:nvPr>
            <p:ph type="sldNum" sz="quarter" idx="5"/>
          </p:nvPr>
        </p:nvSpPr>
        <p:spPr/>
        <p:txBody>
          <a:bodyPr/>
          <a:lstStyle/>
          <a:p>
            <a:fld id="{8541B13D-778D-478C-B4BF-1CC34C88EC1F}" type="slidenum">
              <a:rPr lang="en-GB" smtClean="0"/>
              <a:t>3</a:t>
            </a:fld>
            <a:endParaRPr lang="en-GB"/>
          </a:p>
        </p:txBody>
      </p:sp>
    </p:spTree>
    <p:extLst>
      <p:ext uri="{BB962C8B-B14F-4D97-AF65-F5344CB8AC3E}">
        <p14:creationId xmlns:p14="http://schemas.microsoft.com/office/powerpoint/2010/main" val="38904629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en-GB" dirty="0" err="1"/>
              <a:t>zylon</a:t>
            </a:r>
            <a:r>
              <a:rPr lang="en-GB" dirty="0"/>
              <a:t> – </a:t>
            </a:r>
            <a:r>
              <a:rPr lang="uk-UA" dirty="0" err="1"/>
              <a:t>зайлен</a:t>
            </a:r>
            <a:endParaRPr lang="en-GB" dirty="0"/>
          </a:p>
          <a:p>
            <a:r>
              <a:rPr lang="en-GB" dirty="0"/>
              <a:t>flame retardant material – </a:t>
            </a:r>
            <a:r>
              <a:rPr lang="uk-UA" dirty="0"/>
              <a:t>флейм </a:t>
            </a:r>
            <a:r>
              <a:rPr lang="uk-UA" dirty="0" err="1"/>
              <a:t>ретартед</a:t>
            </a:r>
            <a:r>
              <a:rPr lang="uk-UA" dirty="0"/>
              <a:t> </a:t>
            </a:r>
            <a:r>
              <a:rPr lang="uk-UA" dirty="0" err="1"/>
              <a:t>матіріал</a:t>
            </a:r>
            <a:endParaRPr lang="en-GB" dirty="0"/>
          </a:p>
        </p:txBody>
      </p:sp>
      <p:sp>
        <p:nvSpPr>
          <p:cNvPr id="4" name="Номер слайда 3"/>
          <p:cNvSpPr>
            <a:spLocks noGrp="1"/>
          </p:cNvSpPr>
          <p:nvPr>
            <p:ph type="sldNum" sz="quarter" idx="5"/>
          </p:nvPr>
        </p:nvSpPr>
        <p:spPr/>
        <p:txBody>
          <a:bodyPr/>
          <a:lstStyle/>
          <a:p>
            <a:fld id="{8541B13D-778D-478C-B4BF-1CC34C88EC1F}" type="slidenum">
              <a:rPr lang="en-GB" smtClean="0"/>
              <a:t>4</a:t>
            </a:fld>
            <a:endParaRPr lang="en-GB"/>
          </a:p>
        </p:txBody>
      </p:sp>
    </p:spTree>
    <p:extLst>
      <p:ext uri="{BB962C8B-B14F-4D97-AF65-F5344CB8AC3E}">
        <p14:creationId xmlns:p14="http://schemas.microsoft.com/office/powerpoint/2010/main" val="41122652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en-GB" dirty="0"/>
              <a:t>Tetrahydrothiophene</a:t>
            </a:r>
            <a:r>
              <a:rPr lang="uk-UA" dirty="0"/>
              <a:t> – </a:t>
            </a:r>
            <a:r>
              <a:rPr lang="uk-UA" dirty="0" err="1"/>
              <a:t>тетрагайдросайофін</a:t>
            </a:r>
            <a:endParaRPr lang="uk-UA" dirty="0"/>
          </a:p>
          <a:p>
            <a:r>
              <a:rPr lang="uk-UA" dirty="0" err="1"/>
              <a:t>Нікатін</a:t>
            </a:r>
            <a:r>
              <a:rPr lang="uk-UA" dirty="0"/>
              <a:t>, </a:t>
            </a:r>
            <a:r>
              <a:rPr lang="uk-UA" dirty="0" err="1"/>
              <a:t>кафеїн</a:t>
            </a:r>
            <a:endParaRPr lang="uk-UA" dirty="0"/>
          </a:p>
          <a:p>
            <a:r>
              <a:rPr lang="en-GB" dirty="0"/>
              <a:t>Theobromine</a:t>
            </a:r>
            <a:r>
              <a:rPr lang="uk-UA" dirty="0"/>
              <a:t> – </a:t>
            </a:r>
            <a:r>
              <a:rPr lang="uk-UA" dirty="0" err="1"/>
              <a:t>зе</a:t>
            </a:r>
            <a:r>
              <a:rPr lang="ru-RU" dirty="0"/>
              <a:t>й</a:t>
            </a:r>
            <a:r>
              <a:rPr lang="uk-UA" dirty="0" err="1"/>
              <a:t>обромайн</a:t>
            </a:r>
            <a:endParaRPr lang="uk-UA" dirty="0"/>
          </a:p>
          <a:p>
            <a:r>
              <a:rPr lang="en-GB" dirty="0"/>
              <a:t>morphine, ergotamine, </a:t>
            </a:r>
            <a:r>
              <a:rPr lang="en-GB" dirty="0" err="1"/>
              <a:t>piperine</a:t>
            </a:r>
            <a:r>
              <a:rPr lang="uk-UA" dirty="0"/>
              <a:t> – </a:t>
            </a:r>
            <a:r>
              <a:rPr lang="uk-UA" dirty="0" err="1"/>
              <a:t>моофін</a:t>
            </a:r>
            <a:r>
              <a:rPr lang="uk-UA" dirty="0"/>
              <a:t>, ерготамін, </a:t>
            </a:r>
            <a:r>
              <a:rPr lang="uk-UA" dirty="0" err="1"/>
              <a:t>пайперін</a:t>
            </a:r>
            <a:endParaRPr lang="en-GB" dirty="0"/>
          </a:p>
          <a:p>
            <a:endParaRPr lang="en-GB" dirty="0"/>
          </a:p>
        </p:txBody>
      </p:sp>
      <p:sp>
        <p:nvSpPr>
          <p:cNvPr id="4" name="Номер слайда 3"/>
          <p:cNvSpPr>
            <a:spLocks noGrp="1"/>
          </p:cNvSpPr>
          <p:nvPr>
            <p:ph type="sldNum" sz="quarter" idx="5"/>
          </p:nvPr>
        </p:nvSpPr>
        <p:spPr/>
        <p:txBody>
          <a:bodyPr/>
          <a:lstStyle/>
          <a:p>
            <a:fld id="{8541B13D-778D-478C-B4BF-1CC34C88EC1F}" type="slidenum">
              <a:rPr lang="en-GB" smtClean="0"/>
              <a:t>5</a:t>
            </a:fld>
            <a:endParaRPr lang="en-GB"/>
          </a:p>
        </p:txBody>
      </p:sp>
    </p:spTree>
    <p:extLst>
      <p:ext uri="{BB962C8B-B14F-4D97-AF65-F5344CB8AC3E}">
        <p14:creationId xmlns:p14="http://schemas.microsoft.com/office/powerpoint/2010/main" val="16396034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en-GB" dirty="0"/>
              <a:t>Give your attention to this moment.</a:t>
            </a:r>
          </a:p>
        </p:txBody>
      </p:sp>
      <p:sp>
        <p:nvSpPr>
          <p:cNvPr id="4" name="Номер слайда 3"/>
          <p:cNvSpPr>
            <a:spLocks noGrp="1"/>
          </p:cNvSpPr>
          <p:nvPr>
            <p:ph type="sldNum" sz="quarter" idx="5"/>
          </p:nvPr>
        </p:nvSpPr>
        <p:spPr/>
        <p:txBody>
          <a:bodyPr/>
          <a:lstStyle/>
          <a:p>
            <a:fld id="{8541B13D-778D-478C-B4BF-1CC34C88EC1F}" type="slidenum">
              <a:rPr lang="en-GB" smtClean="0"/>
              <a:t>7</a:t>
            </a:fld>
            <a:endParaRPr lang="en-GB"/>
          </a:p>
        </p:txBody>
      </p:sp>
    </p:spTree>
    <p:extLst>
      <p:ext uri="{BB962C8B-B14F-4D97-AF65-F5344CB8AC3E}">
        <p14:creationId xmlns:p14="http://schemas.microsoft.com/office/powerpoint/2010/main" val="358653115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uk-UA" dirty="0" err="1"/>
              <a:t>Піпередин</a:t>
            </a:r>
            <a:r>
              <a:rPr lang="uk-UA" dirty="0"/>
              <a:t>, </a:t>
            </a:r>
            <a:r>
              <a:rPr lang="uk-UA" dirty="0" err="1"/>
              <a:t>пірідін</a:t>
            </a:r>
            <a:r>
              <a:rPr lang="uk-UA" dirty="0"/>
              <a:t>, </a:t>
            </a:r>
            <a:r>
              <a:rPr lang="uk-UA" dirty="0" err="1"/>
              <a:t>піперазін</a:t>
            </a:r>
            <a:r>
              <a:rPr lang="uk-UA" dirty="0"/>
              <a:t>, </a:t>
            </a:r>
            <a:r>
              <a:rPr lang="uk-UA" dirty="0" err="1"/>
              <a:t>пайролідін</a:t>
            </a:r>
            <a:endParaRPr lang="en-GB" dirty="0"/>
          </a:p>
        </p:txBody>
      </p:sp>
      <p:sp>
        <p:nvSpPr>
          <p:cNvPr id="4" name="Номер слайда 3"/>
          <p:cNvSpPr>
            <a:spLocks noGrp="1"/>
          </p:cNvSpPr>
          <p:nvPr>
            <p:ph type="sldNum" sz="quarter" idx="5"/>
          </p:nvPr>
        </p:nvSpPr>
        <p:spPr/>
        <p:txBody>
          <a:bodyPr/>
          <a:lstStyle/>
          <a:p>
            <a:fld id="{8541B13D-778D-478C-B4BF-1CC34C88EC1F}" type="slidenum">
              <a:rPr lang="en-GB" smtClean="0"/>
              <a:t>8</a:t>
            </a:fld>
            <a:endParaRPr lang="en-GB"/>
          </a:p>
        </p:txBody>
      </p:sp>
    </p:spTree>
    <p:extLst>
      <p:ext uri="{BB962C8B-B14F-4D97-AF65-F5344CB8AC3E}">
        <p14:creationId xmlns:p14="http://schemas.microsoft.com/office/powerpoint/2010/main" val="4241050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en-GB" dirty="0"/>
              <a:t>So, now we focus directly on our topic.</a:t>
            </a:r>
            <a:endParaRPr lang="uk-UA" dirty="0"/>
          </a:p>
          <a:p>
            <a:r>
              <a:rPr lang="en-GB" dirty="0"/>
              <a:t>We officially use three systems of rules for naming cycles.</a:t>
            </a:r>
          </a:p>
        </p:txBody>
      </p:sp>
      <p:sp>
        <p:nvSpPr>
          <p:cNvPr id="4" name="Номер слайда 3"/>
          <p:cNvSpPr>
            <a:spLocks noGrp="1"/>
          </p:cNvSpPr>
          <p:nvPr>
            <p:ph type="sldNum" sz="quarter" idx="5"/>
          </p:nvPr>
        </p:nvSpPr>
        <p:spPr/>
        <p:txBody>
          <a:bodyPr/>
          <a:lstStyle/>
          <a:p>
            <a:fld id="{8541B13D-778D-478C-B4BF-1CC34C88EC1F}" type="slidenum">
              <a:rPr lang="en-GB" smtClean="0"/>
              <a:t>10</a:t>
            </a:fld>
            <a:endParaRPr lang="en-GB"/>
          </a:p>
        </p:txBody>
      </p:sp>
    </p:spTree>
    <p:extLst>
      <p:ext uri="{BB962C8B-B14F-4D97-AF65-F5344CB8AC3E}">
        <p14:creationId xmlns:p14="http://schemas.microsoft.com/office/powerpoint/2010/main" val="1526696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uk-UA" dirty="0" err="1"/>
              <a:t>Пайролей</a:t>
            </a:r>
            <a:r>
              <a:rPr lang="uk-UA" dirty="0"/>
              <a:t> (</a:t>
            </a:r>
            <a:r>
              <a:rPr lang="uk-UA" dirty="0" err="1"/>
              <a:t>азол</a:t>
            </a:r>
            <a:r>
              <a:rPr lang="uk-UA" dirty="0"/>
              <a:t>)</a:t>
            </a:r>
            <a:r>
              <a:rPr lang="en-GB" dirty="0"/>
              <a:t>, </a:t>
            </a:r>
            <a:r>
              <a:rPr lang="uk-UA" dirty="0" err="1"/>
              <a:t>ф,ююрен</a:t>
            </a:r>
            <a:r>
              <a:rPr lang="uk-UA" dirty="0"/>
              <a:t> (</a:t>
            </a:r>
            <a:r>
              <a:rPr lang="uk-UA" dirty="0" err="1"/>
              <a:t>оксолей</a:t>
            </a:r>
            <a:r>
              <a:rPr lang="uk-UA" dirty="0"/>
              <a:t>), </a:t>
            </a:r>
            <a:r>
              <a:rPr lang="uk-UA" dirty="0" err="1"/>
              <a:t>сайосін</a:t>
            </a:r>
            <a:r>
              <a:rPr lang="uk-UA" dirty="0"/>
              <a:t> </a:t>
            </a:r>
            <a:r>
              <a:rPr lang="en-GB" dirty="0"/>
              <a:t>(</a:t>
            </a:r>
            <a:r>
              <a:rPr lang="uk-UA" dirty="0" err="1"/>
              <a:t>сайолей</a:t>
            </a:r>
            <a:r>
              <a:rPr lang="uk-UA" dirty="0"/>
              <a:t>)</a:t>
            </a:r>
            <a:r>
              <a:rPr lang="en-GB" dirty="0"/>
              <a:t>, </a:t>
            </a:r>
            <a:r>
              <a:rPr lang="uk-UA" dirty="0" err="1"/>
              <a:t>імеедазол</a:t>
            </a:r>
            <a:r>
              <a:rPr lang="uk-UA" dirty="0"/>
              <a:t> (ван, сри, </a:t>
            </a:r>
            <a:r>
              <a:rPr lang="uk-UA" dirty="0" err="1"/>
              <a:t>дайазол</a:t>
            </a:r>
            <a:endParaRPr lang="en-GB" dirty="0"/>
          </a:p>
          <a:p>
            <a:r>
              <a:rPr lang="uk-UA" dirty="0" err="1"/>
              <a:t>Піредин</a:t>
            </a:r>
            <a:r>
              <a:rPr lang="en-GB" dirty="0"/>
              <a:t> (</a:t>
            </a:r>
            <a:r>
              <a:rPr lang="uk-UA" dirty="0" err="1"/>
              <a:t>езіін</a:t>
            </a:r>
            <a:r>
              <a:rPr lang="uk-UA" dirty="0"/>
              <a:t>), ту </a:t>
            </a:r>
            <a:r>
              <a:rPr lang="uk-UA" dirty="0" err="1"/>
              <a:t>ейч</a:t>
            </a:r>
            <a:r>
              <a:rPr lang="uk-UA" dirty="0"/>
              <a:t> </a:t>
            </a:r>
            <a:r>
              <a:rPr lang="uk-UA" dirty="0" err="1"/>
              <a:t>пайрон</a:t>
            </a:r>
            <a:r>
              <a:rPr lang="uk-UA" dirty="0"/>
              <a:t> (</a:t>
            </a:r>
            <a:r>
              <a:rPr lang="uk-UA" dirty="0" err="1"/>
              <a:t>оксіін</a:t>
            </a:r>
            <a:r>
              <a:rPr lang="uk-UA" dirty="0"/>
              <a:t>)</a:t>
            </a:r>
            <a:r>
              <a:rPr lang="en-GB" dirty="0"/>
              <a:t>? </a:t>
            </a:r>
            <a:r>
              <a:rPr lang="uk-UA" dirty="0"/>
              <a:t>Ту </a:t>
            </a:r>
            <a:r>
              <a:rPr lang="uk-UA" dirty="0" err="1"/>
              <a:t>ейч</a:t>
            </a:r>
            <a:r>
              <a:rPr lang="uk-UA" dirty="0"/>
              <a:t> </a:t>
            </a:r>
            <a:r>
              <a:rPr lang="uk-UA" dirty="0" err="1"/>
              <a:t>сіопайрен</a:t>
            </a:r>
            <a:r>
              <a:rPr lang="en-GB" dirty="0"/>
              <a:t> (cii</a:t>
            </a:r>
            <a:r>
              <a:rPr lang="uk-UA" dirty="0"/>
              <a:t>н)</a:t>
            </a:r>
            <a:endParaRPr lang="en-GB" dirty="0"/>
          </a:p>
          <a:p>
            <a:endParaRPr lang="en-GB" dirty="0"/>
          </a:p>
          <a:p>
            <a:r>
              <a:rPr lang="uk-UA" dirty="0" err="1"/>
              <a:t>Пайролідін</a:t>
            </a:r>
            <a:r>
              <a:rPr lang="uk-UA" dirty="0"/>
              <a:t> </a:t>
            </a:r>
            <a:r>
              <a:rPr lang="en-GB" dirty="0"/>
              <a:t>(</a:t>
            </a:r>
            <a:r>
              <a:rPr lang="uk-UA" dirty="0" err="1"/>
              <a:t>езооліідін</a:t>
            </a:r>
            <a:r>
              <a:rPr lang="uk-UA" dirty="0"/>
              <a:t>), </a:t>
            </a:r>
            <a:r>
              <a:rPr lang="uk-UA" dirty="0" err="1"/>
              <a:t>піперідін</a:t>
            </a:r>
            <a:r>
              <a:rPr lang="uk-UA" dirty="0"/>
              <a:t> (</a:t>
            </a:r>
            <a:r>
              <a:rPr lang="uk-UA" dirty="0" err="1"/>
              <a:t>азіідін</a:t>
            </a:r>
            <a:r>
              <a:rPr lang="uk-UA" dirty="0"/>
              <a:t>)</a:t>
            </a:r>
            <a:r>
              <a:rPr lang="en-GB" dirty="0"/>
              <a:t>?  </a:t>
            </a:r>
            <a:r>
              <a:rPr lang="uk-UA" dirty="0" err="1"/>
              <a:t>Моофолін</a:t>
            </a:r>
            <a:r>
              <a:rPr lang="uk-UA" dirty="0"/>
              <a:t> </a:t>
            </a:r>
            <a:r>
              <a:rPr lang="en-GB" dirty="0"/>
              <a:t>(</a:t>
            </a:r>
            <a:r>
              <a:rPr lang="uk-UA" dirty="0" err="1"/>
              <a:t>оксазенейн</a:t>
            </a:r>
            <a:r>
              <a:rPr lang="uk-UA" dirty="0"/>
              <a:t>) </a:t>
            </a:r>
            <a:r>
              <a:rPr lang="uk-UA" dirty="0" err="1"/>
              <a:t>пірідазін</a:t>
            </a:r>
            <a:r>
              <a:rPr lang="uk-UA" dirty="0"/>
              <a:t> (</a:t>
            </a:r>
            <a:r>
              <a:rPr lang="uk-UA" dirty="0" err="1"/>
              <a:t>дайазін</a:t>
            </a:r>
            <a:r>
              <a:rPr lang="uk-UA" dirty="0"/>
              <a:t>) </a:t>
            </a:r>
            <a:r>
              <a:rPr lang="en-GB" dirty="0"/>
              <a:t>? </a:t>
            </a:r>
            <a:r>
              <a:rPr lang="uk-UA" dirty="0" err="1"/>
              <a:t>Пірімідін</a:t>
            </a:r>
            <a:r>
              <a:rPr lang="uk-UA" dirty="0"/>
              <a:t>, </a:t>
            </a:r>
            <a:r>
              <a:rPr lang="uk-UA" dirty="0" err="1"/>
              <a:t>піразін</a:t>
            </a:r>
            <a:endParaRPr lang="uk-UA" dirty="0"/>
          </a:p>
          <a:p>
            <a:endParaRPr lang="en-GB" dirty="0"/>
          </a:p>
        </p:txBody>
      </p:sp>
      <p:sp>
        <p:nvSpPr>
          <p:cNvPr id="4" name="Номер слайда 3"/>
          <p:cNvSpPr>
            <a:spLocks noGrp="1"/>
          </p:cNvSpPr>
          <p:nvPr>
            <p:ph type="sldNum" sz="quarter" idx="5"/>
          </p:nvPr>
        </p:nvSpPr>
        <p:spPr/>
        <p:txBody>
          <a:bodyPr/>
          <a:lstStyle/>
          <a:p>
            <a:fld id="{8541B13D-778D-478C-B4BF-1CC34C88EC1F}" type="slidenum">
              <a:rPr lang="en-GB" smtClean="0"/>
              <a:t>11</a:t>
            </a:fld>
            <a:endParaRPr lang="en-GB"/>
          </a:p>
        </p:txBody>
      </p:sp>
    </p:spTree>
    <p:extLst>
      <p:ext uri="{BB962C8B-B14F-4D97-AF65-F5344CB8AC3E}">
        <p14:creationId xmlns:p14="http://schemas.microsoft.com/office/powerpoint/2010/main" val="9297980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en-GB" dirty="0"/>
              <a:t>On this slide</a:t>
            </a:r>
            <a:r>
              <a:rPr lang="uk-UA" dirty="0"/>
              <a:t> </a:t>
            </a:r>
            <a:r>
              <a:rPr lang="en-GB" dirty="0"/>
              <a:t>and next, I have made an exhaustive list of trivial names accepted by the IUPAC. </a:t>
            </a:r>
          </a:p>
        </p:txBody>
      </p:sp>
      <p:sp>
        <p:nvSpPr>
          <p:cNvPr id="4" name="Номер слайда 3"/>
          <p:cNvSpPr>
            <a:spLocks noGrp="1"/>
          </p:cNvSpPr>
          <p:nvPr>
            <p:ph type="sldNum" sz="quarter" idx="5"/>
          </p:nvPr>
        </p:nvSpPr>
        <p:spPr/>
        <p:txBody>
          <a:bodyPr/>
          <a:lstStyle/>
          <a:p>
            <a:fld id="{8541B13D-778D-478C-B4BF-1CC34C88EC1F}" type="slidenum">
              <a:rPr lang="en-GB" smtClean="0"/>
              <a:t>14</a:t>
            </a:fld>
            <a:endParaRPr lang="en-GB"/>
          </a:p>
        </p:txBody>
      </p:sp>
    </p:spTree>
    <p:extLst>
      <p:ext uri="{BB962C8B-B14F-4D97-AF65-F5344CB8AC3E}">
        <p14:creationId xmlns:p14="http://schemas.microsoft.com/office/powerpoint/2010/main" val="190836402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en-GB" dirty="0"/>
              <a:t>Now I suggest you check how carefully you listened to Professor Müller's lecture. Please go to the </a:t>
            </a:r>
            <a:r>
              <a:rPr lang="en-GB" dirty="0" err="1"/>
              <a:t>kr</a:t>
            </a:r>
            <a:r>
              <a:rPr lang="en-GB" dirty="0"/>
              <a:t>-code and try to pass a short test. We can immediately see the course of its results.</a:t>
            </a:r>
          </a:p>
        </p:txBody>
      </p:sp>
      <p:sp>
        <p:nvSpPr>
          <p:cNvPr id="4" name="Номер слайда 3"/>
          <p:cNvSpPr>
            <a:spLocks noGrp="1"/>
          </p:cNvSpPr>
          <p:nvPr>
            <p:ph type="sldNum" sz="quarter" idx="5"/>
          </p:nvPr>
        </p:nvSpPr>
        <p:spPr/>
        <p:txBody>
          <a:bodyPr/>
          <a:lstStyle/>
          <a:p>
            <a:fld id="{8541B13D-778D-478C-B4BF-1CC34C88EC1F}" type="slidenum">
              <a:rPr lang="en-GB" smtClean="0"/>
              <a:t>16</a:t>
            </a:fld>
            <a:endParaRPr lang="en-GB"/>
          </a:p>
        </p:txBody>
      </p:sp>
    </p:spTree>
    <p:extLst>
      <p:ext uri="{BB962C8B-B14F-4D97-AF65-F5344CB8AC3E}">
        <p14:creationId xmlns:p14="http://schemas.microsoft.com/office/powerpoint/2010/main" val="100444201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en-GB" dirty="0"/>
              <a:t>Today there will be more theory, I understand it's boring. I promise more real examples in the next seminar. Why do you need it?</a:t>
            </a:r>
            <a:endParaRPr lang="uk-UA" dirty="0"/>
          </a:p>
          <a:p>
            <a:endParaRPr lang="en-GB" dirty="0"/>
          </a:p>
        </p:txBody>
      </p:sp>
      <p:sp>
        <p:nvSpPr>
          <p:cNvPr id="4" name="Номер слайда 3"/>
          <p:cNvSpPr>
            <a:spLocks noGrp="1"/>
          </p:cNvSpPr>
          <p:nvPr>
            <p:ph type="sldNum" sz="quarter" idx="5"/>
          </p:nvPr>
        </p:nvSpPr>
        <p:spPr/>
        <p:txBody>
          <a:bodyPr/>
          <a:lstStyle/>
          <a:p>
            <a:fld id="{8541B13D-778D-478C-B4BF-1CC34C88EC1F}" type="slidenum">
              <a:rPr lang="en-GB" smtClean="0"/>
              <a:t>18</a:t>
            </a:fld>
            <a:endParaRPr lang="en-GB"/>
          </a:p>
        </p:txBody>
      </p:sp>
    </p:spTree>
    <p:extLst>
      <p:ext uri="{BB962C8B-B14F-4D97-AF65-F5344CB8AC3E}">
        <p14:creationId xmlns:p14="http://schemas.microsoft.com/office/powerpoint/2010/main" val="423197328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en-GB" dirty="0"/>
          </a:p>
        </p:txBody>
      </p:sp>
      <p:sp>
        <p:nvSpPr>
          <p:cNvPr id="4" name="Номер слайда 3"/>
          <p:cNvSpPr>
            <a:spLocks noGrp="1"/>
          </p:cNvSpPr>
          <p:nvPr>
            <p:ph type="sldNum" sz="quarter" idx="5"/>
          </p:nvPr>
        </p:nvSpPr>
        <p:spPr/>
        <p:txBody>
          <a:bodyPr/>
          <a:lstStyle/>
          <a:p>
            <a:fld id="{8541B13D-778D-478C-B4BF-1CC34C88EC1F}" type="slidenum">
              <a:rPr lang="en-GB" smtClean="0"/>
              <a:t>20</a:t>
            </a:fld>
            <a:endParaRPr lang="en-GB"/>
          </a:p>
        </p:txBody>
      </p:sp>
    </p:spTree>
    <p:extLst>
      <p:ext uri="{BB962C8B-B14F-4D97-AF65-F5344CB8AC3E}">
        <p14:creationId xmlns:p14="http://schemas.microsoft.com/office/powerpoint/2010/main" val="29863583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latin typeface="Times New Roman"/>
                <a:cs typeface="Times New Roman"/>
              </a:rPr>
              <a:t>Among the three </a:t>
            </a:r>
            <a:r>
              <a:rPr lang="en-GB" sz="1200" spc="-5" dirty="0" err="1">
                <a:latin typeface="Times New Roman"/>
                <a:cs typeface="Times New Roman"/>
              </a:rPr>
              <a:t>regio</a:t>
            </a:r>
            <a:r>
              <a:rPr lang="en-GB" sz="1200" spc="-5" dirty="0">
                <a:latin typeface="Times New Roman"/>
                <a:cs typeface="Times New Roman"/>
              </a:rPr>
              <a:t>-isomers </a:t>
            </a:r>
            <a:r>
              <a:rPr lang="en-GB" sz="1200" dirty="0">
                <a:latin typeface="Times New Roman"/>
                <a:cs typeface="Times New Roman"/>
              </a:rPr>
              <a:t>of </a:t>
            </a:r>
            <a:r>
              <a:rPr lang="en-GB" sz="1200" spc="-5" dirty="0">
                <a:latin typeface="Times New Roman"/>
                <a:cs typeface="Times New Roman"/>
              </a:rPr>
              <a:t>azole (common name: </a:t>
            </a:r>
            <a:r>
              <a:rPr lang="en-GB" sz="1200" spc="-635" dirty="0">
                <a:latin typeface="Times New Roman"/>
                <a:cs typeface="Times New Roman"/>
              </a:rPr>
              <a:t> </a:t>
            </a:r>
            <a:r>
              <a:rPr lang="en-GB" sz="1200" spc="-5" dirty="0">
                <a:latin typeface="Times New Roman"/>
                <a:cs typeface="Times New Roman"/>
              </a:rPr>
              <a:t>pyrrole), </a:t>
            </a:r>
            <a:r>
              <a:rPr lang="en-GB" sz="1200" dirty="0">
                <a:latin typeface="Times New Roman"/>
                <a:cs typeface="Times New Roman"/>
              </a:rPr>
              <a:t>which </a:t>
            </a:r>
            <a:r>
              <a:rPr lang="en-GB" sz="1200" spc="-5" dirty="0">
                <a:latin typeface="Times New Roman"/>
                <a:cs typeface="Times New Roman"/>
              </a:rPr>
              <a:t>is </a:t>
            </a:r>
            <a:r>
              <a:rPr lang="en-GB" sz="1200" dirty="0">
                <a:latin typeface="Times New Roman"/>
                <a:cs typeface="Times New Roman"/>
              </a:rPr>
              <a:t>the </a:t>
            </a:r>
            <a:r>
              <a:rPr lang="en-GB" sz="1200" spc="-5" dirty="0">
                <a:latin typeface="Times New Roman"/>
                <a:cs typeface="Times New Roman"/>
              </a:rPr>
              <a:t>most stable? </a:t>
            </a:r>
            <a:r>
              <a:rPr lang="en-GB" sz="1200" spc="-5" dirty="0">
                <a:solidFill>
                  <a:srgbClr val="00AF50"/>
                </a:solidFill>
                <a:latin typeface="Times New Roman"/>
                <a:cs typeface="Times New Roman"/>
              </a:rPr>
              <a:t>Refer </a:t>
            </a:r>
            <a:r>
              <a:rPr lang="en-GB" sz="1200" dirty="0">
                <a:solidFill>
                  <a:srgbClr val="00AF50"/>
                </a:solidFill>
                <a:latin typeface="Times New Roman"/>
                <a:cs typeface="Times New Roman"/>
              </a:rPr>
              <a:t>to the </a:t>
            </a:r>
            <a:r>
              <a:rPr lang="en-GB" sz="1200" spc="-5" dirty="0">
                <a:solidFill>
                  <a:srgbClr val="00AF50"/>
                </a:solidFill>
                <a:latin typeface="Times New Roman"/>
                <a:cs typeface="Times New Roman"/>
              </a:rPr>
              <a:t>concept </a:t>
            </a:r>
            <a:r>
              <a:rPr lang="en-GB" sz="1200" dirty="0">
                <a:solidFill>
                  <a:srgbClr val="00AF50"/>
                </a:solidFill>
                <a:latin typeface="Times New Roman"/>
                <a:cs typeface="Times New Roman"/>
              </a:rPr>
              <a:t> of</a:t>
            </a:r>
            <a:r>
              <a:rPr lang="en-GB" sz="1200" spc="5" dirty="0">
                <a:solidFill>
                  <a:srgbClr val="00AF50"/>
                </a:solidFill>
                <a:latin typeface="Times New Roman"/>
                <a:cs typeface="Times New Roman"/>
              </a:rPr>
              <a:t> </a:t>
            </a:r>
            <a:r>
              <a:rPr lang="en-GB" sz="1200" spc="-5" dirty="0">
                <a:solidFill>
                  <a:srgbClr val="00AF50"/>
                </a:solidFill>
                <a:latin typeface="Times New Roman"/>
                <a:cs typeface="Times New Roman"/>
              </a:rPr>
              <a:t>aromaticity</a:t>
            </a:r>
            <a:r>
              <a:rPr lang="en-GB" sz="1200" dirty="0">
                <a:solidFill>
                  <a:srgbClr val="00AF50"/>
                </a:solidFill>
                <a:latin typeface="Times New Roman"/>
                <a:cs typeface="Times New Roman"/>
              </a:rPr>
              <a:t> </a:t>
            </a:r>
            <a:r>
              <a:rPr lang="en-GB" sz="1200" spc="-5" dirty="0">
                <a:solidFill>
                  <a:srgbClr val="00AF50"/>
                </a:solidFill>
                <a:latin typeface="Times New Roman"/>
                <a:cs typeface="Times New Roman"/>
              </a:rPr>
              <a:t>to</a:t>
            </a:r>
            <a:r>
              <a:rPr lang="en-GB" sz="1200" dirty="0">
                <a:solidFill>
                  <a:srgbClr val="00AF50"/>
                </a:solidFill>
                <a:latin typeface="Times New Roman"/>
                <a:cs typeface="Times New Roman"/>
              </a:rPr>
              <a:t> rationalize</a:t>
            </a:r>
            <a:r>
              <a:rPr lang="en-GB" sz="1200" spc="5" dirty="0">
                <a:solidFill>
                  <a:srgbClr val="00AF50"/>
                </a:solidFill>
                <a:latin typeface="Times New Roman"/>
                <a:cs typeface="Times New Roman"/>
              </a:rPr>
              <a:t> </a:t>
            </a:r>
            <a:r>
              <a:rPr lang="en-GB" sz="1200" spc="-5" dirty="0">
                <a:solidFill>
                  <a:srgbClr val="00AF50"/>
                </a:solidFill>
                <a:latin typeface="Times New Roman"/>
                <a:cs typeface="Times New Roman"/>
              </a:rPr>
              <a:t>the</a:t>
            </a:r>
            <a:r>
              <a:rPr lang="en-GB" sz="1200" dirty="0">
                <a:solidFill>
                  <a:srgbClr val="00AF50"/>
                </a:solidFill>
                <a:latin typeface="Times New Roman"/>
                <a:cs typeface="Times New Roman"/>
              </a:rPr>
              <a:t> stability</a:t>
            </a:r>
            <a:r>
              <a:rPr lang="en-GB" sz="1200" spc="5" dirty="0">
                <a:solidFill>
                  <a:srgbClr val="00AF50"/>
                </a:solidFill>
                <a:latin typeface="Times New Roman"/>
                <a:cs typeface="Times New Roman"/>
              </a:rPr>
              <a:t> </a:t>
            </a:r>
            <a:r>
              <a:rPr lang="en-GB" sz="1200" dirty="0">
                <a:solidFill>
                  <a:srgbClr val="00AF50"/>
                </a:solidFill>
                <a:latin typeface="Times New Roman"/>
                <a:cs typeface="Times New Roman"/>
              </a:rPr>
              <a:t>among</a:t>
            </a:r>
            <a:r>
              <a:rPr lang="en-GB" sz="1200" spc="5" dirty="0">
                <a:solidFill>
                  <a:srgbClr val="00AF50"/>
                </a:solidFill>
                <a:latin typeface="Times New Roman"/>
                <a:cs typeface="Times New Roman"/>
              </a:rPr>
              <a:t> </a:t>
            </a:r>
            <a:r>
              <a:rPr lang="en-GB" sz="1200" spc="-5" dirty="0">
                <a:solidFill>
                  <a:srgbClr val="00AF50"/>
                </a:solidFill>
                <a:latin typeface="Times New Roman"/>
                <a:cs typeface="Times New Roman"/>
              </a:rPr>
              <a:t>the </a:t>
            </a:r>
            <a:r>
              <a:rPr lang="en-GB" sz="1200" dirty="0">
                <a:solidFill>
                  <a:srgbClr val="00AF50"/>
                </a:solidFill>
                <a:latin typeface="Times New Roman"/>
                <a:cs typeface="Times New Roman"/>
              </a:rPr>
              <a:t> </a:t>
            </a:r>
            <a:r>
              <a:rPr lang="en-GB" sz="1200" dirty="0" err="1">
                <a:solidFill>
                  <a:srgbClr val="00AF50"/>
                </a:solidFill>
                <a:latin typeface="Times New Roman"/>
                <a:cs typeface="Times New Roman"/>
              </a:rPr>
              <a:t>regiomers</a:t>
            </a:r>
            <a:r>
              <a:rPr lang="en-GB" sz="1200" spc="-15" dirty="0">
                <a:solidFill>
                  <a:srgbClr val="00AF50"/>
                </a:solidFill>
                <a:latin typeface="Times New Roman"/>
                <a:cs typeface="Times New Roman"/>
              </a:rPr>
              <a:t> </a:t>
            </a:r>
            <a:r>
              <a:rPr lang="en-GB" sz="1200" dirty="0">
                <a:solidFill>
                  <a:srgbClr val="00AF50"/>
                </a:solidFill>
                <a:latin typeface="Times New Roman"/>
                <a:cs typeface="Times New Roman"/>
              </a:rPr>
              <a:t>of</a:t>
            </a:r>
            <a:r>
              <a:rPr lang="en-GB" sz="1200" spc="-20" dirty="0">
                <a:solidFill>
                  <a:srgbClr val="00AF50"/>
                </a:solidFill>
                <a:latin typeface="Times New Roman"/>
                <a:cs typeface="Times New Roman"/>
              </a:rPr>
              <a:t> </a:t>
            </a:r>
            <a:r>
              <a:rPr lang="en-GB" sz="1200" dirty="0">
                <a:solidFill>
                  <a:srgbClr val="00AF50"/>
                </a:solidFill>
                <a:latin typeface="Times New Roman"/>
                <a:cs typeface="Times New Roman"/>
              </a:rPr>
              <a:t>pyrrole.</a:t>
            </a:r>
            <a:endParaRPr lang="en-GB" sz="1200" dirty="0">
              <a:latin typeface="Times New Roman"/>
              <a:cs typeface="Times New Roman"/>
            </a:endParaRPr>
          </a:p>
          <a:p>
            <a:endParaRPr lang="en-GB" dirty="0"/>
          </a:p>
        </p:txBody>
      </p:sp>
      <p:sp>
        <p:nvSpPr>
          <p:cNvPr id="4" name="Номер слайда 3"/>
          <p:cNvSpPr>
            <a:spLocks noGrp="1"/>
          </p:cNvSpPr>
          <p:nvPr>
            <p:ph type="sldNum" sz="quarter" idx="5"/>
          </p:nvPr>
        </p:nvSpPr>
        <p:spPr/>
        <p:txBody>
          <a:bodyPr/>
          <a:lstStyle/>
          <a:p>
            <a:fld id="{8541B13D-778D-478C-B4BF-1CC34C88EC1F}" type="slidenum">
              <a:rPr lang="en-GB" smtClean="0"/>
              <a:t>24</a:t>
            </a:fld>
            <a:endParaRPr lang="en-GB"/>
          </a:p>
        </p:txBody>
      </p:sp>
    </p:spTree>
    <p:extLst>
      <p:ext uri="{BB962C8B-B14F-4D97-AF65-F5344CB8AC3E}">
        <p14:creationId xmlns:p14="http://schemas.microsoft.com/office/powerpoint/2010/main" val="413866343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en-GB" dirty="0"/>
          </a:p>
        </p:txBody>
      </p:sp>
      <p:sp>
        <p:nvSpPr>
          <p:cNvPr id="4" name="Номер слайда 3"/>
          <p:cNvSpPr>
            <a:spLocks noGrp="1"/>
          </p:cNvSpPr>
          <p:nvPr>
            <p:ph type="sldNum" sz="quarter" idx="5"/>
          </p:nvPr>
        </p:nvSpPr>
        <p:spPr/>
        <p:txBody>
          <a:bodyPr/>
          <a:lstStyle/>
          <a:p>
            <a:fld id="{8541B13D-778D-478C-B4BF-1CC34C88EC1F}" type="slidenum">
              <a:rPr lang="en-GB" smtClean="0"/>
              <a:t>26</a:t>
            </a:fld>
            <a:endParaRPr lang="en-GB"/>
          </a:p>
        </p:txBody>
      </p:sp>
    </p:spTree>
    <p:extLst>
      <p:ext uri="{BB962C8B-B14F-4D97-AF65-F5344CB8AC3E}">
        <p14:creationId xmlns:p14="http://schemas.microsoft.com/office/powerpoint/2010/main" val="232837786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en-GB" dirty="0"/>
          </a:p>
        </p:txBody>
      </p:sp>
      <p:sp>
        <p:nvSpPr>
          <p:cNvPr id="4" name="Номер слайда 3"/>
          <p:cNvSpPr>
            <a:spLocks noGrp="1"/>
          </p:cNvSpPr>
          <p:nvPr>
            <p:ph type="sldNum" sz="quarter" idx="5"/>
          </p:nvPr>
        </p:nvSpPr>
        <p:spPr/>
        <p:txBody>
          <a:bodyPr/>
          <a:lstStyle/>
          <a:p>
            <a:fld id="{8541B13D-778D-478C-B4BF-1CC34C88EC1F}" type="slidenum">
              <a:rPr lang="en-GB" smtClean="0"/>
              <a:t>28</a:t>
            </a:fld>
            <a:endParaRPr lang="en-GB"/>
          </a:p>
        </p:txBody>
      </p:sp>
    </p:spTree>
    <p:extLst>
      <p:ext uri="{BB962C8B-B14F-4D97-AF65-F5344CB8AC3E}">
        <p14:creationId xmlns:p14="http://schemas.microsoft.com/office/powerpoint/2010/main" val="113222718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en-GB" dirty="0" err="1"/>
              <a:t>AToday</a:t>
            </a:r>
            <a:r>
              <a:rPr lang="en-GB" dirty="0"/>
              <a:t> we have an enough important topic for the seminar - the nomenclature of organic compounds.</a:t>
            </a:r>
          </a:p>
        </p:txBody>
      </p:sp>
      <p:sp>
        <p:nvSpPr>
          <p:cNvPr id="4" name="Номер слайда 3"/>
          <p:cNvSpPr>
            <a:spLocks noGrp="1"/>
          </p:cNvSpPr>
          <p:nvPr>
            <p:ph type="sldNum" sz="quarter" idx="5"/>
          </p:nvPr>
        </p:nvSpPr>
        <p:spPr/>
        <p:txBody>
          <a:bodyPr/>
          <a:lstStyle/>
          <a:p>
            <a:fld id="{8541B13D-778D-478C-B4BF-1CC34C88EC1F}" type="slidenum">
              <a:rPr lang="en-GB" smtClean="0"/>
              <a:t>50</a:t>
            </a:fld>
            <a:endParaRPr lang="en-GB"/>
          </a:p>
        </p:txBody>
      </p:sp>
    </p:spTree>
    <p:extLst>
      <p:ext uri="{BB962C8B-B14F-4D97-AF65-F5344CB8AC3E}">
        <p14:creationId xmlns:p14="http://schemas.microsoft.com/office/powerpoint/2010/main" val="94418155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en-GB" dirty="0"/>
              <a:t>So, dear students, we will start by </a:t>
            </a:r>
            <a:r>
              <a:rPr lang="en-GB" dirty="0" err="1"/>
              <a:t>analyzing</a:t>
            </a:r>
            <a:r>
              <a:rPr lang="en-GB" dirty="0"/>
              <a:t> your answers to the last exercise from the last seminar.</a:t>
            </a:r>
            <a:r>
              <a:rPr lang="uk-UA" dirty="0"/>
              <a:t> </a:t>
            </a:r>
            <a:r>
              <a:rPr lang="en-GB" dirty="0"/>
              <a:t>The most accurate answers are marked in green.</a:t>
            </a:r>
          </a:p>
        </p:txBody>
      </p:sp>
      <p:sp>
        <p:nvSpPr>
          <p:cNvPr id="4" name="Номер слайда 3"/>
          <p:cNvSpPr>
            <a:spLocks noGrp="1"/>
          </p:cNvSpPr>
          <p:nvPr>
            <p:ph type="sldNum" sz="quarter" idx="5"/>
          </p:nvPr>
        </p:nvSpPr>
        <p:spPr/>
        <p:txBody>
          <a:bodyPr/>
          <a:lstStyle/>
          <a:p>
            <a:fld id="{8541B13D-778D-478C-B4BF-1CC34C88EC1F}" type="slidenum">
              <a:rPr lang="en-GB" smtClean="0"/>
              <a:t>51</a:t>
            </a:fld>
            <a:endParaRPr lang="en-GB"/>
          </a:p>
        </p:txBody>
      </p:sp>
    </p:spTree>
    <p:extLst>
      <p:ext uri="{BB962C8B-B14F-4D97-AF65-F5344CB8AC3E}">
        <p14:creationId xmlns:p14="http://schemas.microsoft.com/office/powerpoint/2010/main" val="372003053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solidFill>
                  <a:srgbClr val="7030A0"/>
                </a:solidFill>
              </a:rPr>
              <a:t>That is an interesting point. When we first look at imidazole, many of us (myself included) want to write the 2,3 bond as the attachment site. But in fact, 1.2 is correct here. You can check it using various programs. The compound </a:t>
            </a:r>
            <a:r>
              <a:rPr lang="en-GB" sz="1200" dirty="0">
                <a:solidFill>
                  <a:srgbClr val="FF0000"/>
                </a:solidFill>
              </a:rPr>
              <a:t>1H-imidazo[</a:t>
            </a:r>
            <a:r>
              <a:rPr lang="uk-UA" sz="1200" dirty="0">
                <a:solidFill>
                  <a:srgbClr val="FF0000"/>
                </a:solidFill>
              </a:rPr>
              <a:t>2</a:t>
            </a:r>
            <a:r>
              <a:rPr lang="en-GB" sz="1200" dirty="0">
                <a:solidFill>
                  <a:srgbClr val="FF0000"/>
                </a:solidFill>
              </a:rPr>
              <a:t>,</a:t>
            </a:r>
            <a:r>
              <a:rPr lang="uk-UA" sz="1200" dirty="0">
                <a:solidFill>
                  <a:srgbClr val="FF0000"/>
                </a:solidFill>
              </a:rPr>
              <a:t>3</a:t>
            </a:r>
            <a:r>
              <a:rPr lang="en-GB" sz="1200" dirty="0">
                <a:solidFill>
                  <a:srgbClr val="FF0000"/>
                </a:solidFill>
              </a:rPr>
              <a:t>-b]pyrazole </a:t>
            </a:r>
            <a:r>
              <a:rPr lang="en-GB" sz="1200" dirty="0">
                <a:solidFill>
                  <a:srgbClr val="7030A0"/>
                </a:solidFill>
              </a:rPr>
              <a:t>does not exist.</a:t>
            </a:r>
            <a:endParaRPr lang="uk-UA" sz="1200" dirty="0">
              <a:solidFill>
                <a:srgbClr val="7030A0"/>
              </a:solidFill>
            </a:endParaRPr>
          </a:p>
          <a:p>
            <a:endParaRPr lang="en-GB" dirty="0"/>
          </a:p>
        </p:txBody>
      </p:sp>
      <p:sp>
        <p:nvSpPr>
          <p:cNvPr id="4" name="Номер слайда 3"/>
          <p:cNvSpPr>
            <a:spLocks noGrp="1"/>
          </p:cNvSpPr>
          <p:nvPr>
            <p:ph type="sldNum" sz="quarter" idx="5"/>
          </p:nvPr>
        </p:nvSpPr>
        <p:spPr/>
        <p:txBody>
          <a:bodyPr/>
          <a:lstStyle/>
          <a:p>
            <a:fld id="{8541B13D-778D-478C-B4BF-1CC34C88EC1F}" type="slidenum">
              <a:rPr lang="en-GB" smtClean="0"/>
              <a:t>53</a:t>
            </a:fld>
            <a:endParaRPr lang="en-GB"/>
          </a:p>
        </p:txBody>
      </p:sp>
    </p:spTree>
    <p:extLst>
      <p:ext uri="{BB962C8B-B14F-4D97-AF65-F5344CB8AC3E}">
        <p14:creationId xmlns:p14="http://schemas.microsoft.com/office/powerpoint/2010/main" val="53469115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You could find an example of this compound in Professor Müller's lecture.</a:t>
            </a:r>
          </a:p>
          <a:p>
            <a:endParaRPr lang="en-GB" dirty="0"/>
          </a:p>
        </p:txBody>
      </p:sp>
      <p:sp>
        <p:nvSpPr>
          <p:cNvPr id="4" name="Номер слайда 3"/>
          <p:cNvSpPr>
            <a:spLocks noGrp="1"/>
          </p:cNvSpPr>
          <p:nvPr>
            <p:ph type="sldNum" sz="quarter" idx="5"/>
          </p:nvPr>
        </p:nvSpPr>
        <p:spPr/>
        <p:txBody>
          <a:bodyPr/>
          <a:lstStyle/>
          <a:p>
            <a:fld id="{8541B13D-778D-478C-B4BF-1CC34C88EC1F}" type="slidenum">
              <a:rPr lang="en-GB" smtClean="0"/>
              <a:t>54</a:t>
            </a:fld>
            <a:endParaRPr lang="en-GB"/>
          </a:p>
        </p:txBody>
      </p:sp>
    </p:spTree>
    <p:extLst>
      <p:ext uri="{BB962C8B-B14F-4D97-AF65-F5344CB8AC3E}">
        <p14:creationId xmlns:p14="http://schemas.microsoft.com/office/powerpoint/2010/main" val="29895602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en-GB" dirty="0"/>
              <a:t>Most of you have marked this part correctly. But you had problems in the beginning.</a:t>
            </a:r>
          </a:p>
        </p:txBody>
      </p:sp>
      <p:sp>
        <p:nvSpPr>
          <p:cNvPr id="4" name="Номер слайда 3"/>
          <p:cNvSpPr>
            <a:spLocks noGrp="1"/>
          </p:cNvSpPr>
          <p:nvPr>
            <p:ph type="sldNum" sz="quarter" idx="5"/>
          </p:nvPr>
        </p:nvSpPr>
        <p:spPr/>
        <p:txBody>
          <a:bodyPr/>
          <a:lstStyle/>
          <a:p>
            <a:fld id="{8541B13D-778D-478C-B4BF-1CC34C88EC1F}" type="slidenum">
              <a:rPr lang="en-GB" smtClean="0"/>
              <a:t>55</a:t>
            </a:fld>
            <a:endParaRPr lang="en-GB"/>
          </a:p>
        </p:txBody>
      </p:sp>
    </p:spTree>
    <p:extLst>
      <p:ext uri="{BB962C8B-B14F-4D97-AF65-F5344CB8AC3E}">
        <p14:creationId xmlns:p14="http://schemas.microsoft.com/office/powerpoint/2010/main" val="175763182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en-GB" dirty="0"/>
              <a:t>Please change places.</a:t>
            </a:r>
          </a:p>
        </p:txBody>
      </p:sp>
      <p:sp>
        <p:nvSpPr>
          <p:cNvPr id="4" name="Номер слайда 3"/>
          <p:cNvSpPr>
            <a:spLocks noGrp="1"/>
          </p:cNvSpPr>
          <p:nvPr>
            <p:ph type="sldNum" sz="quarter" idx="5"/>
          </p:nvPr>
        </p:nvSpPr>
        <p:spPr/>
        <p:txBody>
          <a:bodyPr/>
          <a:lstStyle/>
          <a:p>
            <a:fld id="{8541B13D-778D-478C-B4BF-1CC34C88EC1F}" type="slidenum">
              <a:rPr lang="en-GB" smtClean="0"/>
              <a:t>57</a:t>
            </a:fld>
            <a:endParaRPr lang="en-GB"/>
          </a:p>
        </p:txBody>
      </p:sp>
    </p:spTree>
    <p:extLst>
      <p:ext uri="{BB962C8B-B14F-4D97-AF65-F5344CB8AC3E}">
        <p14:creationId xmlns:p14="http://schemas.microsoft.com/office/powerpoint/2010/main" val="129936357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en-GB" dirty="0"/>
              <a:t>There are hints here, because I added the numbering order for some compounds.</a:t>
            </a:r>
          </a:p>
        </p:txBody>
      </p:sp>
      <p:sp>
        <p:nvSpPr>
          <p:cNvPr id="4" name="Номер слайда 3"/>
          <p:cNvSpPr>
            <a:spLocks noGrp="1"/>
          </p:cNvSpPr>
          <p:nvPr>
            <p:ph type="sldNum" sz="quarter" idx="5"/>
          </p:nvPr>
        </p:nvSpPr>
        <p:spPr/>
        <p:txBody>
          <a:bodyPr/>
          <a:lstStyle/>
          <a:p>
            <a:fld id="{8541B13D-778D-478C-B4BF-1CC34C88EC1F}" type="slidenum">
              <a:rPr lang="en-GB" smtClean="0"/>
              <a:t>64</a:t>
            </a:fld>
            <a:endParaRPr lang="en-GB"/>
          </a:p>
        </p:txBody>
      </p:sp>
    </p:spTree>
    <p:extLst>
      <p:ext uri="{BB962C8B-B14F-4D97-AF65-F5344CB8AC3E}">
        <p14:creationId xmlns:p14="http://schemas.microsoft.com/office/powerpoint/2010/main" val="380554712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en-GB" dirty="0"/>
              <a:t>This slide presents general information about spiro compounds. Just so you can remember "what it is".</a:t>
            </a:r>
          </a:p>
        </p:txBody>
      </p:sp>
      <p:sp>
        <p:nvSpPr>
          <p:cNvPr id="4" name="Номер слайда 3"/>
          <p:cNvSpPr>
            <a:spLocks noGrp="1"/>
          </p:cNvSpPr>
          <p:nvPr>
            <p:ph type="sldNum" sz="quarter" idx="5"/>
          </p:nvPr>
        </p:nvSpPr>
        <p:spPr/>
        <p:txBody>
          <a:bodyPr/>
          <a:lstStyle/>
          <a:p>
            <a:fld id="{8541B13D-778D-478C-B4BF-1CC34C88EC1F}" type="slidenum">
              <a:rPr lang="en-GB" smtClean="0"/>
              <a:t>66</a:t>
            </a:fld>
            <a:endParaRPr lang="en-GB"/>
          </a:p>
        </p:txBody>
      </p:sp>
    </p:spTree>
    <p:extLst>
      <p:ext uri="{BB962C8B-B14F-4D97-AF65-F5344CB8AC3E}">
        <p14:creationId xmlns:p14="http://schemas.microsoft.com/office/powerpoint/2010/main" val="134385845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algn="l"/>
            <a:r>
              <a:rPr lang="en-GB" b="0" i="0" dirty="0">
                <a:solidFill>
                  <a:srgbClr val="212121"/>
                </a:solidFill>
                <a:effectLst/>
                <a:latin typeface="GTWalsheimPro-Regular"/>
              </a:rPr>
              <a:t>First, stereochemistry. One important note about bridged bicyclic molecules is that the two carbons forming each bridge will always be “</a:t>
            </a:r>
            <a:r>
              <a:rPr lang="en-GB" b="0" i="0" u="none" strike="noStrike" dirty="0">
                <a:solidFill>
                  <a:srgbClr val="000000"/>
                </a:solidFill>
                <a:effectLst/>
                <a:latin typeface="GTWalsheimPro-Regular"/>
                <a:hlinkClick r:id="rId3"/>
              </a:rPr>
              <a:t>cis</a:t>
            </a:r>
            <a:r>
              <a:rPr lang="en-GB" b="0" i="0" dirty="0">
                <a:solidFill>
                  <a:srgbClr val="212121"/>
                </a:solidFill>
                <a:effectLst/>
                <a:latin typeface="GTWalsheimPro-Regular"/>
              </a:rPr>
              <a:t>” to each other, never </a:t>
            </a:r>
            <a:r>
              <a:rPr lang="en-GB" b="0" i="0" u="none" strike="noStrike" dirty="0">
                <a:solidFill>
                  <a:srgbClr val="000000"/>
                </a:solidFill>
                <a:effectLst/>
                <a:latin typeface="GTWalsheimPro-Regular"/>
                <a:hlinkClick r:id="rId4"/>
              </a:rPr>
              <a:t>trans</a:t>
            </a:r>
            <a:r>
              <a:rPr lang="en-GB" b="0" i="0" dirty="0">
                <a:solidFill>
                  <a:srgbClr val="212121"/>
                </a:solidFill>
                <a:effectLst/>
                <a:latin typeface="GTWalsheimPro-Regular"/>
              </a:rPr>
              <a:t>, relative to the other ring.* [exceptions? yes, but you probably won’t see ’</a:t>
            </a:r>
            <a:r>
              <a:rPr lang="en-GB" b="0" i="0" dirty="0" err="1">
                <a:solidFill>
                  <a:srgbClr val="212121"/>
                </a:solidFill>
                <a:effectLst/>
                <a:latin typeface="GTWalsheimPro-Regular"/>
              </a:rPr>
              <a:t>em</a:t>
            </a:r>
            <a:r>
              <a:rPr lang="en-GB" b="0" i="0" dirty="0">
                <a:solidFill>
                  <a:srgbClr val="212121"/>
                </a:solidFill>
                <a:effectLst/>
                <a:latin typeface="GTWalsheimPro-Regular"/>
              </a:rPr>
              <a:t> – check </a:t>
            </a:r>
            <a:r>
              <a:rPr lang="en-GB" b="0" i="0" u="none" strike="noStrike" dirty="0">
                <a:solidFill>
                  <a:srgbClr val="0645AD"/>
                </a:solidFill>
                <a:effectLst/>
                <a:latin typeface="GTWalsheimPro-Regular"/>
                <a:hlinkClick r:id="rId5"/>
              </a:rPr>
              <a:t>Note 2</a:t>
            </a:r>
            <a:r>
              <a:rPr lang="en-GB" b="0" i="0" dirty="0">
                <a:solidFill>
                  <a:srgbClr val="212121"/>
                </a:solidFill>
                <a:effectLst/>
                <a:latin typeface="GTWalsheimPro-Regular"/>
              </a:rPr>
              <a:t> if you’re curious]</a:t>
            </a:r>
          </a:p>
          <a:p>
            <a:pPr algn="l"/>
            <a:r>
              <a:rPr lang="en-GB" b="0" i="0" dirty="0">
                <a:solidFill>
                  <a:srgbClr val="212121"/>
                </a:solidFill>
                <a:effectLst/>
                <a:latin typeface="GTWalsheimPro-Regular"/>
              </a:rPr>
              <a:t>Why? Like we said in the last post when discussing </a:t>
            </a:r>
            <a:r>
              <a:rPr lang="en-GB" b="0" i="0" u="none" strike="noStrike" dirty="0">
                <a:solidFill>
                  <a:srgbClr val="000000"/>
                </a:solidFill>
                <a:effectLst/>
                <a:latin typeface="GTWalsheimPro-Regular"/>
                <a:hlinkClick r:id="rId4"/>
              </a:rPr>
              <a:t>trans</a:t>
            </a:r>
            <a:r>
              <a:rPr lang="en-GB" b="0" i="0" dirty="0">
                <a:solidFill>
                  <a:srgbClr val="212121"/>
                </a:solidFill>
                <a:effectLst/>
                <a:latin typeface="GTWalsheimPro-Regular"/>
              </a:rPr>
              <a:t>-decalin, for much the same reason that you can’t kiss yourself on the back – </a:t>
            </a:r>
            <a:r>
              <a:rPr lang="en-GB" b="1" i="0" dirty="0">
                <a:solidFill>
                  <a:srgbClr val="212121"/>
                </a:solidFill>
                <a:effectLst/>
                <a:latin typeface="GTWalsheimPro-Bold"/>
              </a:rPr>
              <a:t>there just isn’t enough flexibility for this to happen without breaking something</a:t>
            </a:r>
            <a:r>
              <a:rPr lang="en-GB" b="0" i="0" dirty="0">
                <a:solidFill>
                  <a:srgbClr val="212121"/>
                </a:solidFill>
                <a:effectLst/>
                <a:latin typeface="GTWalsheimPro-Regular"/>
              </a:rPr>
              <a:t>.  Given the strict bond angle (109°) and length (1.50 Å) requirements of alkanes, five, six, and seven membered rings don’t have enough slack to tolerate anything other than </a:t>
            </a:r>
            <a:r>
              <a:rPr lang="en-GB" b="0" i="1" u="none" strike="noStrike" dirty="0">
                <a:solidFill>
                  <a:srgbClr val="000000"/>
                </a:solidFill>
                <a:effectLst/>
                <a:latin typeface="GTWalsheimPro-Regular"/>
                <a:hlinkClick r:id="rId3"/>
              </a:rPr>
              <a:t>cis</a:t>
            </a:r>
            <a:r>
              <a:rPr lang="en-GB" b="0" i="0" dirty="0">
                <a:solidFill>
                  <a:srgbClr val="212121"/>
                </a:solidFill>
                <a:effectLst/>
                <a:latin typeface="GTWalsheimPro-Regular"/>
              </a:rPr>
              <a:t> ring junctions.  A </a:t>
            </a:r>
            <a:r>
              <a:rPr lang="en-GB" b="0" i="1" u="none" strike="noStrike" dirty="0">
                <a:solidFill>
                  <a:srgbClr val="000000"/>
                </a:solidFill>
                <a:effectLst/>
                <a:latin typeface="GTWalsheimPro-Regular"/>
                <a:hlinkClick r:id="rId4"/>
              </a:rPr>
              <a:t>trans</a:t>
            </a:r>
            <a:r>
              <a:rPr lang="en-GB" b="0" i="0" dirty="0">
                <a:solidFill>
                  <a:srgbClr val="212121"/>
                </a:solidFill>
                <a:effectLst/>
                <a:latin typeface="GTWalsheimPro-Regular"/>
              </a:rPr>
              <a:t> ring junction (much like a </a:t>
            </a:r>
            <a:r>
              <a:rPr lang="en-GB" b="0" i="1" u="none" strike="noStrike" dirty="0">
                <a:solidFill>
                  <a:srgbClr val="000000"/>
                </a:solidFill>
                <a:effectLst/>
                <a:latin typeface="GTWalsheimPro-Regular"/>
                <a:hlinkClick r:id="rId4"/>
              </a:rPr>
              <a:t>trans</a:t>
            </a:r>
            <a:r>
              <a:rPr lang="en-GB" b="0" i="0" dirty="0">
                <a:solidFill>
                  <a:srgbClr val="212121"/>
                </a:solidFill>
                <a:effectLst/>
                <a:latin typeface="GTWalsheimPro-Regular"/>
              </a:rPr>
              <a:t> double bond in rings of these sizes) would simply lead to </a:t>
            </a:r>
            <a:r>
              <a:rPr lang="en-GB" b="1" i="0" dirty="0">
                <a:solidFill>
                  <a:srgbClr val="212121"/>
                </a:solidFill>
                <a:effectLst/>
                <a:latin typeface="GTWalsheimPro-Bold"/>
              </a:rPr>
              <a:t>too much ring strain</a:t>
            </a:r>
            <a:r>
              <a:rPr lang="en-GB" b="0" i="0" dirty="0">
                <a:solidFill>
                  <a:srgbClr val="212121"/>
                </a:solidFill>
                <a:effectLst/>
                <a:latin typeface="GTWalsheimPro-Regular"/>
              </a:rPr>
              <a:t>.</a:t>
            </a:r>
          </a:p>
          <a:p>
            <a:pPr algn="l"/>
            <a:r>
              <a:rPr lang="en-GB" b="0" i="0" dirty="0">
                <a:solidFill>
                  <a:srgbClr val="212121"/>
                </a:solidFill>
                <a:effectLst/>
                <a:latin typeface="GTWalsheimPro-Regular"/>
              </a:rPr>
              <a:t>Note that in the diagram below, the “</a:t>
            </a:r>
            <a:r>
              <a:rPr lang="en-GB" b="0" i="0" u="none" strike="noStrike" dirty="0">
                <a:solidFill>
                  <a:srgbClr val="000000"/>
                </a:solidFill>
                <a:effectLst/>
                <a:latin typeface="GTWalsheimPro-Regular"/>
                <a:hlinkClick r:id="rId3"/>
              </a:rPr>
              <a:t>cis</a:t>
            </a:r>
            <a:r>
              <a:rPr lang="en-GB" b="0" i="0" dirty="0">
                <a:solidFill>
                  <a:srgbClr val="212121"/>
                </a:solidFill>
                <a:effectLst/>
                <a:latin typeface="GTWalsheimPro-Regular"/>
              </a:rPr>
              <a:t>” ring junctions is implied by the fact that both hydrogens are on the same side (both dashes in this case). The “impossible” </a:t>
            </a:r>
            <a:r>
              <a:rPr lang="en-GB" b="0" i="0" u="none" strike="noStrike" dirty="0">
                <a:solidFill>
                  <a:srgbClr val="000000"/>
                </a:solidFill>
                <a:effectLst/>
                <a:latin typeface="GTWalsheimPro-Regular"/>
                <a:hlinkClick r:id="rId4"/>
              </a:rPr>
              <a:t>trans</a:t>
            </a:r>
            <a:r>
              <a:rPr lang="en-GB" b="0" i="0" dirty="0">
                <a:solidFill>
                  <a:srgbClr val="212121"/>
                </a:solidFill>
                <a:effectLst/>
                <a:latin typeface="GTWalsheimPro-Regular"/>
              </a:rPr>
              <a:t> ring junction is shown in grayscale for comparison. The picture shows a model of this molecule highlighting the </a:t>
            </a:r>
            <a:r>
              <a:rPr lang="en-GB" b="1" i="0" u="none" strike="noStrike" dirty="0">
                <a:solidFill>
                  <a:srgbClr val="000000"/>
                </a:solidFill>
                <a:effectLst/>
                <a:latin typeface="GTWalsheimPro-Bold"/>
                <a:hlinkClick r:id="rId6"/>
              </a:rPr>
              <a:t>angle strain</a:t>
            </a:r>
            <a:r>
              <a:rPr lang="en-GB" b="0" i="0" dirty="0">
                <a:solidFill>
                  <a:srgbClr val="212121"/>
                </a:solidFill>
                <a:effectLst/>
                <a:latin typeface="GTWalsheimPro-Regular"/>
              </a:rPr>
              <a:t> and </a:t>
            </a:r>
            <a:r>
              <a:rPr lang="en-GB" b="1" i="0" dirty="0">
                <a:solidFill>
                  <a:srgbClr val="212121"/>
                </a:solidFill>
                <a:effectLst/>
                <a:latin typeface="GTWalsheimPro-Bold"/>
              </a:rPr>
              <a:t>Van Der Waals strain</a:t>
            </a:r>
            <a:r>
              <a:rPr lang="en-GB" b="0" i="0" dirty="0">
                <a:solidFill>
                  <a:srgbClr val="212121"/>
                </a:solidFill>
                <a:effectLst/>
                <a:latin typeface="GTWalsheimPro-Regular"/>
              </a:rPr>
              <a:t> resulting from this arrangement.</a:t>
            </a:r>
          </a:p>
          <a:p>
            <a:pPr algn="l"/>
            <a:r>
              <a:rPr lang="en-GB" b="0" i="0" dirty="0">
                <a:solidFill>
                  <a:srgbClr val="212121"/>
                </a:solidFill>
                <a:effectLst/>
                <a:latin typeface="GTWalsheimPro-Regular"/>
              </a:rPr>
              <a:t>https://www.masterorganicchemistry.com/2014/08/14/bridged-bicyclic-compounds-and-how-to-name-them/#notetwo</a:t>
            </a:r>
          </a:p>
          <a:p>
            <a:pPr algn="l"/>
            <a:endParaRPr lang="en-GB" b="0" i="0" dirty="0">
              <a:solidFill>
                <a:srgbClr val="212121"/>
              </a:solidFill>
              <a:effectLst/>
              <a:latin typeface="GTWalsheimPro-Regular"/>
            </a:endParaRPr>
          </a:p>
          <a:p>
            <a:endParaRPr lang="en-GB" dirty="0"/>
          </a:p>
        </p:txBody>
      </p:sp>
      <p:sp>
        <p:nvSpPr>
          <p:cNvPr id="4" name="Номер слайда 3"/>
          <p:cNvSpPr>
            <a:spLocks noGrp="1"/>
          </p:cNvSpPr>
          <p:nvPr>
            <p:ph type="sldNum" sz="quarter" idx="5"/>
          </p:nvPr>
        </p:nvSpPr>
        <p:spPr/>
        <p:txBody>
          <a:bodyPr/>
          <a:lstStyle/>
          <a:p>
            <a:fld id="{8541B13D-778D-478C-B4BF-1CC34C88EC1F}" type="slidenum">
              <a:rPr lang="en-GB" smtClean="0"/>
              <a:t>71</a:t>
            </a:fld>
            <a:endParaRPr lang="en-GB"/>
          </a:p>
        </p:txBody>
      </p:sp>
    </p:spTree>
    <p:extLst>
      <p:ext uri="{BB962C8B-B14F-4D97-AF65-F5344CB8AC3E}">
        <p14:creationId xmlns:p14="http://schemas.microsoft.com/office/powerpoint/2010/main" val="39660351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D80064A-1B6B-4057-BC69-BAE0BEC09B5F}"/>
              </a:ext>
            </a:extLst>
          </p:cNvPr>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endParaRPr lang="en-GB"/>
          </a:p>
        </p:txBody>
      </p:sp>
      <p:sp>
        <p:nvSpPr>
          <p:cNvPr id="3" name="Подзаголовок 2">
            <a:extLst>
              <a:ext uri="{FF2B5EF4-FFF2-40B4-BE49-F238E27FC236}">
                <a16:creationId xmlns:a16="http://schemas.microsoft.com/office/drawing/2014/main" id="{E18DCB8A-6B0F-4A24-B663-D1D9A3895587}"/>
              </a:ext>
            </a:extLst>
          </p:cNvPr>
          <p:cNvSpPr>
            <a:spLocks noGrp="1"/>
          </p:cNvSpPr>
          <p:nvPr>
            <p:ph type="subTitle" idx="1"/>
          </p:nvPr>
        </p:nvSpPr>
        <p:spPr>
          <a:xfrm>
            <a:off x="1524000" y="3602038"/>
            <a:ext cx="9144000" cy="1655762"/>
          </a:xfrm>
        </p:spPr>
        <p:txBody>
          <a:bodyPr/>
          <a:lstStyle>
            <a:lvl1pPr marL="0" indent="0" algn="ctr">
              <a:buNone/>
              <a:defRPr sz="24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ru-RU"/>
              <a:t>Образец подзаголовка</a:t>
            </a:r>
            <a:endParaRPr lang="en-GB"/>
          </a:p>
        </p:txBody>
      </p:sp>
      <p:sp>
        <p:nvSpPr>
          <p:cNvPr id="4" name="Дата 3">
            <a:extLst>
              <a:ext uri="{FF2B5EF4-FFF2-40B4-BE49-F238E27FC236}">
                <a16:creationId xmlns:a16="http://schemas.microsoft.com/office/drawing/2014/main" id="{FD6B5D84-3DC2-4E46-B34B-C8D93FA3B07D}"/>
              </a:ext>
            </a:extLst>
          </p:cNvPr>
          <p:cNvSpPr>
            <a:spLocks noGrp="1"/>
          </p:cNvSpPr>
          <p:nvPr>
            <p:ph type="dt" sz="half" idx="10"/>
          </p:nvPr>
        </p:nvSpPr>
        <p:spPr/>
        <p:txBody>
          <a:bodyPr/>
          <a:lstStyle/>
          <a:p>
            <a:fld id="{568F54CB-6481-41DE-B508-125D528E4C56}" type="datetime1">
              <a:rPr lang="en-GB" smtClean="0"/>
              <a:t>23/04/2023</a:t>
            </a:fld>
            <a:endParaRPr lang="en-GB"/>
          </a:p>
        </p:txBody>
      </p:sp>
      <p:sp>
        <p:nvSpPr>
          <p:cNvPr id="5" name="Нижний колонтитул 4">
            <a:extLst>
              <a:ext uri="{FF2B5EF4-FFF2-40B4-BE49-F238E27FC236}">
                <a16:creationId xmlns:a16="http://schemas.microsoft.com/office/drawing/2014/main" id="{5017EE08-53A8-4395-ACE3-F5B28B02D2FA}"/>
              </a:ext>
            </a:extLst>
          </p:cNvPr>
          <p:cNvSpPr>
            <a:spLocks noGrp="1"/>
          </p:cNvSpPr>
          <p:nvPr>
            <p:ph type="ftr" sz="quarter" idx="11"/>
          </p:nvPr>
        </p:nvSpPr>
        <p:spPr/>
        <p:txBody>
          <a:bodyPr/>
          <a:lstStyle/>
          <a:p>
            <a:endParaRPr lang="en-GB"/>
          </a:p>
        </p:txBody>
      </p:sp>
      <p:sp>
        <p:nvSpPr>
          <p:cNvPr id="6" name="Номер слайда 5">
            <a:extLst>
              <a:ext uri="{FF2B5EF4-FFF2-40B4-BE49-F238E27FC236}">
                <a16:creationId xmlns:a16="http://schemas.microsoft.com/office/drawing/2014/main" id="{083DD560-28A8-4F79-9BCD-34044955179D}"/>
              </a:ext>
            </a:extLst>
          </p:cNvPr>
          <p:cNvSpPr>
            <a:spLocks noGrp="1"/>
          </p:cNvSpPr>
          <p:nvPr>
            <p:ph type="sldNum" sz="quarter" idx="12"/>
          </p:nvPr>
        </p:nvSpPr>
        <p:spPr/>
        <p:txBody>
          <a:bodyPr/>
          <a:lstStyle/>
          <a:p>
            <a:fld id="{93C419CB-0CF1-4F10-90F9-42551F8968FF}" type="slidenum">
              <a:rPr lang="en-GB" smtClean="0"/>
              <a:t>‹#›</a:t>
            </a:fld>
            <a:endParaRPr lang="en-GB"/>
          </a:p>
        </p:txBody>
      </p:sp>
    </p:spTree>
    <p:extLst>
      <p:ext uri="{BB962C8B-B14F-4D97-AF65-F5344CB8AC3E}">
        <p14:creationId xmlns:p14="http://schemas.microsoft.com/office/powerpoint/2010/main" val="14730050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E885861-C8CF-4686-B8F3-8594A9856F43}"/>
              </a:ext>
            </a:extLst>
          </p:cNvPr>
          <p:cNvSpPr>
            <a:spLocks noGrp="1"/>
          </p:cNvSpPr>
          <p:nvPr>
            <p:ph type="title"/>
          </p:nvPr>
        </p:nvSpPr>
        <p:spPr/>
        <p:txBody>
          <a:bodyPr/>
          <a:lstStyle/>
          <a:p>
            <a:r>
              <a:rPr lang="ru-RU"/>
              <a:t>Образец заголовка</a:t>
            </a:r>
            <a:endParaRPr lang="en-GB"/>
          </a:p>
        </p:txBody>
      </p:sp>
      <p:sp>
        <p:nvSpPr>
          <p:cNvPr id="3" name="Объект 2">
            <a:extLst>
              <a:ext uri="{FF2B5EF4-FFF2-40B4-BE49-F238E27FC236}">
                <a16:creationId xmlns:a16="http://schemas.microsoft.com/office/drawing/2014/main" id="{833736F8-B956-46A8-BEB7-45221DE9C492}"/>
              </a:ext>
            </a:extLst>
          </p:cNvPr>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GB"/>
          </a:p>
        </p:txBody>
      </p:sp>
      <p:sp>
        <p:nvSpPr>
          <p:cNvPr id="4" name="Дата 3">
            <a:extLst>
              <a:ext uri="{FF2B5EF4-FFF2-40B4-BE49-F238E27FC236}">
                <a16:creationId xmlns:a16="http://schemas.microsoft.com/office/drawing/2014/main" id="{6D3FD345-DB16-4AD0-BCA0-5A66F124894C}"/>
              </a:ext>
            </a:extLst>
          </p:cNvPr>
          <p:cNvSpPr>
            <a:spLocks noGrp="1"/>
          </p:cNvSpPr>
          <p:nvPr>
            <p:ph type="dt" sz="half" idx="10"/>
          </p:nvPr>
        </p:nvSpPr>
        <p:spPr/>
        <p:txBody>
          <a:bodyPr/>
          <a:lstStyle/>
          <a:p>
            <a:fld id="{F4D6D35E-A4A8-4A01-8333-7BACF605818E}" type="datetime1">
              <a:rPr lang="en-GB" smtClean="0"/>
              <a:t>23/04/2023</a:t>
            </a:fld>
            <a:endParaRPr lang="en-GB"/>
          </a:p>
        </p:txBody>
      </p:sp>
      <p:sp>
        <p:nvSpPr>
          <p:cNvPr id="5" name="Нижний колонтитул 4">
            <a:extLst>
              <a:ext uri="{FF2B5EF4-FFF2-40B4-BE49-F238E27FC236}">
                <a16:creationId xmlns:a16="http://schemas.microsoft.com/office/drawing/2014/main" id="{7D4B55F6-2F34-4874-8780-3FC3F54C59DA}"/>
              </a:ext>
            </a:extLst>
          </p:cNvPr>
          <p:cNvSpPr>
            <a:spLocks noGrp="1"/>
          </p:cNvSpPr>
          <p:nvPr>
            <p:ph type="ftr" sz="quarter" idx="11"/>
          </p:nvPr>
        </p:nvSpPr>
        <p:spPr/>
        <p:txBody>
          <a:bodyPr/>
          <a:lstStyle/>
          <a:p>
            <a:endParaRPr lang="en-GB"/>
          </a:p>
        </p:txBody>
      </p:sp>
      <p:sp>
        <p:nvSpPr>
          <p:cNvPr id="6" name="Номер слайда 5">
            <a:extLst>
              <a:ext uri="{FF2B5EF4-FFF2-40B4-BE49-F238E27FC236}">
                <a16:creationId xmlns:a16="http://schemas.microsoft.com/office/drawing/2014/main" id="{66340F01-A5BD-427F-BC10-78A6BDEECD4D}"/>
              </a:ext>
            </a:extLst>
          </p:cNvPr>
          <p:cNvSpPr>
            <a:spLocks noGrp="1"/>
          </p:cNvSpPr>
          <p:nvPr>
            <p:ph type="sldNum" sz="quarter" idx="12"/>
          </p:nvPr>
        </p:nvSpPr>
        <p:spPr/>
        <p:txBody>
          <a:bodyPr/>
          <a:lstStyle/>
          <a:p>
            <a:fld id="{93C419CB-0CF1-4F10-90F9-42551F8968FF}" type="slidenum">
              <a:rPr lang="en-GB" smtClean="0"/>
              <a:t>‹#›</a:t>
            </a:fld>
            <a:endParaRPr lang="en-GB"/>
          </a:p>
        </p:txBody>
      </p:sp>
    </p:spTree>
    <p:extLst>
      <p:ext uri="{BB962C8B-B14F-4D97-AF65-F5344CB8AC3E}">
        <p14:creationId xmlns:p14="http://schemas.microsoft.com/office/powerpoint/2010/main" val="16829351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66B116C-977B-496D-885B-5720FAF08C27}"/>
              </a:ext>
            </a:extLst>
          </p:cNvPr>
          <p:cNvSpPr>
            <a:spLocks noGrp="1"/>
          </p:cNvSpPr>
          <p:nvPr>
            <p:ph type="title"/>
          </p:nvPr>
        </p:nvSpPr>
        <p:spPr>
          <a:xfrm>
            <a:off x="831851" y="1709740"/>
            <a:ext cx="10515600" cy="2852737"/>
          </a:xfrm>
        </p:spPr>
        <p:txBody>
          <a:bodyPr anchor="b"/>
          <a:lstStyle>
            <a:lvl1pPr>
              <a:defRPr sz="6000"/>
            </a:lvl1pPr>
          </a:lstStyle>
          <a:p>
            <a:r>
              <a:rPr lang="ru-RU"/>
              <a:t>Образец заголовка</a:t>
            </a:r>
            <a:endParaRPr lang="en-GB"/>
          </a:p>
        </p:txBody>
      </p:sp>
      <p:sp>
        <p:nvSpPr>
          <p:cNvPr id="3" name="Текст 2">
            <a:extLst>
              <a:ext uri="{FF2B5EF4-FFF2-40B4-BE49-F238E27FC236}">
                <a16:creationId xmlns:a16="http://schemas.microsoft.com/office/drawing/2014/main" id="{113263A0-1D67-498B-A193-4D36C4103C0A}"/>
              </a:ext>
            </a:extLst>
          </p:cNvPr>
          <p:cNvSpPr>
            <a:spLocks noGrp="1"/>
          </p:cNvSpPr>
          <p:nvPr>
            <p:ph type="body" idx="1"/>
          </p:nvPr>
        </p:nvSpPr>
        <p:spPr>
          <a:xfrm>
            <a:off x="831851" y="4589465"/>
            <a:ext cx="10515600" cy="1500187"/>
          </a:xfrm>
        </p:spPr>
        <p:txBody>
          <a:bodyPr/>
          <a:lstStyle>
            <a:lvl1pPr marL="0" indent="0">
              <a:buNone/>
              <a:defRPr sz="2400">
                <a:solidFill>
                  <a:schemeClr val="tx1">
                    <a:tint val="75000"/>
                  </a:schemeClr>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ru-RU"/>
              <a:t>Образец текста</a:t>
            </a:r>
          </a:p>
        </p:txBody>
      </p:sp>
      <p:sp>
        <p:nvSpPr>
          <p:cNvPr id="4" name="Дата 3">
            <a:extLst>
              <a:ext uri="{FF2B5EF4-FFF2-40B4-BE49-F238E27FC236}">
                <a16:creationId xmlns:a16="http://schemas.microsoft.com/office/drawing/2014/main" id="{7703C60F-D4BF-4F07-9905-92E1785799D8}"/>
              </a:ext>
            </a:extLst>
          </p:cNvPr>
          <p:cNvSpPr>
            <a:spLocks noGrp="1"/>
          </p:cNvSpPr>
          <p:nvPr>
            <p:ph type="dt" sz="half" idx="10"/>
          </p:nvPr>
        </p:nvSpPr>
        <p:spPr/>
        <p:txBody>
          <a:bodyPr/>
          <a:lstStyle/>
          <a:p>
            <a:fld id="{48D8F917-E650-410C-9FFA-BB78F1C3AB63}" type="datetime1">
              <a:rPr lang="en-GB" smtClean="0"/>
              <a:t>23/04/2023</a:t>
            </a:fld>
            <a:endParaRPr lang="en-GB"/>
          </a:p>
        </p:txBody>
      </p:sp>
      <p:sp>
        <p:nvSpPr>
          <p:cNvPr id="5" name="Нижний колонтитул 4">
            <a:extLst>
              <a:ext uri="{FF2B5EF4-FFF2-40B4-BE49-F238E27FC236}">
                <a16:creationId xmlns:a16="http://schemas.microsoft.com/office/drawing/2014/main" id="{9493F4CE-2CFA-466B-9341-F2593E3D0081}"/>
              </a:ext>
            </a:extLst>
          </p:cNvPr>
          <p:cNvSpPr>
            <a:spLocks noGrp="1"/>
          </p:cNvSpPr>
          <p:nvPr>
            <p:ph type="ftr" sz="quarter" idx="11"/>
          </p:nvPr>
        </p:nvSpPr>
        <p:spPr/>
        <p:txBody>
          <a:bodyPr/>
          <a:lstStyle/>
          <a:p>
            <a:endParaRPr lang="en-GB"/>
          </a:p>
        </p:txBody>
      </p:sp>
      <p:sp>
        <p:nvSpPr>
          <p:cNvPr id="6" name="Номер слайда 5">
            <a:extLst>
              <a:ext uri="{FF2B5EF4-FFF2-40B4-BE49-F238E27FC236}">
                <a16:creationId xmlns:a16="http://schemas.microsoft.com/office/drawing/2014/main" id="{7A821239-6C5B-4BEC-85DD-7DBEB9A478C9}"/>
              </a:ext>
            </a:extLst>
          </p:cNvPr>
          <p:cNvSpPr>
            <a:spLocks noGrp="1"/>
          </p:cNvSpPr>
          <p:nvPr>
            <p:ph type="sldNum" sz="quarter" idx="12"/>
          </p:nvPr>
        </p:nvSpPr>
        <p:spPr/>
        <p:txBody>
          <a:bodyPr/>
          <a:lstStyle/>
          <a:p>
            <a:fld id="{93C419CB-0CF1-4F10-90F9-42551F8968FF}" type="slidenum">
              <a:rPr lang="en-GB" smtClean="0"/>
              <a:t>‹#›</a:t>
            </a:fld>
            <a:endParaRPr lang="en-GB"/>
          </a:p>
        </p:txBody>
      </p:sp>
    </p:spTree>
    <p:extLst>
      <p:ext uri="{BB962C8B-B14F-4D97-AF65-F5344CB8AC3E}">
        <p14:creationId xmlns:p14="http://schemas.microsoft.com/office/powerpoint/2010/main" val="38946185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6321ED0-F179-4AAB-8F53-29B31057079B}"/>
              </a:ext>
            </a:extLst>
          </p:cNvPr>
          <p:cNvSpPr>
            <a:spLocks noGrp="1"/>
          </p:cNvSpPr>
          <p:nvPr>
            <p:ph type="title"/>
          </p:nvPr>
        </p:nvSpPr>
        <p:spPr/>
        <p:txBody>
          <a:bodyPr/>
          <a:lstStyle/>
          <a:p>
            <a:r>
              <a:rPr lang="ru-RU"/>
              <a:t>Образец заголовка</a:t>
            </a:r>
            <a:endParaRPr lang="en-GB"/>
          </a:p>
        </p:txBody>
      </p:sp>
      <p:sp>
        <p:nvSpPr>
          <p:cNvPr id="3" name="Объект 2">
            <a:extLst>
              <a:ext uri="{FF2B5EF4-FFF2-40B4-BE49-F238E27FC236}">
                <a16:creationId xmlns:a16="http://schemas.microsoft.com/office/drawing/2014/main" id="{1ACE76B0-90B4-458D-BA1D-C7F3A6405051}"/>
              </a:ext>
            </a:extLst>
          </p:cNvPr>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GB"/>
          </a:p>
        </p:txBody>
      </p:sp>
      <p:sp>
        <p:nvSpPr>
          <p:cNvPr id="4" name="Объект 3">
            <a:extLst>
              <a:ext uri="{FF2B5EF4-FFF2-40B4-BE49-F238E27FC236}">
                <a16:creationId xmlns:a16="http://schemas.microsoft.com/office/drawing/2014/main" id="{74065091-CC42-48D1-BE08-FDBB2ABED7C2}"/>
              </a:ext>
            </a:extLst>
          </p:cNvPr>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GB"/>
          </a:p>
        </p:txBody>
      </p:sp>
      <p:sp>
        <p:nvSpPr>
          <p:cNvPr id="5" name="Дата 4">
            <a:extLst>
              <a:ext uri="{FF2B5EF4-FFF2-40B4-BE49-F238E27FC236}">
                <a16:creationId xmlns:a16="http://schemas.microsoft.com/office/drawing/2014/main" id="{CF9750E4-6E45-4898-BCBD-F0BFD768579A}"/>
              </a:ext>
            </a:extLst>
          </p:cNvPr>
          <p:cNvSpPr>
            <a:spLocks noGrp="1"/>
          </p:cNvSpPr>
          <p:nvPr>
            <p:ph type="dt" sz="half" idx="10"/>
          </p:nvPr>
        </p:nvSpPr>
        <p:spPr/>
        <p:txBody>
          <a:bodyPr/>
          <a:lstStyle/>
          <a:p>
            <a:fld id="{77EFBCF2-59C1-4C24-9102-0F9B3EFD487C}" type="datetime1">
              <a:rPr lang="en-GB" smtClean="0"/>
              <a:t>23/04/2023</a:t>
            </a:fld>
            <a:endParaRPr lang="en-GB"/>
          </a:p>
        </p:txBody>
      </p:sp>
      <p:sp>
        <p:nvSpPr>
          <p:cNvPr id="6" name="Нижний колонтитул 5">
            <a:extLst>
              <a:ext uri="{FF2B5EF4-FFF2-40B4-BE49-F238E27FC236}">
                <a16:creationId xmlns:a16="http://schemas.microsoft.com/office/drawing/2014/main" id="{1E9C42E5-4643-44F8-817E-62E98E7135EE}"/>
              </a:ext>
            </a:extLst>
          </p:cNvPr>
          <p:cNvSpPr>
            <a:spLocks noGrp="1"/>
          </p:cNvSpPr>
          <p:nvPr>
            <p:ph type="ftr" sz="quarter" idx="11"/>
          </p:nvPr>
        </p:nvSpPr>
        <p:spPr/>
        <p:txBody>
          <a:bodyPr/>
          <a:lstStyle/>
          <a:p>
            <a:endParaRPr lang="en-GB"/>
          </a:p>
        </p:txBody>
      </p:sp>
      <p:sp>
        <p:nvSpPr>
          <p:cNvPr id="7" name="Номер слайда 6">
            <a:extLst>
              <a:ext uri="{FF2B5EF4-FFF2-40B4-BE49-F238E27FC236}">
                <a16:creationId xmlns:a16="http://schemas.microsoft.com/office/drawing/2014/main" id="{1745F630-B737-44D6-A985-4DBE7171704E}"/>
              </a:ext>
            </a:extLst>
          </p:cNvPr>
          <p:cNvSpPr>
            <a:spLocks noGrp="1"/>
          </p:cNvSpPr>
          <p:nvPr>
            <p:ph type="sldNum" sz="quarter" idx="12"/>
          </p:nvPr>
        </p:nvSpPr>
        <p:spPr/>
        <p:txBody>
          <a:bodyPr/>
          <a:lstStyle/>
          <a:p>
            <a:fld id="{93C419CB-0CF1-4F10-90F9-42551F8968FF}" type="slidenum">
              <a:rPr lang="en-GB" smtClean="0"/>
              <a:t>‹#›</a:t>
            </a:fld>
            <a:endParaRPr lang="en-GB"/>
          </a:p>
        </p:txBody>
      </p:sp>
    </p:spTree>
    <p:extLst>
      <p:ext uri="{BB962C8B-B14F-4D97-AF65-F5344CB8AC3E}">
        <p14:creationId xmlns:p14="http://schemas.microsoft.com/office/powerpoint/2010/main" val="16348467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27FF2F2-678F-49FD-9E72-C751332F1B98}"/>
              </a:ext>
            </a:extLst>
          </p:cNvPr>
          <p:cNvSpPr>
            <a:spLocks noGrp="1"/>
          </p:cNvSpPr>
          <p:nvPr>
            <p:ph type="title"/>
          </p:nvPr>
        </p:nvSpPr>
        <p:spPr>
          <a:xfrm>
            <a:off x="839788" y="365127"/>
            <a:ext cx="10515600" cy="1325563"/>
          </a:xfrm>
        </p:spPr>
        <p:txBody>
          <a:bodyPr/>
          <a:lstStyle/>
          <a:p>
            <a:r>
              <a:rPr lang="ru-RU"/>
              <a:t>Образец заголовка</a:t>
            </a:r>
            <a:endParaRPr lang="en-GB"/>
          </a:p>
        </p:txBody>
      </p:sp>
      <p:sp>
        <p:nvSpPr>
          <p:cNvPr id="3" name="Текст 2">
            <a:extLst>
              <a:ext uri="{FF2B5EF4-FFF2-40B4-BE49-F238E27FC236}">
                <a16:creationId xmlns:a16="http://schemas.microsoft.com/office/drawing/2014/main" id="{18D3FCEF-411F-42E1-B1F5-3E6F4C016B53}"/>
              </a:ext>
            </a:extLst>
          </p:cNvPr>
          <p:cNvSpPr>
            <a:spLocks noGrp="1"/>
          </p:cNvSpPr>
          <p:nvPr>
            <p:ph type="body" idx="1"/>
          </p:nvPr>
        </p:nvSpPr>
        <p:spPr>
          <a:xfrm>
            <a:off x="839789" y="1681163"/>
            <a:ext cx="5157787"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ru-RU"/>
              <a:t>Образец текста</a:t>
            </a:r>
          </a:p>
        </p:txBody>
      </p:sp>
      <p:sp>
        <p:nvSpPr>
          <p:cNvPr id="4" name="Объект 3">
            <a:extLst>
              <a:ext uri="{FF2B5EF4-FFF2-40B4-BE49-F238E27FC236}">
                <a16:creationId xmlns:a16="http://schemas.microsoft.com/office/drawing/2014/main" id="{E554A08E-DAB6-4266-8251-91B9971717B4}"/>
              </a:ext>
            </a:extLst>
          </p:cNvPr>
          <p:cNvSpPr>
            <a:spLocks noGrp="1"/>
          </p:cNvSpPr>
          <p:nvPr>
            <p:ph sz="half" idx="2"/>
          </p:nvPr>
        </p:nvSpPr>
        <p:spPr>
          <a:xfrm>
            <a:off x="839789"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GB"/>
          </a:p>
        </p:txBody>
      </p:sp>
      <p:sp>
        <p:nvSpPr>
          <p:cNvPr id="5" name="Текст 4">
            <a:extLst>
              <a:ext uri="{FF2B5EF4-FFF2-40B4-BE49-F238E27FC236}">
                <a16:creationId xmlns:a16="http://schemas.microsoft.com/office/drawing/2014/main" id="{B15C6F75-77EE-4EFC-BA90-E3DF63621CF1}"/>
              </a:ext>
            </a:extLst>
          </p:cNvPr>
          <p:cNvSpPr>
            <a:spLocks noGrp="1"/>
          </p:cNvSpPr>
          <p:nvPr>
            <p:ph type="body" sz="quarter" idx="3"/>
          </p:nvPr>
        </p:nvSpPr>
        <p:spPr>
          <a:xfrm>
            <a:off x="6172201" y="1681163"/>
            <a:ext cx="5183188"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ru-RU"/>
              <a:t>Образец текста</a:t>
            </a:r>
          </a:p>
        </p:txBody>
      </p:sp>
      <p:sp>
        <p:nvSpPr>
          <p:cNvPr id="6" name="Объект 5">
            <a:extLst>
              <a:ext uri="{FF2B5EF4-FFF2-40B4-BE49-F238E27FC236}">
                <a16:creationId xmlns:a16="http://schemas.microsoft.com/office/drawing/2014/main" id="{85BC44AE-B2E3-40B6-821F-0A1CBC74519C}"/>
              </a:ext>
            </a:extLst>
          </p:cNvPr>
          <p:cNvSpPr>
            <a:spLocks noGrp="1"/>
          </p:cNvSpPr>
          <p:nvPr>
            <p:ph sz="quarter" idx="4"/>
          </p:nvPr>
        </p:nvSpPr>
        <p:spPr>
          <a:xfrm>
            <a:off x="6172201"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GB"/>
          </a:p>
        </p:txBody>
      </p:sp>
      <p:sp>
        <p:nvSpPr>
          <p:cNvPr id="7" name="Дата 6">
            <a:extLst>
              <a:ext uri="{FF2B5EF4-FFF2-40B4-BE49-F238E27FC236}">
                <a16:creationId xmlns:a16="http://schemas.microsoft.com/office/drawing/2014/main" id="{BCA3D04A-56AC-428B-AD43-9C628C58380E}"/>
              </a:ext>
            </a:extLst>
          </p:cNvPr>
          <p:cNvSpPr>
            <a:spLocks noGrp="1"/>
          </p:cNvSpPr>
          <p:nvPr>
            <p:ph type="dt" sz="half" idx="10"/>
          </p:nvPr>
        </p:nvSpPr>
        <p:spPr/>
        <p:txBody>
          <a:bodyPr/>
          <a:lstStyle/>
          <a:p>
            <a:fld id="{05F4AB70-8C21-489A-94F6-7FA1102D9513}" type="datetime1">
              <a:rPr lang="en-GB" smtClean="0"/>
              <a:t>23/04/2023</a:t>
            </a:fld>
            <a:endParaRPr lang="en-GB"/>
          </a:p>
        </p:txBody>
      </p:sp>
      <p:sp>
        <p:nvSpPr>
          <p:cNvPr id="8" name="Нижний колонтитул 7">
            <a:extLst>
              <a:ext uri="{FF2B5EF4-FFF2-40B4-BE49-F238E27FC236}">
                <a16:creationId xmlns:a16="http://schemas.microsoft.com/office/drawing/2014/main" id="{4B2EAD3D-1A48-4DDC-BD8F-0455FA4746E1}"/>
              </a:ext>
            </a:extLst>
          </p:cNvPr>
          <p:cNvSpPr>
            <a:spLocks noGrp="1"/>
          </p:cNvSpPr>
          <p:nvPr>
            <p:ph type="ftr" sz="quarter" idx="11"/>
          </p:nvPr>
        </p:nvSpPr>
        <p:spPr/>
        <p:txBody>
          <a:bodyPr/>
          <a:lstStyle/>
          <a:p>
            <a:endParaRPr lang="en-GB"/>
          </a:p>
        </p:txBody>
      </p:sp>
      <p:sp>
        <p:nvSpPr>
          <p:cNvPr id="9" name="Номер слайда 8">
            <a:extLst>
              <a:ext uri="{FF2B5EF4-FFF2-40B4-BE49-F238E27FC236}">
                <a16:creationId xmlns:a16="http://schemas.microsoft.com/office/drawing/2014/main" id="{FB4BA24E-3BF7-4637-9C16-8CE1AFB6D225}"/>
              </a:ext>
            </a:extLst>
          </p:cNvPr>
          <p:cNvSpPr>
            <a:spLocks noGrp="1"/>
          </p:cNvSpPr>
          <p:nvPr>
            <p:ph type="sldNum" sz="quarter" idx="12"/>
          </p:nvPr>
        </p:nvSpPr>
        <p:spPr/>
        <p:txBody>
          <a:bodyPr/>
          <a:lstStyle/>
          <a:p>
            <a:fld id="{93C419CB-0CF1-4F10-90F9-42551F8968FF}" type="slidenum">
              <a:rPr lang="en-GB" smtClean="0"/>
              <a:t>‹#›</a:t>
            </a:fld>
            <a:endParaRPr lang="en-GB"/>
          </a:p>
        </p:txBody>
      </p:sp>
    </p:spTree>
    <p:extLst>
      <p:ext uri="{BB962C8B-B14F-4D97-AF65-F5344CB8AC3E}">
        <p14:creationId xmlns:p14="http://schemas.microsoft.com/office/powerpoint/2010/main" val="42240261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20E1481-9883-45BA-8428-B1146878399A}"/>
              </a:ext>
            </a:extLst>
          </p:cNvPr>
          <p:cNvSpPr>
            <a:spLocks noGrp="1"/>
          </p:cNvSpPr>
          <p:nvPr>
            <p:ph type="title"/>
          </p:nvPr>
        </p:nvSpPr>
        <p:spPr/>
        <p:txBody>
          <a:bodyPr/>
          <a:lstStyle/>
          <a:p>
            <a:r>
              <a:rPr lang="ru-RU"/>
              <a:t>Образец заголовка</a:t>
            </a:r>
            <a:endParaRPr lang="en-GB"/>
          </a:p>
        </p:txBody>
      </p:sp>
      <p:sp>
        <p:nvSpPr>
          <p:cNvPr id="3" name="Дата 2">
            <a:extLst>
              <a:ext uri="{FF2B5EF4-FFF2-40B4-BE49-F238E27FC236}">
                <a16:creationId xmlns:a16="http://schemas.microsoft.com/office/drawing/2014/main" id="{2984F559-C7F8-4712-83F8-7E14CEE01C35}"/>
              </a:ext>
            </a:extLst>
          </p:cNvPr>
          <p:cNvSpPr>
            <a:spLocks noGrp="1"/>
          </p:cNvSpPr>
          <p:nvPr>
            <p:ph type="dt" sz="half" idx="10"/>
          </p:nvPr>
        </p:nvSpPr>
        <p:spPr/>
        <p:txBody>
          <a:bodyPr/>
          <a:lstStyle/>
          <a:p>
            <a:fld id="{7BD1D5DC-F365-48C3-9FE8-D8E545820C68}" type="datetime1">
              <a:rPr lang="en-GB" smtClean="0"/>
              <a:t>23/04/2023</a:t>
            </a:fld>
            <a:endParaRPr lang="en-GB"/>
          </a:p>
        </p:txBody>
      </p:sp>
      <p:sp>
        <p:nvSpPr>
          <p:cNvPr id="4" name="Нижний колонтитул 3">
            <a:extLst>
              <a:ext uri="{FF2B5EF4-FFF2-40B4-BE49-F238E27FC236}">
                <a16:creationId xmlns:a16="http://schemas.microsoft.com/office/drawing/2014/main" id="{52A781ED-73B9-48C8-BD52-237D4030EE68}"/>
              </a:ext>
            </a:extLst>
          </p:cNvPr>
          <p:cNvSpPr>
            <a:spLocks noGrp="1"/>
          </p:cNvSpPr>
          <p:nvPr>
            <p:ph type="ftr" sz="quarter" idx="11"/>
          </p:nvPr>
        </p:nvSpPr>
        <p:spPr/>
        <p:txBody>
          <a:bodyPr/>
          <a:lstStyle/>
          <a:p>
            <a:endParaRPr lang="en-GB"/>
          </a:p>
        </p:txBody>
      </p:sp>
      <p:sp>
        <p:nvSpPr>
          <p:cNvPr id="5" name="Номер слайда 4">
            <a:extLst>
              <a:ext uri="{FF2B5EF4-FFF2-40B4-BE49-F238E27FC236}">
                <a16:creationId xmlns:a16="http://schemas.microsoft.com/office/drawing/2014/main" id="{D8ABA35E-ACF7-44E2-8998-DEF8B079E42D}"/>
              </a:ext>
            </a:extLst>
          </p:cNvPr>
          <p:cNvSpPr>
            <a:spLocks noGrp="1"/>
          </p:cNvSpPr>
          <p:nvPr>
            <p:ph type="sldNum" sz="quarter" idx="12"/>
          </p:nvPr>
        </p:nvSpPr>
        <p:spPr/>
        <p:txBody>
          <a:bodyPr/>
          <a:lstStyle/>
          <a:p>
            <a:fld id="{93C419CB-0CF1-4F10-90F9-42551F8968FF}" type="slidenum">
              <a:rPr lang="en-GB" smtClean="0"/>
              <a:t>‹#›</a:t>
            </a:fld>
            <a:endParaRPr lang="en-GB"/>
          </a:p>
        </p:txBody>
      </p:sp>
    </p:spTree>
    <p:extLst>
      <p:ext uri="{BB962C8B-B14F-4D97-AF65-F5344CB8AC3E}">
        <p14:creationId xmlns:p14="http://schemas.microsoft.com/office/powerpoint/2010/main" val="5299997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a:extLst>
              <a:ext uri="{FF2B5EF4-FFF2-40B4-BE49-F238E27FC236}">
                <a16:creationId xmlns:a16="http://schemas.microsoft.com/office/drawing/2014/main" id="{E36F4596-44D1-4739-ADC2-570ECFCAE68B}"/>
              </a:ext>
            </a:extLst>
          </p:cNvPr>
          <p:cNvSpPr>
            <a:spLocks noGrp="1"/>
          </p:cNvSpPr>
          <p:nvPr>
            <p:ph type="dt" sz="half" idx="10"/>
          </p:nvPr>
        </p:nvSpPr>
        <p:spPr/>
        <p:txBody>
          <a:bodyPr/>
          <a:lstStyle/>
          <a:p>
            <a:fld id="{593BEAD5-5E67-4584-BD82-39031655408B}" type="datetime1">
              <a:rPr lang="en-GB" smtClean="0"/>
              <a:t>23/04/2023</a:t>
            </a:fld>
            <a:endParaRPr lang="en-GB"/>
          </a:p>
        </p:txBody>
      </p:sp>
      <p:sp>
        <p:nvSpPr>
          <p:cNvPr id="3" name="Нижний колонтитул 2">
            <a:extLst>
              <a:ext uri="{FF2B5EF4-FFF2-40B4-BE49-F238E27FC236}">
                <a16:creationId xmlns:a16="http://schemas.microsoft.com/office/drawing/2014/main" id="{E8B36E4C-9C40-481E-9630-28A7C85F5E45}"/>
              </a:ext>
            </a:extLst>
          </p:cNvPr>
          <p:cNvSpPr>
            <a:spLocks noGrp="1"/>
          </p:cNvSpPr>
          <p:nvPr>
            <p:ph type="ftr" sz="quarter" idx="11"/>
          </p:nvPr>
        </p:nvSpPr>
        <p:spPr/>
        <p:txBody>
          <a:bodyPr/>
          <a:lstStyle/>
          <a:p>
            <a:endParaRPr lang="en-GB"/>
          </a:p>
        </p:txBody>
      </p:sp>
      <p:sp>
        <p:nvSpPr>
          <p:cNvPr id="4" name="Номер слайда 3">
            <a:extLst>
              <a:ext uri="{FF2B5EF4-FFF2-40B4-BE49-F238E27FC236}">
                <a16:creationId xmlns:a16="http://schemas.microsoft.com/office/drawing/2014/main" id="{7FEA6FAE-8286-4F36-A78D-2680521DBB29}"/>
              </a:ext>
            </a:extLst>
          </p:cNvPr>
          <p:cNvSpPr>
            <a:spLocks noGrp="1"/>
          </p:cNvSpPr>
          <p:nvPr>
            <p:ph type="sldNum" sz="quarter" idx="12"/>
          </p:nvPr>
        </p:nvSpPr>
        <p:spPr/>
        <p:txBody>
          <a:bodyPr/>
          <a:lstStyle/>
          <a:p>
            <a:fld id="{93C419CB-0CF1-4F10-90F9-42551F8968FF}" type="slidenum">
              <a:rPr lang="en-GB" smtClean="0"/>
              <a:t>‹#›</a:t>
            </a:fld>
            <a:endParaRPr lang="en-GB"/>
          </a:p>
        </p:txBody>
      </p:sp>
    </p:spTree>
    <p:extLst>
      <p:ext uri="{BB962C8B-B14F-4D97-AF65-F5344CB8AC3E}">
        <p14:creationId xmlns:p14="http://schemas.microsoft.com/office/powerpoint/2010/main" val="14109427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8D61B2E-3B5C-410B-9562-21138777FB1D}"/>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endParaRPr lang="en-GB"/>
          </a:p>
        </p:txBody>
      </p:sp>
      <p:sp>
        <p:nvSpPr>
          <p:cNvPr id="3" name="Объект 2">
            <a:extLst>
              <a:ext uri="{FF2B5EF4-FFF2-40B4-BE49-F238E27FC236}">
                <a16:creationId xmlns:a16="http://schemas.microsoft.com/office/drawing/2014/main" id="{B1FC58EB-E4DA-4575-AAB4-AFF7008FB020}"/>
              </a:ext>
            </a:extLst>
          </p:cNvPr>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GB"/>
          </a:p>
        </p:txBody>
      </p:sp>
      <p:sp>
        <p:nvSpPr>
          <p:cNvPr id="4" name="Текст 3">
            <a:extLst>
              <a:ext uri="{FF2B5EF4-FFF2-40B4-BE49-F238E27FC236}">
                <a16:creationId xmlns:a16="http://schemas.microsoft.com/office/drawing/2014/main" id="{34257F37-E70D-4813-A306-066B3B982777}"/>
              </a:ext>
            </a:extLst>
          </p:cNvPr>
          <p:cNvSpPr>
            <a:spLocks noGrp="1"/>
          </p:cNvSpPr>
          <p:nvPr>
            <p:ph type="body" sz="half" idx="2"/>
          </p:nvPr>
        </p:nvSpPr>
        <p:spPr>
          <a:xfrm>
            <a:off x="839788" y="2057400"/>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8B17FB03-584A-47D7-AEFA-EE03B41F166D}"/>
              </a:ext>
            </a:extLst>
          </p:cNvPr>
          <p:cNvSpPr>
            <a:spLocks noGrp="1"/>
          </p:cNvSpPr>
          <p:nvPr>
            <p:ph type="dt" sz="half" idx="10"/>
          </p:nvPr>
        </p:nvSpPr>
        <p:spPr/>
        <p:txBody>
          <a:bodyPr/>
          <a:lstStyle/>
          <a:p>
            <a:fld id="{A56A025B-BE28-412C-83EB-E809412E040B}" type="datetime1">
              <a:rPr lang="en-GB" smtClean="0"/>
              <a:t>23/04/2023</a:t>
            </a:fld>
            <a:endParaRPr lang="en-GB"/>
          </a:p>
        </p:txBody>
      </p:sp>
      <p:sp>
        <p:nvSpPr>
          <p:cNvPr id="6" name="Нижний колонтитул 5">
            <a:extLst>
              <a:ext uri="{FF2B5EF4-FFF2-40B4-BE49-F238E27FC236}">
                <a16:creationId xmlns:a16="http://schemas.microsoft.com/office/drawing/2014/main" id="{AA8FC7D4-E8DB-4A98-83D5-6FD8A6403723}"/>
              </a:ext>
            </a:extLst>
          </p:cNvPr>
          <p:cNvSpPr>
            <a:spLocks noGrp="1"/>
          </p:cNvSpPr>
          <p:nvPr>
            <p:ph type="ftr" sz="quarter" idx="11"/>
          </p:nvPr>
        </p:nvSpPr>
        <p:spPr/>
        <p:txBody>
          <a:bodyPr/>
          <a:lstStyle/>
          <a:p>
            <a:endParaRPr lang="en-GB"/>
          </a:p>
        </p:txBody>
      </p:sp>
      <p:sp>
        <p:nvSpPr>
          <p:cNvPr id="7" name="Номер слайда 6">
            <a:extLst>
              <a:ext uri="{FF2B5EF4-FFF2-40B4-BE49-F238E27FC236}">
                <a16:creationId xmlns:a16="http://schemas.microsoft.com/office/drawing/2014/main" id="{FC1CA716-C058-4097-8852-B55A1E00B3C1}"/>
              </a:ext>
            </a:extLst>
          </p:cNvPr>
          <p:cNvSpPr>
            <a:spLocks noGrp="1"/>
          </p:cNvSpPr>
          <p:nvPr>
            <p:ph type="sldNum" sz="quarter" idx="12"/>
          </p:nvPr>
        </p:nvSpPr>
        <p:spPr/>
        <p:txBody>
          <a:bodyPr/>
          <a:lstStyle/>
          <a:p>
            <a:fld id="{93C419CB-0CF1-4F10-90F9-42551F8968FF}" type="slidenum">
              <a:rPr lang="en-GB" smtClean="0"/>
              <a:t>‹#›</a:t>
            </a:fld>
            <a:endParaRPr lang="en-GB"/>
          </a:p>
        </p:txBody>
      </p:sp>
    </p:spTree>
    <p:extLst>
      <p:ext uri="{BB962C8B-B14F-4D97-AF65-F5344CB8AC3E}">
        <p14:creationId xmlns:p14="http://schemas.microsoft.com/office/powerpoint/2010/main" val="27339334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CAD6A83-21CC-4895-894C-DA2790C07FD0}"/>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endParaRPr lang="en-GB"/>
          </a:p>
        </p:txBody>
      </p:sp>
      <p:sp>
        <p:nvSpPr>
          <p:cNvPr id="3" name="Рисунок 2">
            <a:extLst>
              <a:ext uri="{FF2B5EF4-FFF2-40B4-BE49-F238E27FC236}">
                <a16:creationId xmlns:a16="http://schemas.microsoft.com/office/drawing/2014/main" id="{DCAE7C1A-22DA-487B-AEA6-0E61288C6B1E}"/>
              </a:ext>
            </a:extLst>
          </p:cNvPr>
          <p:cNvSpPr>
            <a:spLocks noGrp="1"/>
          </p:cNvSpPr>
          <p:nvPr>
            <p:ph type="pic" idx="1"/>
          </p:nvPr>
        </p:nvSpPr>
        <p:spPr>
          <a:xfrm>
            <a:off x="5183188" y="987427"/>
            <a:ext cx="6172200" cy="4873625"/>
          </a:xfr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GB"/>
          </a:p>
        </p:txBody>
      </p:sp>
      <p:sp>
        <p:nvSpPr>
          <p:cNvPr id="4" name="Текст 3">
            <a:extLst>
              <a:ext uri="{FF2B5EF4-FFF2-40B4-BE49-F238E27FC236}">
                <a16:creationId xmlns:a16="http://schemas.microsoft.com/office/drawing/2014/main" id="{76FF9E23-2CE0-422D-A1C2-2A28BA0B803D}"/>
              </a:ext>
            </a:extLst>
          </p:cNvPr>
          <p:cNvSpPr>
            <a:spLocks noGrp="1"/>
          </p:cNvSpPr>
          <p:nvPr>
            <p:ph type="body" sz="half" idx="2"/>
          </p:nvPr>
        </p:nvSpPr>
        <p:spPr>
          <a:xfrm>
            <a:off x="839788" y="2057400"/>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255F8E65-5CCA-4115-9F06-7E9A65473E44}"/>
              </a:ext>
            </a:extLst>
          </p:cNvPr>
          <p:cNvSpPr>
            <a:spLocks noGrp="1"/>
          </p:cNvSpPr>
          <p:nvPr>
            <p:ph type="dt" sz="half" idx="10"/>
          </p:nvPr>
        </p:nvSpPr>
        <p:spPr/>
        <p:txBody>
          <a:bodyPr/>
          <a:lstStyle/>
          <a:p>
            <a:fld id="{987418D5-59E0-41AE-88B0-8EEF347C2FBA}" type="datetime1">
              <a:rPr lang="en-GB" smtClean="0"/>
              <a:t>23/04/2023</a:t>
            </a:fld>
            <a:endParaRPr lang="en-GB"/>
          </a:p>
        </p:txBody>
      </p:sp>
      <p:sp>
        <p:nvSpPr>
          <p:cNvPr id="6" name="Нижний колонтитул 5">
            <a:extLst>
              <a:ext uri="{FF2B5EF4-FFF2-40B4-BE49-F238E27FC236}">
                <a16:creationId xmlns:a16="http://schemas.microsoft.com/office/drawing/2014/main" id="{9984599E-F99B-4066-BEA8-370CDC931858}"/>
              </a:ext>
            </a:extLst>
          </p:cNvPr>
          <p:cNvSpPr>
            <a:spLocks noGrp="1"/>
          </p:cNvSpPr>
          <p:nvPr>
            <p:ph type="ftr" sz="quarter" idx="11"/>
          </p:nvPr>
        </p:nvSpPr>
        <p:spPr/>
        <p:txBody>
          <a:bodyPr/>
          <a:lstStyle/>
          <a:p>
            <a:endParaRPr lang="en-GB"/>
          </a:p>
        </p:txBody>
      </p:sp>
      <p:sp>
        <p:nvSpPr>
          <p:cNvPr id="7" name="Номер слайда 6">
            <a:extLst>
              <a:ext uri="{FF2B5EF4-FFF2-40B4-BE49-F238E27FC236}">
                <a16:creationId xmlns:a16="http://schemas.microsoft.com/office/drawing/2014/main" id="{7D247C69-1D8C-405A-A0F6-AB31DA20774B}"/>
              </a:ext>
            </a:extLst>
          </p:cNvPr>
          <p:cNvSpPr>
            <a:spLocks noGrp="1"/>
          </p:cNvSpPr>
          <p:nvPr>
            <p:ph type="sldNum" sz="quarter" idx="12"/>
          </p:nvPr>
        </p:nvSpPr>
        <p:spPr/>
        <p:txBody>
          <a:bodyPr/>
          <a:lstStyle/>
          <a:p>
            <a:fld id="{93C419CB-0CF1-4F10-90F9-42551F8968FF}" type="slidenum">
              <a:rPr lang="en-GB" smtClean="0"/>
              <a:t>‹#›</a:t>
            </a:fld>
            <a:endParaRPr lang="en-GB"/>
          </a:p>
        </p:txBody>
      </p:sp>
    </p:spTree>
    <p:extLst>
      <p:ext uri="{BB962C8B-B14F-4D97-AF65-F5344CB8AC3E}">
        <p14:creationId xmlns:p14="http://schemas.microsoft.com/office/powerpoint/2010/main" val="31382195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63DE4E6-D423-4568-ACFF-CE1D0708339D}"/>
              </a:ext>
            </a:extLst>
          </p:cNvPr>
          <p:cNvSpPr>
            <a:spLocks noGrp="1"/>
          </p:cNvSpPr>
          <p:nvPr>
            <p:ph type="title"/>
          </p:nvPr>
        </p:nvSpPr>
        <p:spPr/>
        <p:txBody>
          <a:bodyPr/>
          <a:lstStyle/>
          <a:p>
            <a:r>
              <a:rPr lang="ru-RU"/>
              <a:t>Образец заголовка</a:t>
            </a:r>
            <a:endParaRPr lang="en-GB"/>
          </a:p>
        </p:txBody>
      </p:sp>
      <p:sp>
        <p:nvSpPr>
          <p:cNvPr id="3" name="Вертикальный текст 2">
            <a:extLst>
              <a:ext uri="{FF2B5EF4-FFF2-40B4-BE49-F238E27FC236}">
                <a16:creationId xmlns:a16="http://schemas.microsoft.com/office/drawing/2014/main" id="{EB7EFB2E-EF60-48C5-89CF-426AAD5527A5}"/>
              </a:ext>
            </a:extLst>
          </p:cNvPr>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GB"/>
          </a:p>
        </p:txBody>
      </p:sp>
      <p:sp>
        <p:nvSpPr>
          <p:cNvPr id="4" name="Дата 3">
            <a:extLst>
              <a:ext uri="{FF2B5EF4-FFF2-40B4-BE49-F238E27FC236}">
                <a16:creationId xmlns:a16="http://schemas.microsoft.com/office/drawing/2014/main" id="{ACAD48D3-B687-414D-96DB-F193F7F7C167}"/>
              </a:ext>
            </a:extLst>
          </p:cNvPr>
          <p:cNvSpPr>
            <a:spLocks noGrp="1"/>
          </p:cNvSpPr>
          <p:nvPr>
            <p:ph type="dt" sz="half" idx="10"/>
          </p:nvPr>
        </p:nvSpPr>
        <p:spPr/>
        <p:txBody>
          <a:bodyPr/>
          <a:lstStyle/>
          <a:p>
            <a:fld id="{9A2289A8-8A81-462E-8935-2BA0325E54C7}" type="datetime1">
              <a:rPr lang="en-GB" smtClean="0"/>
              <a:t>23/04/2023</a:t>
            </a:fld>
            <a:endParaRPr lang="en-GB"/>
          </a:p>
        </p:txBody>
      </p:sp>
      <p:sp>
        <p:nvSpPr>
          <p:cNvPr id="5" name="Нижний колонтитул 4">
            <a:extLst>
              <a:ext uri="{FF2B5EF4-FFF2-40B4-BE49-F238E27FC236}">
                <a16:creationId xmlns:a16="http://schemas.microsoft.com/office/drawing/2014/main" id="{6D171A1F-1578-45BA-978D-296595E66181}"/>
              </a:ext>
            </a:extLst>
          </p:cNvPr>
          <p:cNvSpPr>
            <a:spLocks noGrp="1"/>
          </p:cNvSpPr>
          <p:nvPr>
            <p:ph type="ftr" sz="quarter" idx="11"/>
          </p:nvPr>
        </p:nvSpPr>
        <p:spPr/>
        <p:txBody>
          <a:bodyPr/>
          <a:lstStyle/>
          <a:p>
            <a:endParaRPr lang="en-GB"/>
          </a:p>
        </p:txBody>
      </p:sp>
      <p:sp>
        <p:nvSpPr>
          <p:cNvPr id="6" name="Номер слайда 5">
            <a:extLst>
              <a:ext uri="{FF2B5EF4-FFF2-40B4-BE49-F238E27FC236}">
                <a16:creationId xmlns:a16="http://schemas.microsoft.com/office/drawing/2014/main" id="{C339B587-5132-47CA-ACFF-F9E4F1B9DCE1}"/>
              </a:ext>
            </a:extLst>
          </p:cNvPr>
          <p:cNvSpPr>
            <a:spLocks noGrp="1"/>
          </p:cNvSpPr>
          <p:nvPr>
            <p:ph type="sldNum" sz="quarter" idx="12"/>
          </p:nvPr>
        </p:nvSpPr>
        <p:spPr/>
        <p:txBody>
          <a:bodyPr/>
          <a:lstStyle/>
          <a:p>
            <a:fld id="{93C419CB-0CF1-4F10-90F9-42551F8968FF}" type="slidenum">
              <a:rPr lang="en-GB" smtClean="0"/>
              <a:t>‹#›</a:t>
            </a:fld>
            <a:endParaRPr lang="en-GB"/>
          </a:p>
        </p:txBody>
      </p:sp>
    </p:spTree>
    <p:extLst>
      <p:ext uri="{BB962C8B-B14F-4D97-AF65-F5344CB8AC3E}">
        <p14:creationId xmlns:p14="http://schemas.microsoft.com/office/powerpoint/2010/main" val="32224966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a:extLst>
              <a:ext uri="{FF2B5EF4-FFF2-40B4-BE49-F238E27FC236}">
                <a16:creationId xmlns:a16="http://schemas.microsoft.com/office/drawing/2014/main" id="{9493DC48-C58E-4B6C-A398-E5C081CD0112}"/>
              </a:ext>
            </a:extLst>
          </p:cNvPr>
          <p:cNvSpPr>
            <a:spLocks noGrp="1"/>
          </p:cNvSpPr>
          <p:nvPr>
            <p:ph type="title" orient="vert"/>
          </p:nvPr>
        </p:nvSpPr>
        <p:spPr>
          <a:xfrm>
            <a:off x="8724901" y="365125"/>
            <a:ext cx="2628900" cy="5811838"/>
          </a:xfrm>
        </p:spPr>
        <p:txBody>
          <a:bodyPr vert="eaVert"/>
          <a:lstStyle/>
          <a:p>
            <a:r>
              <a:rPr lang="ru-RU"/>
              <a:t>Образец заголовка</a:t>
            </a:r>
            <a:endParaRPr lang="en-GB"/>
          </a:p>
        </p:txBody>
      </p:sp>
      <p:sp>
        <p:nvSpPr>
          <p:cNvPr id="3" name="Вертикальный текст 2">
            <a:extLst>
              <a:ext uri="{FF2B5EF4-FFF2-40B4-BE49-F238E27FC236}">
                <a16:creationId xmlns:a16="http://schemas.microsoft.com/office/drawing/2014/main" id="{C60F587C-6AD9-45FD-9E7C-C4000D0D49CE}"/>
              </a:ext>
            </a:extLst>
          </p:cNvPr>
          <p:cNvSpPr>
            <a:spLocks noGrp="1"/>
          </p:cNvSpPr>
          <p:nvPr>
            <p:ph type="body" orient="vert" idx="1"/>
          </p:nvPr>
        </p:nvSpPr>
        <p:spPr>
          <a:xfrm>
            <a:off x="838201"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GB"/>
          </a:p>
        </p:txBody>
      </p:sp>
      <p:sp>
        <p:nvSpPr>
          <p:cNvPr id="4" name="Дата 3">
            <a:extLst>
              <a:ext uri="{FF2B5EF4-FFF2-40B4-BE49-F238E27FC236}">
                <a16:creationId xmlns:a16="http://schemas.microsoft.com/office/drawing/2014/main" id="{84C2BF23-49CA-409E-BF06-29D7581261AC}"/>
              </a:ext>
            </a:extLst>
          </p:cNvPr>
          <p:cNvSpPr>
            <a:spLocks noGrp="1"/>
          </p:cNvSpPr>
          <p:nvPr>
            <p:ph type="dt" sz="half" idx="10"/>
          </p:nvPr>
        </p:nvSpPr>
        <p:spPr/>
        <p:txBody>
          <a:bodyPr/>
          <a:lstStyle/>
          <a:p>
            <a:fld id="{0D46B68A-435C-4EB5-AAA7-FBC1828B8666}" type="datetime1">
              <a:rPr lang="en-GB" smtClean="0"/>
              <a:t>23/04/2023</a:t>
            </a:fld>
            <a:endParaRPr lang="en-GB"/>
          </a:p>
        </p:txBody>
      </p:sp>
      <p:sp>
        <p:nvSpPr>
          <p:cNvPr id="5" name="Нижний колонтитул 4">
            <a:extLst>
              <a:ext uri="{FF2B5EF4-FFF2-40B4-BE49-F238E27FC236}">
                <a16:creationId xmlns:a16="http://schemas.microsoft.com/office/drawing/2014/main" id="{7907EED6-FA30-4185-9D9C-89F9C44FD3FC}"/>
              </a:ext>
            </a:extLst>
          </p:cNvPr>
          <p:cNvSpPr>
            <a:spLocks noGrp="1"/>
          </p:cNvSpPr>
          <p:nvPr>
            <p:ph type="ftr" sz="quarter" idx="11"/>
          </p:nvPr>
        </p:nvSpPr>
        <p:spPr/>
        <p:txBody>
          <a:bodyPr/>
          <a:lstStyle/>
          <a:p>
            <a:endParaRPr lang="en-GB"/>
          </a:p>
        </p:txBody>
      </p:sp>
      <p:sp>
        <p:nvSpPr>
          <p:cNvPr id="6" name="Номер слайда 5">
            <a:extLst>
              <a:ext uri="{FF2B5EF4-FFF2-40B4-BE49-F238E27FC236}">
                <a16:creationId xmlns:a16="http://schemas.microsoft.com/office/drawing/2014/main" id="{848FB290-D779-400D-8EB7-1FBDCA780482}"/>
              </a:ext>
            </a:extLst>
          </p:cNvPr>
          <p:cNvSpPr>
            <a:spLocks noGrp="1"/>
          </p:cNvSpPr>
          <p:nvPr>
            <p:ph type="sldNum" sz="quarter" idx="12"/>
          </p:nvPr>
        </p:nvSpPr>
        <p:spPr/>
        <p:txBody>
          <a:bodyPr/>
          <a:lstStyle/>
          <a:p>
            <a:fld id="{93C419CB-0CF1-4F10-90F9-42551F8968FF}" type="slidenum">
              <a:rPr lang="en-GB" smtClean="0"/>
              <a:t>‹#›</a:t>
            </a:fld>
            <a:endParaRPr lang="en-GB"/>
          </a:p>
        </p:txBody>
      </p:sp>
    </p:spTree>
    <p:extLst>
      <p:ext uri="{BB962C8B-B14F-4D97-AF65-F5344CB8AC3E}">
        <p14:creationId xmlns:p14="http://schemas.microsoft.com/office/powerpoint/2010/main" val="28817240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Заголовок, текст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215F7CC-EE1A-4DD0-BA52-388F3654CDCA}"/>
              </a:ext>
            </a:extLst>
          </p:cNvPr>
          <p:cNvSpPr>
            <a:spLocks noGrp="1"/>
          </p:cNvSpPr>
          <p:nvPr>
            <p:ph type="title"/>
          </p:nvPr>
        </p:nvSpPr>
        <p:spPr>
          <a:xfrm>
            <a:off x="914400" y="609600"/>
            <a:ext cx="10363200" cy="1143000"/>
          </a:xfrm>
        </p:spPr>
        <p:txBody>
          <a:bodyPr/>
          <a:lstStyle/>
          <a:p>
            <a:r>
              <a:rPr lang="ru-RU"/>
              <a:t>Образец заголовка</a:t>
            </a:r>
            <a:endParaRPr lang="en-GB"/>
          </a:p>
        </p:txBody>
      </p:sp>
      <p:sp>
        <p:nvSpPr>
          <p:cNvPr id="3" name="Текст 2">
            <a:extLst>
              <a:ext uri="{FF2B5EF4-FFF2-40B4-BE49-F238E27FC236}">
                <a16:creationId xmlns:a16="http://schemas.microsoft.com/office/drawing/2014/main" id="{F211B460-C298-4E88-8C13-161AD176540D}"/>
              </a:ext>
            </a:extLst>
          </p:cNvPr>
          <p:cNvSpPr>
            <a:spLocks noGrp="1"/>
          </p:cNvSpPr>
          <p:nvPr>
            <p:ph type="body" sz="half" idx="1"/>
          </p:nvPr>
        </p:nvSpPr>
        <p:spPr>
          <a:xfrm>
            <a:off x="914400" y="1981200"/>
            <a:ext cx="5080000" cy="4114800"/>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GB"/>
          </a:p>
        </p:txBody>
      </p:sp>
      <p:sp>
        <p:nvSpPr>
          <p:cNvPr id="4" name="Объект 3">
            <a:extLst>
              <a:ext uri="{FF2B5EF4-FFF2-40B4-BE49-F238E27FC236}">
                <a16:creationId xmlns:a16="http://schemas.microsoft.com/office/drawing/2014/main" id="{AF157B01-B517-4C8B-AE09-46B14EA2CB33}"/>
              </a:ext>
            </a:extLst>
          </p:cNvPr>
          <p:cNvSpPr>
            <a:spLocks noGrp="1"/>
          </p:cNvSpPr>
          <p:nvPr>
            <p:ph sz="half" idx="2"/>
          </p:nvPr>
        </p:nvSpPr>
        <p:spPr>
          <a:xfrm>
            <a:off x="6197600" y="1981200"/>
            <a:ext cx="5080000" cy="4114800"/>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GB"/>
          </a:p>
        </p:txBody>
      </p:sp>
      <p:sp>
        <p:nvSpPr>
          <p:cNvPr id="5" name="Дата 4">
            <a:extLst>
              <a:ext uri="{FF2B5EF4-FFF2-40B4-BE49-F238E27FC236}">
                <a16:creationId xmlns:a16="http://schemas.microsoft.com/office/drawing/2014/main" id="{28435F77-6488-4CE7-B88D-41162CE8FA26}"/>
              </a:ext>
            </a:extLst>
          </p:cNvPr>
          <p:cNvSpPr>
            <a:spLocks noGrp="1"/>
          </p:cNvSpPr>
          <p:nvPr>
            <p:ph type="dt" sz="half" idx="10"/>
          </p:nvPr>
        </p:nvSpPr>
        <p:spPr>
          <a:xfrm>
            <a:off x="914400" y="6248400"/>
            <a:ext cx="2540000" cy="457200"/>
          </a:xfrm>
        </p:spPr>
        <p:txBody>
          <a:bodyPr/>
          <a:lstStyle>
            <a:lvl1pPr>
              <a:defRPr/>
            </a:lvl1pPr>
          </a:lstStyle>
          <a:p>
            <a:endParaRPr lang="en-US" altLang="en-US"/>
          </a:p>
        </p:txBody>
      </p:sp>
      <p:sp>
        <p:nvSpPr>
          <p:cNvPr id="6" name="Нижний колонтитул 5">
            <a:extLst>
              <a:ext uri="{FF2B5EF4-FFF2-40B4-BE49-F238E27FC236}">
                <a16:creationId xmlns:a16="http://schemas.microsoft.com/office/drawing/2014/main" id="{B5C807A3-801F-4E3A-924A-582F042C8518}"/>
              </a:ext>
            </a:extLst>
          </p:cNvPr>
          <p:cNvSpPr>
            <a:spLocks noGrp="1"/>
          </p:cNvSpPr>
          <p:nvPr>
            <p:ph type="ftr" sz="quarter" idx="11"/>
          </p:nvPr>
        </p:nvSpPr>
        <p:spPr>
          <a:xfrm>
            <a:off x="4165600" y="6248400"/>
            <a:ext cx="3860800" cy="457200"/>
          </a:xfrm>
        </p:spPr>
        <p:txBody>
          <a:bodyPr/>
          <a:lstStyle>
            <a:lvl1pPr>
              <a:defRPr/>
            </a:lvl1pPr>
          </a:lstStyle>
          <a:p>
            <a:endParaRPr lang="en-US" altLang="en-US"/>
          </a:p>
        </p:txBody>
      </p:sp>
      <p:sp>
        <p:nvSpPr>
          <p:cNvPr id="7" name="Номер слайда 6">
            <a:extLst>
              <a:ext uri="{FF2B5EF4-FFF2-40B4-BE49-F238E27FC236}">
                <a16:creationId xmlns:a16="http://schemas.microsoft.com/office/drawing/2014/main" id="{F3E18C26-AF22-4ABA-B781-799264007721}"/>
              </a:ext>
            </a:extLst>
          </p:cNvPr>
          <p:cNvSpPr>
            <a:spLocks noGrp="1"/>
          </p:cNvSpPr>
          <p:nvPr>
            <p:ph type="sldNum" sz="quarter" idx="12"/>
          </p:nvPr>
        </p:nvSpPr>
        <p:spPr>
          <a:xfrm>
            <a:off x="8737600" y="6248400"/>
            <a:ext cx="2540000" cy="457200"/>
          </a:xfrm>
        </p:spPr>
        <p:txBody>
          <a:bodyPr/>
          <a:lstStyle>
            <a:lvl1pPr>
              <a:defRPr/>
            </a:lvl1pPr>
          </a:lstStyle>
          <a:p>
            <a:fld id="{68DAADF1-A7B8-4CAC-A3EB-203F27D0783D}" type="slidenum">
              <a:rPr lang="en-US" altLang="en-US"/>
              <a:pPr/>
              <a:t>‹#›</a:t>
            </a:fld>
            <a:endParaRPr lang="en-US" altLang="en-US"/>
          </a:p>
        </p:txBody>
      </p:sp>
    </p:spTree>
    <p:extLst>
      <p:ext uri="{BB962C8B-B14F-4D97-AF65-F5344CB8AC3E}">
        <p14:creationId xmlns:p14="http://schemas.microsoft.com/office/powerpoint/2010/main" val="143575120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cSld name="Заголовок, текст и два объект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B410361-853D-4F56-B7AB-6B27B80FA928}"/>
              </a:ext>
            </a:extLst>
          </p:cNvPr>
          <p:cNvSpPr>
            <a:spLocks noGrp="1"/>
          </p:cNvSpPr>
          <p:nvPr>
            <p:ph type="title"/>
          </p:nvPr>
        </p:nvSpPr>
        <p:spPr>
          <a:xfrm>
            <a:off x="914400" y="609600"/>
            <a:ext cx="10363200" cy="1143000"/>
          </a:xfrm>
        </p:spPr>
        <p:txBody>
          <a:bodyPr/>
          <a:lstStyle/>
          <a:p>
            <a:r>
              <a:rPr lang="ru-RU"/>
              <a:t>Образец заголовка</a:t>
            </a:r>
            <a:endParaRPr lang="en-GB"/>
          </a:p>
        </p:txBody>
      </p:sp>
      <p:sp>
        <p:nvSpPr>
          <p:cNvPr id="3" name="Текст 2">
            <a:extLst>
              <a:ext uri="{FF2B5EF4-FFF2-40B4-BE49-F238E27FC236}">
                <a16:creationId xmlns:a16="http://schemas.microsoft.com/office/drawing/2014/main" id="{67B4A358-6077-44BB-BA41-DA7703A1A5AD}"/>
              </a:ext>
            </a:extLst>
          </p:cNvPr>
          <p:cNvSpPr>
            <a:spLocks noGrp="1"/>
          </p:cNvSpPr>
          <p:nvPr>
            <p:ph type="body" sz="half" idx="1"/>
          </p:nvPr>
        </p:nvSpPr>
        <p:spPr>
          <a:xfrm>
            <a:off x="914400" y="1981200"/>
            <a:ext cx="5080000" cy="4114800"/>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GB"/>
          </a:p>
        </p:txBody>
      </p:sp>
      <p:sp>
        <p:nvSpPr>
          <p:cNvPr id="4" name="Объект 3">
            <a:extLst>
              <a:ext uri="{FF2B5EF4-FFF2-40B4-BE49-F238E27FC236}">
                <a16:creationId xmlns:a16="http://schemas.microsoft.com/office/drawing/2014/main" id="{EEC782A3-DDCB-49E8-B32F-745576649E5A}"/>
              </a:ext>
            </a:extLst>
          </p:cNvPr>
          <p:cNvSpPr>
            <a:spLocks noGrp="1"/>
          </p:cNvSpPr>
          <p:nvPr>
            <p:ph sz="quarter" idx="2"/>
          </p:nvPr>
        </p:nvSpPr>
        <p:spPr>
          <a:xfrm>
            <a:off x="6197600" y="1981200"/>
            <a:ext cx="5080000" cy="1981200"/>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GB"/>
          </a:p>
        </p:txBody>
      </p:sp>
      <p:sp>
        <p:nvSpPr>
          <p:cNvPr id="5" name="Объект 4">
            <a:extLst>
              <a:ext uri="{FF2B5EF4-FFF2-40B4-BE49-F238E27FC236}">
                <a16:creationId xmlns:a16="http://schemas.microsoft.com/office/drawing/2014/main" id="{74760B3B-B93C-462E-B2E0-3340BBE71670}"/>
              </a:ext>
            </a:extLst>
          </p:cNvPr>
          <p:cNvSpPr>
            <a:spLocks noGrp="1"/>
          </p:cNvSpPr>
          <p:nvPr>
            <p:ph sz="quarter" idx="3"/>
          </p:nvPr>
        </p:nvSpPr>
        <p:spPr>
          <a:xfrm>
            <a:off x="6197600" y="4114800"/>
            <a:ext cx="5080000" cy="1981200"/>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GB"/>
          </a:p>
        </p:txBody>
      </p:sp>
      <p:sp>
        <p:nvSpPr>
          <p:cNvPr id="6" name="Дата 5">
            <a:extLst>
              <a:ext uri="{FF2B5EF4-FFF2-40B4-BE49-F238E27FC236}">
                <a16:creationId xmlns:a16="http://schemas.microsoft.com/office/drawing/2014/main" id="{3DC9BE96-55FE-4593-8D8D-8EB972A6254A}"/>
              </a:ext>
            </a:extLst>
          </p:cNvPr>
          <p:cNvSpPr>
            <a:spLocks noGrp="1"/>
          </p:cNvSpPr>
          <p:nvPr>
            <p:ph type="dt" sz="half" idx="10"/>
          </p:nvPr>
        </p:nvSpPr>
        <p:spPr>
          <a:xfrm>
            <a:off x="914400" y="6248400"/>
            <a:ext cx="2540000" cy="457200"/>
          </a:xfrm>
        </p:spPr>
        <p:txBody>
          <a:bodyPr/>
          <a:lstStyle>
            <a:lvl1pPr>
              <a:defRPr/>
            </a:lvl1pPr>
          </a:lstStyle>
          <a:p>
            <a:endParaRPr lang="en-US" altLang="en-US"/>
          </a:p>
        </p:txBody>
      </p:sp>
      <p:sp>
        <p:nvSpPr>
          <p:cNvPr id="7" name="Нижний колонтитул 6">
            <a:extLst>
              <a:ext uri="{FF2B5EF4-FFF2-40B4-BE49-F238E27FC236}">
                <a16:creationId xmlns:a16="http://schemas.microsoft.com/office/drawing/2014/main" id="{57DFD932-E2E0-4AE5-8599-F0D2EBB436BE}"/>
              </a:ext>
            </a:extLst>
          </p:cNvPr>
          <p:cNvSpPr>
            <a:spLocks noGrp="1"/>
          </p:cNvSpPr>
          <p:nvPr>
            <p:ph type="ftr" sz="quarter" idx="11"/>
          </p:nvPr>
        </p:nvSpPr>
        <p:spPr>
          <a:xfrm>
            <a:off x="4165600" y="6248400"/>
            <a:ext cx="3860800" cy="457200"/>
          </a:xfrm>
        </p:spPr>
        <p:txBody>
          <a:bodyPr/>
          <a:lstStyle>
            <a:lvl1pPr>
              <a:defRPr/>
            </a:lvl1pPr>
          </a:lstStyle>
          <a:p>
            <a:endParaRPr lang="en-US" altLang="en-US"/>
          </a:p>
        </p:txBody>
      </p:sp>
      <p:sp>
        <p:nvSpPr>
          <p:cNvPr id="8" name="Номер слайда 7">
            <a:extLst>
              <a:ext uri="{FF2B5EF4-FFF2-40B4-BE49-F238E27FC236}">
                <a16:creationId xmlns:a16="http://schemas.microsoft.com/office/drawing/2014/main" id="{EAFE9DD2-26A8-4E1E-AE69-4EF7FCB9F41D}"/>
              </a:ext>
            </a:extLst>
          </p:cNvPr>
          <p:cNvSpPr>
            <a:spLocks noGrp="1"/>
          </p:cNvSpPr>
          <p:nvPr>
            <p:ph type="sldNum" sz="quarter" idx="12"/>
          </p:nvPr>
        </p:nvSpPr>
        <p:spPr>
          <a:xfrm>
            <a:off x="8737600" y="6248400"/>
            <a:ext cx="2540000" cy="457200"/>
          </a:xfrm>
        </p:spPr>
        <p:txBody>
          <a:bodyPr/>
          <a:lstStyle>
            <a:lvl1pPr>
              <a:defRPr/>
            </a:lvl1pPr>
          </a:lstStyle>
          <a:p>
            <a:fld id="{D6FB2560-6A01-4B0F-9A53-AB7355D4862C}" type="slidenum">
              <a:rPr lang="en-US" altLang="en-US"/>
              <a:pPr/>
              <a:t>‹#›</a:t>
            </a:fld>
            <a:endParaRPr lang="en-US" altLang="en-US"/>
          </a:p>
        </p:txBody>
      </p:sp>
    </p:spTree>
    <p:extLst>
      <p:ext uri="{BB962C8B-B14F-4D97-AF65-F5344CB8AC3E}">
        <p14:creationId xmlns:p14="http://schemas.microsoft.com/office/powerpoint/2010/main" val="17701390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7801ED8-0AA5-4668-B204-DEA3A869D3B2}"/>
              </a:ext>
            </a:extLst>
          </p:cNvPr>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ru-RU"/>
              <a:t>Образец заголовка</a:t>
            </a:r>
            <a:endParaRPr lang="en-GB"/>
          </a:p>
        </p:txBody>
      </p:sp>
      <p:sp>
        <p:nvSpPr>
          <p:cNvPr id="3" name="Текст 2">
            <a:extLst>
              <a:ext uri="{FF2B5EF4-FFF2-40B4-BE49-F238E27FC236}">
                <a16:creationId xmlns:a16="http://schemas.microsoft.com/office/drawing/2014/main" id="{F81B4F0C-21C0-4FE8-B516-CB61A669206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GB"/>
          </a:p>
        </p:txBody>
      </p:sp>
      <p:sp>
        <p:nvSpPr>
          <p:cNvPr id="4" name="Дата 3">
            <a:extLst>
              <a:ext uri="{FF2B5EF4-FFF2-40B4-BE49-F238E27FC236}">
                <a16:creationId xmlns:a16="http://schemas.microsoft.com/office/drawing/2014/main" id="{C1EA4C9F-99F2-403E-9ADA-EA4779373D0C}"/>
              </a:ext>
            </a:extLst>
          </p:cNvPr>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7986692-668B-40A5-B8AE-996FA03899D6}" type="datetime1">
              <a:rPr lang="en-GB" smtClean="0"/>
              <a:t>23/04/2023</a:t>
            </a:fld>
            <a:endParaRPr lang="en-GB"/>
          </a:p>
        </p:txBody>
      </p:sp>
      <p:sp>
        <p:nvSpPr>
          <p:cNvPr id="5" name="Нижний колонтитул 4">
            <a:extLst>
              <a:ext uri="{FF2B5EF4-FFF2-40B4-BE49-F238E27FC236}">
                <a16:creationId xmlns:a16="http://schemas.microsoft.com/office/drawing/2014/main" id="{E92ADBC9-C229-4C8A-A83F-71469218A716}"/>
              </a:ext>
            </a:extLst>
          </p:cNvPr>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Номер слайда 5">
            <a:extLst>
              <a:ext uri="{FF2B5EF4-FFF2-40B4-BE49-F238E27FC236}">
                <a16:creationId xmlns:a16="http://schemas.microsoft.com/office/drawing/2014/main" id="{C46612A8-5C24-4D8C-9DE9-E8565F4072B1}"/>
              </a:ext>
            </a:extLst>
          </p:cNvPr>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3C419CB-0CF1-4F10-90F9-42551F8968FF}" type="slidenum">
              <a:rPr lang="en-GB" smtClean="0"/>
              <a:t>‹#›</a:t>
            </a:fld>
            <a:endParaRPr lang="en-GB"/>
          </a:p>
        </p:txBody>
      </p:sp>
    </p:spTree>
    <p:extLst>
      <p:ext uri="{BB962C8B-B14F-4D97-AF65-F5344CB8AC3E}">
        <p14:creationId xmlns:p14="http://schemas.microsoft.com/office/powerpoint/2010/main" val="354346657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hdr="0" ftr="0" dt="0"/>
  <p:txStyles>
    <p:titleStyle>
      <a:lvl1pPr algn="l" defTabSz="914377"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hyperlink" Target="https://www.degruyter.com/database/iupac/html" TargetMode="Externa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7.xml"/><Relationship Id="rId1" Type="http://schemas.openxmlformats.org/officeDocument/2006/relationships/vmlDrawing" Target="../drawings/vmlDrawing1.vml"/><Relationship Id="rId6" Type="http://schemas.openxmlformats.org/officeDocument/2006/relationships/image" Target="../media/image4.emf"/><Relationship Id="rId5" Type="http://schemas.openxmlformats.org/officeDocument/2006/relationships/oleObject" Target="../embeddings/oleObject1.bin"/><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18.png"/><Relationship Id="rId10" Type="http://schemas.openxmlformats.org/officeDocument/2006/relationships/image" Target="../media/image23.png"/><Relationship Id="rId4" Type="http://schemas.openxmlformats.org/officeDocument/2006/relationships/image" Target="../media/image17.png"/><Relationship Id="rId9" Type="http://schemas.openxmlformats.org/officeDocument/2006/relationships/image" Target="../media/image22.png"/></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7.xml"/><Relationship Id="rId4" Type="http://schemas.openxmlformats.org/officeDocument/2006/relationships/image" Target="../media/image26.png"/></Relationships>
</file>

<file path=ppt/slides/_rels/slide1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1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3.xml"/><Relationship Id="rId1" Type="http://schemas.openxmlformats.org/officeDocument/2006/relationships/slideLayout" Target="../slideLayouts/slideLayout7.xml"/><Relationship Id="rId5" Type="http://schemas.openxmlformats.org/officeDocument/2006/relationships/image" Target="../media/image36.png"/><Relationship Id="rId4" Type="http://schemas.openxmlformats.org/officeDocument/2006/relationships/image" Target="../media/image35.jpg"/></Relationships>
</file>

<file path=ppt/slides/_rels/slide2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7.xml"/><Relationship Id="rId4" Type="http://schemas.openxmlformats.org/officeDocument/2006/relationships/image" Target="../media/image39.png"/></Relationships>
</file>

<file path=ppt/slides/_rels/slide22.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8" Type="http://schemas.openxmlformats.org/officeDocument/2006/relationships/image" Target="../media/image45.png"/><Relationship Id="rId3" Type="http://schemas.openxmlformats.org/officeDocument/2006/relationships/image" Target="../media/image42.png"/><Relationship Id="rId7" Type="http://schemas.openxmlformats.org/officeDocument/2006/relationships/image" Target="../media/image41.emf"/><Relationship Id="rId2" Type="http://schemas.openxmlformats.org/officeDocument/2006/relationships/slideLayout" Target="../slideLayouts/slideLayout7.xml"/><Relationship Id="rId1" Type="http://schemas.openxmlformats.org/officeDocument/2006/relationships/vmlDrawing" Target="../drawings/vmlDrawing2.vml"/><Relationship Id="rId6" Type="http://schemas.openxmlformats.org/officeDocument/2006/relationships/oleObject" Target="../embeddings/oleObject2.bin"/><Relationship Id="rId5" Type="http://schemas.openxmlformats.org/officeDocument/2006/relationships/image" Target="../media/image44.png"/><Relationship Id="rId4" Type="http://schemas.openxmlformats.org/officeDocument/2006/relationships/image" Target="../media/image43.png"/></Relationships>
</file>

<file path=ppt/slides/_rels/slide2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47.png"/></Relationships>
</file>

<file path=ppt/slides/_rels/slide25.xml.rels><?xml version="1.0" encoding="UTF-8" standalone="yes"?>
<Relationships xmlns="http://schemas.openxmlformats.org/package/2006/relationships"><Relationship Id="rId13" Type="http://schemas.openxmlformats.org/officeDocument/2006/relationships/image" Target="../media/image61.png"/><Relationship Id="rId18" Type="http://schemas.openxmlformats.org/officeDocument/2006/relationships/image" Target="../media/image66.png"/><Relationship Id="rId26" Type="http://schemas.openxmlformats.org/officeDocument/2006/relationships/image" Target="../media/image74.png"/><Relationship Id="rId39" Type="http://schemas.openxmlformats.org/officeDocument/2006/relationships/image" Target="../media/image87.png"/><Relationship Id="rId21" Type="http://schemas.openxmlformats.org/officeDocument/2006/relationships/image" Target="../media/image69.png"/><Relationship Id="rId34" Type="http://schemas.openxmlformats.org/officeDocument/2006/relationships/image" Target="../media/image82.png"/><Relationship Id="rId42" Type="http://schemas.openxmlformats.org/officeDocument/2006/relationships/image" Target="../media/image90.png"/><Relationship Id="rId47" Type="http://schemas.openxmlformats.org/officeDocument/2006/relationships/image" Target="../media/image95.png"/><Relationship Id="rId7" Type="http://schemas.openxmlformats.org/officeDocument/2006/relationships/image" Target="../media/image55.png"/><Relationship Id="rId2" Type="http://schemas.openxmlformats.org/officeDocument/2006/relationships/image" Target="../media/image50.png"/><Relationship Id="rId16" Type="http://schemas.openxmlformats.org/officeDocument/2006/relationships/image" Target="../media/image64.png"/><Relationship Id="rId29" Type="http://schemas.openxmlformats.org/officeDocument/2006/relationships/image" Target="../media/image77.png"/><Relationship Id="rId1" Type="http://schemas.openxmlformats.org/officeDocument/2006/relationships/slideLayout" Target="../slideLayouts/slideLayout7.xml"/><Relationship Id="rId6" Type="http://schemas.openxmlformats.org/officeDocument/2006/relationships/image" Target="../media/image54.png"/><Relationship Id="rId11" Type="http://schemas.openxmlformats.org/officeDocument/2006/relationships/image" Target="../media/image59.png"/><Relationship Id="rId24" Type="http://schemas.openxmlformats.org/officeDocument/2006/relationships/image" Target="../media/image72.png"/><Relationship Id="rId32" Type="http://schemas.openxmlformats.org/officeDocument/2006/relationships/image" Target="../media/image80.png"/><Relationship Id="rId37" Type="http://schemas.openxmlformats.org/officeDocument/2006/relationships/image" Target="../media/image85.png"/><Relationship Id="rId40" Type="http://schemas.openxmlformats.org/officeDocument/2006/relationships/image" Target="../media/image88.png"/><Relationship Id="rId45" Type="http://schemas.openxmlformats.org/officeDocument/2006/relationships/image" Target="../media/image93.png"/><Relationship Id="rId5" Type="http://schemas.openxmlformats.org/officeDocument/2006/relationships/image" Target="../media/image53.png"/><Relationship Id="rId15" Type="http://schemas.openxmlformats.org/officeDocument/2006/relationships/image" Target="../media/image63.png"/><Relationship Id="rId23" Type="http://schemas.openxmlformats.org/officeDocument/2006/relationships/image" Target="../media/image71.png"/><Relationship Id="rId28" Type="http://schemas.openxmlformats.org/officeDocument/2006/relationships/image" Target="../media/image76.png"/><Relationship Id="rId36" Type="http://schemas.openxmlformats.org/officeDocument/2006/relationships/image" Target="../media/image84.png"/><Relationship Id="rId10" Type="http://schemas.openxmlformats.org/officeDocument/2006/relationships/image" Target="../media/image58.png"/><Relationship Id="rId19" Type="http://schemas.openxmlformats.org/officeDocument/2006/relationships/image" Target="../media/image67.png"/><Relationship Id="rId31" Type="http://schemas.openxmlformats.org/officeDocument/2006/relationships/image" Target="../media/image79.png"/><Relationship Id="rId44" Type="http://schemas.openxmlformats.org/officeDocument/2006/relationships/image" Target="../media/image92.png"/><Relationship Id="rId4" Type="http://schemas.openxmlformats.org/officeDocument/2006/relationships/image" Target="../media/image52.png"/><Relationship Id="rId9" Type="http://schemas.openxmlformats.org/officeDocument/2006/relationships/image" Target="../media/image57.png"/><Relationship Id="rId14" Type="http://schemas.openxmlformats.org/officeDocument/2006/relationships/image" Target="../media/image62.png"/><Relationship Id="rId22" Type="http://schemas.openxmlformats.org/officeDocument/2006/relationships/image" Target="../media/image70.png"/><Relationship Id="rId27" Type="http://schemas.openxmlformats.org/officeDocument/2006/relationships/image" Target="../media/image75.png"/><Relationship Id="rId30" Type="http://schemas.openxmlformats.org/officeDocument/2006/relationships/image" Target="../media/image78.png"/><Relationship Id="rId35" Type="http://schemas.openxmlformats.org/officeDocument/2006/relationships/image" Target="../media/image83.png"/><Relationship Id="rId43" Type="http://schemas.openxmlformats.org/officeDocument/2006/relationships/image" Target="../media/image91.png"/><Relationship Id="rId48" Type="http://schemas.openxmlformats.org/officeDocument/2006/relationships/image" Target="../media/image96.png"/><Relationship Id="rId8" Type="http://schemas.openxmlformats.org/officeDocument/2006/relationships/image" Target="../media/image56.png"/><Relationship Id="rId3" Type="http://schemas.openxmlformats.org/officeDocument/2006/relationships/image" Target="../media/image51.png"/><Relationship Id="rId12" Type="http://schemas.openxmlformats.org/officeDocument/2006/relationships/image" Target="../media/image60.png"/><Relationship Id="rId17" Type="http://schemas.openxmlformats.org/officeDocument/2006/relationships/image" Target="../media/image65.png"/><Relationship Id="rId25" Type="http://schemas.openxmlformats.org/officeDocument/2006/relationships/image" Target="../media/image73.png"/><Relationship Id="rId33" Type="http://schemas.openxmlformats.org/officeDocument/2006/relationships/image" Target="../media/image81.png"/><Relationship Id="rId38" Type="http://schemas.openxmlformats.org/officeDocument/2006/relationships/image" Target="../media/image86.png"/><Relationship Id="rId46" Type="http://schemas.openxmlformats.org/officeDocument/2006/relationships/image" Target="../media/image94.png"/><Relationship Id="rId20" Type="http://schemas.openxmlformats.org/officeDocument/2006/relationships/image" Target="../media/image68.png"/><Relationship Id="rId41" Type="http://schemas.openxmlformats.org/officeDocument/2006/relationships/image" Target="../media/image89.png"/></Relationships>
</file>

<file path=ppt/slides/_rels/slide26.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15.xml"/><Relationship Id="rId1" Type="http://schemas.openxmlformats.org/officeDocument/2006/relationships/slideLayout" Target="../slideLayouts/slideLayout7.xml"/><Relationship Id="rId6" Type="http://schemas.openxmlformats.org/officeDocument/2006/relationships/image" Target="../media/image100.png"/><Relationship Id="rId5" Type="http://schemas.openxmlformats.org/officeDocument/2006/relationships/image" Target="../media/image99.png"/><Relationship Id="rId4" Type="http://schemas.openxmlformats.org/officeDocument/2006/relationships/image" Target="../media/image98.png"/></Relationships>
</file>

<file path=ppt/slides/_rels/slide27.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image" Target="../media/image101.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notesSlide" Target="../notesSlides/notesSlide16.xml"/><Relationship Id="rId1" Type="http://schemas.openxmlformats.org/officeDocument/2006/relationships/slideLayout" Target="../slideLayouts/slideLayout7.xml"/><Relationship Id="rId5" Type="http://schemas.openxmlformats.org/officeDocument/2006/relationships/image" Target="../media/image105.png"/><Relationship Id="rId4" Type="http://schemas.openxmlformats.org/officeDocument/2006/relationships/image" Target="../media/image104.png"/></Relationships>
</file>

<file path=ppt/slides/_rels/slide29.xml.rels><?xml version="1.0" encoding="UTF-8" standalone="yes"?>
<Relationships xmlns="http://schemas.openxmlformats.org/package/2006/relationships"><Relationship Id="rId2" Type="http://schemas.openxmlformats.org/officeDocument/2006/relationships/image" Target="../media/image106.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slideLayout" Target="../slideLayouts/slideLayout7.xml"/><Relationship Id="rId1" Type="http://schemas.openxmlformats.org/officeDocument/2006/relationships/vmlDrawing" Target="../drawings/vmlDrawing3.vml"/><Relationship Id="rId5" Type="http://schemas.openxmlformats.org/officeDocument/2006/relationships/image" Target="../media/image107.emf"/><Relationship Id="rId4" Type="http://schemas.openxmlformats.org/officeDocument/2006/relationships/oleObject" Target="../embeddings/oleObject3.bin"/></Relationships>
</file>

<file path=ppt/slides/_rels/slide31.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image" Target="../media/image109.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image" Target="../media/image111.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image" Target="../media/image113.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image" Target="../media/image115.png"/><Relationship Id="rId1" Type="http://schemas.openxmlformats.org/officeDocument/2006/relationships/slideLayout" Target="../slideLayouts/slideLayout7.xml"/><Relationship Id="rId5" Type="http://schemas.openxmlformats.org/officeDocument/2006/relationships/image" Target="../media/image118.png"/><Relationship Id="rId4" Type="http://schemas.openxmlformats.org/officeDocument/2006/relationships/image" Target="../media/image117.png"/></Relationships>
</file>

<file path=ppt/slides/_rels/slide35.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image" Target="../media/image119.png"/><Relationship Id="rId1" Type="http://schemas.openxmlformats.org/officeDocument/2006/relationships/slideLayout" Target="../slideLayouts/slideLayout7.xml"/><Relationship Id="rId4" Type="http://schemas.openxmlformats.org/officeDocument/2006/relationships/image" Target="../media/image121.png"/></Relationships>
</file>

<file path=ppt/slides/_rels/slide36.xml.rels><?xml version="1.0" encoding="UTF-8" standalone="yes"?>
<Relationships xmlns="http://schemas.openxmlformats.org/package/2006/relationships"><Relationship Id="rId2" Type="http://schemas.openxmlformats.org/officeDocument/2006/relationships/image" Target="../media/image122.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123.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8" Type="http://schemas.openxmlformats.org/officeDocument/2006/relationships/image" Target="../media/image130.png"/><Relationship Id="rId13" Type="http://schemas.openxmlformats.org/officeDocument/2006/relationships/image" Target="../media/image134.png"/><Relationship Id="rId3" Type="http://schemas.openxmlformats.org/officeDocument/2006/relationships/image" Target="../media/image125.png"/><Relationship Id="rId7" Type="http://schemas.openxmlformats.org/officeDocument/2006/relationships/image" Target="../media/image129.png"/><Relationship Id="rId12" Type="http://schemas.openxmlformats.org/officeDocument/2006/relationships/image" Target="../media/image133.png"/><Relationship Id="rId2" Type="http://schemas.openxmlformats.org/officeDocument/2006/relationships/image" Target="../media/image124.png"/><Relationship Id="rId1" Type="http://schemas.openxmlformats.org/officeDocument/2006/relationships/slideLayout" Target="../slideLayouts/slideLayout7.xml"/><Relationship Id="rId6" Type="http://schemas.openxmlformats.org/officeDocument/2006/relationships/image" Target="../media/image128.png"/><Relationship Id="rId11" Type="http://schemas.openxmlformats.org/officeDocument/2006/relationships/image" Target="../media/image132.png"/><Relationship Id="rId5" Type="http://schemas.openxmlformats.org/officeDocument/2006/relationships/image" Target="../media/image127.png"/><Relationship Id="rId10" Type="http://schemas.openxmlformats.org/officeDocument/2006/relationships/image" Target="../media/image131.png"/><Relationship Id="rId4" Type="http://schemas.openxmlformats.org/officeDocument/2006/relationships/image" Target="../media/image126.png"/><Relationship Id="rId9" Type="http://schemas.openxmlformats.org/officeDocument/2006/relationships/hyperlink" Target="https://www.acdlabs.com/iupac/nomenclature/79/r79_960.htm" TargetMode="External"/></Relationships>
</file>

<file path=ppt/slides/_rels/slide39.xml.rels><?xml version="1.0" encoding="UTF-8" standalone="yes"?>
<Relationships xmlns="http://schemas.openxmlformats.org/package/2006/relationships"><Relationship Id="rId3" Type="http://schemas.openxmlformats.org/officeDocument/2006/relationships/image" Target="../media/image135.png"/><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8" Type="http://schemas.openxmlformats.org/officeDocument/2006/relationships/image" Target="../media/image139.png"/><Relationship Id="rId13" Type="http://schemas.openxmlformats.org/officeDocument/2006/relationships/image" Target="../media/image144.png"/><Relationship Id="rId3" Type="http://schemas.openxmlformats.org/officeDocument/2006/relationships/image" Target="../media/image28.png"/><Relationship Id="rId7" Type="http://schemas.openxmlformats.org/officeDocument/2006/relationships/image" Target="../media/image138.png"/><Relationship Id="rId12" Type="http://schemas.openxmlformats.org/officeDocument/2006/relationships/image" Target="../media/image143.png"/><Relationship Id="rId2" Type="http://schemas.openxmlformats.org/officeDocument/2006/relationships/image" Target="../media/image136.png"/><Relationship Id="rId16" Type="http://schemas.openxmlformats.org/officeDocument/2006/relationships/image" Target="../media/image147.png"/><Relationship Id="rId1" Type="http://schemas.openxmlformats.org/officeDocument/2006/relationships/slideLayout" Target="../slideLayouts/slideLayout7.xml"/><Relationship Id="rId6" Type="http://schemas.openxmlformats.org/officeDocument/2006/relationships/image" Target="../media/image137.png"/><Relationship Id="rId11" Type="http://schemas.openxmlformats.org/officeDocument/2006/relationships/image" Target="../media/image142.png"/><Relationship Id="rId5" Type="http://schemas.openxmlformats.org/officeDocument/2006/relationships/image" Target="../media/image27.png"/><Relationship Id="rId15" Type="http://schemas.openxmlformats.org/officeDocument/2006/relationships/image" Target="../media/image146.png"/><Relationship Id="rId10" Type="http://schemas.openxmlformats.org/officeDocument/2006/relationships/image" Target="../media/image141.png"/><Relationship Id="rId4" Type="http://schemas.openxmlformats.org/officeDocument/2006/relationships/image" Target="../media/image29.png"/><Relationship Id="rId9" Type="http://schemas.openxmlformats.org/officeDocument/2006/relationships/image" Target="../media/image140.png"/><Relationship Id="rId14" Type="http://schemas.openxmlformats.org/officeDocument/2006/relationships/image" Target="../media/image145.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148.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149.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150.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151.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152.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153.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154.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8" Type="http://schemas.openxmlformats.org/officeDocument/2006/relationships/oleObject" Target="../embeddings/oleObject5.bin"/><Relationship Id="rId3" Type="http://schemas.openxmlformats.org/officeDocument/2006/relationships/notesSlide" Target="../notesSlides/notesSlide18.xml"/><Relationship Id="rId7" Type="http://schemas.openxmlformats.org/officeDocument/2006/relationships/image" Target="../media/image155.emf"/><Relationship Id="rId2" Type="http://schemas.openxmlformats.org/officeDocument/2006/relationships/slideLayout" Target="../slideLayouts/slideLayout7.xml"/><Relationship Id="rId1" Type="http://schemas.openxmlformats.org/officeDocument/2006/relationships/vmlDrawing" Target="../drawings/vmlDrawing4.vml"/><Relationship Id="rId6" Type="http://schemas.openxmlformats.org/officeDocument/2006/relationships/oleObject" Target="../embeddings/oleObject4.bin"/><Relationship Id="rId5" Type="http://schemas.openxmlformats.org/officeDocument/2006/relationships/image" Target="../media/image135.png"/><Relationship Id="rId4" Type="http://schemas.openxmlformats.org/officeDocument/2006/relationships/image" Target="../media/image45.png"/><Relationship Id="rId9" Type="http://schemas.openxmlformats.org/officeDocument/2006/relationships/image" Target="../media/image156.emf"/></Relationships>
</file>

<file path=ppt/slides/_rels/slide52.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7.xml"/><Relationship Id="rId1" Type="http://schemas.openxmlformats.org/officeDocument/2006/relationships/vmlDrawing" Target="../drawings/vmlDrawing5.vml"/><Relationship Id="rId5" Type="http://schemas.openxmlformats.org/officeDocument/2006/relationships/image" Target="../media/image104.png"/><Relationship Id="rId4" Type="http://schemas.openxmlformats.org/officeDocument/2006/relationships/image" Target="../media/image157.emf"/></Relationships>
</file>

<file path=ppt/slides/_rels/slide53.xml.rels><?xml version="1.0" encoding="UTF-8" standalone="yes"?>
<Relationships xmlns="http://schemas.openxmlformats.org/package/2006/relationships"><Relationship Id="rId8" Type="http://schemas.openxmlformats.org/officeDocument/2006/relationships/image" Target="../media/image159.emf"/><Relationship Id="rId3" Type="http://schemas.openxmlformats.org/officeDocument/2006/relationships/notesSlide" Target="../notesSlides/notesSlide19.xml"/><Relationship Id="rId7" Type="http://schemas.openxmlformats.org/officeDocument/2006/relationships/oleObject" Target="../embeddings/oleObject8.bin"/><Relationship Id="rId2" Type="http://schemas.openxmlformats.org/officeDocument/2006/relationships/slideLayout" Target="../slideLayouts/slideLayout7.xml"/><Relationship Id="rId1" Type="http://schemas.openxmlformats.org/officeDocument/2006/relationships/vmlDrawing" Target="../drawings/vmlDrawing6.vml"/><Relationship Id="rId6" Type="http://schemas.openxmlformats.org/officeDocument/2006/relationships/image" Target="../media/image104.png"/><Relationship Id="rId5" Type="http://schemas.openxmlformats.org/officeDocument/2006/relationships/image" Target="../media/image158.emf"/><Relationship Id="rId4" Type="http://schemas.openxmlformats.org/officeDocument/2006/relationships/oleObject" Target="../embeddings/oleObject7.bin"/></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7.xml"/><Relationship Id="rId1" Type="http://schemas.openxmlformats.org/officeDocument/2006/relationships/vmlDrawing" Target="../drawings/vmlDrawing7.vml"/><Relationship Id="rId6" Type="http://schemas.openxmlformats.org/officeDocument/2006/relationships/image" Target="../media/image161.png"/><Relationship Id="rId5" Type="http://schemas.openxmlformats.org/officeDocument/2006/relationships/image" Target="../media/image160.emf"/><Relationship Id="rId4" Type="http://schemas.openxmlformats.org/officeDocument/2006/relationships/oleObject" Target="../embeddings/oleObject9.bin"/></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7.xml"/><Relationship Id="rId1" Type="http://schemas.openxmlformats.org/officeDocument/2006/relationships/vmlDrawing" Target="../drawings/vmlDrawing8.vml"/><Relationship Id="rId6" Type="http://schemas.openxmlformats.org/officeDocument/2006/relationships/image" Target="../media/image104.png"/><Relationship Id="rId5" Type="http://schemas.openxmlformats.org/officeDocument/2006/relationships/image" Target="../media/image162.emf"/><Relationship Id="rId4" Type="http://schemas.openxmlformats.org/officeDocument/2006/relationships/oleObject" Target="../embeddings/oleObject10.bin"/></Relationships>
</file>

<file path=ppt/slides/_rels/slide56.xml.rels><?xml version="1.0" encoding="UTF-8" standalone="yes"?>
<Relationships xmlns="http://schemas.openxmlformats.org/package/2006/relationships"><Relationship Id="rId8" Type="http://schemas.openxmlformats.org/officeDocument/2006/relationships/image" Target="../media/image165.png"/><Relationship Id="rId3" Type="http://schemas.openxmlformats.org/officeDocument/2006/relationships/oleObject" Target="../embeddings/oleObject11.bin"/><Relationship Id="rId7" Type="http://schemas.openxmlformats.org/officeDocument/2006/relationships/hyperlink" Target="https://forms.gle/4S127ZhUmUYnRem5A" TargetMode="External"/><Relationship Id="rId2" Type="http://schemas.openxmlformats.org/officeDocument/2006/relationships/slideLayout" Target="../slideLayouts/slideLayout7.xml"/><Relationship Id="rId1" Type="http://schemas.openxmlformats.org/officeDocument/2006/relationships/vmlDrawing" Target="../drawings/vmlDrawing9.vml"/><Relationship Id="rId6" Type="http://schemas.openxmlformats.org/officeDocument/2006/relationships/image" Target="../media/image45.png"/><Relationship Id="rId5" Type="http://schemas.openxmlformats.org/officeDocument/2006/relationships/image" Target="../media/image42.png"/><Relationship Id="rId10" Type="http://schemas.openxmlformats.org/officeDocument/2006/relationships/image" Target="../media/image164.emf"/><Relationship Id="rId4" Type="http://schemas.openxmlformats.org/officeDocument/2006/relationships/image" Target="../media/image163.emf"/><Relationship Id="rId9" Type="http://schemas.openxmlformats.org/officeDocument/2006/relationships/oleObject" Target="../embeddings/oleObject12.bin"/></Relationships>
</file>

<file path=ppt/slides/_rels/slide57.xml.rels><?xml version="1.0" encoding="UTF-8" standalone="yes"?>
<Relationships xmlns="http://schemas.openxmlformats.org/package/2006/relationships"><Relationship Id="rId3" Type="http://schemas.openxmlformats.org/officeDocument/2006/relationships/image" Target="../media/image166.png"/><Relationship Id="rId2" Type="http://schemas.openxmlformats.org/officeDocument/2006/relationships/notesSlide" Target="../notesSlides/notesSlide22.xml"/><Relationship Id="rId1" Type="http://schemas.openxmlformats.org/officeDocument/2006/relationships/slideLayout" Target="../slideLayouts/slideLayout7.xml"/><Relationship Id="rId5" Type="http://schemas.openxmlformats.org/officeDocument/2006/relationships/image" Target="../media/image168.png"/><Relationship Id="rId4" Type="http://schemas.openxmlformats.org/officeDocument/2006/relationships/image" Target="../media/image167.png"/></Relationships>
</file>

<file path=ppt/slides/_rels/slide58.xml.rels><?xml version="1.0" encoding="UTF-8" standalone="yes"?>
<Relationships xmlns="http://schemas.openxmlformats.org/package/2006/relationships"><Relationship Id="rId2" Type="http://schemas.openxmlformats.org/officeDocument/2006/relationships/image" Target="../media/image169.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170.pn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8" Type="http://schemas.openxmlformats.org/officeDocument/2006/relationships/image" Target="../media/image177.png"/><Relationship Id="rId3" Type="http://schemas.openxmlformats.org/officeDocument/2006/relationships/image" Target="../media/image172.png"/><Relationship Id="rId7" Type="http://schemas.openxmlformats.org/officeDocument/2006/relationships/image" Target="../media/image176.png"/><Relationship Id="rId2" Type="http://schemas.openxmlformats.org/officeDocument/2006/relationships/image" Target="../media/image171.png"/><Relationship Id="rId1" Type="http://schemas.openxmlformats.org/officeDocument/2006/relationships/slideLayout" Target="../slideLayouts/slideLayout2.xml"/><Relationship Id="rId6" Type="http://schemas.openxmlformats.org/officeDocument/2006/relationships/image" Target="../media/image175.png"/><Relationship Id="rId5" Type="http://schemas.openxmlformats.org/officeDocument/2006/relationships/image" Target="../media/image174.png"/><Relationship Id="rId4" Type="http://schemas.openxmlformats.org/officeDocument/2006/relationships/image" Target="../media/image173.png"/></Relationships>
</file>

<file path=ppt/slides/_rels/slide61.xml.rels><?xml version="1.0" encoding="UTF-8" standalone="yes"?>
<Relationships xmlns="http://schemas.openxmlformats.org/package/2006/relationships"><Relationship Id="rId3" Type="http://schemas.openxmlformats.org/officeDocument/2006/relationships/image" Target="../media/image179.png"/><Relationship Id="rId2" Type="http://schemas.openxmlformats.org/officeDocument/2006/relationships/image" Target="../media/image178.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181.png"/><Relationship Id="rId2" Type="http://schemas.openxmlformats.org/officeDocument/2006/relationships/image" Target="../media/image180.png"/><Relationship Id="rId1" Type="http://schemas.openxmlformats.org/officeDocument/2006/relationships/slideLayout" Target="../slideLayouts/slideLayout13.xml"/><Relationship Id="rId5" Type="http://schemas.openxmlformats.org/officeDocument/2006/relationships/image" Target="../media/image183.png"/><Relationship Id="rId4" Type="http://schemas.openxmlformats.org/officeDocument/2006/relationships/image" Target="../media/image182.png"/></Relationships>
</file>

<file path=ppt/slides/_rels/slide64.xml.rels><?xml version="1.0" encoding="UTF-8" standalone="yes"?>
<Relationships xmlns="http://schemas.openxmlformats.org/package/2006/relationships"><Relationship Id="rId8" Type="http://schemas.openxmlformats.org/officeDocument/2006/relationships/hyperlink" Target="https://forms.gle/6u3BuT4ovconQCaPA" TargetMode="External"/><Relationship Id="rId3" Type="http://schemas.openxmlformats.org/officeDocument/2006/relationships/image" Target="../media/image184.png"/><Relationship Id="rId7" Type="http://schemas.openxmlformats.org/officeDocument/2006/relationships/image" Target="../media/image188.png"/><Relationship Id="rId2" Type="http://schemas.openxmlformats.org/officeDocument/2006/relationships/notesSlide" Target="../notesSlides/notesSlide23.xml"/><Relationship Id="rId1" Type="http://schemas.openxmlformats.org/officeDocument/2006/relationships/slideLayout" Target="../slideLayouts/slideLayout7.xml"/><Relationship Id="rId6" Type="http://schemas.openxmlformats.org/officeDocument/2006/relationships/image" Target="../media/image187.png"/><Relationship Id="rId5" Type="http://schemas.openxmlformats.org/officeDocument/2006/relationships/image" Target="../media/image186.png"/><Relationship Id="rId4" Type="http://schemas.openxmlformats.org/officeDocument/2006/relationships/image" Target="../media/image185.png"/><Relationship Id="rId9" Type="http://schemas.openxmlformats.org/officeDocument/2006/relationships/image" Target="../media/image189.jpeg"/></Relationships>
</file>

<file path=ppt/slides/_rels/slide65.xml.rels><?xml version="1.0" encoding="UTF-8" standalone="yes"?>
<Relationships xmlns="http://schemas.openxmlformats.org/package/2006/relationships"><Relationship Id="rId8" Type="http://schemas.openxmlformats.org/officeDocument/2006/relationships/image" Target="../media/image196.png"/><Relationship Id="rId3" Type="http://schemas.openxmlformats.org/officeDocument/2006/relationships/image" Target="../media/image191.png"/><Relationship Id="rId7" Type="http://schemas.openxmlformats.org/officeDocument/2006/relationships/image" Target="../media/image195.png"/><Relationship Id="rId2" Type="http://schemas.openxmlformats.org/officeDocument/2006/relationships/image" Target="../media/image190.png"/><Relationship Id="rId1" Type="http://schemas.openxmlformats.org/officeDocument/2006/relationships/slideLayout" Target="../slideLayouts/slideLayout13.xml"/><Relationship Id="rId6" Type="http://schemas.openxmlformats.org/officeDocument/2006/relationships/image" Target="../media/image194.png"/><Relationship Id="rId5" Type="http://schemas.openxmlformats.org/officeDocument/2006/relationships/image" Target="../media/image193.png"/><Relationship Id="rId10" Type="http://schemas.openxmlformats.org/officeDocument/2006/relationships/image" Target="../media/image198.png"/><Relationship Id="rId4" Type="http://schemas.openxmlformats.org/officeDocument/2006/relationships/image" Target="../media/image192.png"/><Relationship Id="rId9" Type="http://schemas.openxmlformats.org/officeDocument/2006/relationships/image" Target="../media/image197.png"/></Relationships>
</file>

<file path=ppt/slides/_rels/slide66.xml.rels><?xml version="1.0" encoding="UTF-8" standalone="yes"?>
<Relationships xmlns="http://schemas.openxmlformats.org/package/2006/relationships"><Relationship Id="rId3" Type="http://schemas.openxmlformats.org/officeDocument/2006/relationships/image" Target="../media/image199.png"/><Relationship Id="rId2" Type="http://schemas.openxmlformats.org/officeDocument/2006/relationships/notesSlide" Target="../notesSlides/notesSlide24.xml"/><Relationship Id="rId1" Type="http://schemas.openxmlformats.org/officeDocument/2006/relationships/slideLayout" Target="../slideLayouts/slideLayout7.xml"/><Relationship Id="rId5" Type="http://schemas.openxmlformats.org/officeDocument/2006/relationships/image" Target="../media/image201.png"/><Relationship Id="rId4" Type="http://schemas.openxmlformats.org/officeDocument/2006/relationships/image" Target="../media/image200.png"/></Relationships>
</file>

<file path=ppt/slides/_rels/slide67.xml.rels><?xml version="1.0" encoding="UTF-8" standalone="yes"?>
<Relationships xmlns="http://schemas.openxmlformats.org/package/2006/relationships"><Relationship Id="rId2" Type="http://schemas.openxmlformats.org/officeDocument/2006/relationships/image" Target="../media/image202.png"/><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8" Type="http://schemas.openxmlformats.org/officeDocument/2006/relationships/oleObject" Target="../embeddings/oleObject14.bin"/><Relationship Id="rId3" Type="http://schemas.openxmlformats.org/officeDocument/2006/relationships/image" Target="../media/image206.png"/><Relationship Id="rId7" Type="http://schemas.openxmlformats.org/officeDocument/2006/relationships/image" Target="../media/image203.emf"/><Relationship Id="rId12" Type="http://schemas.openxmlformats.org/officeDocument/2006/relationships/image" Target="../media/image209.png"/><Relationship Id="rId2" Type="http://schemas.openxmlformats.org/officeDocument/2006/relationships/slideLayout" Target="../slideLayouts/slideLayout12.xml"/><Relationship Id="rId1" Type="http://schemas.openxmlformats.org/officeDocument/2006/relationships/vmlDrawing" Target="../drawings/vmlDrawing10.vml"/><Relationship Id="rId6" Type="http://schemas.openxmlformats.org/officeDocument/2006/relationships/oleObject" Target="../embeddings/oleObject13.bin"/><Relationship Id="rId11" Type="http://schemas.openxmlformats.org/officeDocument/2006/relationships/image" Target="../media/image205.emf"/><Relationship Id="rId5" Type="http://schemas.openxmlformats.org/officeDocument/2006/relationships/image" Target="../media/image208.png"/><Relationship Id="rId10" Type="http://schemas.openxmlformats.org/officeDocument/2006/relationships/oleObject" Target="../embeddings/oleObject15.bin"/><Relationship Id="rId4" Type="http://schemas.openxmlformats.org/officeDocument/2006/relationships/image" Target="../media/image207.png"/><Relationship Id="rId9" Type="http://schemas.openxmlformats.org/officeDocument/2006/relationships/image" Target="../media/image204.emf"/></Relationships>
</file>

<file path=ppt/slides/_rels/slide69.xml.rels><?xml version="1.0" encoding="UTF-8" standalone="yes"?>
<Relationships xmlns="http://schemas.openxmlformats.org/package/2006/relationships"><Relationship Id="rId8" Type="http://schemas.openxmlformats.org/officeDocument/2006/relationships/image" Target="../media/image214.png"/><Relationship Id="rId3" Type="http://schemas.openxmlformats.org/officeDocument/2006/relationships/image" Target="../media/image211.png"/><Relationship Id="rId7" Type="http://schemas.openxmlformats.org/officeDocument/2006/relationships/image" Target="../media/image213.png"/><Relationship Id="rId2" Type="http://schemas.openxmlformats.org/officeDocument/2006/relationships/slideLayout" Target="../slideLayouts/slideLayout13.xml"/><Relationship Id="rId1" Type="http://schemas.openxmlformats.org/officeDocument/2006/relationships/vmlDrawing" Target="../drawings/vmlDrawing11.vml"/><Relationship Id="rId6" Type="http://schemas.openxmlformats.org/officeDocument/2006/relationships/image" Target="../media/image210.emf"/><Relationship Id="rId5" Type="http://schemas.openxmlformats.org/officeDocument/2006/relationships/oleObject" Target="../embeddings/oleObject16.bin"/><Relationship Id="rId10" Type="http://schemas.openxmlformats.org/officeDocument/2006/relationships/image" Target="../media/image216.png"/><Relationship Id="rId4" Type="http://schemas.openxmlformats.org/officeDocument/2006/relationships/image" Target="../media/image212.png"/><Relationship Id="rId9" Type="http://schemas.openxmlformats.org/officeDocument/2006/relationships/image" Target="../media/image215.png"/></Relationships>
</file>

<file path=ppt/slides/_rels/slide70.xml.rels><?xml version="1.0" encoding="UTF-8" standalone="yes"?>
<Relationships xmlns="http://schemas.openxmlformats.org/package/2006/relationships"><Relationship Id="rId8" Type="http://schemas.openxmlformats.org/officeDocument/2006/relationships/image" Target="../media/image220.jpeg"/><Relationship Id="rId3" Type="http://schemas.openxmlformats.org/officeDocument/2006/relationships/image" Target="../media/image218.png"/><Relationship Id="rId7" Type="http://schemas.openxmlformats.org/officeDocument/2006/relationships/hyperlink" Target="https://forms.gle/9SBDcFX3YNUBga9f6" TargetMode="External"/><Relationship Id="rId2" Type="http://schemas.openxmlformats.org/officeDocument/2006/relationships/slideLayout" Target="../slideLayouts/slideLayout7.xml"/><Relationship Id="rId1" Type="http://schemas.openxmlformats.org/officeDocument/2006/relationships/vmlDrawing" Target="../drawings/vmlDrawing12.vml"/><Relationship Id="rId6" Type="http://schemas.openxmlformats.org/officeDocument/2006/relationships/image" Target="../media/image217.emf"/><Relationship Id="rId5" Type="http://schemas.openxmlformats.org/officeDocument/2006/relationships/oleObject" Target="../embeddings/oleObject17.bin"/><Relationship Id="rId4" Type="http://schemas.openxmlformats.org/officeDocument/2006/relationships/image" Target="../media/image219.png"/></Relationships>
</file>

<file path=ppt/slides/_rels/slide71.xml.rels><?xml version="1.0" encoding="UTF-8" standalone="yes"?>
<Relationships xmlns="http://schemas.openxmlformats.org/package/2006/relationships"><Relationship Id="rId3" Type="http://schemas.openxmlformats.org/officeDocument/2006/relationships/image" Target="../media/image221.png"/><Relationship Id="rId2" Type="http://schemas.openxmlformats.org/officeDocument/2006/relationships/notesSlide" Target="../notesSlides/notesSlide25.xml"/><Relationship Id="rId1" Type="http://schemas.openxmlformats.org/officeDocument/2006/relationships/slideLayout" Target="../slideLayouts/slideLayout7.xml"/><Relationship Id="rId5" Type="http://schemas.openxmlformats.org/officeDocument/2006/relationships/image" Target="../media/image223.png"/><Relationship Id="rId4" Type="http://schemas.openxmlformats.org/officeDocument/2006/relationships/image" Target="../media/image222.png"/></Relationships>
</file>

<file path=ppt/slides/_rels/slide72.xml.rels><?xml version="1.0" encoding="UTF-8" standalone="yes"?>
<Relationships xmlns="http://schemas.openxmlformats.org/package/2006/relationships"><Relationship Id="rId3" Type="http://schemas.openxmlformats.org/officeDocument/2006/relationships/image" Target="../media/image225.png"/><Relationship Id="rId2" Type="http://schemas.openxmlformats.org/officeDocument/2006/relationships/image" Target="../media/image224.png"/><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image" Target="../media/image226.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227.png"/><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image" Target="../media/image228.png"/><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Layout" Target="../slideLayouts/slideLayout7.xml"/><Relationship Id="rId1" Type="http://schemas.openxmlformats.org/officeDocument/2006/relationships/vmlDrawing" Target="../drawings/vmlDrawing13.vml"/><Relationship Id="rId6" Type="http://schemas.openxmlformats.org/officeDocument/2006/relationships/image" Target="../media/image230.jpeg"/><Relationship Id="rId5" Type="http://schemas.openxmlformats.org/officeDocument/2006/relationships/hyperlink" Target="https://forms.gle/A5ZQ9JtVcemAEzBf8" TargetMode="External"/><Relationship Id="rId4" Type="http://schemas.openxmlformats.org/officeDocument/2006/relationships/image" Target="../media/image229.emf"/></Relationships>
</file>

<file path=ppt/slides/_rels/slide77.xml.rels><?xml version="1.0" encoding="UTF-8" standalone="yes"?>
<Relationships xmlns="http://schemas.openxmlformats.org/package/2006/relationships"><Relationship Id="rId2" Type="http://schemas.openxmlformats.org/officeDocument/2006/relationships/image" Target="../media/image231.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233.png"/><Relationship Id="rId2" Type="http://schemas.openxmlformats.org/officeDocument/2006/relationships/image" Target="../media/image232.png"/><Relationship Id="rId1" Type="http://schemas.openxmlformats.org/officeDocument/2006/relationships/slideLayout" Target="../slideLayouts/slideLayout13.xml"/><Relationship Id="rId4" Type="http://schemas.openxmlformats.org/officeDocument/2006/relationships/image" Target="../media/image234.png"/></Relationships>
</file>

<file path=ppt/slides/_rels/slide79.xml.rels><?xml version="1.0" encoding="UTF-8" standalone="yes"?>
<Relationships xmlns="http://schemas.openxmlformats.org/package/2006/relationships"><Relationship Id="rId3" Type="http://schemas.openxmlformats.org/officeDocument/2006/relationships/image" Target="../media/image236.png"/><Relationship Id="rId2" Type="http://schemas.openxmlformats.org/officeDocument/2006/relationships/image" Target="../media/image235.png"/><Relationship Id="rId1" Type="http://schemas.openxmlformats.org/officeDocument/2006/relationships/slideLayout" Target="../slideLayouts/slideLayout12.xml"/><Relationship Id="rId4" Type="http://schemas.openxmlformats.org/officeDocument/2006/relationships/image" Target="../media/image237.png"/></Relationships>
</file>

<file path=ppt/slides/_rels/slide80.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Layout" Target="../slideLayouts/slideLayout7.xml"/><Relationship Id="rId1" Type="http://schemas.openxmlformats.org/officeDocument/2006/relationships/vmlDrawing" Target="../drawings/vmlDrawing14.vml"/><Relationship Id="rId4" Type="http://schemas.openxmlformats.org/officeDocument/2006/relationships/image" Target="../media/image238.emf"/></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2" Type="http://schemas.openxmlformats.org/officeDocument/2006/relationships/image" Target="../media/image239.png"/><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3" Type="http://schemas.openxmlformats.org/officeDocument/2006/relationships/image" Target="../media/image241.jpeg"/><Relationship Id="rId2" Type="http://schemas.openxmlformats.org/officeDocument/2006/relationships/image" Target="../media/image240.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44E7BC8-84A7-48B7-A551-B7565972C5CA}"/>
              </a:ext>
            </a:extLst>
          </p:cNvPr>
          <p:cNvSpPr>
            <a:spLocks noGrp="1"/>
          </p:cNvSpPr>
          <p:nvPr>
            <p:ph type="ctrTitle"/>
          </p:nvPr>
        </p:nvSpPr>
        <p:spPr>
          <a:xfrm>
            <a:off x="1094629" y="740700"/>
            <a:ext cx="9144000" cy="2583104"/>
          </a:xfrm>
        </p:spPr>
        <p:txBody>
          <a:bodyPr>
            <a:normAutofit fontScale="90000"/>
          </a:bodyPr>
          <a:lstStyle/>
          <a:p>
            <a:r>
              <a:rPr lang="en-GB" b="1" dirty="0"/>
              <a:t>Nomenclature of heterocycles</a:t>
            </a:r>
            <a:br>
              <a:rPr lang="en-GB" b="1" dirty="0"/>
            </a:br>
            <a:r>
              <a:rPr lang="en-GB" sz="4400" b="1" dirty="0"/>
              <a:t> </a:t>
            </a:r>
            <a:br>
              <a:rPr lang="uk-UA" dirty="0"/>
            </a:br>
            <a:r>
              <a:rPr lang="en-GB" dirty="0"/>
              <a:t>I.</a:t>
            </a:r>
            <a:r>
              <a:rPr lang="en-GB" baseline="30000" dirty="0"/>
              <a:t>  </a:t>
            </a:r>
            <a:r>
              <a:rPr lang="en-GB" dirty="0"/>
              <a:t>seminar </a:t>
            </a:r>
            <a:br>
              <a:rPr lang="en-GB" dirty="0"/>
            </a:br>
            <a:r>
              <a:rPr lang="en-GB" sz="1800" dirty="0"/>
              <a:t> </a:t>
            </a:r>
            <a:br>
              <a:rPr lang="uk-UA" dirty="0"/>
            </a:br>
            <a:endParaRPr lang="en-GB" sz="2700" dirty="0"/>
          </a:p>
        </p:txBody>
      </p:sp>
      <p:sp>
        <p:nvSpPr>
          <p:cNvPr id="5" name="TextBox 4">
            <a:extLst>
              <a:ext uri="{FF2B5EF4-FFF2-40B4-BE49-F238E27FC236}">
                <a16:creationId xmlns:a16="http://schemas.microsoft.com/office/drawing/2014/main" id="{DDC4C3B5-5B90-4154-A753-B34CA15443BC}"/>
              </a:ext>
            </a:extLst>
          </p:cNvPr>
          <p:cNvSpPr txBox="1"/>
          <p:nvPr/>
        </p:nvSpPr>
        <p:spPr>
          <a:xfrm>
            <a:off x="4918060" y="6201973"/>
            <a:ext cx="1735223" cy="430887"/>
          </a:xfrm>
          <a:prstGeom prst="rect">
            <a:avLst/>
          </a:prstGeom>
          <a:noFill/>
        </p:spPr>
        <p:txBody>
          <a:bodyPr wrap="square">
            <a:spAutoFit/>
          </a:bodyPr>
          <a:lstStyle/>
          <a:p>
            <a:r>
              <a:rPr lang="uk-UA" sz="2200" dirty="0"/>
              <a:t>19.04.2023</a:t>
            </a:r>
            <a:endParaRPr lang="en-GB" sz="2200" b="1" dirty="0"/>
          </a:p>
        </p:txBody>
      </p:sp>
      <p:sp>
        <p:nvSpPr>
          <p:cNvPr id="9" name="TextBox 8">
            <a:extLst>
              <a:ext uri="{FF2B5EF4-FFF2-40B4-BE49-F238E27FC236}">
                <a16:creationId xmlns:a16="http://schemas.microsoft.com/office/drawing/2014/main" id="{0AB1AE3F-70DB-443F-AFF3-51FA3BEB5CE9}"/>
              </a:ext>
            </a:extLst>
          </p:cNvPr>
          <p:cNvSpPr txBox="1"/>
          <p:nvPr/>
        </p:nvSpPr>
        <p:spPr>
          <a:xfrm>
            <a:off x="5420970" y="3323804"/>
            <a:ext cx="6096000" cy="2265364"/>
          </a:xfrm>
          <a:prstGeom prst="rect">
            <a:avLst/>
          </a:prstGeom>
          <a:noFill/>
        </p:spPr>
        <p:txBody>
          <a:bodyPr wrap="square">
            <a:spAutoFit/>
          </a:bodyPr>
          <a:lstStyle/>
          <a:p>
            <a:pPr algn="just">
              <a:lnSpc>
                <a:spcPct val="150000"/>
              </a:lnSpc>
            </a:pPr>
            <a:r>
              <a:rPr lang="pl-PL" sz="2400" b="1" dirty="0">
                <a:solidFill>
                  <a:srgbClr val="6F2F9F"/>
                </a:solidFill>
                <a:latin typeface="Calibri" panose="020F0502020204030204" pitchFamily="34" charset="0"/>
              </a:rPr>
              <a:t>Assoc. prof., Dr. Maryna M. Kornet </a:t>
            </a:r>
            <a:endParaRPr lang="uk-UA" sz="2400" b="1" dirty="0">
              <a:solidFill>
                <a:srgbClr val="6F2F9F"/>
              </a:solidFill>
              <a:latin typeface="Calibri" panose="020F0502020204030204" pitchFamily="34" charset="0"/>
            </a:endParaRPr>
          </a:p>
          <a:p>
            <a:pPr algn="just">
              <a:lnSpc>
                <a:spcPct val="150000"/>
              </a:lnSpc>
            </a:pPr>
            <a:r>
              <a:rPr lang="en-GB" dirty="0">
                <a:solidFill>
                  <a:srgbClr val="555555"/>
                </a:solidFill>
                <a:latin typeface="Calibri" panose="020F0502020204030204" pitchFamily="34" charset="0"/>
              </a:rPr>
              <a:t>Head, Laboratory of Biotechnology of Physiologically Active Substances; Associate Professor, Department of Chemistry </a:t>
            </a:r>
            <a:r>
              <a:rPr lang="en-GB" dirty="0">
                <a:solidFill>
                  <a:srgbClr val="000000"/>
                </a:solidFill>
                <a:latin typeface="Calibri" panose="020F0502020204030204" pitchFamily="34" charset="0"/>
              </a:rPr>
              <a:t>	</a:t>
            </a:r>
            <a:endParaRPr lang="uk-UA" dirty="0">
              <a:solidFill>
                <a:srgbClr val="000000"/>
              </a:solidFill>
              <a:latin typeface="Calibri" panose="020F0502020204030204" pitchFamily="34" charset="0"/>
            </a:endParaRPr>
          </a:p>
          <a:p>
            <a:pPr algn="just">
              <a:lnSpc>
                <a:spcPct val="150000"/>
              </a:lnSpc>
            </a:pPr>
            <a:r>
              <a:rPr lang="en-GB" dirty="0">
                <a:latin typeface="Calibri" panose="020F0502020204030204" pitchFamily="34" charset="0"/>
              </a:rPr>
              <a:t> </a:t>
            </a:r>
            <a:r>
              <a:rPr lang="en-GB" dirty="0" err="1">
                <a:solidFill>
                  <a:srgbClr val="555555"/>
                </a:solidFill>
                <a:latin typeface="Calibri" panose="020F0502020204030204" pitchFamily="34" charset="0"/>
              </a:rPr>
              <a:t>Zaporizhzhia</a:t>
            </a:r>
            <a:r>
              <a:rPr lang="en-GB" dirty="0">
                <a:solidFill>
                  <a:srgbClr val="555555"/>
                </a:solidFill>
                <a:latin typeface="Calibri" panose="020F0502020204030204" pitchFamily="34" charset="0"/>
              </a:rPr>
              <a:t> National University (</a:t>
            </a:r>
            <a:r>
              <a:rPr lang="en-GB" dirty="0" err="1">
                <a:solidFill>
                  <a:srgbClr val="555555"/>
                </a:solidFill>
                <a:latin typeface="Calibri" panose="020F0502020204030204" pitchFamily="34" charset="0"/>
              </a:rPr>
              <a:t>Zaporizhzhia</a:t>
            </a:r>
            <a:r>
              <a:rPr lang="en-GB" dirty="0">
                <a:solidFill>
                  <a:srgbClr val="555555"/>
                </a:solidFill>
                <a:latin typeface="Calibri" panose="020F0502020204030204" pitchFamily="34" charset="0"/>
              </a:rPr>
              <a:t>, Ukraine) </a:t>
            </a:r>
          </a:p>
          <a:p>
            <a:pPr algn="just">
              <a:lnSpc>
                <a:spcPct val="150000"/>
              </a:lnSpc>
            </a:pPr>
            <a:r>
              <a:rPr lang="en-GB" b="1" dirty="0">
                <a:solidFill>
                  <a:srgbClr val="555555"/>
                </a:solidFill>
                <a:latin typeface="Calibri" panose="020F0502020204030204" pitchFamily="34" charset="0"/>
              </a:rPr>
              <a:t>kornetmaryna@ukr.net</a:t>
            </a:r>
            <a:endParaRPr lang="en-GB" b="1" dirty="0"/>
          </a:p>
        </p:txBody>
      </p:sp>
    </p:spTree>
    <p:extLst>
      <p:ext uri="{BB962C8B-B14F-4D97-AF65-F5344CB8AC3E}">
        <p14:creationId xmlns:p14="http://schemas.microsoft.com/office/powerpoint/2010/main" val="23988737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Номер слайда 1">
            <a:extLst>
              <a:ext uri="{FF2B5EF4-FFF2-40B4-BE49-F238E27FC236}">
                <a16:creationId xmlns:a16="http://schemas.microsoft.com/office/drawing/2014/main" id="{FFCB9A3F-7C5C-497C-B965-A8609BB7148B}"/>
              </a:ext>
            </a:extLst>
          </p:cNvPr>
          <p:cNvSpPr>
            <a:spLocks noGrp="1"/>
          </p:cNvSpPr>
          <p:nvPr>
            <p:ph type="sldNum" sz="quarter" idx="12"/>
          </p:nvPr>
        </p:nvSpPr>
        <p:spPr>
          <a:xfrm>
            <a:off x="9310315" y="6388158"/>
            <a:ext cx="2743200" cy="365125"/>
          </a:xfrm>
        </p:spPr>
        <p:txBody>
          <a:bodyPr/>
          <a:lstStyle/>
          <a:p>
            <a:r>
              <a:rPr lang="en-GB" dirty="0"/>
              <a:t>boyer-research.com/teaching </a:t>
            </a:r>
          </a:p>
        </p:txBody>
      </p:sp>
      <p:sp>
        <p:nvSpPr>
          <p:cNvPr id="4" name="TextBox 3">
            <a:extLst>
              <a:ext uri="{FF2B5EF4-FFF2-40B4-BE49-F238E27FC236}">
                <a16:creationId xmlns:a16="http://schemas.microsoft.com/office/drawing/2014/main" id="{62714D3F-B39F-43A5-B6E8-67187ABF4EB0}"/>
              </a:ext>
            </a:extLst>
          </p:cNvPr>
          <p:cNvSpPr txBox="1"/>
          <p:nvPr/>
        </p:nvSpPr>
        <p:spPr>
          <a:xfrm>
            <a:off x="375700" y="141533"/>
            <a:ext cx="3902102" cy="523220"/>
          </a:xfrm>
          <a:prstGeom prst="rect">
            <a:avLst/>
          </a:prstGeom>
          <a:noFill/>
        </p:spPr>
        <p:txBody>
          <a:bodyPr wrap="square">
            <a:spAutoFit/>
          </a:bodyPr>
          <a:lstStyle/>
          <a:p>
            <a:r>
              <a:rPr lang="en-GB" sz="2800" b="1" dirty="0"/>
              <a:t>Online Resources</a:t>
            </a:r>
          </a:p>
        </p:txBody>
      </p:sp>
      <p:sp>
        <p:nvSpPr>
          <p:cNvPr id="6" name="TextBox 5">
            <a:extLst>
              <a:ext uri="{FF2B5EF4-FFF2-40B4-BE49-F238E27FC236}">
                <a16:creationId xmlns:a16="http://schemas.microsoft.com/office/drawing/2014/main" id="{C6A9BE08-5CE6-4CCA-8BC1-AB0046D4CD3F}"/>
              </a:ext>
            </a:extLst>
          </p:cNvPr>
          <p:cNvSpPr txBox="1"/>
          <p:nvPr/>
        </p:nvSpPr>
        <p:spPr>
          <a:xfrm>
            <a:off x="-256429" y="732649"/>
            <a:ext cx="5166359" cy="342466"/>
          </a:xfrm>
          <a:prstGeom prst="rect">
            <a:avLst/>
          </a:prstGeom>
          <a:noFill/>
        </p:spPr>
        <p:txBody>
          <a:bodyPr wrap="square">
            <a:spAutoFit/>
          </a:bodyPr>
          <a:lstStyle/>
          <a:p>
            <a:pPr algn="ctr">
              <a:lnSpc>
                <a:spcPct val="107000"/>
              </a:lnSpc>
              <a:spcAft>
                <a:spcPts val="800"/>
              </a:spcAft>
            </a:pPr>
            <a:r>
              <a:rPr lang="en-GB" sz="1600" b="1" dirty="0">
                <a:solidFill>
                  <a:srgbClr val="800000"/>
                </a:solidFill>
                <a:effectLst/>
                <a:latin typeface="Arial" panose="020B0604020202020204" pitchFamily="34" charset="0"/>
                <a:ea typeface="Times New Roman" panose="02020603050405020304" pitchFamily="18" charset="0"/>
                <a:cs typeface="Times New Roman" panose="02020603050405020304" pitchFamily="18" charset="0"/>
              </a:rPr>
              <a:t>https://goldbook.iupac.org/indexes/rings</a:t>
            </a:r>
            <a:endParaRPr lang="en-GB" sz="16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8" name="Рисунок 7">
            <a:extLst>
              <a:ext uri="{FF2B5EF4-FFF2-40B4-BE49-F238E27FC236}">
                <a16:creationId xmlns:a16="http://schemas.microsoft.com/office/drawing/2014/main" id="{9BA20CF2-78BE-4279-A085-F031B8C5D9AB}"/>
              </a:ext>
            </a:extLst>
          </p:cNvPr>
          <p:cNvPicPr>
            <a:picLocks noChangeAspect="1"/>
          </p:cNvPicPr>
          <p:nvPr/>
        </p:nvPicPr>
        <p:blipFill>
          <a:blip r:embed="rId3"/>
          <a:stretch>
            <a:fillRect/>
          </a:stretch>
        </p:blipFill>
        <p:spPr>
          <a:xfrm>
            <a:off x="375700" y="1067947"/>
            <a:ext cx="3575327" cy="2790183"/>
          </a:xfrm>
          <a:prstGeom prst="rect">
            <a:avLst/>
          </a:prstGeom>
        </p:spPr>
      </p:pic>
      <p:sp>
        <p:nvSpPr>
          <p:cNvPr id="10" name="TextBox 9">
            <a:extLst>
              <a:ext uri="{FF2B5EF4-FFF2-40B4-BE49-F238E27FC236}">
                <a16:creationId xmlns:a16="http://schemas.microsoft.com/office/drawing/2014/main" id="{F7D9DFEB-C8D9-401B-814C-3D4A798D2D41}"/>
              </a:ext>
            </a:extLst>
          </p:cNvPr>
          <p:cNvSpPr txBox="1"/>
          <p:nvPr/>
        </p:nvSpPr>
        <p:spPr>
          <a:xfrm>
            <a:off x="4909930" y="678775"/>
            <a:ext cx="5527655" cy="369332"/>
          </a:xfrm>
          <a:prstGeom prst="rect">
            <a:avLst/>
          </a:prstGeom>
          <a:noFill/>
        </p:spPr>
        <p:txBody>
          <a:bodyPr wrap="square">
            <a:spAutoFit/>
          </a:bodyPr>
          <a:lstStyle/>
          <a:p>
            <a:r>
              <a:rPr lang="en-GB" b="1" dirty="0">
                <a:solidFill>
                  <a:srgbClr val="0070C0"/>
                </a:solidFill>
              </a:rPr>
              <a:t>https://www.acdlabs.com/resources/iupac-blue-book/</a:t>
            </a:r>
          </a:p>
        </p:txBody>
      </p:sp>
      <p:pic>
        <p:nvPicPr>
          <p:cNvPr id="12" name="Рисунок 11">
            <a:extLst>
              <a:ext uri="{FF2B5EF4-FFF2-40B4-BE49-F238E27FC236}">
                <a16:creationId xmlns:a16="http://schemas.microsoft.com/office/drawing/2014/main" id="{96824853-5EC8-4DD2-9E93-1852C61C33EF}"/>
              </a:ext>
            </a:extLst>
          </p:cNvPr>
          <p:cNvPicPr>
            <a:picLocks noChangeAspect="1"/>
          </p:cNvPicPr>
          <p:nvPr/>
        </p:nvPicPr>
        <p:blipFill>
          <a:blip r:embed="rId4"/>
          <a:stretch>
            <a:fillRect/>
          </a:stretch>
        </p:blipFill>
        <p:spPr>
          <a:xfrm>
            <a:off x="4968940" y="1075115"/>
            <a:ext cx="6473891" cy="1970834"/>
          </a:xfrm>
          <a:prstGeom prst="rect">
            <a:avLst/>
          </a:prstGeom>
        </p:spPr>
      </p:pic>
      <p:sp>
        <p:nvSpPr>
          <p:cNvPr id="14" name="TextBox 13">
            <a:extLst>
              <a:ext uri="{FF2B5EF4-FFF2-40B4-BE49-F238E27FC236}">
                <a16:creationId xmlns:a16="http://schemas.microsoft.com/office/drawing/2014/main" id="{7AB3B766-8ED8-48F8-9BE5-34FB87443EE5}"/>
              </a:ext>
            </a:extLst>
          </p:cNvPr>
          <p:cNvSpPr txBox="1"/>
          <p:nvPr/>
        </p:nvSpPr>
        <p:spPr>
          <a:xfrm>
            <a:off x="4968940" y="3285837"/>
            <a:ext cx="6473890" cy="738664"/>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lgn="just"/>
            <a:r>
              <a:rPr lang="en-GB" sz="1400" dirty="0"/>
              <a:t>2.11 - The following trivial and semi-trivial names constitute a partial list of such names which are retained for the compound and as a basis of fusion names. The names of the radicals shown are formed according to Rule B-5.</a:t>
            </a:r>
          </a:p>
        </p:txBody>
      </p:sp>
      <p:sp>
        <p:nvSpPr>
          <p:cNvPr id="16" name="TextBox 15">
            <a:extLst>
              <a:ext uri="{FF2B5EF4-FFF2-40B4-BE49-F238E27FC236}">
                <a16:creationId xmlns:a16="http://schemas.microsoft.com/office/drawing/2014/main" id="{2A0D26DB-86CB-4EDA-AA80-5D8DC697DD89}"/>
              </a:ext>
            </a:extLst>
          </p:cNvPr>
          <p:cNvSpPr txBox="1"/>
          <p:nvPr/>
        </p:nvSpPr>
        <p:spPr>
          <a:xfrm>
            <a:off x="4968940" y="4573282"/>
            <a:ext cx="6473890" cy="738664"/>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lgn="just"/>
            <a:r>
              <a:rPr lang="en-GB" sz="1400" dirty="0"/>
              <a:t>2.12 - The following trivial and semi-trivial names are retained but are not recommended for use in fusion names. The names of the radicals shown are formed according to Rule B-5.</a:t>
            </a:r>
          </a:p>
        </p:txBody>
      </p:sp>
      <p:sp>
        <p:nvSpPr>
          <p:cNvPr id="18" name="TextBox 17">
            <a:extLst>
              <a:ext uri="{FF2B5EF4-FFF2-40B4-BE49-F238E27FC236}">
                <a16:creationId xmlns:a16="http://schemas.microsoft.com/office/drawing/2014/main" id="{D557ED5C-B7BC-4914-813F-A4C7D922DF5C}"/>
              </a:ext>
            </a:extLst>
          </p:cNvPr>
          <p:cNvSpPr txBox="1"/>
          <p:nvPr/>
        </p:nvSpPr>
        <p:spPr>
          <a:xfrm>
            <a:off x="4909930" y="4145003"/>
            <a:ext cx="6226790" cy="307777"/>
          </a:xfrm>
          <a:prstGeom prst="rect">
            <a:avLst/>
          </a:prstGeom>
          <a:noFill/>
        </p:spPr>
        <p:txBody>
          <a:bodyPr wrap="square">
            <a:spAutoFit/>
          </a:bodyPr>
          <a:lstStyle/>
          <a:p>
            <a:r>
              <a:rPr lang="en-GB" sz="1400" b="1" dirty="0"/>
              <a:t>https://www.acdlabs.com/iupac/nomenclature/79/r79_958.htm</a:t>
            </a:r>
          </a:p>
        </p:txBody>
      </p:sp>
      <p:sp>
        <p:nvSpPr>
          <p:cNvPr id="20" name="TextBox 19">
            <a:extLst>
              <a:ext uri="{FF2B5EF4-FFF2-40B4-BE49-F238E27FC236}">
                <a16:creationId xmlns:a16="http://schemas.microsoft.com/office/drawing/2014/main" id="{095006F7-E447-4F1D-9E7A-AE5822888FE5}"/>
              </a:ext>
            </a:extLst>
          </p:cNvPr>
          <p:cNvSpPr txBox="1"/>
          <p:nvPr/>
        </p:nvSpPr>
        <p:spPr>
          <a:xfrm>
            <a:off x="4968940" y="5489737"/>
            <a:ext cx="6404210" cy="307777"/>
          </a:xfrm>
          <a:prstGeom prst="rect">
            <a:avLst/>
          </a:prstGeom>
          <a:noFill/>
        </p:spPr>
        <p:txBody>
          <a:bodyPr wrap="square">
            <a:spAutoFit/>
          </a:bodyPr>
          <a:lstStyle/>
          <a:p>
            <a:r>
              <a:rPr lang="en-GB" sz="1400" b="1" dirty="0"/>
              <a:t>https://www.acdlabs.com/iupac/nomenclature/79/r79_959.htm</a:t>
            </a:r>
          </a:p>
        </p:txBody>
      </p:sp>
      <p:sp>
        <p:nvSpPr>
          <p:cNvPr id="22" name="TextBox 21">
            <a:extLst>
              <a:ext uri="{FF2B5EF4-FFF2-40B4-BE49-F238E27FC236}">
                <a16:creationId xmlns:a16="http://schemas.microsoft.com/office/drawing/2014/main" id="{592F1271-52F7-4868-8765-48602BA13220}"/>
              </a:ext>
            </a:extLst>
          </p:cNvPr>
          <p:cNvSpPr txBox="1"/>
          <p:nvPr/>
        </p:nvSpPr>
        <p:spPr>
          <a:xfrm>
            <a:off x="-148247" y="3873375"/>
            <a:ext cx="4966079" cy="311239"/>
          </a:xfrm>
          <a:prstGeom prst="rect">
            <a:avLst/>
          </a:prstGeom>
          <a:noFill/>
        </p:spPr>
        <p:txBody>
          <a:bodyPr wrap="square">
            <a:spAutoFit/>
          </a:bodyPr>
          <a:lstStyle/>
          <a:p>
            <a:pPr algn="ctr">
              <a:lnSpc>
                <a:spcPct val="107000"/>
              </a:lnSpc>
              <a:spcAft>
                <a:spcPts val="800"/>
              </a:spcAft>
            </a:pPr>
            <a:r>
              <a:rPr lang="en-GB" sz="1400" b="1" u="sng" dirty="0">
                <a:solidFill>
                  <a:srgbClr val="800000"/>
                </a:solidFill>
                <a:effectLst/>
                <a:latin typeface="Arial" panose="020B0604020202020204" pitchFamily="34" charset="0"/>
                <a:ea typeface="Times New Roman" panose="02020603050405020304" pitchFamily="18" charset="0"/>
                <a:cs typeface="Times New Roman" panose="02020603050405020304" pitchFamily="18" charset="0"/>
                <a:hlinkClick r:id="rId5"/>
              </a:rPr>
              <a:t>https://www.degruyter.com/database/iupac/html</a:t>
            </a:r>
            <a:endParaRPr lang="en-GB" sz="14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24" name="Рисунок 23">
            <a:extLst>
              <a:ext uri="{FF2B5EF4-FFF2-40B4-BE49-F238E27FC236}">
                <a16:creationId xmlns:a16="http://schemas.microsoft.com/office/drawing/2014/main" id="{FF89DFA5-30D9-4FAF-AC41-DDC5842D891D}"/>
              </a:ext>
            </a:extLst>
          </p:cNvPr>
          <p:cNvPicPr>
            <a:picLocks noChangeAspect="1"/>
          </p:cNvPicPr>
          <p:nvPr/>
        </p:nvPicPr>
        <p:blipFill>
          <a:blip r:embed="rId6"/>
          <a:stretch>
            <a:fillRect/>
          </a:stretch>
        </p:blipFill>
        <p:spPr>
          <a:xfrm>
            <a:off x="443537" y="4203355"/>
            <a:ext cx="3507490" cy="2565610"/>
          </a:xfrm>
          <a:prstGeom prst="rect">
            <a:avLst/>
          </a:prstGeom>
        </p:spPr>
      </p:pic>
    </p:spTree>
    <p:extLst>
      <p:ext uri="{BB962C8B-B14F-4D97-AF65-F5344CB8AC3E}">
        <p14:creationId xmlns:p14="http://schemas.microsoft.com/office/powerpoint/2010/main" val="18501967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Номер слайда 1">
            <a:extLst>
              <a:ext uri="{FF2B5EF4-FFF2-40B4-BE49-F238E27FC236}">
                <a16:creationId xmlns:a16="http://schemas.microsoft.com/office/drawing/2014/main" id="{C93681B8-383F-49D9-9FD0-F3CAB9B9F983}"/>
              </a:ext>
            </a:extLst>
          </p:cNvPr>
          <p:cNvSpPr>
            <a:spLocks noGrp="1"/>
          </p:cNvSpPr>
          <p:nvPr>
            <p:ph type="sldNum" sz="quarter" idx="12"/>
          </p:nvPr>
        </p:nvSpPr>
        <p:spPr/>
        <p:txBody>
          <a:bodyPr/>
          <a:lstStyle/>
          <a:p>
            <a:fld id="{93C419CB-0CF1-4F10-90F9-42551F8968FF}" type="slidenum">
              <a:rPr lang="en-GB" smtClean="0"/>
              <a:t>3</a:t>
            </a:fld>
            <a:endParaRPr lang="en-GB"/>
          </a:p>
        </p:txBody>
      </p:sp>
      <p:sp>
        <p:nvSpPr>
          <p:cNvPr id="5" name="Номер слайда 1">
            <a:extLst>
              <a:ext uri="{FF2B5EF4-FFF2-40B4-BE49-F238E27FC236}">
                <a16:creationId xmlns:a16="http://schemas.microsoft.com/office/drawing/2014/main" id="{07B8211A-949D-4164-BE56-3227703BBC8B}"/>
              </a:ext>
            </a:extLst>
          </p:cNvPr>
          <p:cNvSpPr txBox="1">
            <a:spLocks/>
          </p:cNvSpPr>
          <p:nvPr/>
        </p:nvSpPr>
        <p:spPr>
          <a:xfrm>
            <a:off x="8260743" y="64928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dirty="0"/>
              <a:t>boyer-research.com/teaching </a:t>
            </a:r>
          </a:p>
        </p:txBody>
      </p:sp>
      <p:grpSp>
        <p:nvGrpSpPr>
          <p:cNvPr id="6" name="Группа 5">
            <a:extLst>
              <a:ext uri="{FF2B5EF4-FFF2-40B4-BE49-F238E27FC236}">
                <a16:creationId xmlns:a16="http://schemas.microsoft.com/office/drawing/2014/main" id="{FEBB0A33-A60D-4E0F-98AD-FB971F64A487}"/>
              </a:ext>
            </a:extLst>
          </p:cNvPr>
          <p:cNvGrpSpPr/>
          <p:nvPr/>
        </p:nvGrpSpPr>
        <p:grpSpPr>
          <a:xfrm>
            <a:off x="1689873" y="260523"/>
            <a:ext cx="8292327" cy="6027567"/>
            <a:chOff x="1689873" y="260523"/>
            <a:chExt cx="8292327" cy="6027567"/>
          </a:xfrm>
        </p:grpSpPr>
        <p:pic>
          <p:nvPicPr>
            <p:cNvPr id="9" name="Рисунок 8">
              <a:extLst>
                <a:ext uri="{FF2B5EF4-FFF2-40B4-BE49-F238E27FC236}">
                  <a16:creationId xmlns:a16="http://schemas.microsoft.com/office/drawing/2014/main" id="{69A068F9-E9F3-428C-8750-486A884A9A3B}"/>
                </a:ext>
              </a:extLst>
            </p:cNvPr>
            <p:cNvPicPr>
              <a:picLocks noChangeAspect="1"/>
            </p:cNvPicPr>
            <p:nvPr/>
          </p:nvPicPr>
          <p:blipFill>
            <a:blip r:embed="rId4"/>
            <a:stretch>
              <a:fillRect/>
            </a:stretch>
          </p:blipFill>
          <p:spPr>
            <a:xfrm>
              <a:off x="1689873" y="260523"/>
              <a:ext cx="8292327" cy="6027567"/>
            </a:xfrm>
            <a:prstGeom prst="rect">
              <a:avLst/>
            </a:prstGeom>
          </p:spPr>
        </p:pic>
        <p:sp>
          <p:nvSpPr>
            <p:cNvPr id="4" name="Прямоугольник 3">
              <a:extLst>
                <a:ext uri="{FF2B5EF4-FFF2-40B4-BE49-F238E27FC236}">
                  <a16:creationId xmlns:a16="http://schemas.microsoft.com/office/drawing/2014/main" id="{4064C4A2-9E23-4C47-BF0E-E6CBA99462B5}"/>
                </a:ext>
              </a:extLst>
            </p:cNvPr>
            <p:cNvSpPr/>
            <p:nvPr/>
          </p:nvSpPr>
          <p:spPr>
            <a:xfrm>
              <a:off x="7469174" y="5097439"/>
              <a:ext cx="1265394" cy="5607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bg1">
                    <a:lumMod val="95000"/>
                  </a:schemeClr>
                </a:solidFill>
              </a:endParaRPr>
            </a:p>
          </p:txBody>
        </p:sp>
      </p:grpSp>
      <p:graphicFrame>
        <p:nvGraphicFramePr>
          <p:cNvPr id="10" name="Объект 9">
            <a:extLst>
              <a:ext uri="{FF2B5EF4-FFF2-40B4-BE49-F238E27FC236}">
                <a16:creationId xmlns:a16="http://schemas.microsoft.com/office/drawing/2014/main" id="{9DFBE1A8-98EB-4810-8F59-0CA165B91662}"/>
              </a:ext>
            </a:extLst>
          </p:cNvPr>
          <p:cNvGraphicFramePr>
            <a:graphicFrameLocks noChangeAspect="1"/>
          </p:cNvGraphicFramePr>
          <p:nvPr>
            <p:extLst>
              <p:ext uri="{D42A27DB-BD31-4B8C-83A1-F6EECF244321}">
                <p14:modId xmlns:p14="http://schemas.microsoft.com/office/powerpoint/2010/main" val="327210480"/>
              </p:ext>
            </p:extLst>
          </p:nvPr>
        </p:nvGraphicFramePr>
        <p:xfrm>
          <a:off x="7469174" y="5018964"/>
          <a:ext cx="788982" cy="813204"/>
        </p:xfrm>
        <a:graphic>
          <a:graphicData uri="http://schemas.openxmlformats.org/presentationml/2006/ole">
            <mc:AlternateContent xmlns:mc="http://schemas.openxmlformats.org/markup-compatibility/2006">
              <mc:Choice xmlns:v="urn:schemas-microsoft-com:vml" Requires="v">
                <p:oleObj spid="_x0000_s1143" name="CS ChemDraw Drawing" r:id="rId5" imgW="1086515" imgH="1119904" progId="ChemDraw.Document.6.0">
                  <p:embed/>
                </p:oleObj>
              </mc:Choice>
              <mc:Fallback>
                <p:oleObj name="CS ChemDraw Drawing" r:id="rId5" imgW="1086515" imgH="1119904" progId="ChemDraw.Document.6.0">
                  <p:embed/>
                  <p:pic>
                    <p:nvPicPr>
                      <p:cNvPr id="0" name=""/>
                      <p:cNvPicPr/>
                      <p:nvPr/>
                    </p:nvPicPr>
                    <p:blipFill>
                      <a:blip r:embed="rId6"/>
                      <a:stretch>
                        <a:fillRect/>
                      </a:stretch>
                    </p:blipFill>
                    <p:spPr>
                      <a:xfrm>
                        <a:off x="7469174" y="5018964"/>
                        <a:ext cx="788982" cy="813204"/>
                      </a:xfrm>
                      <a:prstGeom prst="rect">
                        <a:avLst/>
                      </a:prstGeom>
                      <a:solidFill>
                        <a:schemeClr val="bg1"/>
                      </a:solidFill>
                    </p:spPr>
                  </p:pic>
                </p:oleObj>
              </mc:Fallback>
            </mc:AlternateContent>
          </a:graphicData>
        </a:graphic>
      </p:graphicFrame>
    </p:spTree>
    <p:extLst>
      <p:ext uri="{BB962C8B-B14F-4D97-AF65-F5344CB8AC3E}">
        <p14:creationId xmlns:p14="http://schemas.microsoft.com/office/powerpoint/2010/main" val="17603997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a:extLst>
              <a:ext uri="{FF2B5EF4-FFF2-40B4-BE49-F238E27FC236}">
                <a16:creationId xmlns:a16="http://schemas.microsoft.com/office/drawing/2014/main" id="{A4F0C4BB-B768-45B1-80F4-A88D02810E78}"/>
              </a:ext>
            </a:extLst>
          </p:cNvPr>
          <p:cNvSpPr>
            <a:spLocks noGrp="1"/>
          </p:cNvSpPr>
          <p:nvPr>
            <p:ph type="sldNum" sz="quarter" idx="12"/>
          </p:nvPr>
        </p:nvSpPr>
        <p:spPr/>
        <p:txBody>
          <a:bodyPr/>
          <a:lstStyle/>
          <a:p>
            <a:fld id="{93C419CB-0CF1-4F10-90F9-42551F8968FF}" type="slidenum">
              <a:rPr lang="en-GB" smtClean="0"/>
              <a:t>4</a:t>
            </a:fld>
            <a:endParaRPr lang="en-GB"/>
          </a:p>
        </p:txBody>
      </p:sp>
      <p:pic>
        <p:nvPicPr>
          <p:cNvPr id="4" name="Рисунок 3">
            <a:extLst>
              <a:ext uri="{FF2B5EF4-FFF2-40B4-BE49-F238E27FC236}">
                <a16:creationId xmlns:a16="http://schemas.microsoft.com/office/drawing/2014/main" id="{D67137A7-3BDE-4B39-96A4-09FD82719A65}"/>
              </a:ext>
            </a:extLst>
          </p:cNvPr>
          <p:cNvPicPr>
            <a:picLocks noChangeAspect="1"/>
          </p:cNvPicPr>
          <p:nvPr/>
        </p:nvPicPr>
        <p:blipFill>
          <a:blip r:embed="rId3"/>
          <a:stretch>
            <a:fillRect/>
          </a:stretch>
        </p:blipFill>
        <p:spPr>
          <a:xfrm>
            <a:off x="650656" y="417057"/>
            <a:ext cx="10155063" cy="5339687"/>
          </a:xfrm>
          <a:prstGeom prst="rect">
            <a:avLst/>
          </a:prstGeom>
        </p:spPr>
      </p:pic>
      <p:sp>
        <p:nvSpPr>
          <p:cNvPr id="5" name="Номер слайда 1">
            <a:extLst>
              <a:ext uri="{FF2B5EF4-FFF2-40B4-BE49-F238E27FC236}">
                <a16:creationId xmlns:a16="http://schemas.microsoft.com/office/drawing/2014/main" id="{AE962E72-34CA-4460-9BF1-C586A1554CEF}"/>
              </a:ext>
            </a:extLst>
          </p:cNvPr>
          <p:cNvSpPr txBox="1">
            <a:spLocks/>
          </p:cNvSpPr>
          <p:nvPr/>
        </p:nvSpPr>
        <p:spPr>
          <a:xfrm>
            <a:off x="8260743" y="64928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dirty="0"/>
              <a:t>boyer-research.com/teaching </a:t>
            </a:r>
          </a:p>
        </p:txBody>
      </p:sp>
    </p:spTree>
    <p:extLst>
      <p:ext uri="{BB962C8B-B14F-4D97-AF65-F5344CB8AC3E}">
        <p14:creationId xmlns:p14="http://schemas.microsoft.com/office/powerpoint/2010/main" val="2644630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a:extLst>
              <a:ext uri="{FF2B5EF4-FFF2-40B4-BE49-F238E27FC236}">
                <a16:creationId xmlns:a16="http://schemas.microsoft.com/office/drawing/2014/main" id="{2FAED564-42C1-4B88-B438-B8919C6AF730}"/>
              </a:ext>
            </a:extLst>
          </p:cNvPr>
          <p:cNvSpPr>
            <a:spLocks noGrp="1"/>
          </p:cNvSpPr>
          <p:nvPr>
            <p:ph type="sldNum" sz="quarter" idx="12"/>
          </p:nvPr>
        </p:nvSpPr>
        <p:spPr/>
        <p:txBody>
          <a:bodyPr/>
          <a:lstStyle/>
          <a:p>
            <a:fld id="{93C419CB-0CF1-4F10-90F9-42551F8968FF}" type="slidenum">
              <a:rPr lang="en-GB" smtClean="0"/>
              <a:t>5</a:t>
            </a:fld>
            <a:endParaRPr lang="en-GB"/>
          </a:p>
        </p:txBody>
      </p:sp>
      <p:pic>
        <p:nvPicPr>
          <p:cNvPr id="4" name="Рисунок 3">
            <a:extLst>
              <a:ext uri="{FF2B5EF4-FFF2-40B4-BE49-F238E27FC236}">
                <a16:creationId xmlns:a16="http://schemas.microsoft.com/office/drawing/2014/main" id="{95ADB11A-FD26-4651-AF1A-CAE416F8E5EC}"/>
              </a:ext>
            </a:extLst>
          </p:cNvPr>
          <p:cNvPicPr>
            <a:picLocks noChangeAspect="1"/>
          </p:cNvPicPr>
          <p:nvPr/>
        </p:nvPicPr>
        <p:blipFill>
          <a:blip r:embed="rId3"/>
          <a:stretch>
            <a:fillRect/>
          </a:stretch>
        </p:blipFill>
        <p:spPr>
          <a:xfrm>
            <a:off x="2072951" y="67319"/>
            <a:ext cx="7629577" cy="6527252"/>
          </a:xfrm>
          <a:prstGeom prst="rect">
            <a:avLst/>
          </a:prstGeom>
        </p:spPr>
      </p:pic>
      <p:sp>
        <p:nvSpPr>
          <p:cNvPr id="5" name="Номер слайда 1">
            <a:extLst>
              <a:ext uri="{FF2B5EF4-FFF2-40B4-BE49-F238E27FC236}">
                <a16:creationId xmlns:a16="http://schemas.microsoft.com/office/drawing/2014/main" id="{58145085-4CDD-446E-82DE-D0E0D557A685}"/>
              </a:ext>
            </a:extLst>
          </p:cNvPr>
          <p:cNvSpPr txBox="1">
            <a:spLocks/>
          </p:cNvSpPr>
          <p:nvPr/>
        </p:nvSpPr>
        <p:spPr>
          <a:xfrm>
            <a:off x="8260743" y="64928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dirty="0"/>
              <a:t>boyer-research.com/teaching </a:t>
            </a:r>
          </a:p>
        </p:txBody>
      </p:sp>
    </p:spTree>
    <p:extLst>
      <p:ext uri="{BB962C8B-B14F-4D97-AF65-F5344CB8AC3E}">
        <p14:creationId xmlns:p14="http://schemas.microsoft.com/office/powerpoint/2010/main" val="143215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a:extLst>
              <a:ext uri="{FF2B5EF4-FFF2-40B4-BE49-F238E27FC236}">
                <a16:creationId xmlns:a16="http://schemas.microsoft.com/office/drawing/2014/main" id="{7CA3C936-981A-4379-A59C-409810D5DAD4}"/>
              </a:ext>
            </a:extLst>
          </p:cNvPr>
          <p:cNvSpPr>
            <a:spLocks noGrp="1"/>
          </p:cNvSpPr>
          <p:nvPr>
            <p:ph type="sldNum" sz="quarter" idx="12"/>
          </p:nvPr>
        </p:nvSpPr>
        <p:spPr/>
        <p:txBody>
          <a:bodyPr/>
          <a:lstStyle/>
          <a:p>
            <a:fld id="{93C419CB-0CF1-4F10-90F9-42551F8968FF}" type="slidenum">
              <a:rPr lang="en-GB" smtClean="0"/>
              <a:t>6</a:t>
            </a:fld>
            <a:endParaRPr lang="en-GB"/>
          </a:p>
        </p:txBody>
      </p:sp>
      <p:pic>
        <p:nvPicPr>
          <p:cNvPr id="4" name="Рисунок 3">
            <a:extLst>
              <a:ext uri="{FF2B5EF4-FFF2-40B4-BE49-F238E27FC236}">
                <a16:creationId xmlns:a16="http://schemas.microsoft.com/office/drawing/2014/main" id="{78E335F4-99AB-43A5-9197-D01FE0080C88}"/>
              </a:ext>
            </a:extLst>
          </p:cNvPr>
          <p:cNvPicPr>
            <a:picLocks noChangeAspect="1"/>
          </p:cNvPicPr>
          <p:nvPr/>
        </p:nvPicPr>
        <p:blipFill>
          <a:blip r:embed="rId2"/>
          <a:stretch>
            <a:fillRect/>
          </a:stretch>
        </p:blipFill>
        <p:spPr>
          <a:xfrm>
            <a:off x="776313" y="309248"/>
            <a:ext cx="10639374" cy="5137393"/>
          </a:xfrm>
          <a:prstGeom prst="rect">
            <a:avLst/>
          </a:prstGeom>
        </p:spPr>
      </p:pic>
      <p:sp>
        <p:nvSpPr>
          <p:cNvPr id="5" name="Номер слайда 1">
            <a:extLst>
              <a:ext uri="{FF2B5EF4-FFF2-40B4-BE49-F238E27FC236}">
                <a16:creationId xmlns:a16="http://schemas.microsoft.com/office/drawing/2014/main" id="{B9D42A68-B186-4D25-A550-E508827C4397}"/>
              </a:ext>
            </a:extLst>
          </p:cNvPr>
          <p:cNvSpPr txBox="1">
            <a:spLocks/>
          </p:cNvSpPr>
          <p:nvPr/>
        </p:nvSpPr>
        <p:spPr>
          <a:xfrm>
            <a:off x="8260743" y="64928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dirty="0"/>
              <a:t>boyer-research.com/teaching </a:t>
            </a:r>
          </a:p>
        </p:txBody>
      </p:sp>
    </p:spTree>
    <p:extLst>
      <p:ext uri="{BB962C8B-B14F-4D97-AF65-F5344CB8AC3E}">
        <p14:creationId xmlns:p14="http://schemas.microsoft.com/office/powerpoint/2010/main" val="18615850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a:extLst>
              <a:ext uri="{FF2B5EF4-FFF2-40B4-BE49-F238E27FC236}">
                <a16:creationId xmlns:a16="http://schemas.microsoft.com/office/drawing/2014/main" id="{1ADB39ED-B812-4F3E-9593-C2C81438C01E}"/>
              </a:ext>
            </a:extLst>
          </p:cNvPr>
          <p:cNvSpPr>
            <a:spLocks noGrp="1"/>
          </p:cNvSpPr>
          <p:nvPr>
            <p:ph type="sldNum" sz="quarter" idx="12"/>
          </p:nvPr>
        </p:nvSpPr>
        <p:spPr/>
        <p:txBody>
          <a:bodyPr/>
          <a:lstStyle/>
          <a:p>
            <a:fld id="{93C419CB-0CF1-4F10-90F9-42551F8968FF}" type="slidenum">
              <a:rPr lang="en-GB" smtClean="0"/>
              <a:t>7</a:t>
            </a:fld>
            <a:endParaRPr lang="en-GB"/>
          </a:p>
        </p:txBody>
      </p:sp>
      <p:pic>
        <p:nvPicPr>
          <p:cNvPr id="4" name="Рисунок 3">
            <a:extLst>
              <a:ext uri="{FF2B5EF4-FFF2-40B4-BE49-F238E27FC236}">
                <a16:creationId xmlns:a16="http://schemas.microsoft.com/office/drawing/2014/main" id="{07977DF9-E0E9-48A1-B083-84C9083F1655}"/>
              </a:ext>
            </a:extLst>
          </p:cNvPr>
          <p:cNvPicPr>
            <a:picLocks noChangeAspect="1"/>
          </p:cNvPicPr>
          <p:nvPr/>
        </p:nvPicPr>
        <p:blipFill>
          <a:blip r:embed="rId3"/>
          <a:stretch>
            <a:fillRect/>
          </a:stretch>
        </p:blipFill>
        <p:spPr>
          <a:xfrm>
            <a:off x="1705574" y="236202"/>
            <a:ext cx="8209701" cy="5892771"/>
          </a:xfrm>
          <a:prstGeom prst="rect">
            <a:avLst/>
          </a:prstGeom>
        </p:spPr>
      </p:pic>
      <p:sp>
        <p:nvSpPr>
          <p:cNvPr id="7" name="Номер слайда 1">
            <a:extLst>
              <a:ext uri="{FF2B5EF4-FFF2-40B4-BE49-F238E27FC236}">
                <a16:creationId xmlns:a16="http://schemas.microsoft.com/office/drawing/2014/main" id="{0E49482E-1AD9-4499-8623-81EF109CF549}"/>
              </a:ext>
            </a:extLst>
          </p:cNvPr>
          <p:cNvSpPr txBox="1">
            <a:spLocks/>
          </p:cNvSpPr>
          <p:nvPr/>
        </p:nvSpPr>
        <p:spPr>
          <a:xfrm>
            <a:off x="8260743" y="64928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dirty="0"/>
              <a:t>boyer-research.com/teaching </a:t>
            </a:r>
          </a:p>
        </p:txBody>
      </p:sp>
    </p:spTree>
    <p:extLst>
      <p:ext uri="{BB962C8B-B14F-4D97-AF65-F5344CB8AC3E}">
        <p14:creationId xmlns:p14="http://schemas.microsoft.com/office/powerpoint/2010/main" val="28189903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a:extLst>
              <a:ext uri="{FF2B5EF4-FFF2-40B4-BE49-F238E27FC236}">
                <a16:creationId xmlns:a16="http://schemas.microsoft.com/office/drawing/2014/main" id="{AF0CBF24-9544-4F9C-917F-65A657941944}"/>
              </a:ext>
            </a:extLst>
          </p:cNvPr>
          <p:cNvSpPr>
            <a:spLocks noGrp="1"/>
          </p:cNvSpPr>
          <p:nvPr>
            <p:ph type="sldNum" sz="quarter" idx="12"/>
          </p:nvPr>
        </p:nvSpPr>
        <p:spPr/>
        <p:txBody>
          <a:bodyPr/>
          <a:lstStyle/>
          <a:p>
            <a:fld id="{93C419CB-0CF1-4F10-90F9-42551F8968FF}" type="slidenum">
              <a:rPr lang="en-GB" smtClean="0"/>
              <a:t>8</a:t>
            </a:fld>
            <a:endParaRPr lang="en-GB"/>
          </a:p>
        </p:txBody>
      </p:sp>
      <p:sp>
        <p:nvSpPr>
          <p:cNvPr id="7" name="Номер слайда 1">
            <a:extLst>
              <a:ext uri="{FF2B5EF4-FFF2-40B4-BE49-F238E27FC236}">
                <a16:creationId xmlns:a16="http://schemas.microsoft.com/office/drawing/2014/main" id="{13D14915-FC30-4133-A7B1-BC1D2F6229C6}"/>
              </a:ext>
            </a:extLst>
          </p:cNvPr>
          <p:cNvSpPr txBox="1">
            <a:spLocks/>
          </p:cNvSpPr>
          <p:nvPr/>
        </p:nvSpPr>
        <p:spPr>
          <a:xfrm>
            <a:off x="8260743" y="64928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dirty="0"/>
              <a:t>boyer-research.com/teaching </a:t>
            </a:r>
          </a:p>
        </p:txBody>
      </p:sp>
      <p:pic>
        <p:nvPicPr>
          <p:cNvPr id="9" name="Рисунок 8">
            <a:extLst>
              <a:ext uri="{FF2B5EF4-FFF2-40B4-BE49-F238E27FC236}">
                <a16:creationId xmlns:a16="http://schemas.microsoft.com/office/drawing/2014/main" id="{D6542448-57D8-4C8C-86D0-0D9680A9284D}"/>
              </a:ext>
            </a:extLst>
          </p:cNvPr>
          <p:cNvPicPr>
            <a:picLocks noChangeAspect="1"/>
          </p:cNvPicPr>
          <p:nvPr/>
        </p:nvPicPr>
        <p:blipFill>
          <a:blip r:embed="rId3"/>
          <a:stretch>
            <a:fillRect/>
          </a:stretch>
        </p:blipFill>
        <p:spPr>
          <a:xfrm>
            <a:off x="1176313" y="319074"/>
            <a:ext cx="10350296" cy="5595951"/>
          </a:xfrm>
          <a:prstGeom prst="rect">
            <a:avLst/>
          </a:prstGeom>
        </p:spPr>
      </p:pic>
    </p:spTree>
    <p:extLst>
      <p:ext uri="{BB962C8B-B14F-4D97-AF65-F5344CB8AC3E}">
        <p14:creationId xmlns:p14="http://schemas.microsoft.com/office/powerpoint/2010/main" val="32159873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a:extLst>
              <a:ext uri="{FF2B5EF4-FFF2-40B4-BE49-F238E27FC236}">
                <a16:creationId xmlns:a16="http://schemas.microsoft.com/office/drawing/2014/main" id="{5AC36377-69BD-4BD9-87A0-46074761406D}"/>
              </a:ext>
            </a:extLst>
          </p:cNvPr>
          <p:cNvSpPr>
            <a:spLocks noGrp="1"/>
          </p:cNvSpPr>
          <p:nvPr>
            <p:ph type="sldNum" sz="quarter" idx="12"/>
          </p:nvPr>
        </p:nvSpPr>
        <p:spPr/>
        <p:txBody>
          <a:bodyPr/>
          <a:lstStyle/>
          <a:p>
            <a:fld id="{93C419CB-0CF1-4F10-90F9-42551F8968FF}" type="slidenum">
              <a:rPr lang="en-GB" smtClean="0"/>
              <a:t>9</a:t>
            </a:fld>
            <a:endParaRPr lang="en-GB"/>
          </a:p>
        </p:txBody>
      </p:sp>
      <p:pic>
        <p:nvPicPr>
          <p:cNvPr id="6" name="Рисунок 5">
            <a:extLst>
              <a:ext uri="{FF2B5EF4-FFF2-40B4-BE49-F238E27FC236}">
                <a16:creationId xmlns:a16="http://schemas.microsoft.com/office/drawing/2014/main" id="{A52BC9FE-C5F0-4461-8159-7800954496AB}"/>
              </a:ext>
            </a:extLst>
          </p:cNvPr>
          <p:cNvPicPr>
            <a:picLocks noChangeAspect="1"/>
          </p:cNvPicPr>
          <p:nvPr/>
        </p:nvPicPr>
        <p:blipFill rotWithShape="1">
          <a:blip r:embed="rId2"/>
          <a:srcRect l="1172" t="1454"/>
          <a:stretch/>
        </p:blipFill>
        <p:spPr>
          <a:xfrm>
            <a:off x="1439838" y="491319"/>
            <a:ext cx="9777197" cy="5865032"/>
          </a:xfrm>
          <a:prstGeom prst="rect">
            <a:avLst/>
          </a:prstGeom>
        </p:spPr>
      </p:pic>
    </p:spTree>
    <p:extLst>
      <p:ext uri="{BB962C8B-B14F-4D97-AF65-F5344CB8AC3E}">
        <p14:creationId xmlns:p14="http://schemas.microsoft.com/office/powerpoint/2010/main" val="34158990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a:extLst>
              <a:ext uri="{FF2B5EF4-FFF2-40B4-BE49-F238E27FC236}">
                <a16:creationId xmlns:a16="http://schemas.microsoft.com/office/drawing/2014/main" id="{71E71DC1-6BA3-4C87-A098-95096778F459}"/>
              </a:ext>
            </a:extLst>
          </p:cNvPr>
          <p:cNvSpPr>
            <a:spLocks noGrp="1"/>
          </p:cNvSpPr>
          <p:nvPr>
            <p:ph type="sldNum" sz="quarter" idx="12"/>
          </p:nvPr>
        </p:nvSpPr>
        <p:spPr/>
        <p:txBody>
          <a:bodyPr/>
          <a:lstStyle/>
          <a:p>
            <a:fld id="{93C419CB-0CF1-4F10-90F9-42551F8968FF}" type="slidenum">
              <a:rPr lang="en-GB" smtClean="0"/>
              <a:t>10</a:t>
            </a:fld>
            <a:endParaRPr lang="en-GB"/>
          </a:p>
        </p:txBody>
      </p:sp>
      <p:sp>
        <p:nvSpPr>
          <p:cNvPr id="4" name="TextBox 3">
            <a:extLst>
              <a:ext uri="{FF2B5EF4-FFF2-40B4-BE49-F238E27FC236}">
                <a16:creationId xmlns:a16="http://schemas.microsoft.com/office/drawing/2014/main" id="{3AE52B43-6465-474F-8054-9DDC4BCCA3C7}"/>
              </a:ext>
            </a:extLst>
          </p:cNvPr>
          <p:cNvSpPr txBox="1"/>
          <p:nvPr/>
        </p:nvSpPr>
        <p:spPr>
          <a:xfrm>
            <a:off x="8098240" y="136523"/>
            <a:ext cx="3959556" cy="530145"/>
          </a:xfrm>
          <a:prstGeom prst="rect">
            <a:avLst/>
          </a:prstGeom>
        </p:spPr>
        <p:style>
          <a:lnRef idx="1">
            <a:schemeClr val="accent2"/>
          </a:lnRef>
          <a:fillRef idx="3">
            <a:schemeClr val="accent2"/>
          </a:fillRef>
          <a:effectRef idx="2">
            <a:schemeClr val="accent2"/>
          </a:effectRef>
          <a:fontRef idx="minor">
            <a:schemeClr val="lt1"/>
          </a:fontRef>
        </p:style>
        <p:txBody>
          <a:bodyPr wrap="square">
            <a:spAutoFit/>
          </a:bodyPr>
          <a:lstStyle/>
          <a:p>
            <a:pPr>
              <a:lnSpc>
                <a:spcPct val="107000"/>
              </a:lnSpc>
              <a:spcAft>
                <a:spcPts val="800"/>
              </a:spcAft>
            </a:pPr>
            <a:r>
              <a:rPr lang="en-GB" sz="2800" b="1" dirty="0">
                <a:solidFill>
                  <a:srgbClr val="0070C0"/>
                </a:solidFill>
                <a:effectLst/>
                <a:latin typeface="Arial" panose="020B0604020202020204" pitchFamily="34" charset="0"/>
                <a:ea typeface="Times New Roman" panose="02020603050405020304" pitchFamily="18" charset="0"/>
                <a:cs typeface="Times New Roman" panose="02020603050405020304" pitchFamily="18" charset="0"/>
              </a:rPr>
              <a:t>Nomenclature</a:t>
            </a:r>
            <a:endParaRPr lang="en-GB" sz="2800" dirty="0">
              <a:solidFill>
                <a:srgbClr val="0070C0"/>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9" name="TextBox 8">
            <a:extLst>
              <a:ext uri="{FF2B5EF4-FFF2-40B4-BE49-F238E27FC236}">
                <a16:creationId xmlns:a16="http://schemas.microsoft.com/office/drawing/2014/main" id="{899D3787-8C24-49FF-B646-9CCAA5D8BE13}"/>
              </a:ext>
            </a:extLst>
          </p:cNvPr>
          <p:cNvSpPr txBox="1"/>
          <p:nvPr/>
        </p:nvSpPr>
        <p:spPr>
          <a:xfrm>
            <a:off x="681227" y="376887"/>
            <a:ext cx="10384240" cy="6169381"/>
          </a:xfrm>
          <a:prstGeom prst="rect">
            <a:avLst/>
          </a:prstGeom>
          <a:noFill/>
        </p:spPr>
        <p:txBody>
          <a:bodyPr wrap="square">
            <a:spAutoFit/>
          </a:bodyPr>
          <a:lstStyle/>
          <a:p>
            <a:pPr>
              <a:lnSpc>
                <a:spcPct val="150000"/>
              </a:lnSpc>
            </a:pPr>
            <a:r>
              <a:rPr lang="en-GB" sz="2800" b="1" dirty="0">
                <a:solidFill>
                  <a:srgbClr val="0070C0"/>
                </a:solidFill>
              </a:rPr>
              <a:t>IUPAC Rules </a:t>
            </a:r>
          </a:p>
          <a:p>
            <a:r>
              <a:rPr lang="en-GB" sz="2800" dirty="0">
                <a:solidFill>
                  <a:srgbClr val="0070C0"/>
                </a:solidFill>
              </a:rPr>
              <a:t>Three rule systems for naming heterocycles</a:t>
            </a:r>
            <a:endParaRPr lang="en-GB" sz="2800" b="1" dirty="0">
              <a:solidFill>
                <a:srgbClr val="0070C0"/>
              </a:solidFill>
            </a:endParaRPr>
          </a:p>
          <a:p>
            <a:endParaRPr lang="en-GB" sz="2800" b="1" dirty="0">
              <a:solidFill>
                <a:srgbClr val="0070C0"/>
              </a:solidFill>
            </a:endParaRPr>
          </a:p>
          <a:p>
            <a:pPr>
              <a:lnSpc>
                <a:spcPct val="150000"/>
              </a:lnSpc>
            </a:pPr>
            <a:r>
              <a:rPr lang="en-GB" sz="2000" b="1" dirty="0"/>
              <a:t>I. Retained Names</a:t>
            </a:r>
            <a:r>
              <a:rPr lang="uk-UA" sz="2000" b="1" dirty="0"/>
              <a:t> (</a:t>
            </a:r>
            <a:r>
              <a:rPr lang="en-GB" sz="2000" dirty="0"/>
              <a:t>Trivial names</a:t>
            </a:r>
            <a:r>
              <a:rPr lang="uk-UA" sz="2000" dirty="0"/>
              <a:t>, </a:t>
            </a:r>
            <a:r>
              <a:rPr lang="en-GB" sz="2000" dirty="0"/>
              <a:t>Common Names</a:t>
            </a:r>
            <a:r>
              <a:rPr lang="uk-UA" sz="2000" b="1" dirty="0"/>
              <a:t>)</a:t>
            </a:r>
            <a:endParaRPr lang="en-GB" sz="2000" b="1" dirty="0"/>
          </a:p>
          <a:p>
            <a:pPr>
              <a:lnSpc>
                <a:spcPct val="150000"/>
              </a:lnSpc>
            </a:pPr>
            <a:r>
              <a:rPr lang="en-GB" sz="2000" dirty="0"/>
              <a:t>Older heterocycles keep their traditional names</a:t>
            </a:r>
          </a:p>
          <a:p>
            <a:pPr>
              <a:lnSpc>
                <a:spcPct val="150000"/>
              </a:lnSpc>
            </a:pPr>
            <a:endParaRPr lang="en-GB" sz="2000" dirty="0"/>
          </a:p>
          <a:p>
            <a:pPr>
              <a:lnSpc>
                <a:spcPct val="150000"/>
              </a:lnSpc>
            </a:pPr>
            <a:r>
              <a:rPr lang="en-GB" sz="2000" b="1" dirty="0"/>
              <a:t>II. </a:t>
            </a:r>
            <a:r>
              <a:rPr lang="en-GB" sz="2000" b="1" dirty="0" err="1"/>
              <a:t>Hantzsch</a:t>
            </a:r>
            <a:r>
              <a:rPr lang="en-GB" sz="2000" b="1" dirty="0"/>
              <a:t>-Widman Nomenclature</a:t>
            </a:r>
          </a:p>
          <a:p>
            <a:pPr>
              <a:lnSpc>
                <a:spcPct val="150000"/>
              </a:lnSpc>
            </a:pPr>
            <a:r>
              <a:rPr lang="en-GB" sz="2000" dirty="0"/>
              <a:t>Logical system of nomenclature. It is a type of systematic chemical nomenclature used for naming heterocyclic parent hydrides having </a:t>
            </a:r>
            <a:r>
              <a:rPr lang="en-GB" sz="2000" b="1" i="1" dirty="0">
                <a:solidFill>
                  <a:schemeClr val="accent1">
                    <a:lumMod val="75000"/>
                  </a:schemeClr>
                </a:solidFill>
              </a:rPr>
              <a:t>no more than ten ring atoms</a:t>
            </a:r>
            <a:r>
              <a:rPr lang="en-GB" sz="2000" dirty="0"/>
              <a:t>.</a:t>
            </a:r>
          </a:p>
          <a:p>
            <a:pPr>
              <a:lnSpc>
                <a:spcPct val="150000"/>
              </a:lnSpc>
            </a:pPr>
            <a:endParaRPr lang="en-GB" sz="2000" dirty="0"/>
          </a:p>
          <a:p>
            <a:pPr>
              <a:lnSpc>
                <a:spcPct val="150000"/>
              </a:lnSpc>
            </a:pPr>
            <a:r>
              <a:rPr lang="en-GB" sz="2000" b="1" dirty="0"/>
              <a:t>III. Carbon-Framework Substitution Nomenclature </a:t>
            </a:r>
            <a:r>
              <a:rPr lang="en-GB" sz="2000" dirty="0"/>
              <a:t>(Replacement Nomenclature)</a:t>
            </a:r>
          </a:p>
          <a:p>
            <a:pPr algn="just">
              <a:lnSpc>
                <a:spcPct val="150000"/>
              </a:lnSpc>
            </a:pPr>
            <a:r>
              <a:rPr lang="en-GB" sz="2000" dirty="0"/>
              <a:t>Complex heterocycles. It is used for the heterocycles containing </a:t>
            </a:r>
            <a:r>
              <a:rPr lang="en-GB" sz="2000" b="1" dirty="0">
                <a:solidFill>
                  <a:schemeClr val="accent1">
                    <a:lumMod val="75000"/>
                  </a:schemeClr>
                </a:solidFill>
              </a:rPr>
              <a:t>unusual heteroatom(s), spiro-, and bridged heterocyclic systems, other heterocycles greater than 10-membered</a:t>
            </a:r>
            <a:r>
              <a:rPr lang="en-GB" sz="2000" dirty="0"/>
              <a:t>.</a:t>
            </a:r>
          </a:p>
        </p:txBody>
      </p:sp>
    </p:spTree>
    <p:extLst>
      <p:ext uri="{BB962C8B-B14F-4D97-AF65-F5344CB8AC3E}">
        <p14:creationId xmlns:p14="http://schemas.microsoft.com/office/powerpoint/2010/main" val="12276864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a:extLst>
              <a:ext uri="{FF2B5EF4-FFF2-40B4-BE49-F238E27FC236}">
                <a16:creationId xmlns:a16="http://schemas.microsoft.com/office/drawing/2014/main" id="{B41DF9A0-C365-4F0F-B25C-CBB9B10350E3}"/>
              </a:ext>
            </a:extLst>
          </p:cNvPr>
          <p:cNvSpPr>
            <a:spLocks noGrp="1"/>
          </p:cNvSpPr>
          <p:nvPr>
            <p:ph type="sldNum" sz="quarter" idx="12"/>
          </p:nvPr>
        </p:nvSpPr>
        <p:spPr/>
        <p:txBody>
          <a:bodyPr/>
          <a:lstStyle/>
          <a:p>
            <a:fld id="{93C419CB-0CF1-4F10-90F9-42551F8968FF}" type="slidenum">
              <a:rPr lang="en-GB" smtClean="0"/>
              <a:t>11</a:t>
            </a:fld>
            <a:endParaRPr lang="en-GB"/>
          </a:p>
        </p:txBody>
      </p:sp>
      <p:sp>
        <p:nvSpPr>
          <p:cNvPr id="4" name="TextBox 3">
            <a:extLst>
              <a:ext uri="{FF2B5EF4-FFF2-40B4-BE49-F238E27FC236}">
                <a16:creationId xmlns:a16="http://schemas.microsoft.com/office/drawing/2014/main" id="{C1CBF781-3842-4188-B02F-24A412D7B30A}"/>
              </a:ext>
            </a:extLst>
          </p:cNvPr>
          <p:cNvSpPr txBox="1"/>
          <p:nvPr/>
        </p:nvSpPr>
        <p:spPr>
          <a:xfrm>
            <a:off x="415455" y="292662"/>
            <a:ext cx="11266336" cy="584775"/>
          </a:xfrm>
          <a:prstGeom prst="rect">
            <a:avLst/>
          </a:prstGeom>
        </p:spPr>
        <p:style>
          <a:lnRef idx="1">
            <a:schemeClr val="accent5"/>
          </a:lnRef>
          <a:fillRef idx="2">
            <a:schemeClr val="accent5"/>
          </a:fillRef>
          <a:effectRef idx="1">
            <a:schemeClr val="accent5"/>
          </a:effectRef>
          <a:fontRef idx="minor">
            <a:schemeClr val="dk1"/>
          </a:fontRef>
        </p:style>
        <p:txBody>
          <a:bodyPr wrap="square">
            <a:spAutoFit/>
          </a:bodyPr>
          <a:lstStyle/>
          <a:p>
            <a:pPr marL="571500" indent="-571500">
              <a:buAutoNum type="romanUcPeriod"/>
            </a:pPr>
            <a:r>
              <a:rPr lang="en-GB" sz="3200" b="1" dirty="0"/>
              <a:t>Retained Names</a:t>
            </a:r>
          </a:p>
        </p:txBody>
      </p:sp>
      <p:pic>
        <p:nvPicPr>
          <p:cNvPr id="5" name="Рисунок 4">
            <a:extLst>
              <a:ext uri="{FF2B5EF4-FFF2-40B4-BE49-F238E27FC236}">
                <a16:creationId xmlns:a16="http://schemas.microsoft.com/office/drawing/2014/main" id="{689F2AA2-7E23-444E-B441-8A5AC500F2FA}"/>
              </a:ext>
            </a:extLst>
          </p:cNvPr>
          <p:cNvPicPr>
            <a:picLocks noChangeAspect="1"/>
          </p:cNvPicPr>
          <p:nvPr/>
        </p:nvPicPr>
        <p:blipFill rotWithShape="1">
          <a:blip r:embed="rId3"/>
          <a:srcRect l="18775" t="13190" r="16101" b="29370"/>
          <a:stretch/>
        </p:blipFill>
        <p:spPr>
          <a:xfrm>
            <a:off x="2649938" y="2345000"/>
            <a:ext cx="5903844" cy="3535680"/>
          </a:xfrm>
          <a:prstGeom prst="rect">
            <a:avLst/>
          </a:prstGeom>
        </p:spPr>
      </p:pic>
      <p:sp>
        <p:nvSpPr>
          <p:cNvPr id="58" name="TextBox 57">
            <a:extLst>
              <a:ext uri="{FF2B5EF4-FFF2-40B4-BE49-F238E27FC236}">
                <a16:creationId xmlns:a16="http://schemas.microsoft.com/office/drawing/2014/main" id="{57AC4B29-CF92-453C-9510-44C6D032FBC2}"/>
              </a:ext>
            </a:extLst>
          </p:cNvPr>
          <p:cNvSpPr txBox="1"/>
          <p:nvPr/>
        </p:nvSpPr>
        <p:spPr>
          <a:xfrm>
            <a:off x="415454" y="1246591"/>
            <a:ext cx="11266336" cy="800219"/>
          </a:xfrm>
          <a:prstGeom prst="rect">
            <a:avLst/>
          </a:prstGeom>
          <a:noFill/>
        </p:spPr>
        <p:txBody>
          <a:bodyPr wrap="square">
            <a:spAutoFit/>
          </a:bodyPr>
          <a:lstStyle/>
          <a:p>
            <a:pPr algn="just">
              <a:spcBef>
                <a:spcPts val="600"/>
              </a:spcBef>
              <a:spcAft>
                <a:spcPts val="600"/>
              </a:spcAft>
            </a:pPr>
            <a:r>
              <a:rPr lang="en-GB" b="0" i="0" dirty="0">
                <a:solidFill>
                  <a:srgbClr val="000000"/>
                </a:solidFill>
                <a:effectLst/>
              </a:rPr>
              <a:t>Many heterocycles, especially amines, were identified early on, and received </a:t>
            </a:r>
            <a:r>
              <a:rPr lang="en-GB" i="0" dirty="0">
                <a:solidFill>
                  <a:srgbClr val="000000"/>
                </a:solidFill>
                <a:effectLst/>
              </a:rPr>
              <a:t>trivial </a:t>
            </a:r>
            <a:r>
              <a:rPr lang="en-GB" b="0" i="0" dirty="0">
                <a:solidFill>
                  <a:srgbClr val="000000"/>
                </a:solidFill>
                <a:effectLst/>
              </a:rPr>
              <a:t>names </a:t>
            </a:r>
            <a:r>
              <a:rPr lang="en-GB" b="1" i="1" dirty="0">
                <a:solidFill>
                  <a:srgbClr val="000000"/>
                </a:solidFill>
                <a:effectLst/>
              </a:rPr>
              <a:t>which are still preferred</a:t>
            </a:r>
            <a:r>
              <a:rPr lang="en-GB" dirty="0"/>
              <a:t>.</a:t>
            </a:r>
          </a:p>
          <a:p>
            <a:pPr algn="just">
              <a:spcBef>
                <a:spcPts val="600"/>
              </a:spcBef>
              <a:spcAft>
                <a:spcPts val="600"/>
              </a:spcAft>
            </a:pPr>
            <a:r>
              <a:rPr lang="en-GB" sz="1800" dirty="0"/>
              <a:t>Several important heterocycles predate the </a:t>
            </a:r>
            <a:r>
              <a:rPr lang="en-GB" sz="1800" dirty="0" err="1"/>
              <a:t>Hantzch</a:t>
            </a:r>
            <a:r>
              <a:rPr lang="en-GB" sz="1800" dirty="0"/>
              <a:t>-Wildman nomenclature and keep their </a:t>
            </a:r>
            <a:r>
              <a:rPr lang="en-GB" sz="1800" b="1" dirty="0"/>
              <a:t>historic names, </a:t>
            </a:r>
            <a:r>
              <a:rPr lang="en-GB" b="1" dirty="0"/>
              <a:t>including:</a:t>
            </a:r>
            <a:r>
              <a:rPr lang="en-GB" sz="1800" dirty="0"/>
              <a:t>  </a:t>
            </a:r>
            <a:endParaRPr lang="en-GB" dirty="0"/>
          </a:p>
        </p:txBody>
      </p:sp>
      <p:sp>
        <p:nvSpPr>
          <p:cNvPr id="60" name="TextBox 59">
            <a:extLst>
              <a:ext uri="{FF2B5EF4-FFF2-40B4-BE49-F238E27FC236}">
                <a16:creationId xmlns:a16="http://schemas.microsoft.com/office/drawing/2014/main" id="{3ADBA8B6-1D97-402E-AC8A-205D03AAD114}"/>
              </a:ext>
            </a:extLst>
          </p:cNvPr>
          <p:cNvSpPr txBox="1"/>
          <p:nvPr/>
        </p:nvSpPr>
        <p:spPr>
          <a:xfrm>
            <a:off x="938153" y="6048575"/>
            <a:ext cx="9327414" cy="307777"/>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just"/>
            <a:r>
              <a:rPr lang="en-GB" sz="1400" dirty="0"/>
              <a:t>The trivial name is in bold, and a systematic name based on the </a:t>
            </a:r>
            <a:r>
              <a:rPr lang="en-GB" sz="1400" dirty="0" err="1"/>
              <a:t>Hantzsch</a:t>
            </a:r>
            <a:r>
              <a:rPr lang="en-GB" sz="1400" dirty="0"/>
              <a:t>-Widman system is given beneath it is not bold. </a:t>
            </a:r>
          </a:p>
        </p:txBody>
      </p:sp>
    </p:spTree>
    <p:extLst>
      <p:ext uri="{BB962C8B-B14F-4D97-AF65-F5344CB8AC3E}">
        <p14:creationId xmlns:p14="http://schemas.microsoft.com/office/powerpoint/2010/main" val="27440384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a:extLst>
              <a:ext uri="{FF2B5EF4-FFF2-40B4-BE49-F238E27FC236}">
                <a16:creationId xmlns:a16="http://schemas.microsoft.com/office/drawing/2014/main" id="{B41DF9A0-C365-4F0F-B25C-CBB9B10350E3}"/>
              </a:ext>
            </a:extLst>
          </p:cNvPr>
          <p:cNvSpPr>
            <a:spLocks noGrp="1"/>
          </p:cNvSpPr>
          <p:nvPr>
            <p:ph type="sldNum" sz="quarter" idx="12"/>
          </p:nvPr>
        </p:nvSpPr>
        <p:spPr/>
        <p:txBody>
          <a:bodyPr/>
          <a:lstStyle/>
          <a:p>
            <a:fld id="{93C419CB-0CF1-4F10-90F9-42551F8968FF}" type="slidenum">
              <a:rPr lang="en-GB" smtClean="0"/>
              <a:t>12</a:t>
            </a:fld>
            <a:endParaRPr lang="en-GB"/>
          </a:p>
        </p:txBody>
      </p:sp>
      <p:sp>
        <p:nvSpPr>
          <p:cNvPr id="4" name="TextBox 3">
            <a:extLst>
              <a:ext uri="{FF2B5EF4-FFF2-40B4-BE49-F238E27FC236}">
                <a16:creationId xmlns:a16="http://schemas.microsoft.com/office/drawing/2014/main" id="{C1CBF781-3842-4188-B02F-24A412D7B30A}"/>
              </a:ext>
            </a:extLst>
          </p:cNvPr>
          <p:cNvSpPr txBox="1"/>
          <p:nvPr/>
        </p:nvSpPr>
        <p:spPr>
          <a:xfrm>
            <a:off x="415455" y="292662"/>
            <a:ext cx="11266336" cy="584775"/>
          </a:xfrm>
          <a:prstGeom prst="rect">
            <a:avLst/>
          </a:prstGeom>
        </p:spPr>
        <p:style>
          <a:lnRef idx="1">
            <a:schemeClr val="accent5"/>
          </a:lnRef>
          <a:fillRef idx="2">
            <a:schemeClr val="accent5"/>
          </a:fillRef>
          <a:effectRef idx="1">
            <a:schemeClr val="accent5"/>
          </a:effectRef>
          <a:fontRef idx="minor">
            <a:schemeClr val="dk1"/>
          </a:fontRef>
        </p:style>
        <p:txBody>
          <a:bodyPr wrap="square">
            <a:spAutoFit/>
          </a:bodyPr>
          <a:lstStyle/>
          <a:p>
            <a:pPr marL="571500" indent="-571500">
              <a:buAutoNum type="romanUcPeriod"/>
            </a:pPr>
            <a:r>
              <a:rPr lang="en-GB" sz="3200" b="1" dirty="0"/>
              <a:t>Retained Names</a:t>
            </a:r>
          </a:p>
        </p:txBody>
      </p:sp>
      <p:sp>
        <p:nvSpPr>
          <p:cNvPr id="58" name="TextBox 57">
            <a:extLst>
              <a:ext uri="{FF2B5EF4-FFF2-40B4-BE49-F238E27FC236}">
                <a16:creationId xmlns:a16="http://schemas.microsoft.com/office/drawing/2014/main" id="{57AC4B29-CF92-453C-9510-44C6D032FBC2}"/>
              </a:ext>
            </a:extLst>
          </p:cNvPr>
          <p:cNvSpPr txBox="1"/>
          <p:nvPr/>
        </p:nvSpPr>
        <p:spPr>
          <a:xfrm>
            <a:off x="415454" y="1246591"/>
            <a:ext cx="11266336" cy="2923877"/>
          </a:xfrm>
          <a:prstGeom prst="rect">
            <a:avLst/>
          </a:prstGeom>
          <a:noFill/>
        </p:spPr>
        <p:txBody>
          <a:bodyPr wrap="square">
            <a:spAutoFit/>
          </a:bodyPr>
          <a:lstStyle/>
          <a:p>
            <a:pPr algn="just">
              <a:spcBef>
                <a:spcPts val="600"/>
              </a:spcBef>
              <a:spcAft>
                <a:spcPts val="600"/>
              </a:spcAft>
            </a:pPr>
            <a:r>
              <a:rPr lang="en-GB" b="0" i="0" dirty="0">
                <a:solidFill>
                  <a:srgbClr val="000000"/>
                </a:solidFill>
                <a:effectLst/>
              </a:rPr>
              <a:t>Many heterocycles, especially amines, were identified early on, and received </a:t>
            </a:r>
            <a:r>
              <a:rPr lang="en-GB" i="0" dirty="0">
                <a:solidFill>
                  <a:srgbClr val="000000"/>
                </a:solidFill>
                <a:effectLst/>
              </a:rPr>
              <a:t>trivial </a:t>
            </a:r>
            <a:r>
              <a:rPr lang="en-GB" b="0" i="0" dirty="0">
                <a:solidFill>
                  <a:srgbClr val="000000"/>
                </a:solidFill>
                <a:effectLst/>
              </a:rPr>
              <a:t>names </a:t>
            </a:r>
            <a:r>
              <a:rPr lang="en-GB" b="1" i="1" dirty="0">
                <a:solidFill>
                  <a:srgbClr val="000000"/>
                </a:solidFill>
                <a:effectLst/>
              </a:rPr>
              <a:t>which are still preferred</a:t>
            </a:r>
            <a:r>
              <a:rPr lang="en-GB" dirty="0"/>
              <a:t>. </a:t>
            </a:r>
          </a:p>
          <a:p>
            <a:pPr algn="just">
              <a:spcBef>
                <a:spcPts val="600"/>
              </a:spcBef>
              <a:spcAft>
                <a:spcPts val="600"/>
              </a:spcAft>
            </a:pPr>
            <a:r>
              <a:rPr lang="en-GB" dirty="0"/>
              <a:t>Names of the heterocyclic organic compounds were given based on their occurrence, their first preparation and some characteristic properties. </a:t>
            </a:r>
          </a:p>
          <a:p>
            <a:pPr marL="285750" indent="-285750" algn="just">
              <a:spcBef>
                <a:spcPts val="600"/>
              </a:spcBef>
              <a:spcAft>
                <a:spcPts val="600"/>
              </a:spcAft>
              <a:buFont typeface="Wingdings" panose="05000000000000000000" pitchFamily="2" charset="2"/>
              <a:buChar char="Ø"/>
            </a:pPr>
            <a:r>
              <a:rPr lang="en-GB" dirty="0"/>
              <a:t>For example picoline; picoline is derived from coal-tar. This is based on Lattin word </a:t>
            </a:r>
            <a:r>
              <a:rPr lang="en-GB" i="1" dirty="0"/>
              <a:t>pictus</a:t>
            </a:r>
            <a:r>
              <a:rPr lang="en-GB" dirty="0"/>
              <a:t> means tarry. </a:t>
            </a:r>
          </a:p>
          <a:p>
            <a:pPr marL="285750" indent="-285750" algn="just">
              <a:spcBef>
                <a:spcPts val="600"/>
              </a:spcBef>
              <a:spcAft>
                <a:spcPts val="600"/>
              </a:spcAft>
              <a:buFont typeface="Wingdings" panose="05000000000000000000" pitchFamily="2" charset="2"/>
              <a:buChar char="Ø"/>
            </a:pPr>
            <a:r>
              <a:rPr lang="en-GB" dirty="0"/>
              <a:t>Pyrrole; which is basic in nature; the name of pyrrole was originated from the Greek word for fiery red because of characteristic colour which the compound gives with pine splint dipped in hydrochloric acid. </a:t>
            </a:r>
          </a:p>
          <a:p>
            <a:pPr marL="285750" indent="-285750" algn="just">
              <a:spcBef>
                <a:spcPts val="600"/>
              </a:spcBef>
              <a:spcAft>
                <a:spcPts val="600"/>
              </a:spcAft>
              <a:buFont typeface="Wingdings" panose="05000000000000000000" pitchFamily="2" charset="2"/>
              <a:buChar char="Ø"/>
            </a:pPr>
            <a:r>
              <a:rPr lang="en-GB" dirty="0"/>
              <a:t>Similarly, the name furfural is given based on it’s source. Furfural means barn oil. Furfural was isolated from the distillation of barn. </a:t>
            </a:r>
          </a:p>
        </p:txBody>
      </p:sp>
      <p:pic>
        <p:nvPicPr>
          <p:cNvPr id="6" name="Рисунок 5">
            <a:extLst>
              <a:ext uri="{FF2B5EF4-FFF2-40B4-BE49-F238E27FC236}">
                <a16:creationId xmlns:a16="http://schemas.microsoft.com/office/drawing/2014/main" id="{AD0162FC-F870-4A88-A36E-AD222BD3669D}"/>
              </a:ext>
            </a:extLst>
          </p:cNvPr>
          <p:cNvPicPr>
            <a:picLocks noChangeAspect="1"/>
          </p:cNvPicPr>
          <p:nvPr/>
        </p:nvPicPr>
        <p:blipFill>
          <a:blip r:embed="rId2"/>
          <a:stretch>
            <a:fillRect/>
          </a:stretch>
        </p:blipFill>
        <p:spPr>
          <a:xfrm>
            <a:off x="1378293" y="4458952"/>
            <a:ext cx="2249912" cy="1782950"/>
          </a:xfrm>
          <a:prstGeom prst="rect">
            <a:avLst/>
          </a:prstGeom>
        </p:spPr>
      </p:pic>
      <p:pic>
        <p:nvPicPr>
          <p:cNvPr id="8" name="Рисунок 7">
            <a:extLst>
              <a:ext uri="{FF2B5EF4-FFF2-40B4-BE49-F238E27FC236}">
                <a16:creationId xmlns:a16="http://schemas.microsoft.com/office/drawing/2014/main" id="{A8477772-4177-4099-9470-7CEE8069D5AA}"/>
              </a:ext>
            </a:extLst>
          </p:cNvPr>
          <p:cNvPicPr>
            <a:picLocks noChangeAspect="1"/>
          </p:cNvPicPr>
          <p:nvPr/>
        </p:nvPicPr>
        <p:blipFill>
          <a:blip r:embed="rId3"/>
          <a:stretch>
            <a:fillRect/>
          </a:stretch>
        </p:blipFill>
        <p:spPr>
          <a:xfrm>
            <a:off x="4278169" y="4458952"/>
            <a:ext cx="1950100" cy="1782950"/>
          </a:xfrm>
          <a:prstGeom prst="rect">
            <a:avLst/>
          </a:prstGeom>
        </p:spPr>
      </p:pic>
      <p:pic>
        <p:nvPicPr>
          <p:cNvPr id="10" name="Рисунок 9">
            <a:extLst>
              <a:ext uri="{FF2B5EF4-FFF2-40B4-BE49-F238E27FC236}">
                <a16:creationId xmlns:a16="http://schemas.microsoft.com/office/drawing/2014/main" id="{62092369-6196-4B0C-8364-88E0B7988472}"/>
              </a:ext>
            </a:extLst>
          </p:cNvPr>
          <p:cNvPicPr>
            <a:picLocks noChangeAspect="1"/>
          </p:cNvPicPr>
          <p:nvPr/>
        </p:nvPicPr>
        <p:blipFill>
          <a:blip r:embed="rId4"/>
          <a:stretch>
            <a:fillRect/>
          </a:stretch>
        </p:blipFill>
        <p:spPr>
          <a:xfrm>
            <a:off x="7322162" y="4674358"/>
            <a:ext cx="2182210" cy="1393510"/>
          </a:xfrm>
          <a:prstGeom prst="rect">
            <a:avLst/>
          </a:prstGeom>
        </p:spPr>
      </p:pic>
    </p:spTree>
    <p:extLst>
      <p:ext uri="{BB962C8B-B14F-4D97-AF65-F5344CB8AC3E}">
        <p14:creationId xmlns:p14="http://schemas.microsoft.com/office/powerpoint/2010/main" val="11172444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a:extLst>
              <a:ext uri="{FF2B5EF4-FFF2-40B4-BE49-F238E27FC236}">
                <a16:creationId xmlns:a16="http://schemas.microsoft.com/office/drawing/2014/main" id="{13702E0A-E577-4242-B451-1E7261E64045}"/>
              </a:ext>
            </a:extLst>
          </p:cNvPr>
          <p:cNvSpPr>
            <a:spLocks noGrp="1"/>
          </p:cNvSpPr>
          <p:nvPr>
            <p:ph type="sldNum" sz="quarter" idx="12"/>
          </p:nvPr>
        </p:nvSpPr>
        <p:spPr/>
        <p:txBody>
          <a:bodyPr/>
          <a:lstStyle/>
          <a:p>
            <a:fld id="{93C419CB-0CF1-4F10-90F9-42551F8968FF}" type="slidenum">
              <a:rPr lang="en-GB" smtClean="0"/>
              <a:t>13</a:t>
            </a:fld>
            <a:endParaRPr lang="en-GB"/>
          </a:p>
        </p:txBody>
      </p:sp>
      <p:sp>
        <p:nvSpPr>
          <p:cNvPr id="4" name="TextBox 3">
            <a:extLst>
              <a:ext uri="{FF2B5EF4-FFF2-40B4-BE49-F238E27FC236}">
                <a16:creationId xmlns:a16="http://schemas.microsoft.com/office/drawing/2014/main" id="{3FB165EF-5D77-47F2-9430-1BEAD9DD83AD}"/>
              </a:ext>
            </a:extLst>
          </p:cNvPr>
          <p:cNvSpPr txBox="1"/>
          <p:nvPr/>
        </p:nvSpPr>
        <p:spPr>
          <a:xfrm>
            <a:off x="513008" y="745626"/>
            <a:ext cx="11165983" cy="2204899"/>
          </a:xfrm>
          <a:prstGeom prst="rect">
            <a:avLst/>
          </a:prstGeom>
          <a:noFill/>
        </p:spPr>
        <p:txBody>
          <a:bodyPr wrap="square">
            <a:spAutoFit/>
          </a:bodyPr>
          <a:lstStyle/>
          <a:p>
            <a:pPr algn="just">
              <a:lnSpc>
                <a:spcPct val="200000"/>
              </a:lnSpc>
            </a:pPr>
            <a:r>
              <a:rPr lang="en-GB" dirty="0"/>
              <a:t> </a:t>
            </a:r>
            <a:r>
              <a:rPr lang="en-GB" sz="2400" dirty="0"/>
              <a:t>At present, just over </a:t>
            </a:r>
            <a:r>
              <a:rPr lang="en-GB" sz="2400" b="1" dirty="0"/>
              <a:t>60 trivial names recognized by the IUPAC system </a:t>
            </a:r>
            <a:r>
              <a:rPr lang="en-GB" sz="2400" dirty="0"/>
              <a:t>of nomenclature. These recognized names are used as a basis for constructing the names of other compounds, systematic names for polycyclic compounds and/or their derivatives.</a:t>
            </a:r>
          </a:p>
        </p:txBody>
      </p:sp>
      <p:sp>
        <p:nvSpPr>
          <p:cNvPr id="7" name="TextBox 6">
            <a:extLst>
              <a:ext uri="{FF2B5EF4-FFF2-40B4-BE49-F238E27FC236}">
                <a16:creationId xmlns:a16="http://schemas.microsoft.com/office/drawing/2014/main" id="{0C943037-656C-497C-91F0-55673B6FF951}"/>
              </a:ext>
            </a:extLst>
          </p:cNvPr>
          <p:cNvSpPr txBox="1"/>
          <p:nvPr/>
        </p:nvSpPr>
        <p:spPr>
          <a:xfrm>
            <a:off x="415455" y="292662"/>
            <a:ext cx="11266336" cy="584775"/>
          </a:xfrm>
          <a:prstGeom prst="rect">
            <a:avLst/>
          </a:prstGeom>
        </p:spPr>
        <p:style>
          <a:lnRef idx="1">
            <a:schemeClr val="accent5"/>
          </a:lnRef>
          <a:fillRef idx="2">
            <a:schemeClr val="accent5"/>
          </a:fillRef>
          <a:effectRef idx="1">
            <a:schemeClr val="accent5"/>
          </a:effectRef>
          <a:fontRef idx="minor">
            <a:schemeClr val="dk1"/>
          </a:fontRef>
        </p:style>
        <p:txBody>
          <a:bodyPr wrap="square">
            <a:spAutoFit/>
          </a:bodyPr>
          <a:lstStyle/>
          <a:p>
            <a:pPr marL="571500" indent="-571500">
              <a:buAutoNum type="romanUcPeriod"/>
            </a:pPr>
            <a:r>
              <a:rPr lang="en-GB" sz="3200" b="1" dirty="0"/>
              <a:t>Retained Names</a:t>
            </a:r>
          </a:p>
        </p:txBody>
      </p:sp>
      <p:sp>
        <p:nvSpPr>
          <p:cNvPr id="6" name="TextBox 5">
            <a:extLst>
              <a:ext uri="{FF2B5EF4-FFF2-40B4-BE49-F238E27FC236}">
                <a16:creationId xmlns:a16="http://schemas.microsoft.com/office/drawing/2014/main" id="{09FC7B81-CDED-49B4-8999-D355C07CBF77}"/>
              </a:ext>
            </a:extLst>
          </p:cNvPr>
          <p:cNvSpPr txBox="1"/>
          <p:nvPr/>
        </p:nvSpPr>
        <p:spPr>
          <a:xfrm>
            <a:off x="2908488" y="4185370"/>
            <a:ext cx="6094926" cy="646331"/>
          </a:xfrm>
          <a:prstGeom prst="rect">
            <a:avLst/>
          </a:prstGeom>
        </p:spPr>
        <p:style>
          <a:lnRef idx="1">
            <a:schemeClr val="accent3"/>
          </a:lnRef>
          <a:fillRef idx="2">
            <a:schemeClr val="accent3"/>
          </a:fillRef>
          <a:effectRef idx="1">
            <a:schemeClr val="accent3"/>
          </a:effectRef>
          <a:fontRef idx="minor">
            <a:schemeClr val="dk1"/>
          </a:fontRef>
        </p:style>
        <p:txBody>
          <a:bodyPr wrap="square">
            <a:spAutoFit/>
          </a:bodyPr>
          <a:lstStyle/>
          <a:p>
            <a:pPr algn="ctr"/>
            <a:r>
              <a:rPr lang="en-GB" b="1" dirty="0"/>
              <a:t>The next two slides</a:t>
            </a:r>
            <a:r>
              <a:rPr lang="uk-UA" b="1" dirty="0"/>
              <a:t> (№</a:t>
            </a:r>
            <a:r>
              <a:rPr lang="en-GB" b="1" dirty="0"/>
              <a:t> </a:t>
            </a:r>
            <a:r>
              <a:rPr lang="uk-UA" b="1" dirty="0"/>
              <a:t>1</a:t>
            </a:r>
            <a:r>
              <a:rPr lang="en-GB" b="1" dirty="0"/>
              <a:t>4</a:t>
            </a:r>
            <a:r>
              <a:rPr lang="uk-UA" b="1" dirty="0"/>
              <a:t>, 1</a:t>
            </a:r>
            <a:r>
              <a:rPr lang="en-GB" b="1" dirty="0"/>
              <a:t>5</a:t>
            </a:r>
            <a:r>
              <a:rPr lang="uk-UA" b="1" dirty="0"/>
              <a:t>)</a:t>
            </a:r>
            <a:r>
              <a:rPr lang="en-GB" b="1" dirty="0"/>
              <a:t> contain an exhaustive list of these structures and their trivial names</a:t>
            </a:r>
          </a:p>
        </p:txBody>
      </p:sp>
    </p:spTree>
    <p:extLst>
      <p:ext uri="{BB962C8B-B14F-4D97-AF65-F5344CB8AC3E}">
        <p14:creationId xmlns:p14="http://schemas.microsoft.com/office/powerpoint/2010/main" val="26618039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a:extLst>
              <a:ext uri="{FF2B5EF4-FFF2-40B4-BE49-F238E27FC236}">
                <a16:creationId xmlns:a16="http://schemas.microsoft.com/office/drawing/2014/main" id="{09C0BCDD-E3A3-44DD-A6F0-DE56B5AC58FA}"/>
              </a:ext>
            </a:extLst>
          </p:cNvPr>
          <p:cNvSpPr>
            <a:spLocks noGrp="1"/>
          </p:cNvSpPr>
          <p:nvPr>
            <p:ph type="sldNum" sz="quarter" idx="12"/>
          </p:nvPr>
        </p:nvSpPr>
        <p:spPr>
          <a:xfrm>
            <a:off x="8610600" y="6356353"/>
            <a:ext cx="2221469" cy="361732"/>
          </a:xfrm>
        </p:spPr>
        <p:txBody>
          <a:bodyPr/>
          <a:lstStyle/>
          <a:p>
            <a:fld id="{93C419CB-0CF1-4F10-90F9-42551F8968FF}" type="slidenum">
              <a:rPr lang="en-GB" smtClean="0"/>
              <a:t>14</a:t>
            </a:fld>
            <a:endParaRPr lang="en-GB"/>
          </a:p>
        </p:txBody>
      </p:sp>
      <p:sp>
        <p:nvSpPr>
          <p:cNvPr id="4" name="TextBox 3">
            <a:extLst>
              <a:ext uri="{FF2B5EF4-FFF2-40B4-BE49-F238E27FC236}">
                <a16:creationId xmlns:a16="http://schemas.microsoft.com/office/drawing/2014/main" id="{15A66CC2-AD64-4288-81E7-8908E29C9C70}"/>
              </a:ext>
            </a:extLst>
          </p:cNvPr>
          <p:cNvSpPr txBox="1"/>
          <p:nvPr/>
        </p:nvSpPr>
        <p:spPr>
          <a:xfrm>
            <a:off x="216657" y="155896"/>
            <a:ext cx="11841140" cy="646331"/>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pPr algn="ctr"/>
            <a:r>
              <a:rPr lang="en-GB" sz="1800" b="1" dirty="0"/>
              <a:t>The following trivial and semi-trivial names constitute a partial list of names,</a:t>
            </a:r>
            <a:endParaRPr lang="uk-UA" sz="1800" b="1" dirty="0"/>
          </a:p>
          <a:p>
            <a:pPr algn="ctr"/>
            <a:r>
              <a:rPr lang="en-GB" sz="1800" b="1" dirty="0"/>
              <a:t>which are retained for  forming fusion names.</a:t>
            </a:r>
            <a:endParaRPr lang="en-GB" b="1" dirty="0"/>
          </a:p>
        </p:txBody>
      </p:sp>
      <p:pic>
        <p:nvPicPr>
          <p:cNvPr id="8" name="Рисунок 7">
            <a:extLst>
              <a:ext uri="{FF2B5EF4-FFF2-40B4-BE49-F238E27FC236}">
                <a16:creationId xmlns:a16="http://schemas.microsoft.com/office/drawing/2014/main" id="{2DE79F9D-C84C-4706-AB0D-0DEB3C5729FD}"/>
              </a:ext>
            </a:extLst>
          </p:cNvPr>
          <p:cNvPicPr>
            <a:picLocks noChangeAspect="1"/>
          </p:cNvPicPr>
          <p:nvPr/>
        </p:nvPicPr>
        <p:blipFill rotWithShape="1">
          <a:blip r:embed="rId3"/>
          <a:srcRect l="5571" r="3903"/>
          <a:stretch/>
        </p:blipFill>
        <p:spPr>
          <a:xfrm>
            <a:off x="25586" y="1022314"/>
            <a:ext cx="1498025" cy="5284476"/>
          </a:xfrm>
          <a:prstGeom prst="rect">
            <a:avLst/>
          </a:prstGeom>
        </p:spPr>
      </p:pic>
      <p:pic>
        <p:nvPicPr>
          <p:cNvPr id="10" name="Рисунок 9">
            <a:extLst>
              <a:ext uri="{FF2B5EF4-FFF2-40B4-BE49-F238E27FC236}">
                <a16:creationId xmlns:a16="http://schemas.microsoft.com/office/drawing/2014/main" id="{683953AE-5157-4F9E-AC97-B9DA11659D7B}"/>
              </a:ext>
            </a:extLst>
          </p:cNvPr>
          <p:cNvPicPr>
            <a:picLocks noChangeAspect="1"/>
          </p:cNvPicPr>
          <p:nvPr/>
        </p:nvPicPr>
        <p:blipFill rotWithShape="1">
          <a:blip r:embed="rId4"/>
          <a:srcRect l="5591"/>
          <a:stretch/>
        </p:blipFill>
        <p:spPr>
          <a:xfrm>
            <a:off x="1488347" y="1088370"/>
            <a:ext cx="1489971" cy="5152364"/>
          </a:xfrm>
          <a:prstGeom prst="rect">
            <a:avLst/>
          </a:prstGeom>
        </p:spPr>
      </p:pic>
      <p:pic>
        <p:nvPicPr>
          <p:cNvPr id="12" name="Рисунок 11">
            <a:extLst>
              <a:ext uri="{FF2B5EF4-FFF2-40B4-BE49-F238E27FC236}">
                <a16:creationId xmlns:a16="http://schemas.microsoft.com/office/drawing/2014/main" id="{B022C149-D1E8-445B-8C61-6EDEEB0668BA}"/>
              </a:ext>
            </a:extLst>
          </p:cNvPr>
          <p:cNvPicPr>
            <a:picLocks noChangeAspect="1"/>
          </p:cNvPicPr>
          <p:nvPr/>
        </p:nvPicPr>
        <p:blipFill rotWithShape="1">
          <a:blip r:embed="rId5"/>
          <a:srcRect l="6262"/>
          <a:stretch/>
        </p:blipFill>
        <p:spPr>
          <a:xfrm>
            <a:off x="2986373" y="880422"/>
            <a:ext cx="1246622" cy="5735300"/>
          </a:xfrm>
          <a:prstGeom prst="rect">
            <a:avLst/>
          </a:prstGeom>
        </p:spPr>
      </p:pic>
      <p:pic>
        <p:nvPicPr>
          <p:cNvPr id="14" name="Рисунок 13">
            <a:extLst>
              <a:ext uri="{FF2B5EF4-FFF2-40B4-BE49-F238E27FC236}">
                <a16:creationId xmlns:a16="http://schemas.microsoft.com/office/drawing/2014/main" id="{EC09CAB4-1C6A-46A0-A696-FA8BC8266A8E}"/>
              </a:ext>
            </a:extLst>
          </p:cNvPr>
          <p:cNvPicPr>
            <a:picLocks noChangeAspect="1"/>
          </p:cNvPicPr>
          <p:nvPr/>
        </p:nvPicPr>
        <p:blipFill rotWithShape="1">
          <a:blip r:embed="rId6"/>
          <a:srcRect r="6107"/>
          <a:stretch/>
        </p:blipFill>
        <p:spPr>
          <a:xfrm>
            <a:off x="4370016" y="880422"/>
            <a:ext cx="1475513" cy="5595883"/>
          </a:xfrm>
          <a:prstGeom prst="rect">
            <a:avLst/>
          </a:prstGeom>
        </p:spPr>
      </p:pic>
      <p:pic>
        <p:nvPicPr>
          <p:cNvPr id="16" name="Рисунок 15">
            <a:extLst>
              <a:ext uri="{FF2B5EF4-FFF2-40B4-BE49-F238E27FC236}">
                <a16:creationId xmlns:a16="http://schemas.microsoft.com/office/drawing/2014/main" id="{51DAB83B-DAD2-4E49-BCB7-B0420061545B}"/>
              </a:ext>
            </a:extLst>
          </p:cNvPr>
          <p:cNvPicPr>
            <a:picLocks noChangeAspect="1"/>
          </p:cNvPicPr>
          <p:nvPr/>
        </p:nvPicPr>
        <p:blipFill rotWithShape="1">
          <a:blip r:embed="rId7"/>
          <a:srcRect r="8381"/>
          <a:stretch/>
        </p:blipFill>
        <p:spPr>
          <a:xfrm>
            <a:off x="5869713" y="849981"/>
            <a:ext cx="1454707" cy="5765741"/>
          </a:xfrm>
          <a:prstGeom prst="rect">
            <a:avLst/>
          </a:prstGeom>
        </p:spPr>
      </p:pic>
      <p:pic>
        <p:nvPicPr>
          <p:cNvPr id="18" name="Рисунок 17">
            <a:extLst>
              <a:ext uri="{FF2B5EF4-FFF2-40B4-BE49-F238E27FC236}">
                <a16:creationId xmlns:a16="http://schemas.microsoft.com/office/drawing/2014/main" id="{8EF3DF08-D438-465E-94FF-FAC75A5E8F7A}"/>
              </a:ext>
            </a:extLst>
          </p:cNvPr>
          <p:cNvPicPr>
            <a:picLocks noChangeAspect="1"/>
          </p:cNvPicPr>
          <p:nvPr/>
        </p:nvPicPr>
        <p:blipFill rotWithShape="1">
          <a:blip r:embed="rId8"/>
          <a:srcRect l="4672" r="4293"/>
          <a:stretch/>
        </p:blipFill>
        <p:spPr>
          <a:xfrm>
            <a:off x="7348604" y="849981"/>
            <a:ext cx="1778279" cy="5756304"/>
          </a:xfrm>
          <a:prstGeom prst="rect">
            <a:avLst/>
          </a:prstGeom>
        </p:spPr>
      </p:pic>
      <p:pic>
        <p:nvPicPr>
          <p:cNvPr id="20" name="Рисунок 19">
            <a:extLst>
              <a:ext uri="{FF2B5EF4-FFF2-40B4-BE49-F238E27FC236}">
                <a16:creationId xmlns:a16="http://schemas.microsoft.com/office/drawing/2014/main" id="{9B9A6A1B-5F1E-4D29-8765-FFED3172AAD9}"/>
              </a:ext>
            </a:extLst>
          </p:cNvPr>
          <p:cNvPicPr>
            <a:picLocks noChangeAspect="1"/>
          </p:cNvPicPr>
          <p:nvPr/>
        </p:nvPicPr>
        <p:blipFill>
          <a:blip r:embed="rId9"/>
          <a:stretch>
            <a:fillRect/>
          </a:stretch>
        </p:blipFill>
        <p:spPr>
          <a:xfrm>
            <a:off x="9126883" y="809647"/>
            <a:ext cx="1925059" cy="5737431"/>
          </a:xfrm>
          <a:prstGeom prst="rect">
            <a:avLst/>
          </a:prstGeom>
        </p:spPr>
      </p:pic>
      <p:pic>
        <p:nvPicPr>
          <p:cNvPr id="22" name="Рисунок 21">
            <a:extLst>
              <a:ext uri="{FF2B5EF4-FFF2-40B4-BE49-F238E27FC236}">
                <a16:creationId xmlns:a16="http://schemas.microsoft.com/office/drawing/2014/main" id="{17774045-532B-4FC4-9841-C9D5C2DB2A6D}"/>
              </a:ext>
            </a:extLst>
          </p:cNvPr>
          <p:cNvPicPr>
            <a:picLocks noChangeAspect="1"/>
          </p:cNvPicPr>
          <p:nvPr/>
        </p:nvPicPr>
        <p:blipFill rotWithShape="1">
          <a:blip r:embed="rId10"/>
          <a:srcRect l="6902"/>
          <a:stretch/>
        </p:blipFill>
        <p:spPr>
          <a:xfrm>
            <a:off x="10890863" y="853578"/>
            <a:ext cx="1275551" cy="3829078"/>
          </a:xfrm>
          <a:prstGeom prst="rect">
            <a:avLst/>
          </a:prstGeom>
        </p:spPr>
      </p:pic>
    </p:spTree>
    <p:extLst>
      <p:ext uri="{BB962C8B-B14F-4D97-AF65-F5344CB8AC3E}">
        <p14:creationId xmlns:p14="http://schemas.microsoft.com/office/powerpoint/2010/main" val="31515312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a:extLst>
              <a:ext uri="{FF2B5EF4-FFF2-40B4-BE49-F238E27FC236}">
                <a16:creationId xmlns:a16="http://schemas.microsoft.com/office/drawing/2014/main" id="{74EC5103-90AF-4596-8910-2B72F011AD56}"/>
              </a:ext>
            </a:extLst>
          </p:cNvPr>
          <p:cNvSpPr>
            <a:spLocks noGrp="1"/>
          </p:cNvSpPr>
          <p:nvPr>
            <p:ph type="sldNum" sz="quarter" idx="12"/>
          </p:nvPr>
        </p:nvSpPr>
        <p:spPr/>
        <p:txBody>
          <a:bodyPr/>
          <a:lstStyle/>
          <a:p>
            <a:fld id="{93C419CB-0CF1-4F10-90F9-42551F8968FF}" type="slidenum">
              <a:rPr lang="en-GB" smtClean="0"/>
              <a:t>15</a:t>
            </a:fld>
            <a:endParaRPr lang="en-GB"/>
          </a:p>
        </p:txBody>
      </p:sp>
      <p:sp>
        <p:nvSpPr>
          <p:cNvPr id="4" name="TextBox 3">
            <a:extLst>
              <a:ext uri="{FF2B5EF4-FFF2-40B4-BE49-F238E27FC236}">
                <a16:creationId xmlns:a16="http://schemas.microsoft.com/office/drawing/2014/main" id="{C878EF9A-AC82-4ABA-B96F-F4C6255B0AE8}"/>
              </a:ext>
            </a:extLst>
          </p:cNvPr>
          <p:cNvSpPr txBox="1"/>
          <p:nvPr/>
        </p:nvSpPr>
        <p:spPr>
          <a:xfrm>
            <a:off x="238835" y="130623"/>
            <a:ext cx="11682483" cy="646331"/>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pPr algn="ctr"/>
            <a:r>
              <a:rPr lang="en-GB" sz="1800" b="1" dirty="0"/>
              <a:t>The following trivial and semi-trivial names are retained but are not recommended for use in fusion names. </a:t>
            </a:r>
            <a:br>
              <a:rPr lang="uk-UA" sz="1800" b="1" dirty="0"/>
            </a:br>
            <a:endParaRPr lang="en-GB" b="1" dirty="0"/>
          </a:p>
        </p:txBody>
      </p:sp>
      <p:pic>
        <p:nvPicPr>
          <p:cNvPr id="6" name="Рисунок 5">
            <a:extLst>
              <a:ext uri="{FF2B5EF4-FFF2-40B4-BE49-F238E27FC236}">
                <a16:creationId xmlns:a16="http://schemas.microsoft.com/office/drawing/2014/main" id="{6D63478F-8B5C-457E-AB69-D9BAD3508009}"/>
              </a:ext>
            </a:extLst>
          </p:cNvPr>
          <p:cNvPicPr>
            <a:picLocks noChangeAspect="1"/>
          </p:cNvPicPr>
          <p:nvPr/>
        </p:nvPicPr>
        <p:blipFill>
          <a:blip r:embed="rId2"/>
          <a:stretch>
            <a:fillRect/>
          </a:stretch>
        </p:blipFill>
        <p:spPr>
          <a:xfrm>
            <a:off x="783034" y="1134136"/>
            <a:ext cx="1905014" cy="4714909"/>
          </a:xfrm>
          <a:prstGeom prst="rect">
            <a:avLst/>
          </a:prstGeom>
        </p:spPr>
      </p:pic>
      <p:pic>
        <p:nvPicPr>
          <p:cNvPr id="8" name="Рисунок 7">
            <a:extLst>
              <a:ext uri="{FF2B5EF4-FFF2-40B4-BE49-F238E27FC236}">
                <a16:creationId xmlns:a16="http://schemas.microsoft.com/office/drawing/2014/main" id="{F8001519-CA13-4A23-A425-1DF94CF5BFE9}"/>
              </a:ext>
            </a:extLst>
          </p:cNvPr>
          <p:cNvPicPr>
            <a:picLocks noChangeAspect="1"/>
          </p:cNvPicPr>
          <p:nvPr/>
        </p:nvPicPr>
        <p:blipFill>
          <a:blip r:embed="rId3"/>
          <a:stretch>
            <a:fillRect/>
          </a:stretch>
        </p:blipFill>
        <p:spPr>
          <a:xfrm>
            <a:off x="3464037" y="1124610"/>
            <a:ext cx="1838338" cy="4724435"/>
          </a:xfrm>
          <a:prstGeom prst="rect">
            <a:avLst/>
          </a:prstGeom>
        </p:spPr>
      </p:pic>
      <p:pic>
        <p:nvPicPr>
          <p:cNvPr id="10" name="Рисунок 9">
            <a:extLst>
              <a:ext uri="{FF2B5EF4-FFF2-40B4-BE49-F238E27FC236}">
                <a16:creationId xmlns:a16="http://schemas.microsoft.com/office/drawing/2014/main" id="{55C5BD8C-1BFB-4850-8C40-35AF7E3D81A8}"/>
              </a:ext>
            </a:extLst>
          </p:cNvPr>
          <p:cNvPicPr>
            <a:picLocks noChangeAspect="1"/>
          </p:cNvPicPr>
          <p:nvPr/>
        </p:nvPicPr>
        <p:blipFill>
          <a:blip r:embed="rId4"/>
          <a:stretch>
            <a:fillRect/>
          </a:stretch>
        </p:blipFill>
        <p:spPr>
          <a:xfrm>
            <a:off x="6096000" y="1124610"/>
            <a:ext cx="1771663" cy="4067205"/>
          </a:xfrm>
          <a:prstGeom prst="rect">
            <a:avLst/>
          </a:prstGeom>
        </p:spPr>
      </p:pic>
    </p:spTree>
    <p:extLst>
      <p:ext uri="{BB962C8B-B14F-4D97-AF65-F5344CB8AC3E}">
        <p14:creationId xmlns:p14="http://schemas.microsoft.com/office/powerpoint/2010/main" val="33553036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a:extLst>
              <a:ext uri="{FF2B5EF4-FFF2-40B4-BE49-F238E27FC236}">
                <a16:creationId xmlns:a16="http://schemas.microsoft.com/office/drawing/2014/main" id="{5262DB9C-990D-4620-B1ED-556642C8CE1C}"/>
              </a:ext>
            </a:extLst>
          </p:cNvPr>
          <p:cNvSpPr>
            <a:spLocks noGrp="1"/>
          </p:cNvSpPr>
          <p:nvPr>
            <p:ph type="sldNum" sz="quarter" idx="12"/>
          </p:nvPr>
        </p:nvSpPr>
        <p:spPr>
          <a:xfrm>
            <a:off x="8610600" y="6806730"/>
            <a:ext cx="2743200" cy="365125"/>
          </a:xfrm>
        </p:spPr>
        <p:txBody>
          <a:bodyPr/>
          <a:lstStyle/>
          <a:p>
            <a:fld id="{93C419CB-0CF1-4F10-90F9-42551F8968FF}" type="slidenum">
              <a:rPr lang="en-GB" smtClean="0"/>
              <a:t>16</a:t>
            </a:fld>
            <a:endParaRPr lang="en-GB"/>
          </a:p>
        </p:txBody>
      </p:sp>
      <p:pic>
        <p:nvPicPr>
          <p:cNvPr id="3" name="Рисунок 2">
            <a:extLst>
              <a:ext uri="{FF2B5EF4-FFF2-40B4-BE49-F238E27FC236}">
                <a16:creationId xmlns:a16="http://schemas.microsoft.com/office/drawing/2014/main" id="{7E90A0CD-2B61-4BA1-993E-41BB4C47DFDE}"/>
              </a:ext>
            </a:extLst>
          </p:cNvPr>
          <p:cNvPicPr>
            <a:picLocks noChangeAspect="1"/>
          </p:cNvPicPr>
          <p:nvPr/>
        </p:nvPicPr>
        <p:blipFill rotWithShape="1">
          <a:blip r:embed="rId3"/>
          <a:srcRect l="6020" t="55291" r="75931"/>
          <a:stretch/>
        </p:blipFill>
        <p:spPr>
          <a:xfrm>
            <a:off x="784140" y="2120552"/>
            <a:ext cx="1868291" cy="1763058"/>
          </a:xfrm>
          <a:prstGeom prst="rect">
            <a:avLst/>
          </a:prstGeom>
        </p:spPr>
      </p:pic>
      <p:pic>
        <p:nvPicPr>
          <p:cNvPr id="4" name="Рисунок 3">
            <a:extLst>
              <a:ext uri="{FF2B5EF4-FFF2-40B4-BE49-F238E27FC236}">
                <a16:creationId xmlns:a16="http://schemas.microsoft.com/office/drawing/2014/main" id="{AD7DDE56-B65C-4E54-A3DE-829DE7638814}"/>
              </a:ext>
            </a:extLst>
          </p:cNvPr>
          <p:cNvPicPr>
            <a:picLocks noChangeAspect="1"/>
          </p:cNvPicPr>
          <p:nvPr/>
        </p:nvPicPr>
        <p:blipFill rotWithShape="1">
          <a:blip r:embed="rId3"/>
          <a:srcRect l="45858" t="51022" r="36743"/>
          <a:stretch/>
        </p:blipFill>
        <p:spPr>
          <a:xfrm>
            <a:off x="3026232" y="2057928"/>
            <a:ext cx="1655482" cy="1775353"/>
          </a:xfrm>
          <a:prstGeom prst="rect">
            <a:avLst/>
          </a:prstGeom>
        </p:spPr>
      </p:pic>
      <p:pic>
        <p:nvPicPr>
          <p:cNvPr id="5" name="Рисунок 4">
            <a:extLst>
              <a:ext uri="{FF2B5EF4-FFF2-40B4-BE49-F238E27FC236}">
                <a16:creationId xmlns:a16="http://schemas.microsoft.com/office/drawing/2014/main" id="{2ACB932A-1D88-4A15-8A16-C033B7602936}"/>
              </a:ext>
            </a:extLst>
          </p:cNvPr>
          <p:cNvPicPr>
            <a:picLocks noChangeAspect="1"/>
          </p:cNvPicPr>
          <p:nvPr/>
        </p:nvPicPr>
        <p:blipFill rotWithShape="1">
          <a:blip r:embed="rId4"/>
          <a:srcRect l="21894" t="67369" r="61014"/>
          <a:stretch/>
        </p:blipFill>
        <p:spPr>
          <a:xfrm>
            <a:off x="5055515" y="1898876"/>
            <a:ext cx="1676799" cy="1984734"/>
          </a:xfrm>
          <a:prstGeom prst="rect">
            <a:avLst/>
          </a:prstGeom>
        </p:spPr>
      </p:pic>
      <p:pic>
        <p:nvPicPr>
          <p:cNvPr id="6" name="Рисунок 5">
            <a:extLst>
              <a:ext uri="{FF2B5EF4-FFF2-40B4-BE49-F238E27FC236}">
                <a16:creationId xmlns:a16="http://schemas.microsoft.com/office/drawing/2014/main" id="{7BD30793-631F-4588-A541-DC328035FCAF}"/>
              </a:ext>
            </a:extLst>
          </p:cNvPr>
          <p:cNvPicPr>
            <a:picLocks noChangeAspect="1"/>
          </p:cNvPicPr>
          <p:nvPr/>
        </p:nvPicPr>
        <p:blipFill rotWithShape="1">
          <a:blip r:embed="rId4"/>
          <a:srcRect l="55606" t="66643" r="28147"/>
          <a:stretch/>
        </p:blipFill>
        <p:spPr>
          <a:xfrm>
            <a:off x="6935735" y="1780266"/>
            <a:ext cx="1870635" cy="2224372"/>
          </a:xfrm>
          <a:prstGeom prst="rect">
            <a:avLst/>
          </a:prstGeom>
        </p:spPr>
      </p:pic>
      <p:pic>
        <p:nvPicPr>
          <p:cNvPr id="7" name="Рисунок 6">
            <a:extLst>
              <a:ext uri="{FF2B5EF4-FFF2-40B4-BE49-F238E27FC236}">
                <a16:creationId xmlns:a16="http://schemas.microsoft.com/office/drawing/2014/main" id="{B02F769E-6BA8-4347-B7BF-39522DA3A3F1}"/>
              </a:ext>
            </a:extLst>
          </p:cNvPr>
          <p:cNvPicPr>
            <a:picLocks noChangeAspect="1"/>
          </p:cNvPicPr>
          <p:nvPr/>
        </p:nvPicPr>
        <p:blipFill rotWithShape="1">
          <a:blip r:embed="rId5"/>
          <a:srcRect l="40272" t="32662" r="39087" b="33669"/>
          <a:stretch/>
        </p:blipFill>
        <p:spPr>
          <a:xfrm>
            <a:off x="8957057" y="2012037"/>
            <a:ext cx="2176945" cy="2082295"/>
          </a:xfrm>
          <a:prstGeom prst="rect">
            <a:avLst/>
          </a:prstGeom>
        </p:spPr>
      </p:pic>
      <p:sp>
        <p:nvSpPr>
          <p:cNvPr id="9" name="TextBox 8">
            <a:extLst>
              <a:ext uri="{FF2B5EF4-FFF2-40B4-BE49-F238E27FC236}">
                <a16:creationId xmlns:a16="http://schemas.microsoft.com/office/drawing/2014/main" id="{C06674AE-55AE-477C-A76B-DB1CB7AC6712}"/>
              </a:ext>
            </a:extLst>
          </p:cNvPr>
          <p:cNvSpPr txBox="1"/>
          <p:nvPr/>
        </p:nvSpPr>
        <p:spPr>
          <a:xfrm>
            <a:off x="935864" y="3558903"/>
            <a:ext cx="10039634" cy="523220"/>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GB" sz="2800" b="1" dirty="0"/>
              <a:t>A		     B	                     C	           D	                E	</a:t>
            </a:r>
          </a:p>
        </p:txBody>
      </p:sp>
      <p:sp>
        <p:nvSpPr>
          <p:cNvPr id="11" name="TextBox 10">
            <a:extLst>
              <a:ext uri="{FF2B5EF4-FFF2-40B4-BE49-F238E27FC236}">
                <a16:creationId xmlns:a16="http://schemas.microsoft.com/office/drawing/2014/main" id="{5A4ECE8B-3DB3-4426-AD80-6FB6BE7D03B8}"/>
              </a:ext>
            </a:extLst>
          </p:cNvPr>
          <p:cNvSpPr txBox="1"/>
          <p:nvPr/>
        </p:nvSpPr>
        <p:spPr>
          <a:xfrm>
            <a:off x="1144705" y="4890943"/>
            <a:ext cx="6320619" cy="523220"/>
          </a:xfrm>
          <a:prstGeom prst="rect">
            <a:avLst/>
          </a:prstGeom>
          <a:noFill/>
        </p:spPr>
        <p:txBody>
          <a:bodyPr wrap="square">
            <a:spAutoFit/>
          </a:bodyPr>
          <a:lstStyle/>
          <a:p>
            <a:r>
              <a:rPr lang="en-GB" sz="2800" i="1" u="sng" dirty="0">
                <a:solidFill>
                  <a:schemeClr val="accent1">
                    <a:lumMod val="75000"/>
                  </a:schemeClr>
                </a:solidFill>
              </a:rPr>
              <a:t>https://forms.gle/SoVJ7uYDt7budwt26</a:t>
            </a:r>
          </a:p>
        </p:txBody>
      </p:sp>
      <p:pic>
        <p:nvPicPr>
          <p:cNvPr id="13" name="Рисунок 12">
            <a:extLst>
              <a:ext uri="{FF2B5EF4-FFF2-40B4-BE49-F238E27FC236}">
                <a16:creationId xmlns:a16="http://schemas.microsoft.com/office/drawing/2014/main" id="{B846BACB-0B7B-4888-AE9A-E818B52F0DF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723616" y="4125518"/>
            <a:ext cx="2517168" cy="2517168"/>
          </a:xfrm>
          <a:prstGeom prst="rect">
            <a:avLst/>
          </a:prstGeom>
        </p:spPr>
      </p:pic>
      <p:sp>
        <p:nvSpPr>
          <p:cNvPr id="15" name="TextBox 14">
            <a:extLst>
              <a:ext uri="{FF2B5EF4-FFF2-40B4-BE49-F238E27FC236}">
                <a16:creationId xmlns:a16="http://schemas.microsoft.com/office/drawing/2014/main" id="{B1DF8ACF-A645-49B2-914C-028F5FD16F61}"/>
              </a:ext>
            </a:extLst>
          </p:cNvPr>
          <p:cNvSpPr txBox="1"/>
          <p:nvPr/>
        </p:nvSpPr>
        <p:spPr>
          <a:xfrm>
            <a:off x="935864" y="120475"/>
            <a:ext cx="10235821" cy="1675843"/>
          </a:xfrm>
          <a:prstGeom prst="rect">
            <a:avLst/>
          </a:prstGeom>
          <a:noFill/>
        </p:spPr>
        <p:txBody>
          <a:bodyPr wrap="square">
            <a:spAutoFit/>
          </a:bodyPr>
          <a:lstStyle/>
          <a:p>
            <a:r>
              <a:rPr lang="en-GB" sz="2800" b="1" dirty="0"/>
              <a:t>Task 1.</a:t>
            </a:r>
          </a:p>
          <a:p>
            <a:endParaRPr lang="en-GB" b="1" dirty="0"/>
          </a:p>
          <a:p>
            <a:pPr>
              <a:lnSpc>
                <a:spcPct val="150000"/>
              </a:lnSpc>
            </a:pPr>
            <a:r>
              <a:rPr lang="en-GB" sz="2000" dirty="0"/>
              <a:t>These compounds and their trivial names were presented in Prof. Müller's lecture. Please go through the code and try to match the names and structures. 5 minutes</a:t>
            </a:r>
          </a:p>
        </p:txBody>
      </p:sp>
    </p:spTree>
    <p:extLst>
      <p:ext uri="{BB962C8B-B14F-4D97-AF65-F5344CB8AC3E}">
        <p14:creationId xmlns:p14="http://schemas.microsoft.com/office/powerpoint/2010/main" val="18611561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a:extLst>
              <a:ext uri="{FF2B5EF4-FFF2-40B4-BE49-F238E27FC236}">
                <a16:creationId xmlns:a16="http://schemas.microsoft.com/office/drawing/2014/main" id="{F248FB22-993C-4B2E-B4DE-70788C15FCC4}"/>
              </a:ext>
            </a:extLst>
          </p:cNvPr>
          <p:cNvSpPr>
            <a:spLocks noGrp="1"/>
          </p:cNvSpPr>
          <p:nvPr>
            <p:ph type="sldNum" sz="quarter" idx="12"/>
          </p:nvPr>
        </p:nvSpPr>
        <p:spPr/>
        <p:txBody>
          <a:bodyPr/>
          <a:lstStyle/>
          <a:p>
            <a:fld id="{93C419CB-0CF1-4F10-90F9-42551F8968FF}" type="slidenum">
              <a:rPr lang="en-GB" smtClean="0"/>
              <a:t>17</a:t>
            </a:fld>
            <a:endParaRPr lang="en-GB"/>
          </a:p>
        </p:txBody>
      </p:sp>
      <p:sp>
        <p:nvSpPr>
          <p:cNvPr id="4" name="TextBox 3">
            <a:extLst>
              <a:ext uri="{FF2B5EF4-FFF2-40B4-BE49-F238E27FC236}">
                <a16:creationId xmlns:a16="http://schemas.microsoft.com/office/drawing/2014/main" id="{BF4CC5D6-2361-40BA-AD78-64BC61D93934}"/>
              </a:ext>
            </a:extLst>
          </p:cNvPr>
          <p:cNvSpPr txBox="1"/>
          <p:nvPr/>
        </p:nvSpPr>
        <p:spPr>
          <a:xfrm>
            <a:off x="2086452" y="249996"/>
            <a:ext cx="8010584" cy="523220"/>
          </a:xfrm>
          <a:prstGeom prst="rect">
            <a:avLst/>
          </a:prstGeom>
        </p:spPr>
        <p:style>
          <a:lnRef idx="1">
            <a:schemeClr val="accent2"/>
          </a:lnRef>
          <a:fillRef idx="2">
            <a:schemeClr val="accent2"/>
          </a:fillRef>
          <a:effectRef idx="1">
            <a:schemeClr val="accent2"/>
          </a:effectRef>
          <a:fontRef idx="minor">
            <a:schemeClr val="dk1"/>
          </a:fontRef>
        </p:style>
        <p:txBody>
          <a:bodyPr wrap="square">
            <a:spAutoFit/>
          </a:bodyPr>
          <a:lstStyle/>
          <a:p>
            <a:pPr algn="ctr"/>
            <a:r>
              <a:rPr lang="en-GB" sz="2800" b="1" dirty="0"/>
              <a:t>Trivial names can also be found in CAS REGISTRY</a:t>
            </a:r>
          </a:p>
        </p:txBody>
      </p:sp>
      <p:sp>
        <p:nvSpPr>
          <p:cNvPr id="8" name="TextBox 7">
            <a:extLst>
              <a:ext uri="{FF2B5EF4-FFF2-40B4-BE49-F238E27FC236}">
                <a16:creationId xmlns:a16="http://schemas.microsoft.com/office/drawing/2014/main" id="{39A5A309-1F2D-477E-8F77-08B6DB68C0FB}"/>
              </a:ext>
            </a:extLst>
          </p:cNvPr>
          <p:cNvSpPr txBox="1"/>
          <p:nvPr/>
        </p:nvSpPr>
        <p:spPr>
          <a:xfrm>
            <a:off x="458273" y="3027531"/>
            <a:ext cx="11275453" cy="3046988"/>
          </a:xfrm>
          <a:prstGeom prst="rect">
            <a:avLst/>
          </a:prstGeom>
          <a:noFill/>
        </p:spPr>
        <p:txBody>
          <a:bodyPr wrap="square">
            <a:spAutoFit/>
          </a:bodyPr>
          <a:lstStyle/>
          <a:p>
            <a:pPr marL="285750" indent="-285750" algn="just">
              <a:spcBef>
                <a:spcPts val="600"/>
              </a:spcBef>
              <a:spcAft>
                <a:spcPts val="600"/>
              </a:spcAft>
              <a:buFont typeface="Wingdings" panose="05000000000000000000" pitchFamily="2" charset="2"/>
              <a:buChar char="Ø"/>
            </a:pPr>
            <a:r>
              <a:rPr lang="en-GB" dirty="0"/>
              <a:t>A CAS Registry Number (also referred to as CAS RN or informally CAS Number) is a unique identification number assigned by the Chemical Abstracts Service (CAS), US, to every chemical substance described in the open scientific literature. </a:t>
            </a:r>
          </a:p>
          <a:p>
            <a:pPr marL="285750" indent="-285750" algn="just">
              <a:spcBef>
                <a:spcPts val="600"/>
              </a:spcBef>
              <a:spcAft>
                <a:spcPts val="600"/>
              </a:spcAft>
              <a:buFont typeface="Wingdings" panose="05000000000000000000" pitchFamily="2" charset="2"/>
              <a:buChar char="Ø"/>
            </a:pPr>
            <a:r>
              <a:rPr lang="en-GB" dirty="0"/>
              <a:t>It is a chemical database that includes organic and inorganic compounds, minerals, isotopes, alloys, mixtures, and </a:t>
            </a:r>
            <a:r>
              <a:rPr lang="en-GB" dirty="0" err="1"/>
              <a:t>nonstructurable</a:t>
            </a:r>
            <a:r>
              <a:rPr lang="en-GB" dirty="0"/>
              <a:t> materials (UVCBs, substances of unknown or variable composition, complex reaction products, or biological origin). </a:t>
            </a:r>
          </a:p>
          <a:p>
            <a:pPr marL="285750" indent="-285750" algn="just">
              <a:spcBef>
                <a:spcPts val="600"/>
              </a:spcBef>
              <a:spcAft>
                <a:spcPts val="600"/>
              </a:spcAft>
              <a:buFont typeface="Wingdings" panose="05000000000000000000" pitchFamily="2" charset="2"/>
              <a:buChar char="Ø"/>
            </a:pPr>
            <a:r>
              <a:rPr lang="en-GB" dirty="0"/>
              <a:t>The registry maintained by CAS is an authoritative collection of disclosed chemical substance information. </a:t>
            </a:r>
          </a:p>
          <a:p>
            <a:pPr marL="285750" indent="-285750" algn="just">
              <a:spcBef>
                <a:spcPts val="600"/>
              </a:spcBef>
              <a:spcAft>
                <a:spcPts val="600"/>
              </a:spcAft>
              <a:buFont typeface="Wingdings" panose="05000000000000000000" pitchFamily="2" charset="2"/>
              <a:buChar char="Ø"/>
            </a:pPr>
            <a:r>
              <a:rPr lang="en-GB" dirty="0"/>
              <a:t>204 million organic substances, alloys, coordination compounds, minerals, mixtures, polymers, and salts disclosed in publications since the early 1800s. </a:t>
            </a:r>
          </a:p>
        </p:txBody>
      </p:sp>
      <p:pic>
        <p:nvPicPr>
          <p:cNvPr id="10" name="Рисунок 9">
            <a:extLst>
              <a:ext uri="{FF2B5EF4-FFF2-40B4-BE49-F238E27FC236}">
                <a16:creationId xmlns:a16="http://schemas.microsoft.com/office/drawing/2014/main" id="{0DFA8A74-F279-4CDD-B1AE-65569387F9A7}"/>
              </a:ext>
            </a:extLst>
          </p:cNvPr>
          <p:cNvPicPr>
            <a:picLocks noChangeAspect="1"/>
          </p:cNvPicPr>
          <p:nvPr/>
        </p:nvPicPr>
        <p:blipFill>
          <a:blip r:embed="rId2"/>
          <a:stretch>
            <a:fillRect/>
          </a:stretch>
        </p:blipFill>
        <p:spPr>
          <a:xfrm>
            <a:off x="2086452" y="1050236"/>
            <a:ext cx="8010584" cy="1695462"/>
          </a:xfrm>
          <a:prstGeom prst="rect">
            <a:avLst/>
          </a:prstGeom>
        </p:spPr>
      </p:pic>
    </p:spTree>
    <p:extLst>
      <p:ext uri="{BB962C8B-B14F-4D97-AF65-F5344CB8AC3E}">
        <p14:creationId xmlns:p14="http://schemas.microsoft.com/office/powerpoint/2010/main" val="9748683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a:extLst>
              <a:ext uri="{FF2B5EF4-FFF2-40B4-BE49-F238E27FC236}">
                <a16:creationId xmlns:a16="http://schemas.microsoft.com/office/drawing/2014/main" id="{B1390032-2469-4208-BAF1-B65BD65BF82B}"/>
              </a:ext>
            </a:extLst>
          </p:cNvPr>
          <p:cNvSpPr>
            <a:spLocks noGrp="1"/>
          </p:cNvSpPr>
          <p:nvPr>
            <p:ph type="sldNum" sz="quarter" idx="12"/>
          </p:nvPr>
        </p:nvSpPr>
        <p:spPr/>
        <p:txBody>
          <a:bodyPr/>
          <a:lstStyle/>
          <a:p>
            <a:fld id="{93C419CB-0CF1-4F10-90F9-42551F8968FF}" type="slidenum">
              <a:rPr lang="en-GB" smtClean="0"/>
              <a:t>18</a:t>
            </a:fld>
            <a:endParaRPr lang="en-GB"/>
          </a:p>
        </p:txBody>
      </p:sp>
      <p:sp>
        <p:nvSpPr>
          <p:cNvPr id="5" name="TextBox 4">
            <a:extLst>
              <a:ext uri="{FF2B5EF4-FFF2-40B4-BE49-F238E27FC236}">
                <a16:creationId xmlns:a16="http://schemas.microsoft.com/office/drawing/2014/main" id="{A98EF314-7F96-4E00-A3DD-B35AA798FBD9}"/>
              </a:ext>
            </a:extLst>
          </p:cNvPr>
          <p:cNvSpPr txBox="1"/>
          <p:nvPr/>
        </p:nvSpPr>
        <p:spPr>
          <a:xfrm>
            <a:off x="479065" y="284400"/>
            <a:ext cx="11217304" cy="584775"/>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r>
              <a:rPr lang="en-GB" sz="3200" b="1" dirty="0"/>
              <a:t>II. </a:t>
            </a:r>
            <a:r>
              <a:rPr lang="en-GB" sz="3200" b="1" dirty="0" err="1"/>
              <a:t>Hantzsch</a:t>
            </a:r>
            <a:r>
              <a:rPr lang="en-GB" sz="3200" b="1" dirty="0"/>
              <a:t>-Widman Nomenclature (system)</a:t>
            </a:r>
          </a:p>
        </p:txBody>
      </p:sp>
      <p:pic>
        <p:nvPicPr>
          <p:cNvPr id="6" name="Рисунок 5">
            <a:extLst>
              <a:ext uri="{FF2B5EF4-FFF2-40B4-BE49-F238E27FC236}">
                <a16:creationId xmlns:a16="http://schemas.microsoft.com/office/drawing/2014/main" id="{0D7EB441-C9B0-4530-9AFC-4BA09F8BEAF5}"/>
              </a:ext>
            </a:extLst>
          </p:cNvPr>
          <p:cNvPicPr>
            <a:picLocks noChangeAspect="1"/>
          </p:cNvPicPr>
          <p:nvPr/>
        </p:nvPicPr>
        <p:blipFill rotWithShape="1">
          <a:blip r:embed="rId3"/>
          <a:srcRect l="2166" t="19919"/>
          <a:stretch/>
        </p:blipFill>
        <p:spPr>
          <a:xfrm>
            <a:off x="3332921" y="2336017"/>
            <a:ext cx="4896017" cy="2900426"/>
          </a:xfrm>
          <a:prstGeom prst="rect">
            <a:avLst/>
          </a:prstGeom>
        </p:spPr>
      </p:pic>
      <p:sp>
        <p:nvSpPr>
          <p:cNvPr id="9" name="TextBox 8">
            <a:extLst>
              <a:ext uri="{FF2B5EF4-FFF2-40B4-BE49-F238E27FC236}">
                <a16:creationId xmlns:a16="http://schemas.microsoft.com/office/drawing/2014/main" id="{93E8D7E6-F6C9-4FB4-B56D-7A3F2B068B93}"/>
              </a:ext>
            </a:extLst>
          </p:cNvPr>
          <p:cNvSpPr txBox="1"/>
          <p:nvPr/>
        </p:nvSpPr>
        <p:spPr>
          <a:xfrm>
            <a:off x="432683" y="981800"/>
            <a:ext cx="11319345" cy="1354217"/>
          </a:xfrm>
          <a:prstGeom prst="rect">
            <a:avLst/>
          </a:prstGeom>
          <a:noFill/>
        </p:spPr>
        <p:txBody>
          <a:bodyPr wrap="square">
            <a:spAutoFit/>
          </a:bodyPr>
          <a:lstStyle/>
          <a:p>
            <a:pPr algn="just">
              <a:spcBef>
                <a:spcPts val="600"/>
              </a:spcBef>
              <a:spcAft>
                <a:spcPts val="600"/>
              </a:spcAft>
            </a:pPr>
            <a:r>
              <a:rPr lang="en-GB" dirty="0"/>
              <a:t>This is the most widely used nomenclature system for </a:t>
            </a:r>
            <a:r>
              <a:rPr lang="en-GB" b="1" dirty="0"/>
              <a:t>monocyclic heterocyclic compounds</a:t>
            </a:r>
            <a:r>
              <a:rPr lang="en-GB" dirty="0"/>
              <a:t>, especially </a:t>
            </a:r>
            <a:r>
              <a:rPr lang="en-GB" b="1" dirty="0"/>
              <a:t>for three to ten-membered ring systems</a:t>
            </a:r>
            <a:r>
              <a:rPr lang="en-GB" dirty="0"/>
              <a:t>. The systematic nomenclature gives important structural information. </a:t>
            </a:r>
          </a:p>
          <a:p>
            <a:pPr algn="just">
              <a:spcBef>
                <a:spcPts val="600"/>
              </a:spcBef>
              <a:spcAft>
                <a:spcPts val="600"/>
              </a:spcAft>
            </a:pPr>
            <a:r>
              <a:rPr lang="en-GB" dirty="0"/>
              <a:t>There is a carefully formulated system for the nomenclature of heterocycles based on </a:t>
            </a:r>
            <a:r>
              <a:rPr lang="en-GB" b="1" dirty="0"/>
              <a:t>heteroatom(s)</a:t>
            </a:r>
            <a:r>
              <a:rPr lang="en-GB" dirty="0"/>
              <a:t>, </a:t>
            </a:r>
            <a:r>
              <a:rPr lang="en-GB" b="1" dirty="0"/>
              <a:t>ring size</a:t>
            </a:r>
            <a:r>
              <a:rPr lang="en-GB" dirty="0"/>
              <a:t>, and </a:t>
            </a:r>
            <a:r>
              <a:rPr lang="en-GB" b="1" dirty="0"/>
              <a:t>degree of saturation</a:t>
            </a:r>
            <a:r>
              <a:rPr lang="en-GB" dirty="0"/>
              <a:t>. </a:t>
            </a:r>
          </a:p>
        </p:txBody>
      </p:sp>
    </p:spTree>
    <p:extLst>
      <p:ext uri="{BB962C8B-B14F-4D97-AF65-F5344CB8AC3E}">
        <p14:creationId xmlns:p14="http://schemas.microsoft.com/office/powerpoint/2010/main" val="30299159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a:extLst>
              <a:ext uri="{FF2B5EF4-FFF2-40B4-BE49-F238E27FC236}">
                <a16:creationId xmlns:a16="http://schemas.microsoft.com/office/drawing/2014/main" id="{FE68796A-D985-44AC-8E80-5D53B03A6C5B}"/>
              </a:ext>
            </a:extLst>
          </p:cNvPr>
          <p:cNvSpPr>
            <a:spLocks noGrp="1"/>
          </p:cNvSpPr>
          <p:nvPr>
            <p:ph type="sldNum" sz="quarter" idx="12"/>
          </p:nvPr>
        </p:nvSpPr>
        <p:spPr/>
        <p:txBody>
          <a:bodyPr/>
          <a:lstStyle/>
          <a:p>
            <a:fld id="{93C419CB-0CF1-4F10-90F9-42551F8968FF}" type="slidenum">
              <a:rPr lang="en-GB" smtClean="0"/>
              <a:t>19</a:t>
            </a:fld>
            <a:endParaRPr lang="en-GB"/>
          </a:p>
        </p:txBody>
      </p:sp>
      <p:sp>
        <p:nvSpPr>
          <p:cNvPr id="3" name="Номер слайда 1">
            <a:extLst>
              <a:ext uri="{FF2B5EF4-FFF2-40B4-BE49-F238E27FC236}">
                <a16:creationId xmlns:a16="http://schemas.microsoft.com/office/drawing/2014/main" id="{D6151D05-D87C-4EC8-94A6-BFBBEDA94A2A}"/>
              </a:ext>
            </a:extLst>
          </p:cNvPr>
          <p:cNvSpPr txBox="1">
            <a:spLocks/>
          </p:cNvSpPr>
          <p:nvPr/>
        </p:nvSpPr>
        <p:spPr>
          <a:xfrm>
            <a:off x="8260743" y="64928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dirty="0"/>
              <a:t>boyer-research.com/teaching </a:t>
            </a:r>
          </a:p>
        </p:txBody>
      </p:sp>
      <p:sp>
        <p:nvSpPr>
          <p:cNvPr id="8" name="TextBox 7">
            <a:extLst>
              <a:ext uri="{FF2B5EF4-FFF2-40B4-BE49-F238E27FC236}">
                <a16:creationId xmlns:a16="http://schemas.microsoft.com/office/drawing/2014/main" id="{29B478F9-B45C-448E-8749-2090FDC5A65B}"/>
              </a:ext>
            </a:extLst>
          </p:cNvPr>
          <p:cNvSpPr txBox="1"/>
          <p:nvPr/>
        </p:nvSpPr>
        <p:spPr>
          <a:xfrm>
            <a:off x="141534" y="4722211"/>
            <a:ext cx="3047338" cy="677108"/>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GB" sz="2000" b="1" i="0" u="none" strike="noStrike" baseline="0" dirty="0">
                <a:solidFill>
                  <a:srgbClr val="00B050"/>
                </a:solidFill>
                <a:latin typeface="Times New Roman" panose="02020603050405020304" pitchFamily="18" charset="0"/>
              </a:rPr>
              <a:t>O&gt;S&gt;N&gt;P&gt;Si </a:t>
            </a:r>
            <a:r>
              <a:rPr lang="en-GB" sz="1800" b="1" i="0" u="none" strike="noStrike" baseline="0" dirty="0">
                <a:solidFill>
                  <a:srgbClr val="000000"/>
                </a:solidFill>
                <a:latin typeface="Times New Roman" panose="02020603050405020304" pitchFamily="18" charset="0"/>
              </a:rPr>
              <a:t>(priority in case of </a:t>
            </a:r>
            <a:r>
              <a:rPr lang="en-GB" sz="1800" b="1" i="0" u="none" strike="noStrike" baseline="0" dirty="0" err="1">
                <a:solidFill>
                  <a:srgbClr val="000000"/>
                </a:solidFill>
                <a:latin typeface="Times New Roman" panose="02020603050405020304" pitchFamily="18" charset="0"/>
              </a:rPr>
              <a:t>heterotaoms</a:t>
            </a:r>
            <a:r>
              <a:rPr lang="en-GB" sz="1800" b="1" i="0" u="none" strike="noStrike" baseline="0" dirty="0">
                <a:solidFill>
                  <a:srgbClr val="000000"/>
                </a:solidFill>
                <a:latin typeface="Times New Roman" panose="02020603050405020304" pitchFamily="18" charset="0"/>
              </a:rPr>
              <a:t>) </a:t>
            </a:r>
            <a:endParaRPr lang="en-GB" dirty="0"/>
          </a:p>
        </p:txBody>
      </p:sp>
      <p:sp>
        <p:nvSpPr>
          <p:cNvPr id="10" name="TextBox 9">
            <a:extLst>
              <a:ext uri="{FF2B5EF4-FFF2-40B4-BE49-F238E27FC236}">
                <a16:creationId xmlns:a16="http://schemas.microsoft.com/office/drawing/2014/main" id="{01D556CD-59C7-4754-AC47-48CE8FDE5C00}"/>
              </a:ext>
            </a:extLst>
          </p:cNvPr>
          <p:cNvSpPr txBox="1"/>
          <p:nvPr/>
        </p:nvSpPr>
        <p:spPr>
          <a:xfrm>
            <a:off x="223565" y="486435"/>
            <a:ext cx="3047337" cy="1477328"/>
          </a:xfrm>
          <a:prstGeom prst="rect">
            <a:avLst/>
          </a:prstGeom>
          <a:noFill/>
        </p:spPr>
        <p:txBody>
          <a:bodyPr wrap="square">
            <a:spAutoFit/>
          </a:bodyPr>
          <a:lstStyle/>
          <a:p>
            <a:pPr algn="just"/>
            <a:r>
              <a:rPr lang="en-GB" sz="1800" b="1" i="0" u="none" strike="noStrike" baseline="0" dirty="0">
                <a:solidFill>
                  <a:srgbClr val="000000"/>
                </a:solidFill>
                <a:latin typeface="Times New Roman" panose="02020603050405020304" pitchFamily="18" charset="0"/>
              </a:rPr>
              <a:t>I. Type of the heteroatom </a:t>
            </a:r>
          </a:p>
          <a:p>
            <a:pPr algn="just"/>
            <a:r>
              <a:rPr lang="en-GB" sz="1800" b="0" i="0" u="none" strike="noStrike" baseline="0" dirty="0">
                <a:solidFill>
                  <a:srgbClr val="000000"/>
                </a:solidFill>
                <a:latin typeface="Times New Roman" panose="02020603050405020304" pitchFamily="18" charset="0"/>
              </a:rPr>
              <a:t>The type of heteroatom is indicated by a prefix as shown below for common heteroatoms: </a:t>
            </a:r>
            <a:endParaRPr lang="en-GB" dirty="0"/>
          </a:p>
        </p:txBody>
      </p:sp>
      <p:sp>
        <p:nvSpPr>
          <p:cNvPr id="14" name="TextBox 13">
            <a:extLst>
              <a:ext uri="{FF2B5EF4-FFF2-40B4-BE49-F238E27FC236}">
                <a16:creationId xmlns:a16="http://schemas.microsoft.com/office/drawing/2014/main" id="{299D9751-6E7C-44BA-A10F-1C097C9E96BD}"/>
              </a:ext>
            </a:extLst>
          </p:cNvPr>
          <p:cNvSpPr txBox="1"/>
          <p:nvPr/>
        </p:nvSpPr>
        <p:spPr>
          <a:xfrm>
            <a:off x="3434964" y="503924"/>
            <a:ext cx="3132812" cy="2585323"/>
          </a:xfrm>
          <a:prstGeom prst="rect">
            <a:avLst/>
          </a:prstGeom>
          <a:noFill/>
        </p:spPr>
        <p:txBody>
          <a:bodyPr wrap="square">
            <a:spAutoFit/>
          </a:bodyPr>
          <a:lstStyle/>
          <a:p>
            <a:pPr algn="just"/>
            <a:r>
              <a:rPr lang="en-GB" sz="1800" b="1" i="0" u="none" strike="noStrike" baseline="0" dirty="0">
                <a:solidFill>
                  <a:srgbClr val="000000"/>
                </a:solidFill>
                <a:latin typeface="Times New Roman" panose="02020603050405020304" pitchFamily="18" charset="0"/>
              </a:rPr>
              <a:t>II. Ring size (n) </a:t>
            </a:r>
          </a:p>
          <a:p>
            <a:pPr algn="just"/>
            <a:r>
              <a:rPr lang="en-GB" sz="1800" b="0" i="0" u="none" strike="noStrike" baseline="0" dirty="0">
                <a:solidFill>
                  <a:srgbClr val="000000"/>
                </a:solidFill>
                <a:latin typeface="Times New Roman" panose="02020603050405020304" pitchFamily="18" charset="0"/>
              </a:rPr>
              <a:t>The ring size is indicated by a suffix according to Table  below. Some of the syllables are derived from Latin numerals, namely </a:t>
            </a:r>
            <a:r>
              <a:rPr lang="en-GB" sz="1800" b="1" i="0" u="none" strike="noStrike" baseline="0" dirty="0" err="1">
                <a:solidFill>
                  <a:srgbClr val="000000"/>
                </a:solidFill>
                <a:latin typeface="Times New Roman" panose="02020603050405020304" pitchFamily="18" charset="0"/>
              </a:rPr>
              <a:t>ir</a:t>
            </a:r>
            <a:r>
              <a:rPr lang="en-GB" sz="1800" b="1" i="0" u="none" strike="noStrike" baseline="0" dirty="0">
                <a:solidFill>
                  <a:srgbClr val="000000"/>
                </a:solidFill>
                <a:latin typeface="Times New Roman" panose="02020603050405020304" pitchFamily="18" charset="0"/>
              </a:rPr>
              <a:t> </a:t>
            </a:r>
            <a:r>
              <a:rPr lang="en-GB" sz="1800" b="0" i="0" u="none" strike="noStrike" baseline="0" dirty="0">
                <a:solidFill>
                  <a:srgbClr val="000000"/>
                </a:solidFill>
                <a:latin typeface="Times New Roman" panose="02020603050405020304" pitchFamily="18" charset="0"/>
              </a:rPr>
              <a:t>from </a:t>
            </a:r>
            <a:r>
              <a:rPr lang="en-GB" sz="1800" b="0" i="1" u="none" strike="noStrike" baseline="0" dirty="0">
                <a:solidFill>
                  <a:srgbClr val="000000"/>
                </a:solidFill>
                <a:latin typeface="Times New Roman" panose="02020603050405020304" pitchFamily="18" charset="0"/>
              </a:rPr>
              <a:t>tri</a:t>
            </a:r>
            <a:r>
              <a:rPr lang="en-GB" sz="1800" b="0" i="0" u="none" strike="noStrike" baseline="0" dirty="0">
                <a:solidFill>
                  <a:srgbClr val="000000"/>
                </a:solidFill>
                <a:latin typeface="Times New Roman" panose="02020603050405020304" pitchFamily="18" charset="0"/>
              </a:rPr>
              <a:t>, </a:t>
            </a:r>
            <a:r>
              <a:rPr lang="en-GB" sz="1800" b="1" i="0" u="none" strike="noStrike" baseline="0" dirty="0">
                <a:solidFill>
                  <a:srgbClr val="000000"/>
                </a:solidFill>
                <a:latin typeface="Times New Roman" panose="02020603050405020304" pitchFamily="18" charset="0"/>
              </a:rPr>
              <a:t>et</a:t>
            </a:r>
            <a:r>
              <a:rPr lang="en-GB" sz="1800" b="0" i="0" u="none" strike="noStrike" baseline="0" dirty="0">
                <a:solidFill>
                  <a:srgbClr val="000000"/>
                </a:solidFill>
                <a:latin typeface="Times New Roman" panose="02020603050405020304" pitchFamily="18" charset="0"/>
              </a:rPr>
              <a:t> from </a:t>
            </a:r>
            <a:r>
              <a:rPr lang="en-GB" sz="1800" b="0" i="1" u="none" strike="noStrike" baseline="0" dirty="0">
                <a:solidFill>
                  <a:srgbClr val="000000"/>
                </a:solidFill>
                <a:latin typeface="Times New Roman" panose="02020603050405020304" pitchFamily="18" charset="0"/>
              </a:rPr>
              <a:t>tetra</a:t>
            </a:r>
            <a:r>
              <a:rPr lang="en-GB" sz="1800" b="0" i="0" u="none" strike="noStrike" baseline="0" dirty="0">
                <a:solidFill>
                  <a:srgbClr val="000000"/>
                </a:solidFill>
                <a:latin typeface="Times New Roman" panose="02020603050405020304" pitchFamily="18" charset="0"/>
              </a:rPr>
              <a:t>, </a:t>
            </a:r>
            <a:r>
              <a:rPr lang="en-GB" sz="1800" b="1" i="0" u="none" strike="noStrike" baseline="0" dirty="0">
                <a:solidFill>
                  <a:srgbClr val="000000"/>
                </a:solidFill>
                <a:latin typeface="Times New Roman" panose="02020603050405020304" pitchFamily="18" charset="0"/>
              </a:rPr>
              <a:t>ep</a:t>
            </a:r>
            <a:r>
              <a:rPr lang="en-GB" sz="1800" b="0" i="0" u="none" strike="noStrike" baseline="0" dirty="0">
                <a:solidFill>
                  <a:srgbClr val="000000"/>
                </a:solidFill>
                <a:latin typeface="Times New Roman" panose="02020603050405020304" pitchFamily="18" charset="0"/>
              </a:rPr>
              <a:t> from </a:t>
            </a:r>
            <a:r>
              <a:rPr lang="en-GB" sz="1800" b="0" i="1" u="none" strike="noStrike" baseline="0" dirty="0" err="1">
                <a:solidFill>
                  <a:srgbClr val="000000"/>
                </a:solidFill>
                <a:latin typeface="Times New Roman" panose="02020603050405020304" pitchFamily="18" charset="0"/>
              </a:rPr>
              <a:t>hepta</a:t>
            </a:r>
            <a:r>
              <a:rPr lang="en-GB" sz="1800" b="0" i="0" u="none" strike="noStrike" baseline="0" dirty="0">
                <a:solidFill>
                  <a:srgbClr val="000000"/>
                </a:solidFill>
                <a:latin typeface="Times New Roman" panose="02020603050405020304" pitchFamily="18" charset="0"/>
              </a:rPr>
              <a:t>, </a:t>
            </a:r>
            <a:r>
              <a:rPr lang="en-GB" sz="1800" b="1" i="0" u="none" strike="noStrike" baseline="0" dirty="0" err="1">
                <a:solidFill>
                  <a:srgbClr val="000000"/>
                </a:solidFill>
                <a:latin typeface="Times New Roman" panose="02020603050405020304" pitchFamily="18" charset="0"/>
              </a:rPr>
              <a:t>oc</a:t>
            </a:r>
            <a:r>
              <a:rPr lang="en-GB" sz="1800" b="0" i="0" u="none" strike="noStrike" baseline="0" dirty="0">
                <a:solidFill>
                  <a:srgbClr val="000000"/>
                </a:solidFill>
                <a:latin typeface="Times New Roman" panose="02020603050405020304" pitchFamily="18" charset="0"/>
              </a:rPr>
              <a:t> from </a:t>
            </a:r>
            <a:r>
              <a:rPr lang="en-GB" sz="1800" b="0" i="1" u="none" strike="noStrike" baseline="0" dirty="0">
                <a:solidFill>
                  <a:srgbClr val="000000"/>
                </a:solidFill>
                <a:latin typeface="Times New Roman" panose="02020603050405020304" pitchFamily="18" charset="0"/>
              </a:rPr>
              <a:t>octa</a:t>
            </a:r>
            <a:r>
              <a:rPr lang="en-GB" sz="1800" b="0" i="0" u="none" strike="noStrike" baseline="0" dirty="0">
                <a:solidFill>
                  <a:srgbClr val="000000"/>
                </a:solidFill>
                <a:latin typeface="Times New Roman" panose="02020603050405020304" pitchFamily="18" charset="0"/>
              </a:rPr>
              <a:t>, </a:t>
            </a:r>
            <a:r>
              <a:rPr lang="en-GB" sz="1800" b="1" i="0" u="none" strike="noStrike" baseline="0" dirty="0">
                <a:solidFill>
                  <a:srgbClr val="000000"/>
                </a:solidFill>
                <a:latin typeface="Times New Roman" panose="02020603050405020304" pitchFamily="18" charset="0"/>
              </a:rPr>
              <a:t>on </a:t>
            </a:r>
            <a:r>
              <a:rPr lang="en-GB" sz="1800" b="0" i="0" u="none" strike="noStrike" baseline="0" dirty="0">
                <a:solidFill>
                  <a:srgbClr val="000000"/>
                </a:solidFill>
                <a:latin typeface="Times New Roman" panose="02020603050405020304" pitchFamily="18" charset="0"/>
              </a:rPr>
              <a:t>from </a:t>
            </a:r>
            <a:r>
              <a:rPr lang="en-GB" sz="1800" b="0" i="1" u="none" strike="noStrike" baseline="0" dirty="0" err="1">
                <a:solidFill>
                  <a:srgbClr val="000000"/>
                </a:solidFill>
                <a:latin typeface="Times New Roman" panose="02020603050405020304" pitchFamily="18" charset="0"/>
              </a:rPr>
              <a:t>nona</a:t>
            </a:r>
            <a:r>
              <a:rPr lang="en-GB" sz="1800" b="0" i="0" u="none" strike="noStrike" baseline="0" dirty="0">
                <a:solidFill>
                  <a:srgbClr val="000000"/>
                </a:solidFill>
                <a:latin typeface="Times New Roman" panose="02020603050405020304" pitchFamily="18" charset="0"/>
              </a:rPr>
              <a:t>, </a:t>
            </a:r>
            <a:r>
              <a:rPr lang="en-GB" sz="1800" b="1" i="0" u="none" strike="noStrike" baseline="0" dirty="0" err="1">
                <a:solidFill>
                  <a:srgbClr val="000000"/>
                </a:solidFill>
                <a:latin typeface="Times New Roman" panose="02020603050405020304" pitchFamily="18" charset="0"/>
              </a:rPr>
              <a:t>ec</a:t>
            </a:r>
            <a:r>
              <a:rPr lang="en-GB" sz="1800" b="1" i="0" u="none" strike="noStrike" baseline="0" dirty="0">
                <a:solidFill>
                  <a:srgbClr val="000000"/>
                </a:solidFill>
                <a:latin typeface="Times New Roman" panose="02020603050405020304" pitchFamily="18" charset="0"/>
              </a:rPr>
              <a:t> </a:t>
            </a:r>
            <a:r>
              <a:rPr lang="en-GB" sz="1800" b="0" i="0" u="none" strike="noStrike" baseline="0" dirty="0">
                <a:solidFill>
                  <a:srgbClr val="000000"/>
                </a:solidFill>
                <a:latin typeface="Times New Roman" panose="02020603050405020304" pitchFamily="18" charset="0"/>
              </a:rPr>
              <a:t>from </a:t>
            </a:r>
            <a:r>
              <a:rPr lang="en-GB" sz="1800" b="0" i="1" u="none" strike="noStrike" baseline="0" dirty="0" err="1">
                <a:solidFill>
                  <a:srgbClr val="000000"/>
                </a:solidFill>
                <a:latin typeface="Times New Roman" panose="02020603050405020304" pitchFamily="18" charset="0"/>
              </a:rPr>
              <a:t>deca</a:t>
            </a:r>
            <a:r>
              <a:rPr lang="en-GB" sz="1800" b="0" i="0" u="none" strike="noStrike" baseline="0" dirty="0">
                <a:solidFill>
                  <a:srgbClr val="000000"/>
                </a:solidFill>
                <a:latin typeface="Times New Roman" panose="02020603050405020304" pitchFamily="18" charset="0"/>
              </a:rPr>
              <a:t>. </a:t>
            </a:r>
            <a:endParaRPr lang="en-GB" dirty="0"/>
          </a:p>
        </p:txBody>
      </p:sp>
      <p:cxnSp>
        <p:nvCxnSpPr>
          <p:cNvPr id="18" name="Прямая соединительная линия 17">
            <a:extLst>
              <a:ext uri="{FF2B5EF4-FFF2-40B4-BE49-F238E27FC236}">
                <a16:creationId xmlns:a16="http://schemas.microsoft.com/office/drawing/2014/main" id="{57F5FB75-F01C-47B2-8F4F-29C7D210456C}"/>
              </a:ext>
            </a:extLst>
          </p:cNvPr>
          <p:cNvCxnSpPr>
            <a:cxnSpLocks/>
          </p:cNvCxnSpPr>
          <p:nvPr/>
        </p:nvCxnSpPr>
        <p:spPr>
          <a:xfrm>
            <a:off x="3339548" y="578364"/>
            <a:ext cx="0" cy="4905955"/>
          </a:xfrm>
          <a:prstGeom prst="line">
            <a:avLst/>
          </a:prstGeom>
          <a:ln/>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48C145FA-D915-44C9-9A07-A0A49A290AB6}"/>
              </a:ext>
            </a:extLst>
          </p:cNvPr>
          <p:cNvSpPr txBox="1"/>
          <p:nvPr/>
        </p:nvSpPr>
        <p:spPr>
          <a:xfrm>
            <a:off x="3408195" y="3391535"/>
            <a:ext cx="6094674" cy="369332"/>
          </a:xfrm>
          <a:prstGeom prst="rect">
            <a:avLst/>
          </a:prstGeom>
          <a:noFill/>
        </p:spPr>
        <p:txBody>
          <a:bodyPr wrap="square">
            <a:spAutoFit/>
          </a:bodyPr>
          <a:lstStyle/>
          <a:p>
            <a:r>
              <a:rPr lang="en-GB" sz="1800" b="0" i="0" u="none" strike="noStrike" baseline="0" dirty="0">
                <a:solidFill>
                  <a:srgbClr val="0000FF"/>
                </a:solidFill>
                <a:latin typeface="Times New Roman" panose="02020603050405020304" pitchFamily="18" charset="0"/>
              </a:rPr>
              <a:t>	</a:t>
            </a:r>
          </a:p>
        </p:txBody>
      </p:sp>
      <p:graphicFrame>
        <p:nvGraphicFramePr>
          <p:cNvPr id="23" name="Таблица 23">
            <a:extLst>
              <a:ext uri="{FF2B5EF4-FFF2-40B4-BE49-F238E27FC236}">
                <a16:creationId xmlns:a16="http://schemas.microsoft.com/office/drawing/2014/main" id="{F24A50E0-5661-479B-BEE6-39345829FC92}"/>
              </a:ext>
            </a:extLst>
          </p:cNvPr>
          <p:cNvGraphicFramePr>
            <a:graphicFrameLocks noGrp="1"/>
          </p:cNvGraphicFramePr>
          <p:nvPr>
            <p:extLst>
              <p:ext uri="{D42A27DB-BD31-4B8C-83A1-F6EECF244321}">
                <p14:modId xmlns:p14="http://schemas.microsoft.com/office/powerpoint/2010/main" val="2786823208"/>
              </p:ext>
            </p:extLst>
          </p:nvPr>
        </p:nvGraphicFramePr>
        <p:xfrm>
          <a:off x="3498577" y="3098661"/>
          <a:ext cx="2989688" cy="1981200"/>
        </p:xfrm>
        <a:graphic>
          <a:graphicData uri="http://schemas.openxmlformats.org/drawingml/2006/table">
            <a:tbl>
              <a:tblPr firstRow="1" bandRow="1">
                <a:tableStyleId>{5C22544A-7EE6-4342-B048-85BDC9FD1C3A}</a:tableStyleId>
              </a:tblPr>
              <a:tblGrid>
                <a:gridCol w="812253">
                  <a:extLst>
                    <a:ext uri="{9D8B030D-6E8A-4147-A177-3AD203B41FA5}">
                      <a16:colId xmlns:a16="http://schemas.microsoft.com/office/drawing/2014/main" val="4246749695"/>
                    </a:ext>
                  </a:extLst>
                </a:gridCol>
                <a:gridCol w="781406">
                  <a:extLst>
                    <a:ext uri="{9D8B030D-6E8A-4147-A177-3AD203B41FA5}">
                      <a16:colId xmlns:a16="http://schemas.microsoft.com/office/drawing/2014/main" val="3253377907"/>
                    </a:ext>
                  </a:extLst>
                </a:gridCol>
                <a:gridCol w="673963">
                  <a:extLst>
                    <a:ext uri="{9D8B030D-6E8A-4147-A177-3AD203B41FA5}">
                      <a16:colId xmlns:a16="http://schemas.microsoft.com/office/drawing/2014/main" val="2808366677"/>
                    </a:ext>
                  </a:extLst>
                </a:gridCol>
                <a:gridCol w="722066">
                  <a:extLst>
                    <a:ext uri="{9D8B030D-6E8A-4147-A177-3AD203B41FA5}">
                      <a16:colId xmlns:a16="http://schemas.microsoft.com/office/drawing/2014/main" val="2260607530"/>
                    </a:ext>
                  </a:extLst>
                </a:gridCol>
              </a:tblGrid>
              <a:tr h="504392">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GB" sz="1400" b="1" i="0" u="none" strike="noStrike" kern="1200" baseline="0" dirty="0">
                          <a:solidFill>
                            <a:schemeClr val="lt1"/>
                          </a:solidFill>
                          <a:latin typeface="+mn-lt"/>
                          <a:ea typeface="+mn-ea"/>
                          <a:cs typeface="+mn-cs"/>
                        </a:rPr>
                        <a:t>Ring Size</a:t>
                      </a:r>
                    </a:p>
                  </a:txBody>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GB" sz="1400" b="1" i="0" u="none" strike="noStrike" kern="1200" baseline="0" dirty="0">
                          <a:solidFill>
                            <a:srgbClr val="00B050"/>
                          </a:solidFill>
                          <a:latin typeface="+mn-lt"/>
                          <a:ea typeface="+mn-ea"/>
                          <a:cs typeface="+mn-cs"/>
                        </a:rPr>
                        <a:t>Suffix</a:t>
                      </a:r>
                      <a:r>
                        <a:rPr lang="en-GB" sz="1400" b="1" i="0" u="none" strike="noStrike" kern="1200" baseline="0" dirty="0">
                          <a:solidFill>
                            <a:schemeClr val="lt1"/>
                          </a:solidFill>
                          <a:latin typeface="+mn-lt"/>
                          <a:ea typeface="+mn-ea"/>
                          <a:cs typeface="+mn-cs"/>
                        </a:rPr>
                        <a:t> 	</a:t>
                      </a:r>
                    </a:p>
                  </a:txBody>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GB" sz="1400" b="1" i="0" u="none" strike="noStrike" kern="1200" baseline="0" dirty="0">
                          <a:solidFill>
                            <a:schemeClr val="lt1"/>
                          </a:solidFill>
                          <a:latin typeface="+mn-lt"/>
                          <a:ea typeface="+mn-ea"/>
                          <a:cs typeface="+mn-cs"/>
                        </a:rPr>
                        <a:t>Ring Size </a:t>
                      </a:r>
                    </a:p>
                  </a:txBody>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GB" sz="1400" b="1" i="0" u="none" strike="noStrike" kern="1200" baseline="0" dirty="0">
                          <a:solidFill>
                            <a:srgbClr val="00B050"/>
                          </a:solidFill>
                          <a:latin typeface="+mn-lt"/>
                          <a:ea typeface="+mn-ea"/>
                          <a:cs typeface="+mn-cs"/>
                        </a:rPr>
                        <a:t>Suffix </a:t>
                      </a:r>
                    </a:p>
                  </a:txBody>
                  <a:tcPr/>
                </a:tc>
                <a:extLst>
                  <a:ext uri="{0D108BD9-81ED-4DB2-BD59-A6C34878D82A}">
                    <a16:rowId xmlns:a16="http://schemas.microsoft.com/office/drawing/2014/main" val="1923311305"/>
                  </a:ext>
                </a:extLst>
              </a:tr>
              <a:tr h="360986">
                <a:tc>
                  <a:txBody>
                    <a:bodyPr/>
                    <a:lstStyle/>
                    <a:p>
                      <a:r>
                        <a:rPr lang="en-GB" sz="1800" dirty="0"/>
                        <a:t>3</a:t>
                      </a:r>
                    </a:p>
                  </a:txBody>
                  <a:tcPr/>
                </a:tc>
                <a:tc>
                  <a:txBody>
                    <a:bodyPr/>
                    <a:lstStyle/>
                    <a:p>
                      <a:r>
                        <a:rPr lang="en-GB" sz="1800" b="1" dirty="0">
                          <a:solidFill>
                            <a:srgbClr val="00B050"/>
                          </a:solidFill>
                        </a:rPr>
                        <a:t>-</a:t>
                      </a:r>
                      <a:r>
                        <a:rPr lang="en-GB" sz="1800" b="1" dirty="0" err="1">
                          <a:solidFill>
                            <a:srgbClr val="00B050"/>
                          </a:solidFill>
                        </a:rPr>
                        <a:t>ir</a:t>
                      </a:r>
                      <a:r>
                        <a:rPr lang="en-GB" sz="1800" b="1" dirty="0">
                          <a:solidFill>
                            <a:srgbClr val="00B050"/>
                          </a:solidFill>
                        </a:rPr>
                        <a:t>-</a:t>
                      </a:r>
                    </a:p>
                  </a:txBody>
                  <a:tcPr/>
                </a:tc>
                <a:tc>
                  <a:txBody>
                    <a:bodyPr/>
                    <a:lstStyle/>
                    <a:p>
                      <a:r>
                        <a:rPr lang="en-GB" sz="1800" dirty="0"/>
                        <a:t>7</a:t>
                      </a:r>
                    </a:p>
                  </a:txBody>
                  <a:tcPr/>
                </a:tc>
                <a:tc>
                  <a:txBody>
                    <a:bodyPr/>
                    <a:lstStyle/>
                    <a:p>
                      <a:r>
                        <a:rPr lang="en-GB" sz="1800" b="1" dirty="0">
                          <a:solidFill>
                            <a:srgbClr val="00B050"/>
                          </a:solidFill>
                        </a:rPr>
                        <a:t>-ep-</a:t>
                      </a:r>
                    </a:p>
                  </a:txBody>
                  <a:tcPr/>
                </a:tc>
                <a:extLst>
                  <a:ext uri="{0D108BD9-81ED-4DB2-BD59-A6C34878D82A}">
                    <a16:rowId xmlns:a16="http://schemas.microsoft.com/office/drawing/2014/main" val="3024164529"/>
                  </a:ext>
                </a:extLst>
              </a:tr>
              <a:tr h="360986">
                <a:tc>
                  <a:txBody>
                    <a:bodyPr/>
                    <a:lstStyle/>
                    <a:p>
                      <a:r>
                        <a:rPr lang="en-GB" sz="1800" dirty="0"/>
                        <a:t>4</a:t>
                      </a:r>
                    </a:p>
                  </a:txBody>
                  <a:tcPr/>
                </a:tc>
                <a:tc>
                  <a:txBody>
                    <a:bodyPr/>
                    <a:lstStyle/>
                    <a:p>
                      <a:r>
                        <a:rPr lang="en-GB" sz="1800" b="1" dirty="0">
                          <a:solidFill>
                            <a:srgbClr val="00B050"/>
                          </a:solidFill>
                        </a:rPr>
                        <a:t>-et-</a:t>
                      </a:r>
                    </a:p>
                  </a:txBody>
                  <a:tcPr/>
                </a:tc>
                <a:tc>
                  <a:txBody>
                    <a:bodyPr/>
                    <a:lstStyle/>
                    <a:p>
                      <a:r>
                        <a:rPr lang="en-GB" sz="1800" dirty="0"/>
                        <a:t>8</a:t>
                      </a:r>
                    </a:p>
                  </a:txBody>
                  <a:tcPr/>
                </a:tc>
                <a:tc>
                  <a:txBody>
                    <a:bodyPr/>
                    <a:lstStyle/>
                    <a:p>
                      <a:r>
                        <a:rPr lang="en-GB" sz="1800" b="1" dirty="0">
                          <a:solidFill>
                            <a:srgbClr val="00B050"/>
                          </a:solidFill>
                        </a:rPr>
                        <a:t>-</a:t>
                      </a:r>
                      <a:r>
                        <a:rPr lang="en-GB" sz="1800" b="1" dirty="0" err="1">
                          <a:solidFill>
                            <a:srgbClr val="00B050"/>
                          </a:solidFill>
                        </a:rPr>
                        <a:t>oc</a:t>
                      </a:r>
                      <a:r>
                        <a:rPr lang="en-GB" sz="1800" b="1" dirty="0">
                          <a:solidFill>
                            <a:srgbClr val="00B050"/>
                          </a:solidFill>
                        </a:rPr>
                        <a:t>-</a:t>
                      </a:r>
                    </a:p>
                  </a:txBody>
                  <a:tcPr/>
                </a:tc>
                <a:extLst>
                  <a:ext uri="{0D108BD9-81ED-4DB2-BD59-A6C34878D82A}">
                    <a16:rowId xmlns:a16="http://schemas.microsoft.com/office/drawing/2014/main" val="815194155"/>
                  </a:ext>
                </a:extLst>
              </a:tr>
              <a:tr h="360986">
                <a:tc>
                  <a:txBody>
                    <a:bodyPr/>
                    <a:lstStyle/>
                    <a:p>
                      <a:r>
                        <a:rPr lang="en-GB" sz="1800" dirty="0"/>
                        <a:t>5</a:t>
                      </a:r>
                    </a:p>
                  </a:txBody>
                  <a:tcPr/>
                </a:tc>
                <a:tc>
                  <a:txBody>
                    <a:bodyPr/>
                    <a:lstStyle/>
                    <a:p>
                      <a:r>
                        <a:rPr lang="en-GB" sz="1800" b="1" dirty="0">
                          <a:solidFill>
                            <a:srgbClr val="00B050"/>
                          </a:solidFill>
                        </a:rPr>
                        <a:t>-</a:t>
                      </a:r>
                      <a:r>
                        <a:rPr lang="en-GB" sz="1800" b="1" dirty="0" err="1">
                          <a:solidFill>
                            <a:srgbClr val="00B050"/>
                          </a:solidFill>
                        </a:rPr>
                        <a:t>ol</a:t>
                      </a:r>
                      <a:r>
                        <a:rPr lang="en-GB" sz="1800" b="1" dirty="0">
                          <a:solidFill>
                            <a:srgbClr val="00B050"/>
                          </a:solidFill>
                        </a:rPr>
                        <a:t>-</a:t>
                      </a:r>
                    </a:p>
                  </a:txBody>
                  <a:tcPr/>
                </a:tc>
                <a:tc>
                  <a:txBody>
                    <a:bodyPr/>
                    <a:lstStyle/>
                    <a:p>
                      <a:r>
                        <a:rPr lang="en-GB" sz="1800" dirty="0"/>
                        <a:t>9</a:t>
                      </a:r>
                    </a:p>
                  </a:txBody>
                  <a:tcPr/>
                </a:tc>
                <a:tc>
                  <a:txBody>
                    <a:bodyPr/>
                    <a:lstStyle/>
                    <a:p>
                      <a:r>
                        <a:rPr lang="en-GB" sz="1800" b="1" dirty="0">
                          <a:solidFill>
                            <a:srgbClr val="00B050"/>
                          </a:solidFill>
                        </a:rPr>
                        <a:t>-on-</a:t>
                      </a:r>
                    </a:p>
                  </a:txBody>
                  <a:tcPr/>
                </a:tc>
                <a:extLst>
                  <a:ext uri="{0D108BD9-81ED-4DB2-BD59-A6C34878D82A}">
                    <a16:rowId xmlns:a16="http://schemas.microsoft.com/office/drawing/2014/main" val="670637016"/>
                  </a:ext>
                </a:extLst>
              </a:tr>
              <a:tr h="360986">
                <a:tc>
                  <a:txBody>
                    <a:bodyPr/>
                    <a:lstStyle/>
                    <a:p>
                      <a:r>
                        <a:rPr lang="en-GB" sz="1800" dirty="0"/>
                        <a:t>6</a:t>
                      </a:r>
                    </a:p>
                  </a:txBody>
                  <a:tcPr/>
                </a:tc>
                <a:tc>
                  <a:txBody>
                    <a:bodyPr/>
                    <a:lstStyle/>
                    <a:p>
                      <a:r>
                        <a:rPr lang="en-GB" sz="1800" b="1" dirty="0">
                          <a:solidFill>
                            <a:srgbClr val="00B050"/>
                          </a:solidFill>
                        </a:rPr>
                        <a:t>-in-</a:t>
                      </a:r>
                    </a:p>
                  </a:txBody>
                  <a:tcPr/>
                </a:tc>
                <a:tc>
                  <a:txBody>
                    <a:bodyPr/>
                    <a:lstStyle/>
                    <a:p>
                      <a:r>
                        <a:rPr lang="en-GB" sz="1800" dirty="0"/>
                        <a:t>10</a:t>
                      </a:r>
                    </a:p>
                  </a:txBody>
                  <a:tcPr/>
                </a:tc>
                <a:tc>
                  <a:txBody>
                    <a:bodyPr/>
                    <a:lstStyle/>
                    <a:p>
                      <a:r>
                        <a:rPr lang="en-GB" sz="1800" b="1" dirty="0">
                          <a:solidFill>
                            <a:srgbClr val="00B050"/>
                          </a:solidFill>
                        </a:rPr>
                        <a:t>-</a:t>
                      </a:r>
                      <a:r>
                        <a:rPr lang="en-GB" sz="1800" b="1" dirty="0" err="1">
                          <a:solidFill>
                            <a:srgbClr val="00B050"/>
                          </a:solidFill>
                        </a:rPr>
                        <a:t>ec</a:t>
                      </a:r>
                      <a:r>
                        <a:rPr lang="en-GB" sz="1800" b="1" dirty="0">
                          <a:solidFill>
                            <a:srgbClr val="00B050"/>
                          </a:solidFill>
                        </a:rPr>
                        <a:t>-</a:t>
                      </a:r>
                    </a:p>
                  </a:txBody>
                  <a:tcPr/>
                </a:tc>
                <a:extLst>
                  <a:ext uri="{0D108BD9-81ED-4DB2-BD59-A6C34878D82A}">
                    <a16:rowId xmlns:a16="http://schemas.microsoft.com/office/drawing/2014/main" val="928490245"/>
                  </a:ext>
                </a:extLst>
              </a:tr>
            </a:tbl>
          </a:graphicData>
        </a:graphic>
      </p:graphicFrame>
      <p:graphicFrame>
        <p:nvGraphicFramePr>
          <p:cNvPr id="24" name="Таблица 24">
            <a:extLst>
              <a:ext uri="{FF2B5EF4-FFF2-40B4-BE49-F238E27FC236}">
                <a16:creationId xmlns:a16="http://schemas.microsoft.com/office/drawing/2014/main" id="{88A76F72-9397-4837-85CD-68B54A53DEBC}"/>
              </a:ext>
            </a:extLst>
          </p:cNvPr>
          <p:cNvGraphicFramePr>
            <a:graphicFrameLocks noGrp="1"/>
          </p:cNvGraphicFramePr>
          <p:nvPr>
            <p:extLst>
              <p:ext uri="{D42A27DB-BD31-4B8C-83A1-F6EECF244321}">
                <p14:modId xmlns:p14="http://schemas.microsoft.com/office/powerpoint/2010/main" val="2627029196"/>
              </p:ext>
            </p:extLst>
          </p:nvPr>
        </p:nvGraphicFramePr>
        <p:xfrm>
          <a:off x="113218" y="2035163"/>
          <a:ext cx="3144299" cy="2621280"/>
        </p:xfrm>
        <a:graphic>
          <a:graphicData uri="http://schemas.openxmlformats.org/drawingml/2006/table">
            <a:tbl>
              <a:tblPr firstRow="1" bandRow="1">
                <a:tableStyleId>{5C22544A-7EE6-4342-B048-85BDC9FD1C3A}</a:tableStyleId>
              </a:tblPr>
              <a:tblGrid>
                <a:gridCol w="1410914">
                  <a:extLst>
                    <a:ext uri="{9D8B030D-6E8A-4147-A177-3AD203B41FA5}">
                      <a16:colId xmlns:a16="http://schemas.microsoft.com/office/drawing/2014/main" val="3974627760"/>
                    </a:ext>
                  </a:extLst>
                </a:gridCol>
                <a:gridCol w="1733385">
                  <a:extLst>
                    <a:ext uri="{9D8B030D-6E8A-4147-A177-3AD203B41FA5}">
                      <a16:colId xmlns:a16="http://schemas.microsoft.com/office/drawing/2014/main" val="3860948877"/>
                    </a:ext>
                  </a:extLst>
                </a:gridCol>
              </a:tblGrid>
              <a:tr h="246221">
                <a:tc>
                  <a:txBody>
                    <a:bodyPr/>
                    <a:lstStyle/>
                    <a:p>
                      <a:pPr algn="ctr"/>
                      <a:r>
                        <a:rPr lang="en-GB" sz="1800" b="1" i="0" u="none" strike="noStrike" baseline="0" dirty="0">
                          <a:solidFill>
                            <a:schemeClr val="bg1"/>
                          </a:solidFill>
                          <a:latin typeface="Times New Roman" panose="02020603050405020304" pitchFamily="18" charset="0"/>
                        </a:rPr>
                        <a:t>Heteroatom </a:t>
                      </a:r>
                      <a:endParaRPr lang="en-GB" dirty="0">
                        <a:solidFill>
                          <a:schemeClr val="bg1"/>
                        </a:solidFill>
                      </a:endParaRPr>
                    </a:p>
                  </a:txBody>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GB" sz="1800" b="1" i="0" u="none" strike="noStrike" baseline="0" dirty="0">
                          <a:solidFill>
                            <a:srgbClr val="00B0F0"/>
                          </a:solidFill>
                          <a:latin typeface="Times New Roman" panose="02020603050405020304" pitchFamily="18" charset="0"/>
                        </a:rPr>
                        <a:t>Prefix </a:t>
                      </a:r>
                      <a:endParaRPr lang="en-GB" sz="1800" b="0" i="0" u="none" strike="noStrike" baseline="0" dirty="0">
                        <a:solidFill>
                          <a:srgbClr val="00B0F0"/>
                        </a:solidFill>
                        <a:latin typeface="Times New Roman" panose="02020603050405020304" pitchFamily="18" charset="0"/>
                      </a:endParaRPr>
                    </a:p>
                  </a:txBody>
                  <a:tcPr/>
                </a:tc>
                <a:extLst>
                  <a:ext uri="{0D108BD9-81ED-4DB2-BD59-A6C34878D82A}">
                    <a16:rowId xmlns:a16="http://schemas.microsoft.com/office/drawing/2014/main" val="2952859314"/>
                  </a:ext>
                </a:extLst>
              </a:tr>
              <a:tr h="246221">
                <a:tc>
                  <a:txBody>
                    <a:bodyPr/>
                    <a:lstStyle/>
                    <a:p>
                      <a:pPr algn="ctr"/>
                      <a:r>
                        <a:rPr lang="en-GB" sz="2000" b="1" dirty="0">
                          <a:solidFill>
                            <a:srgbClr val="00B0F0"/>
                          </a:solidFill>
                        </a:rPr>
                        <a:t>O</a:t>
                      </a:r>
                    </a:p>
                  </a:txBody>
                  <a:tcPr/>
                </a:tc>
                <a:tc>
                  <a:txBody>
                    <a:bodyPr/>
                    <a:lstStyle/>
                    <a:p>
                      <a:r>
                        <a:rPr lang="en-GB" b="1" dirty="0" err="1">
                          <a:solidFill>
                            <a:srgbClr val="0000FF"/>
                          </a:solidFill>
                          <a:latin typeface="Times New Roman" panose="02020603050405020304" pitchFamily="18" charset="0"/>
                        </a:rPr>
                        <a:t>o</a:t>
                      </a:r>
                      <a:r>
                        <a:rPr lang="en-GB" sz="1800" b="1" i="0" u="none" strike="noStrike" baseline="0" dirty="0" err="1">
                          <a:solidFill>
                            <a:srgbClr val="0000FF"/>
                          </a:solidFill>
                          <a:latin typeface="Times New Roman" panose="02020603050405020304" pitchFamily="18" charset="0"/>
                        </a:rPr>
                        <a:t>xa</a:t>
                      </a:r>
                      <a:r>
                        <a:rPr lang="en-GB" sz="1800" b="1" i="0" u="none" strike="noStrike" baseline="0" dirty="0">
                          <a:solidFill>
                            <a:srgbClr val="0000FF"/>
                          </a:solidFill>
                          <a:latin typeface="Times New Roman" panose="02020603050405020304" pitchFamily="18" charset="0"/>
                        </a:rPr>
                        <a:t>-</a:t>
                      </a:r>
                      <a:endParaRPr lang="en-GB" dirty="0"/>
                    </a:p>
                  </a:txBody>
                  <a:tcPr/>
                </a:tc>
                <a:extLst>
                  <a:ext uri="{0D108BD9-81ED-4DB2-BD59-A6C34878D82A}">
                    <a16:rowId xmlns:a16="http://schemas.microsoft.com/office/drawing/2014/main" val="2158847014"/>
                  </a:ext>
                </a:extLst>
              </a:tr>
              <a:tr h="246221">
                <a:tc>
                  <a:txBody>
                    <a:bodyPr/>
                    <a:lstStyle/>
                    <a:p>
                      <a:pPr algn="ctr"/>
                      <a:r>
                        <a:rPr lang="en-GB" sz="2000" b="1" dirty="0">
                          <a:solidFill>
                            <a:srgbClr val="00B0F0"/>
                          </a:solidFill>
                        </a:rPr>
                        <a:t>S</a:t>
                      </a:r>
                    </a:p>
                  </a:txBody>
                  <a:tcPr/>
                </a:tc>
                <a:tc>
                  <a:txBody>
                    <a:bodyPr/>
                    <a:lstStyle/>
                    <a:p>
                      <a:r>
                        <a:rPr lang="en-GB" b="1" dirty="0">
                          <a:solidFill>
                            <a:srgbClr val="0000FF"/>
                          </a:solidFill>
                          <a:latin typeface="Times New Roman" panose="02020603050405020304" pitchFamily="18" charset="0"/>
                        </a:rPr>
                        <a:t>thia-</a:t>
                      </a:r>
                      <a:endParaRPr lang="en-GB" dirty="0"/>
                    </a:p>
                  </a:txBody>
                  <a:tcPr/>
                </a:tc>
                <a:extLst>
                  <a:ext uri="{0D108BD9-81ED-4DB2-BD59-A6C34878D82A}">
                    <a16:rowId xmlns:a16="http://schemas.microsoft.com/office/drawing/2014/main" val="91517147"/>
                  </a:ext>
                </a:extLst>
              </a:tr>
              <a:tr h="246221">
                <a:tc>
                  <a:txBody>
                    <a:bodyPr/>
                    <a:lstStyle/>
                    <a:p>
                      <a:pPr algn="ctr"/>
                      <a:r>
                        <a:rPr lang="en-GB" sz="2000" b="1" dirty="0">
                          <a:solidFill>
                            <a:srgbClr val="00B0F0"/>
                          </a:solidFill>
                        </a:rPr>
                        <a:t>N</a:t>
                      </a:r>
                    </a:p>
                  </a:txBody>
                  <a:tcPr/>
                </a:tc>
                <a:tc>
                  <a:txBody>
                    <a:bodyPr/>
                    <a:lstStyle/>
                    <a:p>
                      <a:r>
                        <a:rPr lang="en-GB" sz="1800" b="1" i="0" u="none" strike="noStrike" baseline="0" dirty="0" err="1">
                          <a:solidFill>
                            <a:srgbClr val="0000FF"/>
                          </a:solidFill>
                          <a:latin typeface="Times New Roman" panose="02020603050405020304" pitchFamily="18" charset="0"/>
                        </a:rPr>
                        <a:t>aza</a:t>
                      </a:r>
                      <a:r>
                        <a:rPr lang="en-GB" sz="1800" b="1" i="0" u="none" strike="noStrike" baseline="0" dirty="0">
                          <a:solidFill>
                            <a:srgbClr val="0000FF"/>
                          </a:solidFill>
                          <a:latin typeface="Times New Roman" panose="02020603050405020304" pitchFamily="18" charset="0"/>
                        </a:rPr>
                        <a:t>-</a:t>
                      </a:r>
                      <a:r>
                        <a:rPr lang="en-GB" sz="2400" b="1" i="0" u="none" strike="noStrike" baseline="0" dirty="0">
                          <a:solidFill>
                            <a:srgbClr val="0000FF"/>
                          </a:solidFill>
                          <a:latin typeface="Times New Roman" panose="02020603050405020304" pitchFamily="18" charset="0"/>
                        </a:rPr>
                        <a:t> </a:t>
                      </a:r>
                      <a:r>
                        <a:rPr lang="en-GB" sz="1400" b="1" i="0" u="none" strike="noStrike" baseline="0" dirty="0">
                          <a:solidFill>
                            <a:srgbClr val="002060"/>
                          </a:solidFill>
                          <a:latin typeface="Times New Roman" panose="02020603050405020304" pitchFamily="18" charset="0"/>
                        </a:rPr>
                        <a:t>(often </a:t>
                      </a:r>
                      <a:r>
                        <a:rPr lang="en-GB" sz="1400" b="1" dirty="0">
                          <a:solidFill>
                            <a:srgbClr val="002060"/>
                          </a:solidFill>
                          <a:latin typeface="Times New Roman" panose="02020603050405020304" pitchFamily="18" charset="0"/>
                        </a:rPr>
                        <a:t>           </a:t>
                      </a:r>
                      <a:r>
                        <a:rPr lang="en-GB" sz="1400" b="1" i="0" u="none" strike="noStrike" baseline="0" dirty="0" err="1">
                          <a:solidFill>
                            <a:srgbClr val="002060"/>
                          </a:solidFill>
                          <a:latin typeface="Times New Roman" panose="02020603050405020304" pitchFamily="18" charset="0"/>
                        </a:rPr>
                        <a:t>imid</a:t>
                      </a:r>
                      <a:r>
                        <a:rPr lang="en-GB" sz="1400" b="1" i="0" u="none" strike="noStrike" baseline="0" dirty="0">
                          <a:solidFill>
                            <a:srgbClr val="002060"/>
                          </a:solidFill>
                          <a:latin typeface="Times New Roman" panose="02020603050405020304" pitchFamily="18" charset="0"/>
                        </a:rPr>
                        <a:t>-, </a:t>
                      </a:r>
                      <a:r>
                        <a:rPr lang="en-GB" sz="1400" b="1" i="0" u="none" strike="noStrike" baseline="0" dirty="0" err="1">
                          <a:solidFill>
                            <a:srgbClr val="002060"/>
                          </a:solidFill>
                          <a:latin typeface="Times New Roman" panose="02020603050405020304" pitchFamily="18" charset="0"/>
                        </a:rPr>
                        <a:t>pyr</a:t>
                      </a:r>
                      <a:r>
                        <a:rPr lang="en-GB" sz="1400" b="1" i="0" u="none" strike="noStrike" baseline="0" dirty="0">
                          <a:solidFill>
                            <a:srgbClr val="002060"/>
                          </a:solidFill>
                          <a:latin typeface="Times New Roman" panose="02020603050405020304" pitchFamily="18" charset="0"/>
                        </a:rPr>
                        <a:t>-, </a:t>
                      </a:r>
                      <a:r>
                        <a:rPr lang="en-GB" sz="1400" b="1" i="0" u="none" strike="noStrike" baseline="0" dirty="0" err="1">
                          <a:solidFill>
                            <a:srgbClr val="002060"/>
                          </a:solidFill>
                          <a:latin typeface="Times New Roman" panose="02020603050405020304" pitchFamily="18" charset="0"/>
                        </a:rPr>
                        <a:t>pyrid</a:t>
                      </a:r>
                      <a:r>
                        <a:rPr lang="en-GB" sz="1400" b="1" i="0" u="none" strike="noStrike" baseline="0" dirty="0">
                          <a:solidFill>
                            <a:srgbClr val="002060"/>
                          </a:solidFill>
                          <a:latin typeface="Times New Roman" panose="02020603050405020304" pitchFamily="18" charset="0"/>
                        </a:rPr>
                        <a:t>-)</a:t>
                      </a:r>
                      <a:endParaRPr lang="en-GB" sz="1400" dirty="0"/>
                    </a:p>
                  </a:txBody>
                  <a:tcPr/>
                </a:tc>
                <a:extLst>
                  <a:ext uri="{0D108BD9-81ED-4DB2-BD59-A6C34878D82A}">
                    <a16:rowId xmlns:a16="http://schemas.microsoft.com/office/drawing/2014/main" val="749820164"/>
                  </a:ext>
                </a:extLst>
              </a:tr>
              <a:tr h="246221">
                <a:tc>
                  <a:txBody>
                    <a:bodyPr/>
                    <a:lstStyle/>
                    <a:p>
                      <a:pPr algn="ctr"/>
                      <a:r>
                        <a:rPr lang="en-GB" sz="2000" b="1" dirty="0">
                          <a:solidFill>
                            <a:srgbClr val="00B0F0"/>
                          </a:solidFill>
                        </a:rPr>
                        <a:t>P</a:t>
                      </a:r>
                    </a:p>
                  </a:txBody>
                  <a:tcPr/>
                </a:tc>
                <a:tc>
                  <a:txBody>
                    <a:bodyPr/>
                    <a:lstStyle/>
                    <a:p>
                      <a:r>
                        <a:rPr lang="en-GB" b="1" dirty="0" err="1">
                          <a:solidFill>
                            <a:srgbClr val="0000FF"/>
                          </a:solidFill>
                          <a:latin typeface="Times New Roman" panose="02020603050405020304" pitchFamily="18" charset="0"/>
                        </a:rPr>
                        <a:t>p</a:t>
                      </a:r>
                      <a:r>
                        <a:rPr lang="en-GB" sz="1800" b="1" i="0" u="none" strike="noStrike" baseline="0" dirty="0" err="1">
                          <a:solidFill>
                            <a:srgbClr val="0000FF"/>
                          </a:solidFill>
                          <a:latin typeface="Times New Roman" panose="02020603050405020304" pitchFamily="18" charset="0"/>
                        </a:rPr>
                        <a:t>hospha</a:t>
                      </a:r>
                      <a:r>
                        <a:rPr lang="en-GB" sz="1800" b="1" i="0" u="none" strike="noStrike" baseline="0" dirty="0">
                          <a:solidFill>
                            <a:srgbClr val="0000FF"/>
                          </a:solidFill>
                          <a:latin typeface="Times New Roman" panose="02020603050405020304" pitchFamily="18" charset="0"/>
                        </a:rPr>
                        <a:t>-</a:t>
                      </a:r>
                      <a:endParaRPr lang="en-GB" dirty="0"/>
                    </a:p>
                  </a:txBody>
                  <a:tcPr/>
                </a:tc>
                <a:extLst>
                  <a:ext uri="{0D108BD9-81ED-4DB2-BD59-A6C34878D82A}">
                    <a16:rowId xmlns:a16="http://schemas.microsoft.com/office/drawing/2014/main" val="2083327358"/>
                  </a:ext>
                </a:extLst>
              </a:tr>
              <a:tr h="246221">
                <a:tc>
                  <a:txBody>
                    <a:bodyPr/>
                    <a:lstStyle/>
                    <a:p>
                      <a:pPr algn="ctr"/>
                      <a:r>
                        <a:rPr lang="en-GB" sz="2000" b="1" dirty="0">
                          <a:solidFill>
                            <a:srgbClr val="00B0F0"/>
                          </a:solidFill>
                        </a:rPr>
                        <a:t>Si</a:t>
                      </a:r>
                    </a:p>
                  </a:txBody>
                  <a:tcPr/>
                </a:tc>
                <a:tc>
                  <a:txBody>
                    <a:bodyPr/>
                    <a:lstStyle/>
                    <a:p>
                      <a:r>
                        <a:rPr lang="en-GB" b="1" dirty="0" err="1">
                          <a:solidFill>
                            <a:srgbClr val="0000FF"/>
                          </a:solidFill>
                          <a:latin typeface="Times New Roman" panose="02020603050405020304" pitchFamily="18" charset="0"/>
                        </a:rPr>
                        <a:t>sila</a:t>
                      </a:r>
                      <a:r>
                        <a:rPr lang="en-GB" b="1" dirty="0">
                          <a:solidFill>
                            <a:srgbClr val="0000FF"/>
                          </a:solidFill>
                          <a:latin typeface="Times New Roman" panose="02020603050405020304" pitchFamily="18" charset="0"/>
                        </a:rPr>
                        <a:t>-</a:t>
                      </a:r>
                      <a:endParaRPr lang="en-GB" dirty="0"/>
                    </a:p>
                  </a:txBody>
                  <a:tcPr/>
                </a:tc>
                <a:extLst>
                  <a:ext uri="{0D108BD9-81ED-4DB2-BD59-A6C34878D82A}">
                    <a16:rowId xmlns:a16="http://schemas.microsoft.com/office/drawing/2014/main" val="1799158822"/>
                  </a:ext>
                </a:extLst>
              </a:tr>
            </a:tbl>
          </a:graphicData>
        </a:graphic>
      </p:graphicFrame>
      <p:cxnSp>
        <p:nvCxnSpPr>
          <p:cNvPr id="26" name="Прямая соединительная линия 25">
            <a:extLst>
              <a:ext uri="{FF2B5EF4-FFF2-40B4-BE49-F238E27FC236}">
                <a16:creationId xmlns:a16="http://schemas.microsoft.com/office/drawing/2014/main" id="{D2F8DB52-C035-4B8E-946C-C16C860295EC}"/>
              </a:ext>
            </a:extLst>
          </p:cNvPr>
          <p:cNvCxnSpPr>
            <a:cxnSpLocks/>
          </p:cNvCxnSpPr>
          <p:nvPr/>
        </p:nvCxnSpPr>
        <p:spPr>
          <a:xfrm>
            <a:off x="6688372" y="486435"/>
            <a:ext cx="0" cy="4905955"/>
          </a:xfrm>
          <a:prstGeom prst="line">
            <a:avLst/>
          </a:prstGeom>
          <a:ln/>
        </p:spPr>
        <p:style>
          <a:lnRef idx="2">
            <a:schemeClr val="accent1"/>
          </a:lnRef>
          <a:fillRef idx="0">
            <a:schemeClr val="accent1"/>
          </a:fillRef>
          <a:effectRef idx="1">
            <a:schemeClr val="accent1"/>
          </a:effectRef>
          <a:fontRef idx="minor">
            <a:schemeClr val="tx1"/>
          </a:fontRef>
        </p:style>
      </p:cxnSp>
      <p:sp>
        <p:nvSpPr>
          <p:cNvPr id="30" name="TextBox 29">
            <a:extLst>
              <a:ext uri="{FF2B5EF4-FFF2-40B4-BE49-F238E27FC236}">
                <a16:creationId xmlns:a16="http://schemas.microsoft.com/office/drawing/2014/main" id="{2466DB13-0B42-4EF2-855E-BCFC7E990018}"/>
              </a:ext>
            </a:extLst>
          </p:cNvPr>
          <p:cNvSpPr txBox="1"/>
          <p:nvPr/>
        </p:nvSpPr>
        <p:spPr>
          <a:xfrm>
            <a:off x="292211" y="6250130"/>
            <a:ext cx="6094674" cy="738664"/>
          </a:xfrm>
          <a:prstGeom prst="rect">
            <a:avLst/>
          </a:prstGeom>
          <a:noFill/>
        </p:spPr>
        <p:txBody>
          <a:bodyPr wrap="square">
            <a:spAutoFit/>
          </a:bodyPr>
          <a:lstStyle/>
          <a:p>
            <a:r>
              <a:rPr lang="en-GB" sz="1800" b="1" i="0" u="none" strike="noStrike" baseline="0" dirty="0">
                <a:solidFill>
                  <a:srgbClr val="C00000"/>
                </a:solidFill>
                <a:latin typeface="Times New Roman" panose="02020603050405020304" pitchFamily="18" charset="0"/>
              </a:rPr>
              <a:t>IUPAC name = locants + prefix + suffix</a:t>
            </a:r>
            <a:endParaRPr lang="en-GB" sz="1800" b="0" i="0" u="none" strike="noStrike" baseline="0" dirty="0">
              <a:solidFill>
                <a:srgbClr val="C00000"/>
              </a:solidFill>
              <a:latin typeface="Times New Roman" panose="02020603050405020304" pitchFamily="18" charset="0"/>
            </a:endParaRPr>
          </a:p>
          <a:p>
            <a:r>
              <a:rPr lang="en-GB" sz="2400" b="1" i="0" u="none" strike="noStrike" baseline="0" dirty="0">
                <a:solidFill>
                  <a:srgbClr val="FFFFFF"/>
                </a:solidFill>
                <a:latin typeface="Times New Roman" panose="02020603050405020304" pitchFamily="18" charset="0"/>
              </a:rPr>
              <a:t>3-Hantzsch-Widmannomenclature (IUPAC</a:t>
            </a:r>
            <a:endParaRPr lang="en-GB" dirty="0"/>
          </a:p>
        </p:txBody>
      </p:sp>
      <p:sp>
        <p:nvSpPr>
          <p:cNvPr id="36" name="TextBox 35">
            <a:extLst>
              <a:ext uri="{FF2B5EF4-FFF2-40B4-BE49-F238E27FC236}">
                <a16:creationId xmlns:a16="http://schemas.microsoft.com/office/drawing/2014/main" id="{75F24A76-9E95-4417-BB99-93F5E1B452A1}"/>
              </a:ext>
            </a:extLst>
          </p:cNvPr>
          <p:cNvSpPr txBox="1"/>
          <p:nvPr/>
        </p:nvSpPr>
        <p:spPr>
          <a:xfrm>
            <a:off x="6869262" y="465781"/>
            <a:ext cx="2696157" cy="369332"/>
          </a:xfrm>
          <a:prstGeom prst="rect">
            <a:avLst/>
          </a:prstGeom>
          <a:noFill/>
        </p:spPr>
        <p:txBody>
          <a:bodyPr wrap="square">
            <a:spAutoFit/>
          </a:bodyPr>
          <a:lstStyle/>
          <a:p>
            <a:pPr algn="just"/>
            <a:r>
              <a:rPr lang="en-GB" sz="1800" b="1" i="0" u="none" strike="noStrike" baseline="0" dirty="0">
                <a:solidFill>
                  <a:srgbClr val="000000"/>
                </a:solidFill>
                <a:latin typeface="Times New Roman" panose="02020603050405020304" pitchFamily="18" charset="0"/>
              </a:rPr>
              <a:t>III. </a:t>
            </a:r>
            <a:r>
              <a:rPr lang="en-GB" b="1" dirty="0">
                <a:solidFill>
                  <a:srgbClr val="000000"/>
                </a:solidFill>
                <a:latin typeface="Times New Roman" panose="02020603050405020304" pitchFamily="18" charset="0"/>
              </a:rPr>
              <a:t>Amount of saturation</a:t>
            </a:r>
            <a:r>
              <a:rPr lang="en-GB" sz="1800" b="1" i="0" u="none" strike="noStrike" baseline="0" dirty="0">
                <a:solidFill>
                  <a:srgbClr val="000000"/>
                </a:solidFill>
                <a:latin typeface="Times New Roman" panose="02020603050405020304" pitchFamily="18" charset="0"/>
              </a:rPr>
              <a:t> </a:t>
            </a:r>
          </a:p>
        </p:txBody>
      </p:sp>
      <p:sp>
        <p:nvSpPr>
          <p:cNvPr id="38" name="TextBox 37">
            <a:extLst>
              <a:ext uri="{FF2B5EF4-FFF2-40B4-BE49-F238E27FC236}">
                <a16:creationId xmlns:a16="http://schemas.microsoft.com/office/drawing/2014/main" id="{FDEED144-793A-4DB5-87D9-2B8B6001B683}"/>
              </a:ext>
            </a:extLst>
          </p:cNvPr>
          <p:cNvSpPr txBox="1"/>
          <p:nvPr/>
        </p:nvSpPr>
        <p:spPr>
          <a:xfrm>
            <a:off x="6808968" y="957245"/>
            <a:ext cx="4807887" cy="646331"/>
          </a:xfrm>
          <a:prstGeom prst="rect">
            <a:avLst/>
          </a:prstGeom>
          <a:noFill/>
        </p:spPr>
        <p:txBody>
          <a:bodyPr wrap="square">
            <a:spAutoFit/>
          </a:bodyPr>
          <a:lstStyle/>
          <a:p>
            <a:pPr algn="just"/>
            <a:r>
              <a:rPr lang="en-GB" sz="1800" b="0" i="0" u="none" strike="noStrike" baseline="0" dirty="0"/>
              <a:t>The endings indicate the size and degree of unsaturation of the ring.</a:t>
            </a:r>
          </a:p>
        </p:txBody>
      </p:sp>
      <p:pic>
        <p:nvPicPr>
          <p:cNvPr id="40" name="Рисунок 39">
            <a:extLst>
              <a:ext uri="{FF2B5EF4-FFF2-40B4-BE49-F238E27FC236}">
                <a16:creationId xmlns:a16="http://schemas.microsoft.com/office/drawing/2014/main" id="{71409B55-6A88-4D4C-8AD1-84E4C559EC65}"/>
              </a:ext>
            </a:extLst>
          </p:cNvPr>
          <p:cNvPicPr>
            <a:picLocks noChangeAspect="1"/>
          </p:cNvPicPr>
          <p:nvPr/>
        </p:nvPicPr>
        <p:blipFill>
          <a:blip r:embed="rId2"/>
          <a:stretch>
            <a:fillRect/>
          </a:stretch>
        </p:blipFill>
        <p:spPr>
          <a:xfrm>
            <a:off x="6744029" y="1665949"/>
            <a:ext cx="5343564" cy="3248049"/>
          </a:xfrm>
          <a:prstGeom prst="rect">
            <a:avLst/>
          </a:prstGeom>
        </p:spPr>
      </p:pic>
      <p:sp>
        <p:nvSpPr>
          <p:cNvPr id="41" name="TextBox 40">
            <a:extLst>
              <a:ext uri="{FF2B5EF4-FFF2-40B4-BE49-F238E27FC236}">
                <a16:creationId xmlns:a16="http://schemas.microsoft.com/office/drawing/2014/main" id="{DD0E5362-3D37-458B-9284-68E60482756F}"/>
              </a:ext>
            </a:extLst>
          </p:cNvPr>
          <p:cNvSpPr txBox="1"/>
          <p:nvPr/>
        </p:nvSpPr>
        <p:spPr>
          <a:xfrm>
            <a:off x="243953" y="164743"/>
            <a:ext cx="11677365" cy="369332"/>
          </a:xfrm>
          <a:prstGeom prst="rect">
            <a:avLst/>
          </a:prstGeom>
        </p:spPr>
        <p:style>
          <a:lnRef idx="1">
            <a:schemeClr val="accent6"/>
          </a:lnRef>
          <a:fillRef idx="2">
            <a:schemeClr val="accent6"/>
          </a:fillRef>
          <a:effectRef idx="1">
            <a:schemeClr val="accent6"/>
          </a:effectRef>
          <a:fontRef idx="minor">
            <a:schemeClr val="dk1"/>
          </a:fontRef>
        </p:style>
        <p:txBody>
          <a:bodyPr wrap="square">
            <a:spAutoFit/>
          </a:bodyPr>
          <a:lstStyle/>
          <a:p>
            <a:pPr algn="ctr"/>
            <a:r>
              <a:rPr lang="en-GB" sz="1800" b="1" spc="-5" dirty="0" err="1">
                <a:latin typeface="Times New Roman"/>
                <a:cs typeface="Times New Roman"/>
              </a:rPr>
              <a:t>Hantzsch</a:t>
            </a:r>
            <a:r>
              <a:rPr lang="en-GB" sz="1800" b="1" spc="-5" dirty="0">
                <a:latin typeface="Times New Roman"/>
                <a:cs typeface="Times New Roman"/>
              </a:rPr>
              <a:t>-Widman</a:t>
            </a:r>
            <a:r>
              <a:rPr lang="en-GB" sz="1800" b="1" spc="150" dirty="0">
                <a:latin typeface="Times New Roman"/>
                <a:cs typeface="Times New Roman"/>
              </a:rPr>
              <a:t> </a:t>
            </a:r>
            <a:r>
              <a:rPr lang="en-GB" sz="1800" b="1" spc="-5" dirty="0">
                <a:latin typeface="Times New Roman"/>
                <a:cs typeface="Times New Roman"/>
              </a:rPr>
              <a:t>rules</a:t>
            </a:r>
            <a:r>
              <a:rPr lang="en-GB" sz="1800" b="1" spc="130" dirty="0">
                <a:latin typeface="Times New Roman"/>
                <a:cs typeface="Times New Roman"/>
              </a:rPr>
              <a:t> </a:t>
            </a:r>
            <a:r>
              <a:rPr lang="en-GB" sz="1800" b="1" dirty="0">
                <a:latin typeface="Times New Roman"/>
                <a:cs typeface="Times New Roman"/>
              </a:rPr>
              <a:t>for</a:t>
            </a:r>
            <a:r>
              <a:rPr lang="en-GB" sz="1800" b="1" spc="155" dirty="0">
                <a:latin typeface="Times New Roman"/>
                <a:cs typeface="Times New Roman"/>
              </a:rPr>
              <a:t> </a:t>
            </a:r>
            <a:r>
              <a:rPr lang="en-GB" sz="1800" b="1" spc="-5" dirty="0">
                <a:latin typeface="Times New Roman"/>
                <a:cs typeface="Times New Roman"/>
              </a:rPr>
              <a:t>fully</a:t>
            </a:r>
            <a:r>
              <a:rPr lang="en-GB" sz="1800" b="1" spc="150" dirty="0">
                <a:latin typeface="Times New Roman"/>
                <a:cs typeface="Times New Roman"/>
              </a:rPr>
              <a:t> </a:t>
            </a:r>
            <a:r>
              <a:rPr lang="en-GB" sz="1800" b="1" spc="-5" dirty="0">
                <a:latin typeface="Times New Roman"/>
                <a:cs typeface="Times New Roman"/>
              </a:rPr>
              <a:t>saturated</a:t>
            </a:r>
            <a:r>
              <a:rPr lang="en-GB" sz="1800" b="1" spc="150" dirty="0">
                <a:latin typeface="Times New Roman"/>
                <a:cs typeface="Times New Roman"/>
              </a:rPr>
              <a:t> </a:t>
            </a:r>
            <a:r>
              <a:rPr lang="en-GB" sz="1800" b="1" dirty="0">
                <a:latin typeface="Times New Roman"/>
                <a:cs typeface="Times New Roman"/>
              </a:rPr>
              <a:t>and</a:t>
            </a:r>
            <a:r>
              <a:rPr lang="en-GB" sz="1800" b="1" spc="130" dirty="0">
                <a:latin typeface="Times New Roman"/>
                <a:cs typeface="Times New Roman"/>
              </a:rPr>
              <a:t> </a:t>
            </a:r>
            <a:r>
              <a:rPr lang="en-GB" sz="1800" b="1" spc="-5" dirty="0">
                <a:latin typeface="Times New Roman"/>
                <a:cs typeface="Times New Roman"/>
              </a:rPr>
              <a:t>fully</a:t>
            </a:r>
            <a:r>
              <a:rPr lang="en-GB" sz="1800" b="1" spc="150" dirty="0">
                <a:latin typeface="Times New Roman"/>
                <a:cs typeface="Times New Roman"/>
              </a:rPr>
              <a:t> </a:t>
            </a:r>
            <a:r>
              <a:rPr lang="en-GB" sz="1800" b="1" spc="-5" dirty="0">
                <a:latin typeface="Times New Roman"/>
                <a:cs typeface="Times New Roman"/>
              </a:rPr>
              <a:t>unsaturated </a:t>
            </a:r>
            <a:r>
              <a:rPr lang="en-GB" sz="1800" b="1" spc="-484" dirty="0">
                <a:latin typeface="Times New Roman"/>
                <a:cs typeface="Times New Roman"/>
              </a:rPr>
              <a:t> </a:t>
            </a:r>
            <a:r>
              <a:rPr lang="en-GB" sz="1800" b="1" dirty="0">
                <a:latin typeface="Times New Roman"/>
                <a:cs typeface="Times New Roman"/>
              </a:rPr>
              <a:t>heterocycles</a:t>
            </a:r>
            <a:endParaRPr lang="en-GB" dirty="0"/>
          </a:p>
        </p:txBody>
      </p:sp>
    </p:spTree>
    <p:extLst>
      <p:ext uri="{BB962C8B-B14F-4D97-AF65-F5344CB8AC3E}">
        <p14:creationId xmlns:p14="http://schemas.microsoft.com/office/powerpoint/2010/main" val="32013346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a:extLst>
              <a:ext uri="{FF2B5EF4-FFF2-40B4-BE49-F238E27FC236}">
                <a16:creationId xmlns:a16="http://schemas.microsoft.com/office/drawing/2014/main" id="{E27E243E-1A29-4401-90C0-040C92A75F4C}"/>
              </a:ext>
            </a:extLst>
          </p:cNvPr>
          <p:cNvSpPr>
            <a:spLocks noGrp="1"/>
          </p:cNvSpPr>
          <p:nvPr>
            <p:ph type="sldNum" sz="quarter" idx="12"/>
          </p:nvPr>
        </p:nvSpPr>
        <p:spPr/>
        <p:txBody>
          <a:bodyPr/>
          <a:lstStyle/>
          <a:p>
            <a:fld id="{93C419CB-0CF1-4F10-90F9-42551F8968FF}" type="slidenum">
              <a:rPr lang="en-GB" smtClean="0"/>
              <a:t>20</a:t>
            </a:fld>
            <a:endParaRPr lang="en-GB"/>
          </a:p>
        </p:txBody>
      </p:sp>
      <p:sp>
        <p:nvSpPr>
          <p:cNvPr id="11" name="TextBox 10">
            <a:extLst>
              <a:ext uri="{FF2B5EF4-FFF2-40B4-BE49-F238E27FC236}">
                <a16:creationId xmlns:a16="http://schemas.microsoft.com/office/drawing/2014/main" id="{D9158B6B-6B00-42AC-8F3E-3486AA4D2C51}"/>
              </a:ext>
            </a:extLst>
          </p:cNvPr>
          <p:cNvSpPr txBox="1"/>
          <p:nvPr/>
        </p:nvSpPr>
        <p:spPr>
          <a:xfrm>
            <a:off x="243953" y="164743"/>
            <a:ext cx="11677365" cy="369332"/>
          </a:xfrm>
          <a:prstGeom prst="rect">
            <a:avLst/>
          </a:prstGeom>
        </p:spPr>
        <p:style>
          <a:lnRef idx="1">
            <a:schemeClr val="accent6"/>
          </a:lnRef>
          <a:fillRef idx="2">
            <a:schemeClr val="accent6"/>
          </a:fillRef>
          <a:effectRef idx="1">
            <a:schemeClr val="accent6"/>
          </a:effectRef>
          <a:fontRef idx="minor">
            <a:schemeClr val="dk1"/>
          </a:fontRef>
        </p:style>
        <p:txBody>
          <a:bodyPr wrap="square">
            <a:spAutoFit/>
          </a:bodyPr>
          <a:lstStyle/>
          <a:p>
            <a:pPr algn="ctr"/>
            <a:r>
              <a:rPr lang="en-GB" sz="1800" b="1" spc="-5" dirty="0" err="1">
                <a:latin typeface="Times New Roman"/>
                <a:cs typeface="Times New Roman"/>
              </a:rPr>
              <a:t>Hantzsch</a:t>
            </a:r>
            <a:r>
              <a:rPr lang="en-GB" sz="1800" b="1" spc="-5" dirty="0">
                <a:latin typeface="Times New Roman"/>
                <a:cs typeface="Times New Roman"/>
              </a:rPr>
              <a:t>-Widman</a:t>
            </a:r>
            <a:r>
              <a:rPr lang="en-GB" sz="1800" b="1" spc="150" dirty="0">
                <a:latin typeface="Times New Roman"/>
                <a:cs typeface="Times New Roman"/>
              </a:rPr>
              <a:t> </a:t>
            </a:r>
            <a:r>
              <a:rPr lang="en-GB" sz="1800" b="1" spc="-5" dirty="0">
                <a:latin typeface="Times New Roman"/>
                <a:cs typeface="Times New Roman"/>
              </a:rPr>
              <a:t>rules</a:t>
            </a:r>
            <a:r>
              <a:rPr lang="en-GB" sz="1800" b="1" spc="130" dirty="0">
                <a:latin typeface="Times New Roman"/>
                <a:cs typeface="Times New Roman"/>
              </a:rPr>
              <a:t> </a:t>
            </a:r>
            <a:r>
              <a:rPr lang="en-GB" sz="1800" b="1" dirty="0">
                <a:latin typeface="Times New Roman"/>
                <a:cs typeface="Times New Roman"/>
              </a:rPr>
              <a:t>for</a:t>
            </a:r>
            <a:r>
              <a:rPr lang="en-GB" sz="1800" b="1" spc="155" dirty="0">
                <a:latin typeface="Times New Roman"/>
                <a:cs typeface="Times New Roman"/>
              </a:rPr>
              <a:t> </a:t>
            </a:r>
            <a:r>
              <a:rPr lang="en-GB" sz="1800" b="1" spc="-5" dirty="0">
                <a:latin typeface="Times New Roman"/>
                <a:cs typeface="Times New Roman"/>
              </a:rPr>
              <a:t>fully</a:t>
            </a:r>
            <a:r>
              <a:rPr lang="en-GB" sz="1800" b="1" spc="150" dirty="0">
                <a:latin typeface="Times New Roman"/>
                <a:cs typeface="Times New Roman"/>
              </a:rPr>
              <a:t> </a:t>
            </a:r>
            <a:r>
              <a:rPr lang="en-GB" sz="1800" b="1" spc="-5" dirty="0">
                <a:latin typeface="Times New Roman"/>
                <a:cs typeface="Times New Roman"/>
              </a:rPr>
              <a:t>saturated</a:t>
            </a:r>
            <a:r>
              <a:rPr lang="en-GB" sz="1800" b="1" spc="150" dirty="0">
                <a:latin typeface="Times New Roman"/>
                <a:cs typeface="Times New Roman"/>
              </a:rPr>
              <a:t> </a:t>
            </a:r>
            <a:r>
              <a:rPr lang="en-GB" sz="1800" b="1" dirty="0">
                <a:latin typeface="Times New Roman"/>
                <a:cs typeface="Times New Roman"/>
              </a:rPr>
              <a:t>and</a:t>
            </a:r>
            <a:r>
              <a:rPr lang="en-GB" sz="1800" b="1" spc="130" dirty="0">
                <a:latin typeface="Times New Roman"/>
                <a:cs typeface="Times New Roman"/>
              </a:rPr>
              <a:t> </a:t>
            </a:r>
            <a:r>
              <a:rPr lang="en-GB" sz="1800" b="1" spc="-5" dirty="0">
                <a:latin typeface="Times New Roman"/>
                <a:cs typeface="Times New Roman"/>
              </a:rPr>
              <a:t>fully</a:t>
            </a:r>
            <a:r>
              <a:rPr lang="en-GB" sz="1800" b="1" spc="150" dirty="0">
                <a:latin typeface="Times New Roman"/>
                <a:cs typeface="Times New Roman"/>
              </a:rPr>
              <a:t> </a:t>
            </a:r>
            <a:r>
              <a:rPr lang="en-GB" sz="1800" b="1" spc="-5" dirty="0">
                <a:latin typeface="Times New Roman"/>
                <a:cs typeface="Times New Roman"/>
              </a:rPr>
              <a:t>unsaturated </a:t>
            </a:r>
            <a:r>
              <a:rPr lang="en-GB" sz="1800" b="1" spc="-484" dirty="0">
                <a:latin typeface="Times New Roman"/>
                <a:cs typeface="Times New Roman"/>
              </a:rPr>
              <a:t> </a:t>
            </a:r>
            <a:r>
              <a:rPr lang="en-GB" sz="1800" b="1" dirty="0">
                <a:latin typeface="Times New Roman"/>
                <a:cs typeface="Times New Roman"/>
              </a:rPr>
              <a:t>heterocycles</a:t>
            </a:r>
            <a:endParaRPr lang="en-GB" dirty="0"/>
          </a:p>
        </p:txBody>
      </p:sp>
      <p:sp>
        <p:nvSpPr>
          <p:cNvPr id="13" name="TextBox 12">
            <a:extLst>
              <a:ext uri="{FF2B5EF4-FFF2-40B4-BE49-F238E27FC236}">
                <a16:creationId xmlns:a16="http://schemas.microsoft.com/office/drawing/2014/main" id="{F4F44262-15FB-40AB-B0E9-ABA0FFC0E6F3}"/>
              </a:ext>
            </a:extLst>
          </p:cNvPr>
          <p:cNvSpPr txBox="1"/>
          <p:nvPr/>
        </p:nvSpPr>
        <p:spPr>
          <a:xfrm>
            <a:off x="145827" y="705177"/>
            <a:ext cx="11900345" cy="6309420"/>
          </a:xfrm>
          <a:prstGeom prst="rect">
            <a:avLst/>
          </a:prstGeom>
          <a:noFill/>
        </p:spPr>
        <p:txBody>
          <a:bodyPr wrap="square">
            <a:spAutoFit/>
          </a:bodyPr>
          <a:lstStyle/>
          <a:p>
            <a:pPr marR="6350" algn="just">
              <a:spcBef>
                <a:spcPts val="600"/>
              </a:spcBef>
              <a:spcAft>
                <a:spcPts val="600"/>
              </a:spcAft>
              <a:buClr>
                <a:srgbClr val="003366"/>
              </a:buClr>
              <a:buAutoNum type="arabicParenR"/>
              <a:tabLst>
                <a:tab pos="469900" algn="l"/>
              </a:tabLst>
            </a:pPr>
            <a:r>
              <a:rPr lang="en-GB" sz="1600" spc="-5" dirty="0">
                <a:latin typeface="Times New Roman"/>
                <a:cs typeface="Times New Roman"/>
              </a:rPr>
              <a:t> Identify the </a:t>
            </a:r>
            <a:r>
              <a:rPr lang="en-GB" sz="1600" spc="-5" dirty="0" err="1">
                <a:latin typeface="Times New Roman"/>
                <a:cs typeface="Times New Roman"/>
              </a:rPr>
              <a:t>hetroatom</a:t>
            </a:r>
            <a:r>
              <a:rPr lang="en-GB" sz="1600" spc="-5" dirty="0">
                <a:latin typeface="Times New Roman"/>
                <a:cs typeface="Times New Roman"/>
              </a:rPr>
              <a:t> </a:t>
            </a:r>
            <a:r>
              <a:rPr lang="en-GB" sz="1600" dirty="0">
                <a:latin typeface="Times New Roman"/>
                <a:cs typeface="Times New Roman"/>
              </a:rPr>
              <a:t>present in the ring and </a:t>
            </a:r>
            <a:r>
              <a:rPr lang="en-GB" sz="1600" spc="-5" dirty="0">
                <a:latin typeface="Times New Roman"/>
                <a:cs typeface="Times New Roman"/>
              </a:rPr>
              <a:t>choose </a:t>
            </a:r>
            <a:r>
              <a:rPr lang="en-GB" sz="1600" dirty="0">
                <a:latin typeface="Times New Roman"/>
                <a:cs typeface="Times New Roman"/>
              </a:rPr>
              <a:t>the </a:t>
            </a:r>
            <a:r>
              <a:rPr lang="en-GB" sz="1600" spc="-434" dirty="0">
                <a:latin typeface="Times New Roman"/>
                <a:cs typeface="Times New Roman"/>
              </a:rPr>
              <a:t> </a:t>
            </a:r>
            <a:r>
              <a:rPr lang="en-GB" sz="1600" dirty="0">
                <a:latin typeface="Times New Roman"/>
                <a:cs typeface="Times New Roman"/>
              </a:rPr>
              <a:t>corresponding</a:t>
            </a:r>
            <a:r>
              <a:rPr lang="en-GB" sz="1600" spc="-5" dirty="0">
                <a:latin typeface="Times New Roman"/>
                <a:cs typeface="Times New Roman"/>
              </a:rPr>
              <a:t> </a:t>
            </a:r>
            <a:r>
              <a:rPr lang="en-GB" sz="1600" dirty="0">
                <a:solidFill>
                  <a:srgbClr val="C00000"/>
                </a:solidFill>
                <a:latin typeface="Times New Roman"/>
                <a:cs typeface="Times New Roman"/>
              </a:rPr>
              <a:t>prefix</a:t>
            </a:r>
            <a:r>
              <a:rPr lang="en-GB" sz="1600" spc="-5" dirty="0">
                <a:solidFill>
                  <a:srgbClr val="C00000"/>
                </a:solidFill>
                <a:latin typeface="Times New Roman"/>
                <a:cs typeface="Times New Roman"/>
              </a:rPr>
              <a:t> </a:t>
            </a:r>
            <a:r>
              <a:rPr lang="en-GB" sz="1600" dirty="0">
                <a:latin typeface="Times New Roman"/>
                <a:cs typeface="Times New Roman"/>
              </a:rPr>
              <a:t>(e.g.</a:t>
            </a:r>
            <a:r>
              <a:rPr lang="en-GB" sz="1600" spc="-15" dirty="0">
                <a:latin typeface="Times New Roman"/>
                <a:cs typeface="Times New Roman"/>
              </a:rPr>
              <a:t> </a:t>
            </a:r>
            <a:r>
              <a:rPr lang="en-GB" sz="1600" dirty="0" err="1">
                <a:solidFill>
                  <a:srgbClr val="C00000"/>
                </a:solidFill>
                <a:latin typeface="Times New Roman"/>
                <a:cs typeface="Times New Roman"/>
              </a:rPr>
              <a:t>thia</a:t>
            </a:r>
            <a:r>
              <a:rPr lang="en-GB" sz="1600" spc="-20" dirty="0">
                <a:solidFill>
                  <a:srgbClr val="C00000"/>
                </a:solidFill>
                <a:latin typeface="Times New Roman"/>
                <a:cs typeface="Times New Roman"/>
              </a:rPr>
              <a:t> </a:t>
            </a:r>
            <a:r>
              <a:rPr lang="en-GB" sz="1600" dirty="0">
                <a:latin typeface="Times New Roman"/>
                <a:cs typeface="Times New Roman"/>
              </a:rPr>
              <a:t>for</a:t>
            </a:r>
            <a:r>
              <a:rPr lang="en-GB" sz="1600" dirty="0">
                <a:solidFill>
                  <a:srgbClr val="C00000"/>
                </a:solidFill>
                <a:latin typeface="Times New Roman"/>
                <a:cs typeface="Times New Roman"/>
              </a:rPr>
              <a:t> </a:t>
            </a:r>
            <a:r>
              <a:rPr lang="en-GB" sz="1600" dirty="0" err="1">
                <a:solidFill>
                  <a:srgbClr val="C00000"/>
                </a:solidFill>
                <a:latin typeface="Times New Roman"/>
                <a:cs typeface="Times New Roman"/>
              </a:rPr>
              <a:t>sulfur</a:t>
            </a:r>
            <a:r>
              <a:rPr lang="en-GB" sz="1600" dirty="0">
                <a:latin typeface="Times New Roman"/>
                <a:cs typeface="Times New Roman"/>
              </a:rPr>
              <a:t>, </a:t>
            </a:r>
            <a:r>
              <a:rPr lang="en-GB" sz="1600" dirty="0" err="1">
                <a:solidFill>
                  <a:srgbClr val="C00000"/>
                </a:solidFill>
                <a:latin typeface="Times New Roman"/>
                <a:cs typeface="Times New Roman"/>
              </a:rPr>
              <a:t>aza</a:t>
            </a:r>
            <a:r>
              <a:rPr lang="en-GB" sz="1600" spc="-20" dirty="0">
                <a:solidFill>
                  <a:srgbClr val="C00000"/>
                </a:solidFill>
                <a:latin typeface="Times New Roman"/>
                <a:cs typeface="Times New Roman"/>
              </a:rPr>
              <a:t> </a:t>
            </a:r>
            <a:r>
              <a:rPr lang="en-GB" sz="1600" dirty="0">
                <a:latin typeface="Times New Roman"/>
                <a:cs typeface="Times New Roman"/>
              </a:rPr>
              <a:t>for</a:t>
            </a:r>
            <a:r>
              <a:rPr lang="en-GB" sz="1600" dirty="0">
                <a:solidFill>
                  <a:srgbClr val="C00000"/>
                </a:solidFill>
                <a:latin typeface="Times New Roman"/>
                <a:cs typeface="Times New Roman"/>
              </a:rPr>
              <a:t> nitrogen</a:t>
            </a:r>
            <a:r>
              <a:rPr lang="en-GB" sz="1600" spc="-15" dirty="0">
                <a:solidFill>
                  <a:srgbClr val="C00000"/>
                </a:solidFill>
                <a:latin typeface="Times New Roman"/>
                <a:cs typeface="Times New Roman"/>
              </a:rPr>
              <a:t> </a:t>
            </a:r>
            <a:r>
              <a:rPr lang="en-GB" sz="1600" dirty="0">
                <a:latin typeface="Times New Roman"/>
                <a:cs typeface="Times New Roman"/>
              </a:rPr>
              <a:t>and</a:t>
            </a:r>
            <a:r>
              <a:rPr lang="en-GB" sz="1600" spc="5" dirty="0">
                <a:solidFill>
                  <a:srgbClr val="C00000"/>
                </a:solidFill>
                <a:latin typeface="Times New Roman"/>
                <a:cs typeface="Times New Roman"/>
              </a:rPr>
              <a:t> </a:t>
            </a:r>
            <a:r>
              <a:rPr lang="en-GB" sz="1600" dirty="0" err="1">
                <a:solidFill>
                  <a:srgbClr val="C00000"/>
                </a:solidFill>
                <a:latin typeface="Times New Roman"/>
                <a:cs typeface="Times New Roman"/>
              </a:rPr>
              <a:t>oxa</a:t>
            </a:r>
            <a:r>
              <a:rPr lang="en-GB" sz="1600" spc="-10" dirty="0">
                <a:solidFill>
                  <a:srgbClr val="C00000"/>
                </a:solidFill>
                <a:latin typeface="Times New Roman"/>
                <a:cs typeface="Times New Roman"/>
              </a:rPr>
              <a:t> </a:t>
            </a:r>
            <a:r>
              <a:rPr lang="en-GB" sz="1600" dirty="0">
                <a:latin typeface="Times New Roman"/>
                <a:cs typeface="Times New Roman"/>
              </a:rPr>
              <a:t>for</a:t>
            </a:r>
            <a:r>
              <a:rPr lang="en-GB" sz="1600" spc="-15" dirty="0">
                <a:solidFill>
                  <a:srgbClr val="C00000"/>
                </a:solidFill>
                <a:latin typeface="Times New Roman"/>
                <a:cs typeface="Times New Roman"/>
              </a:rPr>
              <a:t> </a:t>
            </a:r>
            <a:r>
              <a:rPr lang="en-GB" sz="1600" dirty="0">
                <a:solidFill>
                  <a:srgbClr val="C00000"/>
                </a:solidFill>
                <a:latin typeface="Times New Roman"/>
                <a:cs typeface="Times New Roman"/>
              </a:rPr>
              <a:t>oxygen</a:t>
            </a:r>
            <a:r>
              <a:rPr lang="en-GB" sz="1600" dirty="0">
                <a:latin typeface="Times New Roman"/>
                <a:cs typeface="Times New Roman"/>
              </a:rPr>
              <a:t>).</a:t>
            </a:r>
          </a:p>
          <a:p>
            <a:pPr marR="5080" algn="just">
              <a:spcBef>
                <a:spcPts val="600"/>
              </a:spcBef>
              <a:spcAft>
                <a:spcPts val="600"/>
              </a:spcAft>
              <a:buClr>
                <a:srgbClr val="003366"/>
              </a:buClr>
              <a:buAutoNum type="arabicParenR"/>
              <a:tabLst>
                <a:tab pos="469900" algn="l"/>
              </a:tabLst>
            </a:pPr>
            <a:r>
              <a:rPr lang="en-GB" sz="1600" dirty="0">
                <a:latin typeface="Times New Roman"/>
                <a:cs typeface="Times New Roman"/>
              </a:rPr>
              <a:t> The</a:t>
            </a:r>
            <a:r>
              <a:rPr lang="en-GB" sz="1600" spc="5" dirty="0">
                <a:latin typeface="Times New Roman"/>
                <a:cs typeface="Times New Roman"/>
              </a:rPr>
              <a:t> </a:t>
            </a:r>
            <a:r>
              <a:rPr lang="en-GB" sz="1600" spc="-5" dirty="0">
                <a:latin typeface="Times New Roman"/>
                <a:cs typeface="Times New Roman"/>
              </a:rPr>
              <a:t>position</a:t>
            </a:r>
            <a:r>
              <a:rPr lang="en-GB" sz="1600" dirty="0">
                <a:latin typeface="Times New Roman"/>
                <a:cs typeface="Times New Roman"/>
              </a:rPr>
              <a:t> of</a:t>
            </a:r>
            <a:r>
              <a:rPr lang="en-GB" sz="1600" spc="5" dirty="0">
                <a:latin typeface="Times New Roman"/>
                <a:cs typeface="Times New Roman"/>
              </a:rPr>
              <a:t> </a:t>
            </a:r>
            <a:r>
              <a:rPr lang="en-GB" sz="1600" dirty="0">
                <a:latin typeface="Times New Roman"/>
                <a:cs typeface="Times New Roman"/>
              </a:rPr>
              <a:t>a</a:t>
            </a:r>
            <a:r>
              <a:rPr lang="en-GB" sz="1600" spc="5" dirty="0">
                <a:latin typeface="Times New Roman"/>
                <a:cs typeface="Times New Roman"/>
              </a:rPr>
              <a:t> </a:t>
            </a:r>
            <a:r>
              <a:rPr lang="en-GB" sz="1600" spc="-5" dirty="0">
                <a:latin typeface="Times New Roman"/>
                <a:cs typeface="Times New Roman"/>
              </a:rPr>
              <a:t>single</a:t>
            </a:r>
            <a:r>
              <a:rPr lang="en-GB" sz="1600" dirty="0">
                <a:latin typeface="Times New Roman"/>
                <a:cs typeface="Times New Roman"/>
              </a:rPr>
              <a:t> </a:t>
            </a:r>
            <a:r>
              <a:rPr lang="en-GB" sz="1600" spc="-5" dirty="0">
                <a:latin typeface="Times New Roman"/>
                <a:cs typeface="Times New Roman"/>
              </a:rPr>
              <a:t>heteroatom</a:t>
            </a:r>
            <a:r>
              <a:rPr lang="en-GB" sz="1600" dirty="0">
                <a:latin typeface="Times New Roman"/>
                <a:cs typeface="Times New Roman"/>
              </a:rPr>
              <a:t> control</a:t>
            </a:r>
            <a:r>
              <a:rPr lang="en-GB" sz="1600" spc="5" dirty="0">
                <a:latin typeface="Times New Roman"/>
                <a:cs typeface="Times New Roman"/>
              </a:rPr>
              <a:t> </a:t>
            </a:r>
            <a:r>
              <a:rPr lang="en-GB" sz="1600" spc="-5" dirty="0">
                <a:latin typeface="Times New Roman"/>
                <a:cs typeface="Times New Roman"/>
              </a:rPr>
              <a:t>the</a:t>
            </a:r>
            <a:r>
              <a:rPr lang="en-GB" sz="1600" dirty="0">
                <a:latin typeface="Times New Roman"/>
                <a:cs typeface="Times New Roman"/>
              </a:rPr>
              <a:t> </a:t>
            </a:r>
            <a:r>
              <a:rPr lang="en-GB" sz="1600" spc="-5" dirty="0">
                <a:latin typeface="Times New Roman"/>
                <a:cs typeface="Times New Roman"/>
              </a:rPr>
              <a:t>numbering</a:t>
            </a:r>
            <a:r>
              <a:rPr lang="en-GB" sz="1600" dirty="0">
                <a:latin typeface="Times New Roman"/>
                <a:cs typeface="Times New Roman"/>
              </a:rPr>
              <a:t> in</a:t>
            </a:r>
            <a:r>
              <a:rPr lang="en-GB" sz="1600" spc="5" dirty="0">
                <a:latin typeface="Times New Roman"/>
                <a:cs typeface="Times New Roman"/>
              </a:rPr>
              <a:t> </a:t>
            </a:r>
            <a:r>
              <a:rPr lang="en-GB" sz="1600" dirty="0">
                <a:latin typeface="Times New Roman"/>
                <a:cs typeface="Times New Roman"/>
              </a:rPr>
              <a:t>a</a:t>
            </a:r>
            <a:r>
              <a:rPr lang="en-GB" sz="1600" spc="5" dirty="0">
                <a:latin typeface="Times New Roman"/>
                <a:cs typeface="Times New Roman"/>
              </a:rPr>
              <a:t> </a:t>
            </a:r>
            <a:r>
              <a:rPr lang="en-GB" sz="1600" spc="-5" dirty="0">
                <a:latin typeface="Times New Roman"/>
                <a:cs typeface="Times New Roman"/>
              </a:rPr>
              <a:t>monocyclic </a:t>
            </a:r>
            <a:r>
              <a:rPr lang="en-GB" sz="1600" spc="-434" dirty="0">
                <a:latin typeface="Times New Roman"/>
                <a:cs typeface="Times New Roman"/>
              </a:rPr>
              <a:t> </a:t>
            </a:r>
            <a:r>
              <a:rPr lang="en-GB" sz="1600" spc="-5" dirty="0">
                <a:latin typeface="Times New Roman"/>
                <a:cs typeface="Times New Roman"/>
              </a:rPr>
              <a:t>compound. </a:t>
            </a:r>
          </a:p>
          <a:p>
            <a:pPr marR="5080" algn="just">
              <a:buClr>
                <a:srgbClr val="003366"/>
              </a:buClr>
              <a:tabLst>
                <a:tab pos="469900" algn="l"/>
              </a:tabLst>
            </a:pPr>
            <a:r>
              <a:rPr lang="en-GB" sz="1600" spc="-5" dirty="0">
                <a:latin typeface="Times New Roman"/>
                <a:cs typeface="Times New Roman"/>
              </a:rPr>
              <a:t>	</a:t>
            </a:r>
            <a:r>
              <a:rPr lang="en-GB" sz="1600" dirty="0">
                <a:latin typeface="Times New Roman"/>
                <a:cs typeface="Times New Roman"/>
              </a:rPr>
              <a:t>The heteroatom </a:t>
            </a:r>
            <a:r>
              <a:rPr lang="en-GB" sz="1600" spc="-5" dirty="0">
                <a:latin typeface="Times New Roman"/>
                <a:cs typeface="Times New Roman"/>
              </a:rPr>
              <a:t>is </a:t>
            </a:r>
            <a:r>
              <a:rPr lang="en-GB" sz="1600" dirty="0">
                <a:latin typeface="Times New Roman"/>
                <a:cs typeface="Times New Roman"/>
              </a:rPr>
              <a:t>always assigned position </a:t>
            </a:r>
            <a:r>
              <a:rPr lang="en-GB" sz="1600" b="1" dirty="0">
                <a:latin typeface="Times New Roman"/>
                <a:cs typeface="Times New Roman"/>
              </a:rPr>
              <a:t>1</a:t>
            </a:r>
            <a:r>
              <a:rPr lang="en-GB" sz="1600" dirty="0">
                <a:latin typeface="Times New Roman"/>
                <a:cs typeface="Times New Roman"/>
              </a:rPr>
              <a:t> and if </a:t>
            </a:r>
            <a:r>
              <a:rPr lang="en-GB" sz="1600" spc="-5" dirty="0">
                <a:latin typeface="Times New Roman"/>
                <a:cs typeface="Times New Roman"/>
              </a:rPr>
              <a:t>substituents </a:t>
            </a:r>
            <a:r>
              <a:rPr lang="en-GB" sz="1600" dirty="0">
                <a:latin typeface="Times New Roman"/>
                <a:cs typeface="Times New Roman"/>
              </a:rPr>
              <a:t> present are then counted </a:t>
            </a:r>
          </a:p>
          <a:p>
            <a:pPr marR="5080" algn="just">
              <a:buClr>
                <a:srgbClr val="003366"/>
              </a:buClr>
              <a:tabLst>
                <a:tab pos="469900" algn="l"/>
              </a:tabLst>
            </a:pPr>
            <a:r>
              <a:rPr lang="en-GB" sz="1600" dirty="0">
                <a:latin typeface="Times New Roman"/>
                <a:cs typeface="Times New Roman"/>
              </a:rPr>
              <a:t>	around the ring in a </a:t>
            </a:r>
            <a:r>
              <a:rPr lang="en-GB" sz="1600" spc="-5" dirty="0">
                <a:latin typeface="Times New Roman"/>
                <a:cs typeface="Times New Roman"/>
              </a:rPr>
              <a:t>manner so </a:t>
            </a:r>
            <a:r>
              <a:rPr lang="en-GB" sz="1600" dirty="0">
                <a:latin typeface="Times New Roman"/>
                <a:cs typeface="Times New Roman"/>
              </a:rPr>
              <a:t>as to </a:t>
            </a:r>
            <a:r>
              <a:rPr lang="en-GB" sz="1600" spc="-5" dirty="0">
                <a:latin typeface="Times New Roman"/>
                <a:cs typeface="Times New Roman"/>
              </a:rPr>
              <a:t>take </a:t>
            </a:r>
            <a:r>
              <a:rPr lang="en-GB" sz="1600" dirty="0">
                <a:latin typeface="Times New Roman"/>
                <a:cs typeface="Times New Roman"/>
              </a:rPr>
              <a:t>the lowest </a:t>
            </a:r>
            <a:r>
              <a:rPr lang="en-GB" sz="1600" spc="5" dirty="0">
                <a:latin typeface="Times New Roman"/>
                <a:cs typeface="Times New Roman"/>
              </a:rPr>
              <a:t> </a:t>
            </a:r>
            <a:r>
              <a:rPr lang="en-GB" sz="1600" spc="-5" dirty="0">
                <a:latin typeface="Times New Roman"/>
                <a:cs typeface="Times New Roman"/>
              </a:rPr>
              <a:t>possible numbers.</a:t>
            </a:r>
            <a:endParaRPr lang="en-GB" sz="1600" dirty="0">
              <a:latin typeface="Times New Roman"/>
              <a:cs typeface="Times New Roman"/>
            </a:endParaRPr>
          </a:p>
          <a:p>
            <a:pPr marR="111125" algn="just">
              <a:spcBef>
                <a:spcPts val="600"/>
              </a:spcBef>
              <a:spcAft>
                <a:spcPts val="600"/>
              </a:spcAft>
              <a:tabLst>
                <a:tab pos="355600" algn="l"/>
              </a:tabLst>
            </a:pPr>
            <a:r>
              <a:rPr lang="en-GB" sz="1600" spc="-5" dirty="0">
                <a:latin typeface="Times New Roman"/>
                <a:cs typeface="Times New Roman"/>
              </a:rPr>
              <a:t>3) A </a:t>
            </a:r>
            <a:r>
              <a:rPr lang="en-GB" sz="1600" dirty="0">
                <a:solidFill>
                  <a:srgbClr val="C00000"/>
                </a:solidFill>
                <a:latin typeface="Times New Roman"/>
                <a:cs typeface="Times New Roman"/>
              </a:rPr>
              <a:t>multiplicative prefix </a:t>
            </a:r>
            <a:r>
              <a:rPr lang="en-GB" sz="1600" dirty="0">
                <a:latin typeface="Times New Roman"/>
                <a:cs typeface="Times New Roman"/>
              </a:rPr>
              <a:t>(di, tri, </a:t>
            </a:r>
            <a:r>
              <a:rPr lang="en-GB" sz="1600" dirty="0" err="1">
                <a:latin typeface="Times New Roman"/>
                <a:cs typeface="Times New Roman"/>
              </a:rPr>
              <a:t>ect</a:t>
            </a:r>
            <a:r>
              <a:rPr lang="en-GB" sz="1600" dirty="0">
                <a:latin typeface="Times New Roman"/>
                <a:cs typeface="Times New Roman"/>
              </a:rPr>
              <a:t>.) and locants are used when </a:t>
            </a:r>
            <a:r>
              <a:rPr lang="en-GB" sz="1600" spc="-5" dirty="0">
                <a:latin typeface="Times New Roman"/>
                <a:cs typeface="Times New Roman"/>
              </a:rPr>
              <a:t>two </a:t>
            </a:r>
            <a:r>
              <a:rPr lang="en-GB" sz="1600" dirty="0">
                <a:latin typeface="Times New Roman"/>
                <a:cs typeface="Times New Roman"/>
              </a:rPr>
              <a:t>or </a:t>
            </a:r>
            <a:r>
              <a:rPr lang="en-GB" sz="1600" spc="-5" dirty="0">
                <a:latin typeface="Times New Roman"/>
                <a:cs typeface="Times New Roman"/>
              </a:rPr>
              <a:t>more </a:t>
            </a:r>
            <a:r>
              <a:rPr lang="en-GB" sz="1600" dirty="0">
                <a:latin typeface="Times New Roman"/>
                <a:cs typeface="Times New Roman"/>
              </a:rPr>
              <a:t> </a:t>
            </a:r>
            <a:r>
              <a:rPr lang="en-GB" sz="1600" spc="-5" dirty="0">
                <a:latin typeface="Times New Roman"/>
                <a:cs typeface="Times New Roman"/>
              </a:rPr>
              <a:t>similar </a:t>
            </a:r>
            <a:r>
              <a:rPr lang="en-GB" sz="1600" dirty="0">
                <a:latin typeface="Times New Roman"/>
                <a:cs typeface="Times New Roman"/>
              </a:rPr>
              <a:t>heteroatoms </a:t>
            </a:r>
          </a:p>
          <a:p>
            <a:pPr marR="111125" algn="just">
              <a:tabLst>
                <a:tab pos="355600" algn="l"/>
              </a:tabLst>
            </a:pPr>
            <a:r>
              <a:rPr lang="en-GB" sz="1600" dirty="0">
                <a:latin typeface="Times New Roman"/>
                <a:cs typeface="Times New Roman"/>
              </a:rPr>
              <a:t>contained in the ring (</a:t>
            </a:r>
            <a:r>
              <a:rPr lang="en-GB" sz="1600" spc="-5" dirty="0">
                <a:latin typeface="Times New Roman"/>
                <a:cs typeface="Times New Roman"/>
              </a:rPr>
              <a:t>two </a:t>
            </a:r>
            <a:r>
              <a:rPr lang="en-GB" sz="1600" dirty="0">
                <a:latin typeface="Times New Roman"/>
                <a:cs typeface="Times New Roman"/>
              </a:rPr>
              <a:t>nitrogen indicated by </a:t>
            </a:r>
            <a:r>
              <a:rPr lang="en-GB" sz="1600" dirty="0" err="1">
                <a:latin typeface="Times New Roman"/>
                <a:cs typeface="Times New Roman"/>
              </a:rPr>
              <a:t>diaza</a:t>
            </a:r>
            <a:r>
              <a:rPr lang="en-GB" sz="1600" dirty="0">
                <a:latin typeface="Times New Roman"/>
                <a:cs typeface="Times New Roman"/>
              </a:rPr>
              <a:t>) and </a:t>
            </a:r>
            <a:r>
              <a:rPr lang="en-GB" sz="1600" spc="5" dirty="0">
                <a:latin typeface="Times New Roman"/>
                <a:cs typeface="Times New Roman"/>
              </a:rPr>
              <a:t> </a:t>
            </a:r>
            <a:r>
              <a:rPr lang="en-GB" sz="1600" dirty="0">
                <a:latin typeface="Times New Roman"/>
                <a:cs typeface="Times New Roman"/>
              </a:rPr>
              <a:t>the </a:t>
            </a:r>
            <a:r>
              <a:rPr lang="en-GB" sz="1600" spc="-5" dirty="0">
                <a:latin typeface="Times New Roman"/>
                <a:cs typeface="Times New Roman"/>
              </a:rPr>
              <a:t>numbering </a:t>
            </a:r>
            <a:r>
              <a:rPr lang="en-GB" sz="1600" dirty="0">
                <a:latin typeface="Times New Roman"/>
                <a:cs typeface="Times New Roman"/>
              </a:rPr>
              <a:t>preferably </a:t>
            </a:r>
            <a:r>
              <a:rPr lang="en-GB" sz="1600" spc="-5" dirty="0">
                <a:latin typeface="Times New Roman"/>
                <a:cs typeface="Times New Roman"/>
              </a:rPr>
              <a:t>commenced </a:t>
            </a:r>
          </a:p>
          <a:p>
            <a:pPr marR="111125" algn="just">
              <a:tabLst>
                <a:tab pos="355600" algn="l"/>
              </a:tabLst>
            </a:pPr>
            <a:r>
              <a:rPr lang="en-GB" sz="1600" dirty="0">
                <a:latin typeface="Times New Roman"/>
                <a:cs typeface="Times New Roman"/>
              </a:rPr>
              <a:t>at a saturated rather than an unsaturated </a:t>
            </a:r>
            <a:r>
              <a:rPr lang="en-GB" sz="1600" spc="5" dirty="0">
                <a:latin typeface="Times New Roman"/>
                <a:cs typeface="Times New Roman"/>
              </a:rPr>
              <a:t> </a:t>
            </a:r>
            <a:r>
              <a:rPr lang="en-GB" sz="1600" spc="-5" dirty="0">
                <a:latin typeface="Times New Roman"/>
                <a:cs typeface="Times New Roman"/>
              </a:rPr>
              <a:t>atom,</a:t>
            </a:r>
            <a:r>
              <a:rPr lang="en-GB" sz="1600" dirty="0">
                <a:latin typeface="Times New Roman"/>
                <a:cs typeface="Times New Roman"/>
              </a:rPr>
              <a:t> </a:t>
            </a:r>
            <a:r>
              <a:rPr lang="en-GB" sz="1600" spc="-5" dirty="0">
                <a:latin typeface="Times New Roman"/>
                <a:cs typeface="Times New Roman"/>
              </a:rPr>
              <a:t>as</a:t>
            </a:r>
            <a:r>
              <a:rPr lang="en-GB" sz="1600" spc="5" dirty="0">
                <a:latin typeface="Times New Roman"/>
                <a:cs typeface="Times New Roman"/>
              </a:rPr>
              <a:t> </a:t>
            </a:r>
            <a:r>
              <a:rPr lang="en-GB" sz="1600" dirty="0">
                <a:latin typeface="Times New Roman"/>
                <a:cs typeface="Times New Roman"/>
              </a:rPr>
              <a:t>depicted</a:t>
            </a:r>
            <a:r>
              <a:rPr lang="en-GB" sz="1600" spc="5" dirty="0">
                <a:latin typeface="Times New Roman"/>
                <a:cs typeface="Times New Roman"/>
              </a:rPr>
              <a:t> </a:t>
            </a:r>
            <a:r>
              <a:rPr lang="en-GB" sz="1600" dirty="0">
                <a:latin typeface="Times New Roman"/>
                <a:cs typeface="Times New Roman"/>
              </a:rPr>
              <a:t>in</a:t>
            </a:r>
            <a:r>
              <a:rPr lang="en-GB" sz="1600" spc="5" dirty="0">
                <a:latin typeface="Times New Roman"/>
                <a:cs typeface="Times New Roman"/>
              </a:rPr>
              <a:t> </a:t>
            </a:r>
            <a:r>
              <a:rPr lang="en-GB" sz="1600" dirty="0">
                <a:latin typeface="Times New Roman"/>
                <a:cs typeface="Times New Roman"/>
              </a:rPr>
              <a:t>the</a:t>
            </a:r>
            <a:r>
              <a:rPr lang="en-GB" sz="1600" spc="10" dirty="0">
                <a:latin typeface="Times New Roman"/>
                <a:cs typeface="Times New Roman"/>
              </a:rPr>
              <a:t> </a:t>
            </a:r>
            <a:r>
              <a:rPr lang="en-GB" sz="1600" dirty="0">
                <a:latin typeface="Times New Roman"/>
                <a:cs typeface="Times New Roman"/>
              </a:rPr>
              <a:t>following</a:t>
            </a:r>
            <a:r>
              <a:rPr lang="en-GB" sz="1600" spc="-5" dirty="0">
                <a:latin typeface="Times New Roman"/>
                <a:cs typeface="Times New Roman"/>
              </a:rPr>
              <a:t> </a:t>
            </a:r>
            <a:r>
              <a:rPr lang="en-GB" sz="1600" dirty="0">
                <a:latin typeface="Times New Roman"/>
                <a:cs typeface="Times New Roman"/>
              </a:rPr>
              <a:t>example:</a:t>
            </a:r>
            <a:r>
              <a:rPr lang="en-GB" sz="1600" spc="40" dirty="0">
                <a:latin typeface="Times New Roman"/>
                <a:cs typeface="Times New Roman"/>
              </a:rPr>
              <a:t> </a:t>
            </a:r>
            <a:r>
              <a:rPr lang="en-GB" sz="1600" dirty="0">
                <a:solidFill>
                  <a:srgbClr val="C00000"/>
                </a:solidFill>
                <a:latin typeface="Times New Roman"/>
                <a:cs typeface="Times New Roman"/>
              </a:rPr>
              <a:t>1,3-diaz</a:t>
            </a:r>
            <a:r>
              <a:rPr lang="en-GB" sz="1600" dirty="0">
                <a:latin typeface="Times New Roman"/>
                <a:cs typeface="Times New Roman"/>
              </a:rPr>
              <a:t>ole:</a:t>
            </a:r>
          </a:p>
          <a:p>
            <a:pPr marR="5080" algn="just">
              <a:spcBef>
                <a:spcPts val="600"/>
              </a:spcBef>
              <a:spcAft>
                <a:spcPts val="600"/>
              </a:spcAft>
            </a:pPr>
            <a:r>
              <a:rPr lang="en-GB" sz="1600" dirty="0">
                <a:latin typeface="Times New Roman"/>
                <a:cs typeface="Times New Roman"/>
              </a:rPr>
              <a:t>4) If more than one type of heteroatom is present in the ring, the name will include more than one prefix with locants to indicate the relative position of the heteroatoms.</a:t>
            </a:r>
          </a:p>
          <a:p>
            <a:pPr marR="5080" algn="just">
              <a:spcBef>
                <a:spcPts val="600"/>
              </a:spcBef>
              <a:spcAft>
                <a:spcPts val="600"/>
              </a:spcAft>
            </a:pPr>
            <a:r>
              <a:rPr lang="en-GB" sz="1600" dirty="0">
                <a:latin typeface="Times New Roman"/>
                <a:cs typeface="Times New Roman"/>
              </a:rPr>
              <a:t>Atom prefixes have a strict order of priority (preference) in which they are to be listed. For example,‘’</a:t>
            </a:r>
            <a:r>
              <a:rPr lang="en-GB" sz="1600" dirty="0" err="1">
                <a:solidFill>
                  <a:srgbClr val="FF0000"/>
                </a:solidFill>
                <a:latin typeface="Times New Roman"/>
                <a:cs typeface="Times New Roman"/>
              </a:rPr>
              <a:t>Oxa</a:t>
            </a:r>
            <a:r>
              <a:rPr lang="en-GB" sz="1600" dirty="0">
                <a:latin typeface="Times New Roman"/>
                <a:cs typeface="Times New Roman"/>
              </a:rPr>
              <a:t>’’(for oxygen) always comes before ‘’</a:t>
            </a:r>
            <a:r>
              <a:rPr lang="en-GB" sz="1600" dirty="0" err="1">
                <a:solidFill>
                  <a:srgbClr val="FF0000"/>
                </a:solidFill>
                <a:latin typeface="Times New Roman"/>
                <a:cs typeface="Times New Roman"/>
              </a:rPr>
              <a:t>aza</a:t>
            </a:r>
            <a:r>
              <a:rPr lang="en-GB" sz="1600" dirty="0">
                <a:latin typeface="Times New Roman"/>
                <a:cs typeface="Times New Roman"/>
              </a:rPr>
              <a:t>’’ (for nitrogen)  in a name (see slide 17). When combining the prefixes (e.g. </a:t>
            </a:r>
            <a:r>
              <a:rPr lang="en-GB" sz="1600" dirty="0" err="1">
                <a:latin typeface="Times New Roman"/>
                <a:cs typeface="Times New Roman"/>
              </a:rPr>
              <a:t>oxa</a:t>
            </a:r>
            <a:r>
              <a:rPr lang="en-GB" sz="1600" dirty="0">
                <a:latin typeface="Times New Roman"/>
                <a:cs typeface="Times New Roman"/>
              </a:rPr>
              <a:t> and </a:t>
            </a:r>
            <a:r>
              <a:rPr lang="en-GB" sz="1600" dirty="0" err="1">
                <a:latin typeface="Times New Roman"/>
                <a:cs typeface="Times New Roman"/>
              </a:rPr>
              <a:t>aza</a:t>
            </a:r>
            <a:r>
              <a:rPr lang="en-GB" sz="1600" dirty="0">
                <a:latin typeface="Times New Roman"/>
                <a:cs typeface="Times New Roman"/>
              </a:rPr>
              <a:t>), two vowels may end together; therefore, the vowel at the end of the first part should be omitted (</a:t>
            </a:r>
            <a:r>
              <a:rPr lang="en-GB" sz="1600" dirty="0" err="1">
                <a:solidFill>
                  <a:srgbClr val="FF0000"/>
                </a:solidFill>
                <a:latin typeface="Times New Roman"/>
                <a:cs typeface="Times New Roman"/>
              </a:rPr>
              <a:t>oxaza</a:t>
            </a:r>
            <a:r>
              <a:rPr lang="en-GB" sz="1600" dirty="0">
                <a:latin typeface="Times New Roman"/>
                <a:cs typeface="Times New Roman"/>
              </a:rPr>
              <a:t>).</a:t>
            </a:r>
          </a:p>
          <a:p>
            <a:pPr marR="5080" algn="just">
              <a:spcBef>
                <a:spcPts val="600"/>
              </a:spcBef>
              <a:spcAft>
                <a:spcPts val="600"/>
              </a:spcAft>
            </a:pPr>
            <a:r>
              <a:rPr lang="en-GB" sz="1600" dirty="0">
                <a:latin typeface="Times New Roman"/>
                <a:cs typeface="Times New Roman"/>
              </a:rPr>
              <a:t>The numbering is started from the heteroatom of the highest priority in such a way as to give the smallest possible numbers to the other heteroatoms in the ring  (the substituents are irrelevant).</a:t>
            </a:r>
          </a:p>
          <a:p>
            <a:pPr marR="5080" algn="just">
              <a:spcBef>
                <a:spcPts val="600"/>
              </a:spcBef>
              <a:spcAft>
                <a:spcPts val="600"/>
              </a:spcAft>
            </a:pPr>
            <a:endParaRPr lang="en-GB" sz="1600" dirty="0">
              <a:latin typeface="Times New Roman"/>
              <a:cs typeface="Times New Roman"/>
            </a:endParaRPr>
          </a:p>
          <a:p>
            <a:pPr marR="5080" algn="just">
              <a:spcBef>
                <a:spcPts val="600"/>
              </a:spcBef>
              <a:spcAft>
                <a:spcPts val="600"/>
              </a:spcAft>
            </a:pPr>
            <a:r>
              <a:rPr lang="en-GB" sz="1600" dirty="0">
                <a:latin typeface="Times New Roman"/>
                <a:cs typeface="Times New Roman"/>
              </a:rPr>
              <a:t>5)	Choose</a:t>
            </a:r>
            <a:r>
              <a:rPr lang="en-GB" sz="1600" spc="-5" dirty="0">
                <a:latin typeface="Times New Roman"/>
                <a:cs typeface="Times New Roman"/>
              </a:rPr>
              <a:t> </a:t>
            </a:r>
            <a:r>
              <a:rPr lang="en-GB" sz="1600" dirty="0">
                <a:latin typeface="Times New Roman"/>
                <a:cs typeface="Times New Roman"/>
              </a:rPr>
              <a:t>the appropriate</a:t>
            </a:r>
            <a:r>
              <a:rPr lang="en-GB" sz="1600" spc="-40" dirty="0">
                <a:latin typeface="Times New Roman"/>
                <a:cs typeface="Times New Roman"/>
              </a:rPr>
              <a:t> </a:t>
            </a:r>
            <a:r>
              <a:rPr lang="en-GB" sz="1600" spc="-10" dirty="0">
                <a:solidFill>
                  <a:srgbClr val="C00000"/>
                </a:solidFill>
                <a:latin typeface="Times New Roman"/>
                <a:cs typeface="Times New Roman"/>
              </a:rPr>
              <a:t>suffix</a:t>
            </a:r>
            <a:r>
              <a:rPr lang="en-GB" sz="1600" spc="10" dirty="0">
                <a:solidFill>
                  <a:srgbClr val="C00000"/>
                </a:solidFill>
                <a:latin typeface="Times New Roman"/>
                <a:cs typeface="Times New Roman"/>
              </a:rPr>
              <a:t> </a:t>
            </a:r>
            <a:r>
              <a:rPr lang="en-GB" sz="1600" dirty="0">
                <a:latin typeface="Times New Roman"/>
                <a:cs typeface="Times New Roman"/>
              </a:rPr>
              <a:t>from</a:t>
            </a:r>
            <a:r>
              <a:rPr lang="en-GB" sz="1600" spc="-10" dirty="0">
                <a:latin typeface="Times New Roman"/>
                <a:cs typeface="Times New Roman"/>
              </a:rPr>
              <a:t> </a:t>
            </a:r>
            <a:r>
              <a:rPr lang="en-GB" sz="1600" dirty="0">
                <a:latin typeface="Times New Roman"/>
                <a:cs typeface="Times New Roman"/>
              </a:rPr>
              <a:t>(</a:t>
            </a:r>
            <a:r>
              <a:rPr lang="en-GB" sz="1600" dirty="0" err="1">
                <a:latin typeface="Times New Roman"/>
                <a:cs typeface="Times New Roman"/>
              </a:rPr>
              <a:t>slade</a:t>
            </a:r>
            <a:r>
              <a:rPr lang="en-GB" sz="1600" dirty="0">
                <a:latin typeface="Times New Roman"/>
                <a:cs typeface="Times New Roman"/>
              </a:rPr>
              <a:t> 19) depending</a:t>
            </a:r>
            <a:r>
              <a:rPr lang="en-GB" sz="1600" spc="-15" dirty="0">
                <a:latin typeface="Times New Roman"/>
                <a:cs typeface="Times New Roman"/>
              </a:rPr>
              <a:t> </a:t>
            </a:r>
            <a:r>
              <a:rPr lang="en-GB" sz="1600" dirty="0">
                <a:latin typeface="Times New Roman"/>
                <a:cs typeface="Times New Roman"/>
              </a:rPr>
              <a:t>on</a:t>
            </a:r>
            <a:r>
              <a:rPr lang="en-GB" sz="1600" spc="-5" dirty="0">
                <a:latin typeface="Times New Roman"/>
                <a:cs typeface="Times New Roman"/>
              </a:rPr>
              <a:t> </a:t>
            </a:r>
            <a:r>
              <a:rPr lang="en-GB" sz="1600" dirty="0">
                <a:latin typeface="Times New Roman"/>
                <a:cs typeface="Times New Roman"/>
              </a:rPr>
              <a:t>the ring</a:t>
            </a:r>
            <a:r>
              <a:rPr lang="en-GB" sz="1600" spc="-5" dirty="0">
                <a:latin typeface="Times New Roman"/>
                <a:cs typeface="Times New Roman"/>
              </a:rPr>
              <a:t> size.</a:t>
            </a:r>
            <a:endParaRPr lang="en-GB" sz="1600" dirty="0">
              <a:latin typeface="Times New Roman"/>
              <a:cs typeface="Times New Roman"/>
            </a:endParaRPr>
          </a:p>
          <a:p>
            <a:pPr marR="5080" algn="just">
              <a:spcBef>
                <a:spcPts val="600"/>
              </a:spcBef>
              <a:spcAft>
                <a:spcPts val="600"/>
              </a:spcAft>
            </a:pPr>
            <a:r>
              <a:rPr lang="en-GB" sz="1600" dirty="0">
                <a:latin typeface="Times New Roman"/>
                <a:cs typeface="Times New Roman"/>
              </a:rPr>
              <a:t>6)	The</a:t>
            </a:r>
            <a:r>
              <a:rPr lang="en-GB" sz="1600" spc="-5" dirty="0">
                <a:latin typeface="Times New Roman"/>
                <a:cs typeface="Times New Roman"/>
              </a:rPr>
              <a:t> </a:t>
            </a:r>
            <a:r>
              <a:rPr lang="en-GB" sz="1600" dirty="0">
                <a:latin typeface="Times New Roman"/>
                <a:cs typeface="Times New Roman"/>
              </a:rPr>
              <a:t>endings</a:t>
            </a:r>
            <a:r>
              <a:rPr lang="en-GB" sz="1600" spc="-15" dirty="0">
                <a:latin typeface="Times New Roman"/>
                <a:cs typeface="Times New Roman"/>
              </a:rPr>
              <a:t> </a:t>
            </a:r>
            <a:r>
              <a:rPr lang="en-GB" sz="1600" dirty="0">
                <a:latin typeface="Times New Roman"/>
                <a:cs typeface="Times New Roman"/>
              </a:rPr>
              <a:t>indicate</a:t>
            </a:r>
            <a:r>
              <a:rPr lang="en-GB" sz="1600" spc="-15" dirty="0">
                <a:latin typeface="Times New Roman"/>
                <a:cs typeface="Times New Roman"/>
              </a:rPr>
              <a:t> </a:t>
            </a:r>
            <a:r>
              <a:rPr lang="en-GB" sz="1600" dirty="0">
                <a:latin typeface="Times New Roman"/>
                <a:cs typeface="Times New Roman"/>
              </a:rPr>
              <a:t>the</a:t>
            </a:r>
            <a:r>
              <a:rPr lang="en-GB" sz="1600" spc="-20" dirty="0">
                <a:latin typeface="Times New Roman"/>
                <a:cs typeface="Times New Roman"/>
              </a:rPr>
              <a:t> </a:t>
            </a:r>
            <a:r>
              <a:rPr lang="en-GB" sz="1600" dirty="0">
                <a:latin typeface="Times New Roman"/>
                <a:cs typeface="Times New Roman"/>
              </a:rPr>
              <a:t>size and</a:t>
            </a:r>
            <a:r>
              <a:rPr lang="en-GB" sz="1600" spc="-15" dirty="0">
                <a:latin typeface="Times New Roman"/>
                <a:cs typeface="Times New Roman"/>
              </a:rPr>
              <a:t> </a:t>
            </a:r>
            <a:r>
              <a:rPr lang="en-GB" sz="1600" dirty="0">
                <a:latin typeface="Times New Roman"/>
                <a:cs typeface="Times New Roman"/>
              </a:rPr>
              <a:t>degree</a:t>
            </a:r>
            <a:r>
              <a:rPr lang="en-GB" sz="1600" spc="-5" dirty="0">
                <a:latin typeface="Times New Roman"/>
                <a:cs typeface="Times New Roman"/>
              </a:rPr>
              <a:t> </a:t>
            </a:r>
            <a:r>
              <a:rPr lang="en-GB" sz="1600" dirty="0">
                <a:latin typeface="Times New Roman"/>
                <a:cs typeface="Times New Roman"/>
              </a:rPr>
              <a:t>of</a:t>
            </a:r>
            <a:r>
              <a:rPr lang="en-GB" sz="1600" spc="-10" dirty="0">
                <a:latin typeface="Times New Roman"/>
                <a:cs typeface="Times New Roman"/>
              </a:rPr>
              <a:t> </a:t>
            </a:r>
            <a:r>
              <a:rPr lang="en-GB" sz="1600" dirty="0">
                <a:latin typeface="Times New Roman"/>
                <a:cs typeface="Times New Roman"/>
              </a:rPr>
              <a:t>unsaturation</a:t>
            </a:r>
            <a:r>
              <a:rPr lang="en-GB" sz="1600" spc="-15" dirty="0">
                <a:latin typeface="Times New Roman"/>
                <a:cs typeface="Times New Roman"/>
              </a:rPr>
              <a:t> </a:t>
            </a:r>
            <a:r>
              <a:rPr lang="en-GB" sz="1600" dirty="0">
                <a:latin typeface="Times New Roman"/>
                <a:cs typeface="Times New Roman"/>
              </a:rPr>
              <a:t>of</a:t>
            </a:r>
            <a:r>
              <a:rPr lang="en-GB" sz="1600" spc="-10" dirty="0">
                <a:latin typeface="Times New Roman"/>
                <a:cs typeface="Times New Roman"/>
              </a:rPr>
              <a:t> </a:t>
            </a:r>
            <a:r>
              <a:rPr lang="en-GB" sz="1600" dirty="0">
                <a:latin typeface="Times New Roman"/>
                <a:cs typeface="Times New Roman"/>
              </a:rPr>
              <a:t>the</a:t>
            </a:r>
            <a:r>
              <a:rPr lang="en-GB" sz="1600" spc="-10" dirty="0">
                <a:latin typeface="Times New Roman"/>
                <a:cs typeface="Times New Roman"/>
              </a:rPr>
              <a:t> </a:t>
            </a:r>
            <a:r>
              <a:rPr lang="en-GB" sz="1600" dirty="0">
                <a:latin typeface="Times New Roman"/>
                <a:cs typeface="Times New Roman"/>
              </a:rPr>
              <a:t>ring.</a:t>
            </a:r>
          </a:p>
          <a:p>
            <a:pPr marR="5080" algn="just">
              <a:spcBef>
                <a:spcPts val="600"/>
              </a:spcBef>
              <a:spcAft>
                <a:spcPts val="600"/>
              </a:spcAft>
            </a:pPr>
            <a:r>
              <a:rPr lang="en-GB" sz="1600" dirty="0">
                <a:latin typeface="Times New Roman"/>
                <a:cs typeface="Times New Roman"/>
              </a:rPr>
              <a:t>7)	</a:t>
            </a:r>
            <a:r>
              <a:rPr lang="en-GB" sz="1600" spc="-5" dirty="0">
                <a:latin typeface="Times New Roman"/>
                <a:cs typeface="Times New Roman"/>
              </a:rPr>
              <a:t>Combine </a:t>
            </a:r>
            <a:r>
              <a:rPr lang="en-GB" sz="1600" dirty="0">
                <a:latin typeface="Times New Roman"/>
                <a:cs typeface="Times New Roman"/>
              </a:rPr>
              <a:t>the prefix </a:t>
            </a:r>
            <a:r>
              <a:rPr lang="en-GB" sz="1600" spc="-5" dirty="0">
                <a:latin typeface="Times New Roman"/>
                <a:cs typeface="Times New Roman"/>
              </a:rPr>
              <a:t>(s) </a:t>
            </a:r>
            <a:r>
              <a:rPr lang="en-GB" sz="1600" dirty="0">
                <a:latin typeface="Times New Roman"/>
                <a:cs typeface="Times New Roman"/>
              </a:rPr>
              <a:t>and </a:t>
            </a:r>
            <a:r>
              <a:rPr lang="en-GB" sz="1600" spc="-10" dirty="0">
                <a:latin typeface="Times New Roman"/>
                <a:cs typeface="Times New Roman"/>
              </a:rPr>
              <a:t>suffix </a:t>
            </a:r>
            <a:r>
              <a:rPr lang="en-GB" sz="1600" dirty="0">
                <a:latin typeface="Times New Roman"/>
                <a:cs typeface="Times New Roman"/>
              </a:rPr>
              <a:t>together and drop the first </a:t>
            </a:r>
            <a:r>
              <a:rPr lang="en-GB" sz="1600" spc="-5" dirty="0">
                <a:latin typeface="Times New Roman"/>
                <a:cs typeface="Times New Roman"/>
              </a:rPr>
              <a:t>vowel </a:t>
            </a:r>
            <a:r>
              <a:rPr lang="en-GB" sz="1600" dirty="0">
                <a:latin typeface="Times New Roman"/>
                <a:cs typeface="Times New Roman"/>
              </a:rPr>
              <a:t>if </a:t>
            </a:r>
            <a:r>
              <a:rPr lang="en-GB" sz="1600" spc="-5" dirty="0">
                <a:latin typeface="Times New Roman"/>
                <a:cs typeface="Times New Roman"/>
              </a:rPr>
              <a:t>two </a:t>
            </a:r>
            <a:r>
              <a:rPr lang="en-GB" sz="1600" spc="-434" dirty="0">
                <a:latin typeface="Times New Roman"/>
                <a:cs typeface="Times New Roman"/>
              </a:rPr>
              <a:t> </a:t>
            </a:r>
            <a:r>
              <a:rPr lang="en-GB" sz="1600" spc="-5" dirty="0">
                <a:latin typeface="Times New Roman"/>
                <a:cs typeface="Times New Roman"/>
              </a:rPr>
              <a:t>vowels </a:t>
            </a:r>
            <a:r>
              <a:rPr lang="en-GB" sz="1600" dirty="0">
                <a:latin typeface="Times New Roman"/>
                <a:cs typeface="Times New Roman"/>
              </a:rPr>
              <a:t>came</a:t>
            </a:r>
            <a:r>
              <a:rPr lang="en-GB" sz="1600" spc="5" dirty="0">
                <a:latin typeface="Times New Roman"/>
                <a:cs typeface="Times New Roman"/>
              </a:rPr>
              <a:t> </a:t>
            </a:r>
            <a:r>
              <a:rPr lang="en-GB" sz="1600" spc="-10" dirty="0">
                <a:latin typeface="Times New Roman"/>
                <a:cs typeface="Times New Roman"/>
              </a:rPr>
              <a:t>together.</a:t>
            </a:r>
            <a:endParaRPr lang="en-GB" sz="1600" dirty="0">
              <a:latin typeface="Times New Roman"/>
              <a:cs typeface="Times New Roman"/>
            </a:endParaRPr>
          </a:p>
          <a:p>
            <a:pPr marR="5080" algn="just">
              <a:spcBef>
                <a:spcPts val="600"/>
              </a:spcBef>
              <a:spcAft>
                <a:spcPts val="600"/>
              </a:spcAft>
            </a:pPr>
            <a:endParaRPr lang="en-GB" sz="1600" dirty="0">
              <a:latin typeface="Times New Roman"/>
              <a:cs typeface="Times New Roman"/>
            </a:endParaRPr>
          </a:p>
        </p:txBody>
      </p:sp>
      <p:pic>
        <p:nvPicPr>
          <p:cNvPr id="14" name="object 3">
            <a:extLst>
              <a:ext uri="{FF2B5EF4-FFF2-40B4-BE49-F238E27FC236}">
                <a16:creationId xmlns:a16="http://schemas.microsoft.com/office/drawing/2014/main" id="{15C52B79-3BB4-4ED2-89B0-FEAADAA07037}"/>
              </a:ext>
            </a:extLst>
          </p:cNvPr>
          <p:cNvPicPr/>
          <p:nvPr/>
        </p:nvPicPr>
        <p:blipFill>
          <a:blip r:embed="rId3" cstate="print"/>
          <a:stretch>
            <a:fillRect/>
          </a:stretch>
        </p:blipFill>
        <p:spPr>
          <a:xfrm>
            <a:off x="8610600" y="1137714"/>
            <a:ext cx="1058839" cy="833698"/>
          </a:xfrm>
          <a:prstGeom prst="rect">
            <a:avLst/>
          </a:prstGeom>
        </p:spPr>
      </p:pic>
      <p:pic>
        <p:nvPicPr>
          <p:cNvPr id="15" name="object 5">
            <a:extLst>
              <a:ext uri="{FF2B5EF4-FFF2-40B4-BE49-F238E27FC236}">
                <a16:creationId xmlns:a16="http://schemas.microsoft.com/office/drawing/2014/main" id="{AF2F08C8-B34F-46F8-BB05-B21870A24205}"/>
              </a:ext>
            </a:extLst>
          </p:cNvPr>
          <p:cNvPicPr/>
          <p:nvPr/>
        </p:nvPicPr>
        <p:blipFill>
          <a:blip r:embed="rId4" cstate="print"/>
          <a:stretch>
            <a:fillRect/>
          </a:stretch>
        </p:blipFill>
        <p:spPr>
          <a:xfrm>
            <a:off x="10140044" y="1883020"/>
            <a:ext cx="717761" cy="952303"/>
          </a:xfrm>
          <a:prstGeom prst="rect">
            <a:avLst/>
          </a:prstGeom>
        </p:spPr>
      </p:pic>
      <p:sp>
        <p:nvSpPr>
          <p:cNvPr id="16" name="object 4">
            <a:extLst>
              <a:ext uri="{FF2B5EF4-FFF2-40B4-BE49-F238E27FC236}">
                <a16:creationId xmlns:a16="http://schemas.microsoft.com/office/drawing/2014/main" id="{576BEA61-E2BF-4540-A25D-FB37FE2EC520}"/>
              </a:ext>
            </a:extLst>
          </p:cNvPr>
          <p:cNvSpPr txBox="1"/>
          <p:nvPr/>
        </p:nvSpPr>
        <p:spPr>
          <a:xfrm>
            <a:off x="7642075" y="4807952"/>
            <a:ext cx="1753371" cy="289823"/>
          </a:xfrm>
          <a:prstGeom prst="rect">
            <a:avLst/>
          </a:prstGeom>
        </p:spPr>
        <p:txBody>
          <a:bodyPr vert="horz" wrap="square" lIns="0" tIns="12700" rIns="0" bIns="0" rtlCol="0">
            <a:spAutoFit/>
          </a:bodyPr>
          <a:lstStyle/>
          <a:p>
            <a:pPr marL="12700">
              <a:lnSpc>
                <a:spcPct val="100000"/>
              </a:lnSpc>
              <a:spcBef>
                <a:spcPts val="100"/>
              </a:spcBef>
            </a:pPr>
            <a:r>
              <a:rPr sz="1800" b="1" spc="-5" dirty="0">
                <a:latin typeface="Times New Roman"/>
                <a:cs typeface="Times New Roman"/>
              </a:rPr>
              <a:t>For</a:t>
            </a:r>
            <a:r>
              <a:rPr sz="1800" b="1" spc="-25" dirty="0">
                <a:latin typeface="Times New Roman"/>
                <a:cs typeface="Times New Roman"/>
              </a:rPr>
              <a:t> </a:t>
            </a:r>
            <a:r>
              <a:rPr sz="1800" b="1" spc="-5" dirty="0">
                <a:latin typeface="Times New Roman"/>
                <a:cs typeface="Times New Roman"/>
              </a:rPr>
              <a:t>example</a:t>
            </a:r>
            <a:r>
              <a:rPr sz="1800" b="1" dirty="0">
                <a:latin typeface="Times New Roman"/>
                <a:cs typeface="Times New Roman"/>
              </a:rPr>
              <a:t>:</a:t>
            </a:r>
          </a:p>
        </p:txBody>
      </p:sp>
      <p:sp>
        <p:nvSpPr>
          <p:cNvPr id="17" name="object 11">
            <a:extLst>
              <a:ext uri="{FF2B5EF4-FFF2-40B4-BE49-F238E27FC236}">
                <a16:creationId xmlns:a16="http://schemas.microsoft.com/office/drawing/2014/main" id="{848A4C13-80D9-4A91-963D-AB83289FC28D}"/>
              </a:ext>
            </a:extLst>
          </p:cNvPr>
          <p:cNvSpPr txBox="1"/>
          <p:nvPr/>
        </p:nvSpPr>
        <p:spPr>
          <a:xfrm>
            <a:off x="7637996" y="5119017"/>
            <a:ext cx="2220595"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Times New Roman"/>
                <a:cs typeface="Times New Roman"/>
              </a:rPr>
              <a:t>4-Methyl-</a:t>
            </a:r>
            <a:r>
              <a:rPr sz="1800" dirty="0">
                <a:solidFill>
                  <a:srgbClr val="C00000"/>
                </a:solidFill>
                <a:latin typeface="Times New Roman"/>
                <a:cs typeface="Times New Roman"/>
              </a:rPr>
              <a:t>1,3-Thiaza</a:t>
            </a:r>
            <a:r>
              <a:rPr sz="1800" dirty="0">
                <a:latin typeface="Times New Roman"/>
                <a:cs typeface="Times New Roman"/>
              </a:rPr>
              <a:t>ole</a:t>
            </a:r>
          </a:p>
        </p:txBody>
      </p:sp>
      <p:pic>
        <p:nvPicPr>
          <p:cNvPr id="19" name="Рисунок 18">
            <a:extLst>
              <a:ext uri="{FF2B5EF4-FFF2-40B4-BE49-F238E27FC236}">
                <a16:creationId xmlns:a16="http://schemas.microsoft.com/office/drawing/2014/main" id="{5442D0A1-F1AA-494A-A056-C98A24D31522}"/>
              </a:ext>
            </a:extLst>
          </p:cNvPr>
          <p:cNvPicPr>
            <a:picLocks noChangeAspect="1"/>
          </p:cNvPicPr>
          <p:nvPr/>
        </p:nvPicPr>
        <p:blipFill>
          <a:blip r:embed="rId5"/>
          <a:stretch>
            <a:fillRect/>
          </a:stretch>
        </p:blipFill>
        <p:spPr>
          <a:xfrm>
            <a:off x="10432041" y="4770179"/>
            <a:ext cx="1040681" cy="1065757"/>
          </a:xfrm>
          <a:prstGeom prst="rect">
            <a:avLst/>
          </a:prstGeom>
        </p:spPr>
      </p:pic>
    </p:spTree>
    <p:extLst>
      <p:ext uri="{BB962C8B-B14F-4D97-AF65-F5344CB8AC3E}">
        <p14:creationId xmlns:p14="http://schemas.microsoft.com/office/powerpoint/2010/main" val="35283794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a:extLst>
              <a:ext uri="{FF2B5EF4-FFF2-40B4-BE49-F238E27FC236}">
                <a16:creationId xmlns:a16="http://schemas.microsoft.com/office/drawing/2014/main" id="{9E62C6C6-E973-41E9-89AC-BC926AB94BF7}"/>
              </a:ext>
            </a:extLst>
          </p:cNvPr>
          <p:cNvSpPr>
            <a:spLocks noGrp="1"/>
          </p:cNvSpPr>
          <p:nvPr>
            <p:ph type="sldNum" sz="quarter" idx="12"/>
          </p:nvPr>
        </p:nvSpPr>
        <p:spPr/>
        <p:txBody>
          <a:bodyPr/>
          <a:lstStyle/>
          <a:p>
            <a:fld id="{93C419CB-0CF1-4F10-90F9-42551F8968FF}" type="slidenum">
              <a:rPr lang="en-GB" smtClean="0"/>
              <a:t>21</a:t>
            </a:fld>
            <a:endParaRPr lang="en-GB"/>
          </a:p>
        </p:txBody>
      </p:sp>
      <p:sp>
        <p:nvSpPr>
          <p:cNvPr id="4" name="object 3">
            <a:extLst>
              <a:ext uri="{FF2B5EF4-FFF2-40B4-BE49-F238E27FC236}">
                <a16:creationId xmlns:a16="http://schemas.microsoft.com/office/drawing/2014/main" id="{38E91821-9C23-46A2-B19E-E5A54115C01F}"/>
              </a:ext>
            </a:extLst>
          </p:cNvPr>
          <p:cNvSpPr txBox="1"/>
          <p:nvPr/>
        </p:nvSpPr>
        <p:spPr>
          <a:xfrm>
            <a:off x="678868" y="556710"/>
            <a:ext cx="1397635" cy="391795"/>
          </a:xfrm>
          <a:prstGeom prst="rect">
            <a:avLst/>
          </a:prstGeom>
        </p:spPr>
        <p:txBody>
          <a:bodyPr vert="horz" wrap="square" lIns="0" tIns="12700" rIns="0" bIns="0" rtlCol="0">
            <a:spAutoFit/>
          </a:bodyPr>
          <a:lstStyle/>
          <a:p>
            <a:pPr marL="12700">
              <a:lnSpc>
                <a:spcPct val="100000"/>
              </a:lnSpc>
              <a:spcBef>
                <a:spcPts val="100"/>
              </a:spcBef>
            </a:pPr>
            <a:r>
              <a:rPr sz="2400" b="1" dirty="0">
                <a:solidFill>
                  <a:srgbClr val="00AF50"/>
                </a:solidFill>
                <a:latin typeface="Times New Roman"/>
                <a:cs typeface="Times New Roman"/>
              </a:rPr>
              <a:t>E</a:t>
            </a:r>
            <a:r>
              <a:rPr sz="2400" b="1" spc="-10" dirty="0">
                <a:solidFill>
                  <a:srgbClr val="00AF50"/>
                </a:solidFill>
                <a:latin typeface="Times New Roman"/>
                <a:cs typeface="Times New Roman"/>
              </a:rPr>
              <a:t>x</a:t>
            </a:r>
            <a:r>
              <a:rPr sz="2400" b="1" dirty="0">
                <a:solidFill>
                  <a:srgbClr val="00AF50"/>
                </a:solidFill>
                <a:latin typeface="Times New Roman"/>
                <a:cs typeface="Times New Roman"/>
              </a:rPr>
              <a:t>amples:</a:t>
            </a:r>
            <a:endParaRPr sz="2400" dirty="0">
              <a:latin typeface="Times New Roman"/>
              <a:cs typeface="Times New Roman"/>
            </a:endParaRPr>
          </a:p>
        </p:txBody>
      </p:sp>
      <p:sp>
        <p:nvSpPr>
          <p:cNvPr id="5" name="object 4">
            <a:extLst>
              <a:ext uri="{FF2B5EF4-FFF2-40B4-BE49-F238E27FC236}">
                <a16:creationId xmlns:a16="http://schemas.microsoft.com/office/drawing/2014/main" id="{EA4EF77B-17FE-43D6-BBC3-9CA8F248A201}"/>
              </a:ext>
            </a:extLst>
          </p:cNvPr>
          <p:cNvSpPr txBox="1"/>
          <p:nvPr/>
        </p:nvSpPr>
        <p:spPr>
          <a:xfrm>
            <a:off x="1302475" y="1020968"/>
            <a:ext cx="208279" cy="548005"/>
          </a:xfrm>
          <a:prstGeom prst="rect">
            <a:avLst/>
          </a:prstGeom>
        </p:spPr>
        <p:txBody>
          <a:bodyPr vert="horz" wrap="square" lIns="0" tIns="100965" rIns="0" bIns="0" rtlCol="0">
            <a:spAutoFit/>
          </a:bodyPr>
          <a:lstStyle/>
          <a:p>
            <a:pPr marL="12700" marR="5080">
              <a:lnSpc>
                <a:spcPct val="71100"/>
              </a:lnSpc>
              <a:spcBef>
                <a:spcPts val="795"/>
              </a:spcBef>
            </a:pPr>
            <a:r>
              <a:rPr sz="2000" spc="-5" dirty="0">
                <a:latin typeface="Times New Roman"/>
                <a:cs typeface="Times New Roman"/>
              </a:rPr>
              <a:t>H  N</a:t>
            </a:r>
            <a:endParaRPr sz="2000">
              <a:latin typeface="Times New Roman"/>
              <a:cs typeface="Times New Roman"/>
            </a:endParaRPr>
          </a:p>
        </p:txBody>
      </p:sp>
      <p:sp>
        <p:nvSpPr>
          <p:cNvPr id="6" name="object 5">
            <a:extLst>
              <a:ext uri="{FF2B5EF4-FFF2-40B4-BE49-F238E27FC236}">
                <a16:creationId xmlns:a16="http://schemas.microsoft.com/office/drawing/2014/main" id="{AB4B731A-11B3-41EC-BBB3-B50FE9B418C6}"/>
              </a:ext>
            </a:extLst>
          </p:cNvPr>
          <p:cNvSpPr/>
          <p:nvPr/>
        </p:nvSpPr>
        <p:spPr>
          <a:xfrm>
            <a:off x="1099643" y="1553135"/>
            <a:ext cx="615950" cy="386080"/>
          </a:xfrm>
          <a:custGeom>
            <a:avLst/>
            <a:gdLst/>
            <a:ahLst/>
            <a:cxnLst/>
            <a:rect l="l" t="t" r="r" b="b"/>
            <a:pathLst>
              <a:path w="615950" h="386080">
                <a:moveTo>
                  <a:pt x="215532" y="6829"/>
                </a:moveTo>
                <a:lnTo>
                  <a:pt x="0" y="385465"/>
                </a:lnTo>
              </a:path>
              <a:path w="615950" h="386080">
                <a:moveTo>
                  <a:pt x="0" y="385465"/>
                </a:moveTo>
                <a:lnTo>
                  <a:pt x="615954" y="385466"/>
                </a:lnTo>
              </a:path>
              <a:path w="615950" h="386080">
                <a:moveTo>
                  <a:pt x="615954" y="385466"/>
                </a:moveTo>
                <a:lnTo>
                  <a:pt x="393544" y="0"/>
                </a:lnTo>
              </a:path>
            </a:pathLst>
          </a:custGeom>
          <a:ln w="27437">
            <a:solidFill>
              <a:srgbClr val="000000"/>
            </a:solidFill>
          </a:ln>
        </p:spPr>
        <p:txBody>
          <a:bodyPr wrap="square" lIns="0" tIns="0" rIns="0" bIns="0" rtlCol="0"/>
          <a:lstStyle/>
          <a:p>
            <a:endParaRPr/>
          </a:p>
        </p:txBody>
      </p:sp>
      <p:sp>
        <p:nvSpPr>
          <p:cNvPr id="9" name="object 8">
            <a:extLst>
              <a:ext uri="{FF2B5EF4-FFF2-40B4-BE49-F238E27FC236}">
                <a16:creationId xmlns:a16="http://schemas.microsoft.com/office/drawing/2014/main" id="{71391C82-2802-4B5E-9294-BE970038012F}"/>
              </a:ext>
            </a:extLst>
          </p:cNvPr>
          <p:cNvSpPr txBox="1"/>
          <p:nvPr/>
        </p:nvSpPr>
        <p:spPr>
          <a:xfrm>
            <a:off x="2511186" y="2745065"/>
            <a:ext cx="9355539" cy="1777410"/>
          </a:xfrm>
          <a:prstGeom prst="rect">
            <a:avLst/>
          </a:prstGeom>
        </p:spPr>
        <p:style>
          <a:lnRef idx="2">
            <a:schemeClr val="accent6"/>
          </a:lnRef>
          <a:fillRef idx="1">
            <a:schemeClr val="lt1"/>
          </a:fillRef>
          <a:effectRef idx="0">
            <a:schemeClr val="accent6"/>
          </a:effectRef>
          <a:fontRef idx="minor">
            <a:schemeClr val="dk1"/>
          </a:fontRef>
        </p:style>
        <p:txBody>
          <a:bodyPr vert="horz" wrap="square" lIns="0" tIns="12700" rIns="0" bIns="0" rtlCol="0">
            <a:spAutoFit/>
          </a:bodyPr>
          <a:lstStyle/>
          <a:p>
            <a:pPr marL="355600" marR="5715" indent="-342900" algn="just">
              <a:lnSpc>
                <a:spcPct val="100000"/>
              </a:lnSpc>
              <a:buFont typeface="Arial MT"/>
              <a:buChar char="•"/>
              <a:tabLst>
                <a:tab pos="355600" algn="l"/>
              </a:tabLst>
            </a:pPr>
            <a:r>
              <a:rPr sz="1800" dirty="0">
                <a:latin typeface="Times New Roman"/>
                <a:cs typeface="Times New Roman"/>
              </a:rPr>
              <a:t>This ring </a:t>
            </a:r>
            <a:r>
              <a:rPr sz="1800" spc="-5" dirty="0">
                <a:latin typeface="Times New Roman"/>
                <a:cs typeface="Times New Roman"/>
              </a:rPr>
              <a:t>contains</a:t>
            </a:r>
            <a:r>
              <a:rPr sz="1800" dirty="0">
                <a:latin typeface="Times New Roman"/>
                <a:cs typeface="Times New Roman"/>
              </a:rPr>
              <a:t> </a:t>
            </a:r>
            <a:r>
              <a:rPr sz="1800" spc="-5" dirty="0">
                <a:latin typeface="Times New Roman"/>
                <a:cs typeface="Times New Roman"/>
              </a:rPr>
              <a:t>(O</a:t>
            </a:r>
            <a:r>
              <a:rPr sz="1800" dirty="0">
                <a:latin typeface="Times New Roman"/>
                <a:cs typeface="Times New Roman"/>
              </a:rPr>
              <a:t> and </a:t>
            </a:r>
            <a:r>
              <a:rPr sz="1800" spc="-5" dirty="0">
                <a:latin typeface="Times New Roman"/>
                <a:cs typeface="Times New Roman"/>
              </a:rPr>
              <a:t>N) </a:t>
            </a:r>
            <a:r>
              <a:rPr sz="1800" spc="-10" dirty="0">
                <a:latin typeface="Times New Roman"/>
                <a:cs typeface="Times New Roman"/>
              </a:rPr>
              <a:t>(O</a:t>
            </a:r>
            <a:r>
              <a:rPr sz="1800" spc="-5" dirty="0">
                <a:latin typeface="Times New Roman"/>
                <a:cs typeface="Times New Roman"/>
              </a:rPr>
              <a:t> has</a:t>
            </a:r>
            <a:r>
              <a:rPr sz="1800" dirty="0">
                <a:latin typeface="Times New Roman"/>
                <a:cs typeface="Times New Roman"/>
              </a:rPr>
              <a:t> higher </a:t>
            </a:r>
            <a:r>
              <a:rPr sz="1800" spc="-5" dirty="0">
                <a:latin typeface="Times New Roman"/>
                <a:cs typeface="Times New Roman"/>
              </a:rPr>
              <a:t>priority</a:t>
            </a:r>
            <a:r>
              <a:rPr sz="1800" dirty="0">
                <a:latin typeface="Times New Roman"/>
                <a:cs typeface="Times New Roman"/>
              </a:rPr>
              <a:t> than </a:t>
            </a:r>
            <a:r>
              <a:rPr sz="1800" spc="-5" dirty="0">
                <a:latin typeface="Times New Roman"/>
                <a:cs typeface="Times New Roman"/>
              </a:rPr>
              <a:t>(N)</a:t>
            </a:r>
            <a:r>
              <a:rPr sz="1800" dirty="0">
                <a:latin typeface="Times New Roman"/>
                <a:cs typeface="Times New Roman"/>
              </a:rPr>
              <a:t> and </a:t>
            </a:r>
            <a:r>
              <a:rPr sz="1800" spc="-10" dirty="0">
                <a:latin typeface="Times New Roman"/>
                <a:cs typeface="Times New Roman"/>
              </a:rPr>
              <a:t>by</a:t>
            </a:r>
            <a:r>
              <a:rPr sz="1800" spc="-5" dirty="0">
                <a:latin typeface="Times New Roman"/>
                <a:cs typeface="Times New Roman"/>
              </a:rPr>
              <a:t> starting </a:t>
            </a:r>
            <a:r>
              <a:rPr sz="1800" dirty="0">
                <a:latin typeface="Times New Roman"/>
                <a:cs typeface="Times New Roman"/>
              </a:rPr>
              <a:t> </a:t>
            </a:r>
            <a:r>
              <a:rPr sz="1800" spc="-5" dirty="0">
                <a:latin typeface="Times New Roman"/>
                <a:cs typeface="Times New Roman"/>
              </a:rPr>
              <a:t>numbering</a:t>
            </a:r>
            <a:r>
              <a:rPr sz="1800" dirty="0">
                <a:latin typeface="Times New Roman"/>
                <a:cs typeface="Times New Roman"/>
              </a:rPr>
              <a:t> the</a:t>
            </a:r>
            <a:r>
              <a:rPr sz="1800" spc="5" dirty="0">
                <a:latin typeface="Times New Roman"/>
                <a:cs typeface="Times New Roman"/>
              </a:rPr>
              <a:t> </a:t>
            </a:r>
            <a:r>
              <a:rPr sz="1800" dirty="0">
                <a:latin typeface="Times New Roman"/>
                <a:cs typeface="Times New Roman"/>
              </a:rPr>
              <a:t>ring</a:t>
            </a:r>
            <a:r>
              <a:rPr sz="1800" spc="5" dirty="0">
                <a:latin typeface="Times New Roman"/>
                <a:cs typeface="Times New Roman"/>
              </a:rPr>
              <a:t> </a:t>
            </a:r>
            <a:r>
              <a:rPr sz="1800" dirty="0">
                <a:latin typeface="Times New Roman"/>
                <a:cs typeface="Times New Roman"/>
              </a:rPr>
              <a:t>at</a:t>
            </a:r>
            <a:r>
              <a:rPr sz="1800" spc="5" dirty="0">
                <a:latin typeface="Times New Roman"/>
                <a:cs typeface="Times New Roman"/>
              </a:rPr>
              <a:t> </a:t>
            </a:r>
            <a:r>
              <a:rPr sz="1800" spc="-5" dirty="0">
                <a:latin typeface="Times New Roman"/>
                <a:cs typeface="Times New Roman"/>
              </a:rPr>
              <a:t>(O):</a:t>
            </a:r>
            <a:r>
              <a:rPr sz="1800" dirty="0">
                <a:latin typeface="Times New Roman"/>
                <a:cs typeface="Times New Roman"/>
              </a:rPr>
              <a:t> </a:t>
            </a:r>
            <a:r>
              <a:rPr sz="1800" spc="-5" dirty="0">
                <a:latin typeface="Times New Roman"/>
                <a:cs typeface="Times New Roman"/>
              </a:rPr>
              <a:t>Prefix</a:t>
            </a:r>
            <a:r>
              <a:rPr sz="1800" dirty="0">
                <a:latin typeface="Times New Roman"/>
                <a:cs typeface="Times New Roman"/>
              </a:rPr>
              <a:t> </a:t>
            </a:r>
            <a:r>
              <a:rPr sz="1800" spc="-5" dirty="0">
                <a:latin typeface="Times New Roman"/>
                <a:cs typeface="Times New Roman"/>
              </a:rPr>
              <a:t>is</a:t>
            </a:r>
            <a:r>
              <a:rPr sz="1800" dirty="0">
                <a:latin typeface="Times New Roman"/>
                <a:cs typeface="Times New Roman"/>
              </a:rPr>
              <a:t> </a:t>
            </a:r>
            <a:r>
              <a:rPr sz="1800" spc="-5" dirty="0">
                <a:solidFill>
                  <a:srgbClr val="C00000"/>
                </a:solidFill>
                <a:latin typeface="Times New Roman"/>
                <a:cs typeface="Times New Roman"/>
              </a:rPr>
              <a:t>1,2-Oxaaza</a:t>
            </a:r>
            <a:r>
              <a:rPr sz="1800" spc="-5" dirty="0">
                <a:latin typeface="Times New Roman"/>
                <a:cs typeface="Times New Roman"/>
              </a:rPr>
              <a:t>,</a:t>
            </a:r>
            <a:r>
              <a:rPr sz="1800" dirty="0">
                <a:latin typeface="Times New Roman"/>
                <a:cs typeface="Times New Roman"/>
              </a:rPr>
              <a:t> but</a:t>
            </a:r>
            <a:r>
              <a:rPr sz="1800" spc="5" dirty="0">
                <a:latin typeface="Times New Roman"/>
                <a:cs typeface="Times New Roman"/>
              </a:rPr>
              <a:t> </a:t>
            </a:r>
            <a:r>
              <a:rPr sz="1800" spc="-5" dirty="0">
                <a:latin typeface="Times New Roman"/>
                <a:cs typeface="Times New Roman"/>
              </a:rPr>
              <a:t>the</a:t>
            </a:r>
            <a:r>
              <a:rPr sz="1800" dirty="0">
                <a:latin typeface="Times New Roman"/>
                <a:cs typeface="Times New Roman"/>
              </a:rPr>
              <a:t> </a:t>
            </a:r>
            <a:r>
              <a:rPr sz="1800" spc="-5" dirty="0">
                <a:latin typeface="Times New Roman"/>
                <a:cs typeface="Times New Roman"/>
              </a:rPr>
              <a:t>first</a:t>
            </a:r>
            <a:r>
              <a:rPr sz="1800" dirty="0">
                <a:latin typeface="Times New Roman"/>
                <a:cs typeface="Times New Roman"/>
              </a:rPr>
              <a:t> vowel</a:t>
            </a:r>
            <a:r>
              <a:rPr sz="1800" spc="450" dirty="0">
                <a:latin typeface="Times New Roman"/>
                <a:cs typeface="Times New Roman"/>
              </a:rPr>
              <a:t> </a:t>
            </a:r>
            <a:r>
              <a:rPr sz="1800" spc="-5" dirty="0">
                <a:latin typeface="Times New Roman"/>
                <a:cs typeface="Times New Roman"/>
              </a:rPr>
              <a:t>must</a:t>
            </a:r>
            <a:r>
              <a:rPr sz="1800" spc="440" dirty="0">
                <a:latin typeface="Times New Roman"/>
                <a:cs typeface="Times New Roman"/>
              </a:rPr>
              <a:t> </a:t>
            </a:r>
            <a:r>
              <a:rPr sz="1800" dirty="0">
                <a:latin typeface="Times New Roman"/>
                <a:cs typeface="Times New Roman"/>
              </a:rPr>
              <a:t>be </a:t>
            </a:r>
            <a:r>
              <a:rPr sz="1800" spc="-434" dirty="0">
                <a:latin typeface="Times New Roman"/>
                <a:cs typeface="Times New Roman"/>
              </a:rPr>
              <a:t> </a:t>
            </a:r>
            <a:r>
              <a:rPr sz="1800" dirty="0">
                <a:latin typeface="Times New Roman"/>
                <a:cs typeface="Times New Roman"/>
              </a:rPr>
              <a:t>omitted</a:t>
            </a:r>
            <a:r>
              <a:rPr sz="1800" spc="-10" dirty="0">
                <a:latin typeface="Times New Roman"/>
                <a:cs typeface="Times New Roman"/>
              </a:rPr>
              <a:t> </a:t>
            </a:r>
            <a:r>
              <a:rPr sz="1800" dirty="0">
                <a:latin typeface="Times New Roman"/>
                <a:cs typeface="Times New Roman"/>
              </a:rPr>
              <a:t>to</a:t>
            </a:r>
            <a:r>
              <a:rPr sz="1800" spc="-10" dirty="0">
                <a:latin typeface="Times New Roman"/>
                <a:cs typeface="Times New Roman"/>
              </a:rPr>
              <a:t> </a:t>
            </a:r>
            <a:r>
              <a:rPr sz="1800" dirty="0">
                <a:latin typeface="Times New Roman"/>
                <a:cs typeface="Times New Roman"/>
              </a:rPr>
              <a:t>give:</a:t>
            </a:r>
            <a:r>
              <a:rPr sz="1800" spc="-15" dirty="0">
                <a:latin typeface="Times New Roman"/>
                <a:cs typeface="Times New Roman"/>
              </a:rPr>
              <a:t> </a:t>
            </a:r>
            <a:r>
              <a:rPr sz="1800" dirty="0">
                <a:solidFill>
                  <a:srgbClr val="C00000"/>
                </a:solidFill>
                <a:latin typeface="Times New Roman"/>
                <a:cs typeface="Times New Roman"/>
              </a:rPr>
              <a:t>1,2-Oxaza</a:t>
            </a:r>
            <a:endParaRPr sz="1800" dirty="0">
              <a:latin typeface="Times New Roman"/>
              <a:cs typeface="Times New Roman"/>
            </a:endParaRPr>
          </a:p>
          <a:p>
            <a:pPr marL="355600" indent="-342900" algn="just">
              <a:lnSpc>
                <a:spcPct val="100000"/>
              </a:lnSpc>
              <a:spcBef>
                <a:spcPts val="430"/>
              </a:spcBef>
              <a:buFont typeface="Arial MT"/>
              <a:buChar char="•"/>
              <a:tabLst>
                <a:tab pos="355600" algn="l"/>
              </a:tabLst>
            </a:pPr>
            <a:r>
              <a:rPr sz="1800" dirty="0">
                <a:latin typeface="Times New Roman"/>
                <a:cs typeface="Times New Roman"/>
              </a:rPr>
              <a:t>The</a:t>
            </a:r>
            <a:r>
              <a:rPr sz="1800" spc="5" dirty="0">
                <a:latin typeface="Times New Roman"/>
                <a:cs typeface="Times New Roman"/>
              </a:rPr>
              <a:t> </a:t>
            </a:r>
            <a:r>
              <a:rPr sz="1800" dirty="0">
                <a:latin typeface="Times New Roman"/>
                <a:cs typeface="Times New Roman"/>
              </a:rPr>
              <a:t>ring</a:t>
            </a:r>
            <a:r>
              <a:rPr sz="1800" spc="-5" dirty="0">
                <a:latin typeface="Times New Roman"/>
                <a:cs typeface="Times New Roman"/>
              </a:rPr>
              <a:t> is</a:t>
            </a:r>
            <a:r>
              <a:rPr sz="1800" spc="-10" dirty="0">
                <a:latin typeface="Times New Roman"/>
                <a:cs typeface="Times New Roman"/>
              </a:rPr>
              <a:t> </a:t>
            </a:r>
            <a:r>
              <a:rPr sz="1800" spc="-5" dirty="0">
                <a:latin typeface="Times New Roman"/>
                <a:cs typeface="Times New Roman"/>
              </a:rPr>
              <a:t>4-membered</a:t>
            </a:r>
            <a:r>
              <a:rPr sz="1800" spc="15" dirty="0">
                <a:latin typeface="Times New Roman"/>
                <a:cs typeface="Times New Roman"/>
              </a:rPr>
              <a:t> </a:t>
            </a:r>
            <a:r>
              <a:rPr sz="1800" dirty="0">
                <a:latin typeface="Times New Roman"/>
                <a:cs typeface="Times New Roman"/>
              </a:rPr>
              <a:t>and</a:t>
            </a:r>
            <a:r>
              <a:rPr sz="1800" spc="10" dirty="0">
                <a:latin typeface="Times New Roman"/>
                <a:cs typeface="Times New Roman"/>
              </a:rPr>
              <a:t> </a:t>
            </a:r>
            <a:r>
              <a:rPr sz="1800" dirty="0">
                <a:latin typeface="Times New Roman"/>
                <a:cs typeface="Times New Roman"/>
              </a:rPr>
              <a:t>fully</a:t>
            </a:r>
            <a:r>
              <a:rPr sz="1800" spc="-15" dirty="0">
                <a:latin typeface="Times New Roman"/>
                <a:cs typeface="Times New Roman"/>
              </a:rPr>
              <a:t> </a:t>
            </a:r>
            <a:r>
              <a:rPr sz="1800" dirty="0">
                <a:latin typeface="Times New Roman"/>
                <a:cs typeface="Times New Roman"/>
              </a:rPr>
              <a:t>saturated:</a:t>
            </a:r>
            <a:r>
              <a:rPr sz="1800" spc="-15" dirty="0">
                <a:latin typeface="Times New Roman"/>
                <a:cs typeface="Times New Roman"/>
              </a:rPr>
              <a:t> </a:t>
            </a:r>
            <a:r>
              <a:rPr sz="1800" spc="-10" dirty="0">
                <a:latin typeface="Times New Roman"/>
                <a:cs typeface="Times New Roman"/>
              </a:rPr>
              <a:t>suffix</a:t>
            </a:r>
            <a:r>
              <a:rPr sz="1800" spc="15" dirty="0">
                <a:latin typeface="Times New Roman"/>
                <a:cs typeface="Times New Roman"/>
              </a:rPr>
              <a:t> </a:t>
            </a:r>
            <a:r>
              <a:rPr sz="1800" spc="-5" dirty="0">
                <a:latin typeface="Times New Roman"/>
                <a:cs typeface="Times New Roman"/>
              </a:rPr>
              <a:t>is</a:t>
            </a:r>
            <a:r>
              <a:rPr sz="1800" spc="-10" dirty="0">
                <a:latin typeface="Times New Roman"/>
                <a:cs typeface="Times New Roman"/>
              </a:rPr>
              <a:t> </a:t>
            </a:r>
            <a:r>
              <a:rPr sz="1800" dirty="0">
                <a:solidFill>
                  <a:srgbClr val="C00000"/>
                </a:solidFill>
                <a:latin typeface="Times New Roman"/>
                <a:cs typeface="Times New Roman"/>
              </a:rPr>
              <a:t>etidine</a:t>
            </a:r>
            <a:endParaRPr sz="1800" dirty="0">
              <a:latin typeface="Times New Roman"/>
              <a:cs typeface="Times New Roman"/>
            </a:endParaRPr>
          </a:p>
          <a:p>
            <a:pPr marL="355600" marR="5080" indent="-342900" algn="just">
              <a:lnSpc>
                <a:spcPct val="100000"/>
              </a:lnSpc>
              <a:spcBef>
                <a:spcPts val="434"/>
              </a:spcBef>
              <a:buFont typeface="Arial MT"/>
              <a:buChar char="•"/>
              <a:tabLst>
                <a:tab pos="355600" algn="l"/>
              </a:tabLst>
            </a:pPr>
            <a:r>
              <a:rPr sz="1800" spc="-10" dirty="0">
                <a:latin typeface="Times New Roman"/>
                <a:cs typeface="Times New Roman"/>
              </a:rPr>
              <a:t>By</a:t>
            </a:r>
            <a:r>
              <a:rPr sz="1800" spc="-5" dirty="0">
                <a:latin typeface="Times New Roman"/>
                <a:cs typeface="Times New Roman"/>
              </a:rPr>
              <a:t> </a:t>
            </a:r>
            <a:r>
              <a:rPr sz="1800" dirty="0">
                <a:latin typeface="Times New Roman"/>
                <a:cs typeface="Times New Roman"/>
              </a:rPr>
              <a:t>combining</a:t>
            </a:r>
            <a:r>
              <a:rPr sz="1800" spc="5" dirty="0">
                <a:latin typeface="Times New Roman"/>
                <a:cs typeface="Times New Roman"/>
              </a:rPr>
              <a:t> </a:t>
            </a:r>
            <a:r>
              <a:rPr sz="1800" dirty="0">
                <a:latin typeface="Times New Roman"/>
                <a:cs typeface="Times New Roman"/>
              </a:rPr>
              <a:t>the</a:t>
            </a:r>
            <a:r>
              <a:rPr sz="1800" spc="5" dirty="0">
                <a:latin typeface="Times New Roman"/>
                <a:cs typeface="Times New Roman"/>
              </a:rPr>
              <a:t> </a:t>
            </a:r>
            <a:r>
              <a:rPr sz="1800" dirty="0">
                <a:latin typeface="Times New Roman"/>
                <a:cs typeface="Times New Roman"/>
              </a:rPr>
              <a:t>prefix</a:t>
            </a:r>
            <a:r>
              <a:rPr sz="1800" spc="5" dirty="0">
                <a:latin typeface="Times New Roman"/>
                <a:cs typeface="Times New Roman"/>
              </a:rPr>
              <a:t> </a:t>
            </a:r>
            <a:r>
              <a:rPr sz="1800" dirty="0">
                <a:latin typeface="Times New Roman"/>
                <a:cs typeface="Times New Roman"/>
              </a:rPr>
              <a:t>and</a:t>
            </a:r>
            <a:r>
              <a:rPr sz="1800" spc="5" dirty="0">
                <a:latin typeface="Times New Roman"/>
                <a:cs typeface="Times New Roman"/>
              </a:rPr>
              <a:t> </a:t>
            </a:r>
            <a:r>
              <a:rPr sz="1800" spc="-10" dirty="0">
                <a:latin typeface="Times New Roman"/>
                <a:cs typeface="Times New Roman"/>
              </a:rPr>
              <a:t>suffix,</a:t>
            </a:r>
            <a:r>
              <a:rPr sz="1800" spc="-5" dirty="0">
                <a:latin typeface="Times New Roman"/>
                <a:cs typeface="Times New Roman"/>
              </a:rPr>
              <a:t> </a:t>
            </a:r>
            <a:r>
              <a:rPr sz="1800" dirty="0">
                <a:latin typeface="Times New Roman"/>
                <a:cs typeface="Times New Roman"/>
              </a:rPr>
              <a:t>two</a:t>
            </a:r>
            <a:r>
              <a:rPr sz="1800" spc="5" dirty="0">
                <a:latin typeface="Times New Roman"/>
                <a:cs typeface="Times New Roman"/>
              </a:rPr>
              <a:t> </a:t>
            </a:r>
            <a:r>
              <a:rPr sz="1800" spc="-5" dirty="0">
                <a:latin typeface="Times New Roman"/>
                <a:cs typeface="Times New Roman"/>
              </a:rPr>
              <a:t>vowels</a:t>
            </a:r>
            <a:r>
              <a:rPr sz="1800" dirty="0">
                <a:latin typeface="Times New Roman"/>
                <a:cs typeface="Times New Roman"/>
              </a:rPr>
              <a:t> ended</a:t>
            </a:r>
            <a:r>
              <a:rPr sz="1800" spc="5" dirty="0">
                <a:latin typeface="Times New Roman"/>
                <a:cs typeface="Times New Roman"/>
              </a:rPr>
              <a:t> </a:t>
            </a:r>
            <a:r>
              <a:rPr sz="1800" spc="-10" dirty="0">
                <a:latin typeface="Times New Roman"/>
                <a:cs typeface="Times New Roman"/>
              </a:rPr>
              <a:t>up</a:t>
            </a:r>
            <a:r>
              <a:rPr sz="1800" spc="-5" dirty="0">
                <a:latin typeface="Times New Roman"/>
                <a:cs typeface="Times New Roman"/>
              </a:rPr>
              <a:t> together</a:t>
            </a:r>
            <a:r>
              <a:rPr sz="1800" dirty="0">
                <a:latin typeface="Times New Roman"/>
                <a:cs typeface="Times New Roman"/>
              </a:rPr>
              <a:t> </a:t>
            </a:r>
            <a:r>
              <a:rPr sz="1800" spc="-5" dirty="0">
                <a:latin typeface="Times New Roman"/>
                <a:cs typeface="Times New Roman"/>
              </a:rPr>
              <a:t>(</a:t>
            </a:r>
            <a:r>
              <a:rPr sz="1800" spc="-5" dirty="0">
                <a:solidFill>
                  <a:srgbClr val="C00000"/>
                </a:solidFill>
                <a:latin typeface="Times New Roman"/>
                <a:cs typeface="Times New Roman"/>
              </a:rPr>
              <a:t>1,2-oaxazaetidine</a:t>
            </a:r>
            <a:r>
              <a:rPr sz="1800" spc="-5" dirty="0">
                <a:latin typeface="Times New Roman"/>
                <a:cs typeface="Times New Roman"/>
              </a:rPr>
              <a:t>), therefore </a:t>
            </a:r>
            <a:r>
              <a:rPr sz="1800" dirty="0">
                <a:latin typeface="Times New Roman"/>
                <a:cs typeface="Times New Roman"/>
              </a:rPr>
              <a:t>the </a:t>
            </a:r>
            <a:r>
              <a:rPr sz="1800" spc="-5" dirty="0">
                <a:latin typeface="Times New Roman"/>
                <a:cs typeface="Times New Roman"/>
              </a:rPr>
              <a:t>vowel </a:t>
            </a:r>
            <a:r>
              <a:rPr sz="1800" dirty="0">
                <a:latin typeface="Times New Roman"/>
                <a:cs typeface="Times New Roman"/>
              </a:rPr>
              <a:t>on the end of the </a:t>
            </a:r>
            <a:r>
              <a:rPr sz="1800" spc="-5" dirty="0">
                <a:latin typeface="Times New Roman"/>
                <a:cs typeface="Times New Roman"/>
              </a:rPr>
              <a:t>first </a:t>
            </a:r>
            <a:r>
              <a:rPr sz="1800" dirty="0">
                <a:latin typeface="Times New Roman"/>
                <a:cs typeface="Times New Roman"/>
              </a:rPr>
              <a:t>part should be </a:t>
            </a:r>
            <a:r>
              <a:rPr sz="1800" spc="-5" dirty="0">
                <a:latin typeface="Times New Roman"/>
                <a:cs typeface="Times New Roman"/>
              </a:rPr>
              <a:t>dropped. </a:t>
            </a:r>
            <a:r>
              <a:rPr sz="1800" dirty="0">
                <a:latin typeface="Times New Roman"/>
                <a:cs typeface="Times New Roman"/>
              </a:rPr>
              <a:t> This</a:t>
            </a:r>
            <a:r>
              <a:rPr sz="1800" spc="-15" dirty="0">
                <a:latin typeface="Times New Roman"/>
                <a:cs typeface="Times New Roman"/>
              </a:rPr>
              <a:t> </a:t>
            </a:r>
            <a:r>
              <a:rPr sz="1800" dirty="0">
                <a:latin typeface="Times New Roman"/>
                <a:cs typeface="Times New Roman"/>
              </a:rPr>
              <a:t>gives</a:t>
            </a:r>
            <a:r>
              <a:rPr sz="1800" spc="-10" dirty="0">
                <a:latin typeface="Times New Roman"/>
                <a:cs typeface="Times New Roman"/>
              </a:rPr>
              <a:t> </a:t>
            </a:r>
            <a:r>
              <a:rPr sz="1800" dirty="0">
                <a:latin typeface="Times New Roman"/>
                <a:cs typeface="Times New Roman"/>
              </a:rPr>
              <a:t>the correct</a:t>
            </a:r>
            <a:r>
              <a:rPr sz="1800" spc="-15" dirty="0">
                <a:latin typeface="Times New Roman"/>
                <a:cs typeface="Times New Roman"/>
              </a:rPr>
              <a:t> </a:t>
            </a:r>
            <a:r>
              <a:rPr sz="1800" dirty="0">
                <a:latin typeface="Times New Roman"/>
                <a:cs typeface="Times New Roman"/>
              </a:rPr>
              <a:t>name:</a:t>
            </a:r>
            <a:br>
              <a:rPr lang="en-GB" sz="1800" dirty="0">
                <a:latin typeface="Times New Roman"/>
                <a:cs typeface="Times New Roman"/>
              </a:rPr>
            </a:br>
            <a:r>
              <a:rPr sz="1800" dirty="0">
                <a:solidFill>
                  <a:srgbClr val="C00000"/>
                </a:solidFill>
                <a:latin typeface="Times New Roman"/>
                <a:cs typeface="Times New Roman"/>
              </a:rPr>
              <a:t>1,2-oxazetidine</a:t>
            </a:r>
            <a:endParaRPr sz="1800" dirty="0">
              <a:latin typeface="Times New Roman"/>
              <a:cs typeface="Times New Roman"/>
            </a:endParaRPr>
          </a:p>
        </p:txBody>
      </p:sp>
      <p:sp>
        <p:nvSpPr>
          <p:cNvPr id="10" name="TextBox 9">
            <a:extLst>
              <a:ext uri="{FF2B5EF4-FFF2-40B4-BE49-F238E27FC236}">
                <a16:creationId xmlns:a16="http://schemas.microsoft.com/office/drawing/2014/main" id="{D4B8EBF9-FD3D-43CE-BD2B-F80D7E55D39B}"/>
              </a:ext>
            </a:extLst>
          </p:cNvPr>
          <p:cNvSpPr txBox="1"/>
          <p:nvPr/>
        </p:nvSpPr>
        <p:spPr>
          <a:xfrm>
            <a:off x="189362" y="57270"/>
            <a:ext cx="11677365" cy="369332"/>
          </a:xfrm>
          <a:prstGeom prst="rect">
            <a:avLst/>
          </a:prstGeom>
        </p:spPr>
        <p:style>
          <a:lnRef idx="1">
            <a:schemeClr val="accent6"/>
          </a:lnRef>
          <a:fillRef idx="2">
            <a:schemeClr val="accent6"/>
          </a:fillRef>
          <a:effectRef idx="1">
            <a:schemeClr val="accent6"/>
          </a:effectRef>
          <a:fontRef idx="minor">
            <a:schemeClr val="dk1"/>
          </a:fontRef>
        </p:style>
        <p:txBody>
          <a:bodyPr wrap="square">
            <a:spAutoFit/>
          </a:bodyPr>
          <a:lstStyle/>
          <a:p>
            <a:pPr algn="ctr"/>
            <a:r>
              <a:rPr lang="en-GB" sz="1800" b="1" spc="-5" dirty="0" err="1">
                <a:latin typeface="Times New Roman"/>
                <a:cs typeface="Times New Roman"/>
              </a:rPr>
              <a:t>Hantzsch</a:t>
            </a:r>
            <a:r>
              <a:rPr lang="en-GB" sz="1800" b="1" spc="-5" dirty="0">
                <a:latin typeface="Times New Roman"/>
                <a:cs typeface="Times New Roman"/>
              </a:rPr>
              <a:t>-Widman</a:t>
            </a:r>
            <a:r>
              <a:rPr lang="en-GB" sz="1800" b="1" spc="150" dirty="0">
                <a:latin typeface="Times New Roman"/>
                <a:cs typeface="Times New Roman"/>
              </a:rPr>
              <a:t> </a:t>
            </a:r>
            <a:r>
              <a:rPr lang="en-GB" sz="1800" b="1" spc="-5" dirty="0">
                <a:latin typeface="Times New Roman"/>
                <a:cs typeface="Times New Roman"/>
              </a:rPr>
              <a:t>rules</a:t>
            </a:r>
            <a:r>
              <a:rPr lang="en-GB" sz="1800" b="1" spc="130" dirty="0">
                <a:latin typeface="Times New Roman"/>
                <a:cs typeface="Times New Roman"/>
              </a:rPr>
              <a:t> </a:t>
            </a:r>
            <a:r>
              <a:rPr lang="en-GB" sz="1800" b="1" dirty="0">
                <a:latin typeface="Times New Roman"/>
                <a:cs typeface="Times New Roman"/>
              </a:rPr>
              <a:t>for</a:t>
            </a:r>
            <a:r>
              <a:rPr lang="en-GB" sz="1800" b="1" spc="155" dirty="0">
                <a:latin typeface="Times New Roman"/>
                <a:cs typeface="Times New Roman"/>
              </a:rPr>
              <a:t> </a:t>
            </a:r>
            <a:r>
              <a:rPr lang="en-GB" sz="1800" b="1" spc="-5" dirty="0">
                <a:latin typeface="Times New Roman"/>
                <a:cs typeface="Times New Roman"/>
              </a:rPr>
              <a:t>fully</a:t>
            </a:r>
            <a:r>
              <a:rPr lang="en-GB" sz="1800" b="1" spc="150" dirty="0">
                <a:latin typeface="Times New Roman"/>
                <a:cs typeface="Times New Roman"/>
              </a:rPr>
              <a:t> </a:t>
            </a:r>
            <a:r>
              <a:rPr lang="en-GB" sz="1800" b="1" spc="-5" dirty="0">
                <a:latin typeface="Times New Roman"/>
                <a:cs typeface="Times New Roman"/>
              </a:rPr>
              <a:t>saturated</a:t>
            </a:r>
            <a:r>
              <a:rPr lang="en-GB" sz="1800" b="1" spc="150" dirty="0">
                <a:latin typeface="Times New Roman"/>
                <a:cs typeface="Times New Roman"/>
              </a:rPr>
              <a:t> </a:t>
            </a:r>
            <a:r>
              <a:rPr lang="en-GB" sz="1800" b="1" dirty="0">
                <a:latin typeface="Times New Roman"/>
                <a:cs typeface="Times New Roman"/>
              </a:rPr>
              <a:t>and</a:t>
            </a:r>
            <a:r>
              <a:rPr lang="en-GB" sz="1800" b="1" spc="130" dirty="0">
                <a:latin typeface="Times New Roman"/>
                <a:cs typeface="Times New Roman"/>
              </a:rPr>
              <a:t> </a:t>
            </a:r>
            <a:r>
              <a:rPr lang="en-GB" sz="1800" b="1" spc="-5" dirty="0">
                <a:latin typeface="Times New Roman"/>
                <a:cs typeface="Times New Roman"/>
              </a:rPr>
              <a:t>fully</a:t>
            </a:r>
            <a:r>
              <a:rPr lang="en-GB" sz="1800" b="1" spc="150" dirty="0">
                <a:latin typeface="Times New Roman"/>
                <a:cs typeface="Times New Roman"/>
              </a:rPr>
              <a:t> </a:t>
            </a:r>
            <a:r>
              <a:rPr lang="en-GB" sz="1800" b="1" spc="-5" dirty="0">
                <a:latin typeface="Times New Roman"/>
                <a:cs typeface="Times New Roman"/>
              </a:rPr>
              <a:t>unsaturated </a:t>
            </a:r>
            <a:r>
              <a:rPr lang="en-GB" sz="1800" b="1" spc="-484" dirty="0">
                <a:latin typeface="Times New Roman"/>
                <a:cs typeface="Times New Roman"/>
              </a:rPr>
              <a:t> </a:t>
            </a:r>
            <a:r>
              <a:rPr lang="en-GB" sz="1800" b="1" dirty="0">
                <a:latin typeface="Times New Roman"/>
                <a:cs typeface="Times New Roman"/>
              </a:rPr>
              <a:t>heterocycles</a:t>
            </a:r>
            <a:endParaRPr lang="en-GB" dirty="0"/>
          </a:p>
        </p:txBody>
      </p:sp>
      <p:sp>
        <p:nvSpPr>
          <p:cNvPr id="12" name="TextBox 11">
            <a:extLst>
              <a:ext uri="{FF2B5EF4-FFF2-40B4-BE49-F238E27FC236}">
                <a16:creationId xmlns:a16="http://schemas.microsoft.com/office/drawing/2014/main" id="{9FC49DE7-1B9C-4B3C-A918-2FB1E92A1C7D}"/>
              </a:ext>
            </a:extLst>
          </p:cNvPr>
          <p:cNvSpPr txBox="1"/>
          <p:nvPr/>
        </p:nvSpPr>
        <p:spPr>
          <a:xfrm>
            <a:off x="2511187" y="884875"/>
            <a:ext cx="9355539" cy="1579920"/>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pPr marL="370840" indent="-343535">
              <a:lnSpc>
                <a:spcPct val="100000"/>
              </a:lnSpc>
              <a:buFont typeface="Arial MT"/>
              <a:buChar char="•"/>
              <a:tabLst>
                <a:tab pos="370840" algn="l"/>
                <a:tab pos="371475" algn="l"/>
              </a:tabLst>
            </a:pPr>
            <a:r>
              <a:rPr lang="en-GB" sz="1800" dirty="0">
                <a:latin typeface="Times New Roman"/>
                <a:cs typeface="Times New Roman"/>
              </a:rPr>
              <a:t>This</a:t>
            </a:r>
            <a:r>
              <a:rPr lang="en-GB" sz="1800" spc="-15" dirty="0">
                <a:latin typeface="Times New Roman"/>
                <a:cs typeface="Times New Roman"/>
              </a:rPr>
              <a:t> </a:t>
            </a:r>
            <a:r>
              <a:rPr lang="en-GB" sz="1800" dirty="0">
                <a:latin typeface="Times New Roman"/>
                <a:cs typeface="Times New Roman"/>
              </a:rPr>
              <a:t>ring</a:t>
            </a:r>
            <a:r>
              <a:rPr lang="en-GB" sz="1800" spc="-5" dirty="0">
                <a:latin typeface="Times New Roman"/>
                <a:cs typeface="Times New Roman"/>
              </a:rPr>
              <a:t> </a:t>
            </a:r>
            <a:r>
              <a:rPr lang="en-GB" sz="1800" dirty="0">
                <a:latin typeface="Times New Roman"/>
                <a:cs typeface="Times New Roman"/>
              </a:rPr>
              <a:t>contains</a:t>
            </a:r>
            <a:r>
              <a:rPr lang="en-GB" sz="1800" spc="-10" dirty="0">
                <a:latin typeface="Times New Roman"/>
                <a:cs typeface="Times New Roman"/>
              </a:rPr>
              <a:t> </a:t>
            </a:r>
            <a:r>
              <a:rPr lang="en-GB" sz="1800" spc="-5" dirty="0">
                <a:latin typeface="Times New Roman"/>
                <a:cs typeface="Times New Roman"/>
              </a:rPr>
              <a:t>(N):</a:t>
            </a:r>
            <a:r>
              <a:rPr lang="en-GB" sz="1800" spc="-10" dirty="0">
                <a:latin typeface="Times New Roman"/>
                <a:cs typeface="Times New Roman"/>
              </a:rPr>
              <a:t> </a:t>
            </a:r>
            <a:r>
              <a:rPr lang="en-GB" sz="1800" dirty="0">
                <a:latin typeface="Times New Roman"/>
                <a:cs typeface="Times New Roman"/>
              </a:rPr>
              <a:t>Prefix </a:t>
            </a:r>
            <a:r>
              <a:rPr lang="en-GB" sz="1800" spc="-5" dirty="0">
                <a:latin typeface="Times New Roman"/>
                <a:cs typeface="Times New Roman"/>
              </a:rPr>
              <a:t>is</a:t>
            </a:r>
            <a:r>
              <a:rPr lang="en-GB" sz="1800" spc="-50" dirty="0">
                <a:latin typeface="Times New Roman"/>
                <a:cs typeface="Times New Roman"/>
              </a:rPr>
              <a:t> </a:t>
            </a:r>
            <a:r>
              <a:rPr lang="en-GB" sz="1800" dirty="0" err="1">
                <a:solidFill>
                  <a:srgbClr val="C00000"/>
                </a:solidFill>
                <a:latin typeface="Times New Roman"/>
                <a:cs typeface="Times New Roman"/>
              </a:rPr>
              <a:t>aza</a:t>
            </a:r>
            <a:endParaRPr lang="en-GB" sz="1800" dirty="0">
              <a:latin typeface="Times New Roman"/>
              <a:cs typeface="Times New Roman"/>
            </a:endParaRPr>
          </a:p>
          <a:p>
            <a:pPr marL="370840" indent="-343535">
              <a:lnSpc>
                <a:spcPct val="100000"/>
              </a:lnSpc>
              <a:spcBef>
                <a:spcPts val="434"/>
              </a:spcBef>
              <a:buFont typeface="Arial MT"/>
              <a:buChar char="•"/>
              <a:tabLst>
                <a:tab pos="370840" algn="l"/>
                <a:tab pos="371475" algn="l"/>
              </a:tabLst>
            </a:pPr>
            <a:r>
              <a:rPr lang="en-GB" sz="1800" dirty="0">
                <a:latin typeface="Times New Roman"/>
                <a:cs typeface="Times New Roman"/>
              </a:rPr>
              <a:t>The</a:t>
            </a:r>
            <a:r>
              <a:rPr lang="en-GB" sz="1800" spc="-5" dirty="0">
                <a:latin typeface="Times New Roman"/>
                <a:cs typeface="Times New Roman"/>
              </a:rPr>
              <a:t> </a:t>
            </a:r>
            <a:r>
              <a:rPr lang="en-GB" sz="1800" dirty="0">
                <a:latin typeface="Times New Roman"/>
                <a:cs typeface="Times New Roman"/>
              </a:rPr>
              <a:t>ring </a:t>
            </a:r>
            <a:r>
              <a:rPr lang="en-GB" sz="1800" spc="-5" dirty="0">
                <a:latin typeface="Times New Roman"/>
                <a:cs typeface="Times New Roman"/>
              </a:rPr>
              <a:t>is 3-membered</a:t>
            </a:r>
            <a:r>
              <a:rPr lang="en-GB" sz="1800" dirty="0">
                <a:latin typeface="Times New Roman"/>
                <a:cs typeface="Times New Roman"/>
              </a:rPr>
              <a:t> and fully</a:t>
            </a:r>
            <a:r>
              <a:rPr lang="en-GB" sz="1800" spc="-20" dirty="0">
                <a:latin typeface="Times New Roman"/>
                <a:cs typeface="Times New Roman"/>
              </a:rPr>
              <a:t> </a:t>
            </a:r>
            <a:r>
              <a:rPr lang="en-GB" sz="1800" dirty="0">
                <a:latin typeface="Times New Roman"/>
                <a:cs typeface="Times New Roman"/>
              </a:rPr>
              <a:t>saturated:</a:t>
            </a:r>
            <a:r>
              <a:rPr lang="en-GB" sz="1800" spc="-20" dirty="0">
                <a:latin typeface="Times New Roman"/>
                <a:cs typeface="Times New Roman"/>
              </a:rPr>
              <a:t> </a:t>
            </a:r>
            <a:r>
              <a:rPr lang="en-GB" sz="1800" dirty="0">
                <a:latin typeface="Times New Roman"/>
                <a:cs typeface="Times New Roman"/>
              </a:rPr>
              <a:t>suffix</a:t>
            </a:r>
            <a:r>
              <a:rPr lang="en-GB" sz="1800" spc="5" dirty="0">
                <a:latin typeface="Times New Roman"/>
                <a:cs typeface="Times New Roman"/>
              </a:rPr>
              <a:t> </a:t>
            </a:r>
            <a:r>
              <a:rPr lang="en-GB" sz="1800" spc="-5" dirty="0">
                <a:latin typeface="Times New Roman"/>
                <a:cs typeface="Times New Roman"/>
              </a:rPr>
              <a:t>is</a:t>
            </a:r>
            <a:r>
              <a:rPr lang="en-GB" sz="1800" spc="10" dirty="0">
                <a:latin typeface="Times New Roman"/>
                <a:cs typeface="Times New Roman"/>
              </a:rPr>
              <a:t> </a:t>
            </a:r>
            <a:r>
              <a:rPr lang="en-GB" sz="1800" dirty="0" err="1">
                <a:solidFill>
                  <a:srgbClr val="C00000"/>
                </a:solidFill>
                <a:latin typeface="Times New Roman"/>
                <a:cs typeface="Times New Roman"/>
              </a:rPr>
              <a:t>iridine</a:t>
            </a:r>
            <a:endParaRPr lang="en-GB" sz="1800" dirty="0">
              <a:latin typeface="Times New Roman"/>
              <a:cs typeface="Times New Roman"/>
            </a:endParaRPr>
          </a:p>
          <a:p>
            <a:pPr marL="370840" marR="154940" indent="-342900">
              <a:lnSpc>
                <a:spcPct val="100000"/>
              </a:lnSpc>
              <a:spcBef>
                <a:spcPts val="430"/>
              </a:spcBef>
              <a:buFont typeface="Arial MT"/>
              <a:buChar char="•"/>
              <a:tabLst>
                <a:tab pos="370840" algn="l"/>
                <a:tab pos="371475" algn="l"/>
                <a:tab pos="1369695" algn="l"/>
              </a:tabLst>
            </a:pPr>
            <a:r>
              <a:rPr lang="en-GB" sz="1800" dirty="0">
                <a:latin typeface="Times New Roman"/>
                <a:cs typeface="Times New Roman"/>
              </a:rPr>
              <a:t>By combining the prefix and suffix, two </a:t>
            </a:r>
            <a:r>
              <a:rPr lang="en-GB" sz="1800" spc="-15" dirty="0">
                <a:latin typeface="Times New Roman"/>
                <a:cs typeface="Times New Roman"/>
              </a:rPr>
              <a:t>vowels</a:t>
            </a:r>
            <a:r>
              <a:rPr lang="en-GB" sz="1800" u="sng" spc="-15" dirty="0">
                <a:uFill>
                  <a:solidFill>
                    <a:srgbClr val="000000"/>
                  </a:solidFill>
                </a:uFill>
                <a:latin typeface="Times New Roman"/>
                <a:cs typeface="Times New Roman"/>
              </a:rPr>
              <a:t> </a:t>
            </a:r>
            <a:r>
              <a:rPr lang="en-GB" sz="1800" dirty="0">
                <a:latin typeface="Times New Roman"/>
                <a:cs typeface="Times New Roman"/>
              </a:rPr>
              <a:t>ended up together (</a:t>
            </a:r>
            <a:r>
              <a:rPr lang="en-GB" sz="1800" dirty="0" err="1">
                <a:solidFill>
                  <a:srgbClr val="C00000"/>
                </a:solidFill>
                <a:latin typeface="Times New Roman"/>
                <a:cs typeface="Times New Roman"/>
              </a:rPr>
              <a:t>azairidine</a:t>
            </a:r>
            <a:r>
              <a:rPr lang="en-GB" sz="1800" dirty="0">
                <a:latin typeface="Times New Roman"/>
                <a:cs typeface="Times New Roman"/>
              </a:rPr>
              <a:t>), </a:t>
            </a:r>
            <a:r>
              <a:rPr lang="en-GB" sz="1800" spc="5" dirty="0">
                <a:latin typeface="Times New Roman"/>
                <a:cs typeface="Times New Roman"/>
              </a:rPr>
              <a:t> </a:t>
            </a:r>
            <a:r>
              <a:rPr lang="en-GB" sz="1800" dirty="0">
                <a:latin typeface="Times New Roman"/>
                <a:cs typeface="Times New Roman"/>
              </a:rPr>
              <a:t>therefore	the vowel on the end of the first part should be dropped. This gives the </a:t>
            </a:r>
            <a:r>
              <a:rPr lang="en-GB" sz="1800" spc="-434" dirty="0">
                <a:latin typeface="Times New Roman"/>
                <a:cs typeface="Times New Roman"/>
              </a:rPr>
              <a:t> </a:t>
            </a:r>
            <a:r>
              <a:rPr lang="en-GB" sz="1800" dirty="0">
                <a:latin typeface="Times New Roman"/>
                <a:cs typeface="Times New Roman"/>
              </a:rPr>
              <a:t>correct</a:t>
            </a:r>
            <a:r>
              <a:rPr lang="en-GB" sz="1800" spc="-20" dirty="0">
                <a:latin typeface="Times New Roman"/>
                <a:cs typeface="Times New Roman"/>
              </a:rPr>
              <a:t> </a:t>
            </a:r>
            <a:r>
              <a:rPr lang="en-GB" sz="1800" dirty="0">
                <a:latin typeface="Times New Roman"/>
                <a:cs typeface="Times New Roman"/>
              </a:rPr>
              <a:t>name:</a:t>
            </a:r>
            <a:r>
              <a:rPr lang="en-GB" sz="1800" spc="-15" dirty="0">
                <a:latin typeface="Times New Roman"/>
                <a:cs typeface="Times New Roman"/>
              </a:rPr>
              <a:t> </a:t>
            </a:r>
            <a:r>
              <a:rPr lang="en-GB" sz="1800" dirty="0">
                <a:solidFill>
                  <a:srgbClr val="C00000"/>
                </a:solidFill>
                <a:latin typeface="Times New Roman"/>
                <a:cs typeface="Times New Roman"/>
              </a:rPr>
              <a:t>Aziridine</a:t>
            </a:r>
            <a:endParaRPr lang="en-GB" sz="1800" dirty="0">
              <a:latin typeface="Times New Roman"/>
              <a:cs typeface="Times New Roman"/>
            </a:endParaRPr>
          </a:p>
        </p:txBody>
      </p:sp>
      <p:sp>
        <p:nvSpPr>
          <p:cNvPr id="14" name="TextBox 13">
            <a:extLst>
              <a:ext uri="{FF2B5EF4-FFF2-40B4-BE49-F238E27FC236}">
                <a16:creationId xmlns:a16="http://schemas.microsoft.com/office/drawing/2014/main" id="{AFD52B09-3E16-4D8C-802E-4496AAC05610}"/>
              </a:ext>
            </a:extLst>
          </p:cNvPr>
          <p:cNvSpPr txBox="1"/>
          <p:nvPr/>
        </p:nvSpPr>
        <p:spPr>
          <a:xfrm>
            <a:off x="-206791" y="1969454"/>
            <a:ext cx="2217761" cy="369332"/>
          </a:xfrm>
          <a:prstGeom prst="rect">
            <a:avLst/>
          </a:prstGeom>
          <a:noFill/>
        </p:spPr>
        <p:txBody>
          <a:bodyPr wrap="square">
            <a:spAutoFit/>
          </a:bodyPr>
          <a:lstStyle/>
          <a:p>
            <a:pPr marL="1106170">
              <a:lnSpc>
                <a:spcPct val="100000"/>
              </a:lnSpc>
              <a:spcBef>
                <a:spcPts val="100"/>
              </a:spcBef>
            </a:pPr>
            <a:r>
              <a:rPr lang="en-GB" sz="1800" b="1" spc="-5" dirty="0">
                <a:solidFill>
                  <a:srgbClr val="006FC0"/>
                </a:solidFill>
                <a:latin typeface="Times New Roman"/>
                <a:cs typeface="Times New Roman"/>
              </a:rPr>
              <a:t>Aziridine</a:t>
            </a:r>
            <a:endParaRPr lang="en-GB" sz="1800" dirty="0">
              <a:latin typeface="Times New Roman"/>
              <a:cs typeface="Times New Roman"/>
            </a:endParaRPr>
          </a:p>
        </p:txBody>
      </p:sp>
      <p:pic>
        <p:nvPicPr>
          <p:cNvPr id="16" name="Рисунок 15">
            <a:extLst>
              <a:ext uri="{FF2B5EF4-FFF2-40B4-BE49-F238E27FC236}">
                <a16:creationId xmlns:a16="http://schemas.microsoft.com/office/drawing/2014/main" id="{5331E989-D1C5-4CD4-A2A9-8F77961FEE11}"/>
              </a:ext>
            </a:extLst>
          </p:cNvPr>
          <p:cNvPicPr>
            <a:picLocks noChangeAspect="1"/>
          </p:cNvPicPr>
          <p:nvPr/>
        </p:nvPicPr>
        <p:blipFill>
          <a:blip r:embed="rId2"/>
          <a:stretch>
            <a:fillRect/>
          </a:stretch>
        </p:blipFill>
        <p:spPr>
          <a:xfrm>
            <a:off x="899574" y="2693858"/>
            <a:ext cx="1222359" cy="1023370"/>
          </a:xfrm>
          <a:prstGeom prst="rect">
            <a:avLst/>
          </a:prstGeom>
        </p:spPr>
      </p:pic>
      <p:sp>
        <p:nvSpPr>
          <p:cNvPr id="18" name="TextBox 17">
            <a:extLst>
              <a:ext uri="{FF2B5EF4-FFF2-40B4-BE49-F238E27FC236}">
                <a16:creationId xmlns:a16="http://schemas.microsoft.com/office/drawing/2014/main" id="{0F7666B0-9507-45ED-93BE-38D127EDFEBE}"/>
              </a:ext>
            </a:extLst>
          </p:cNvPr>
          <p:cNvSpPr txBox="1"/>
          <p:nvPr/>
        </p:nvSpPr>
        <p:spPr>
          <a:xfrm>
            <a:off x="96468" y="5092518"/>
            <a:ext cx="577215" cy="461665"/>
          </a:xfrm>
          <a:prstGeom prst="rect">
            <a:avLst/>
          </a:prstGeom>
          <a:noFill/>
        </p:spPr>
        <p:txBody>
          <a:bodyPr wrap="square">
            <a:spAutoFit/>
          </a:bodyPr>
          <a:lstStyle/>
          <a:p>
            <a:r>
              <a:rPr lang="en-GB" sz="2400" b="1" spc="-5" dirty="0">
                <a:solidFill>
                  <a:srgbClr val="002060"/>
                </a:solidFill>
                <a:latin typeface="Times New Roman"/>
                <a:cs typeface="Times New Roman"/>
              </a:rPr>
              <a:t>3)</a:t>
            </a:r>
            <a:endParaRPr lang="en-GB" sz="2400" dirty="0">
              <a:solidFill>
                <a:srgbClr val="002060"/>
              </a:solidFill>
            </a:endParaRPr>
          </a:p>
        </p:txBody>
      </p:sp>
      <p:sp>
        <p:nvSpPr>
          <p:cNvPr id="19" name="TextBox 18">
            <a:extLst>
              <a:ext uri="{FF2B5EF4-FFF2-40B4-BE49-F238E27FC236}">
                <a16:creationId xmlns:a16="http://schemas.microsoft.com/office/drawing/2014/main" id="{84C1823D-C6A2-4505-9FEA-9A0FA7DD81F6}"/>
              </a:ext>
            </a:extLst>
          </p:cNvPr>
          <p:cNvSpPr txBox="1"/>
          <p:nvPr/>
        </p:nvSpPr>
        <p:spPr>
          <a:xfrm>
            <a:off x="424719" y="1599951"/>
            <a:ext cx="577215" cy="461665"/>
          </a:xfrm>
          <a:prstGeom prst="rect">
            <a:avLst/>
          </a:prstGeom>
          <a:noFill/>
        </p:spPr>
        <p:txBody>
          <a:bodyPr wrap="square">
            <a:spAutoFit/>
          </a:bodyPr>
          <a:lstStyle/>
          <a:p>
            <a:r>
              <a:rPr lang="en-GB" sz="2400" b="1" spc="-5" dirty="0">
                <a:solidFill>
                  <a:srgbClr val="002060"/>
                </a:solidFill>
                <a:latin typeface="Times New Roman"/>
                <a:cs typeface="Times New Roman"/>
              </a:rPr>
              <a:t>1)</a:t>
            </a:r>
            <a:endParaRPr lang="en-GB" sz="2400" dirty="0">
              <a:solidFill>
                <a:srgbClr val="002060"/>
              </a:solidFill>
            </a:endParaRPr>
          </a:p>
        </p:txBody>
      </p:sp>
      <p:sp>
        <p:nvSpPr>
          <p:cNvPr id="23" name="TextBox 22">
            <a:extLst>
              <a:ext uri="{FF2B5EF4-FFF2-40B4-BE49-F238E27FC236}">
                <a16:creationId xmlns:a16="http://schemas.microsoft.com/office/drawing/2014/main" id="{9D280DBA-5B89-4800-B673-25C3EB5A26B7}"/>
              </a:ext>
            </a:extLst>
          </p:cNvPr>
          <p:cNvSpPr txBox="1"/>
          <p:nvPr/>
        </p:nvSpPr>
        <p:spPr>
          <a:xfrm>
            <a:off x="-3690013" y="3641999"/>
            <a:ext cx="6098843" cy="361637"/>
          </a:xfrm>
          <a:prstGeom prst="rect">
            <a:avLst/>
          </a:prstGeom>
          <a:noFill/>
        </p:spPr>
        <p:txBody>
          <a:bodyPr wrap="square">
            <a:spAutoFit/>
          </a:bodyPr>
          <a:lstStyle/>
          <a:p>
            <a:pPr marL="4373880">
              <a:lnSpc>
                <a:spcPts val="2070"/>
              </a:lnSpc>
            </a:pPr>
            <a:r>
              <a:rPr lang="en-GB" sz="1800" b="1" spc="-5" dirty="0">
                <a:solidFill>
                  <a:srgbClr val="006FC0"/>
                </a:solidFill>
                <a:latin typeface="Times New Roman"/>
                <a:cs typeface="Times New Roman"/>
              </a:rPr>
              <a:t>1,2-oxazetidine</a:t>
            </a:r>
            <a:endParaRPr lang="en-GB" sz="1800" dirty="0">
              <a:latin typeface="Times New Roman"/>
              <a:cs typeface="Times New Roman"/>
            </a:endParaRPr>
          </a:p>
        </p:txBody>
      </p:sp>
      <p:pic>
        <p:nvPicPr>
          <p:cNvPr id="25" name="Рисунок 24">
            <a:extLst>
              <a:ext uri="{FF2B5EF4-FFF2-40B4-BE49-F238E27FC236}">
                <a16:creationId xmlns:a16="http://schemas.microsoft.com/office/drawing/2014/main" id="{4930A827-9404-44A2-81D2-4DAFA14F0719}"/>
              </a:ext>
            </a:extLst>
          </p:cNvPr>
          <p:cNvPicPr>
            <a:picLocks noChangeAspect="1"/>
          </p:cNvPicPr>
          <p:nvPr/>
        </p:nvPicPr>
        <p:blipFill>
          <a:blip r:embed="rId3"/>
          <a:stretch>
            <a:fillRect/>
          </a:stretch>
        </p:blipFill>
        <p:spPr>
          <a:xfrm>
            <a:off x="548196" y="4711375"/>
            <a:ext cx="5251235" cy="1327235"/>
          </a:xfrm>
          <a:prstGeom prst="rect">
            <a:avLst/>
          </a:prstGeom>
        </p:spPr>
      </p:pic>
      <p:sp>
        <p:nvSpPr>
          <p:cNvPr id="26" name="TextBox 25">
            <a:extLst>
              <a:ext uri="{FF2B5EF4-FFF2-40B4-BE49-F238E27FC236}">
                <a16:creationId xmlns:a16="http://schemas.microsoft.com/office/drawing/2014/main" id="{99EDB7F2-A339-4674-B824-47C7ECCD7C35}"/>
              </a:ext>
            </a:extLst>
          </p:cNvPr>
          <p:cNvSpPr txBox="1"/>
          <p:nvPr/>
        </p:nvSpPr>
        <p:spPr>
          <a:xfrm>
            <a:off x="577119" y="3127110"/>
            <a:ext cx="577215" cy="461665"/>
          </a:xfrm>
          <a:prstGeom prst="rect">
            <a:avLst/>
          </a:prstGeom>
          <a:noFill/>
        </p:spPr>
        <p:txBody>
          <a:bodyPr wrap="square">
            <a:spAutoFit/>
          </a:bodyPr>
          <a:lstStyle/>
          <a:p>
            <a:r>
              <a:rPr lang="en-GB" sz="2400" b="1" spc="-5" dirty="0">
                <a:solidFill>
                  <a:srgbClr val="002060"/>
                </a:solidFill>
                <a:latin typeface="Times New Roman"/>
                <a:cs typeface="Times New Roman"/>
              </a:rPr>
              <a:t>2)</a:t>
            </a:r>
            <a:endParaRPr lang="en-GB" sz="2400" dirty="0">
              <a:solidFill>
                <a:srgbClr val="002060"/>
              </a:solidFill>
            </a:endParaRPr>
          </a:p>
        </p:txBody>
      </p:sp>
      <p:sp>
        <p:nvSpPr>
          <p:cNvPr id="27" name="TextBox 26">
            <a:extLst>
              <a:ext uri="{FF2B5EF4-FFF2-40B4-BE49-F238E27FC236}">
                <a16:creationId xmlns:a16="http://schemas.microsoft.com/office/drawing/2014/main" id="{96265A28-6855-49AD-9C35-C3BDB5652FA3}"/>
              </a:ext>
            </a:extLst>
          </p:cNvPr>
          <p:cNvSpPr txBox="1"/>
          <p:nvPr/>
        </p:nvSpPr>
        <p:spPr>
          <a:xfrm>
            <a:off x="6028044" y="5134639"/>
            <a:ext cx="577215" cy="461665"/>
          </a:xfrm>
          <a:prstGeom prst="rect">
            <a:avLst/>
          </a:prstGeom>
          <a:noFill/>
        </p:spPr>
        <p:txBody>
          <a:bodyPr wrap="square">
            <a:spAutoFit/>
          </a:bodyPr>
          <a:lstStyle/>
          <a:p>
            <a:r>
              <a:rPr lang="en-GB" sz="2400" b="1" spc="-5" dirty="0">
                <a:solidFill>
                  <a:srgbClr val="002060"/>
                </a:solidFill>
                <a:latin typeface="Times New Roman"/>
                <a:cs typeface="Times New Roman"/>
              </a:rPr>
              <a:t>4)</a:t>
            </a:r>
            <a:endParaRPr lang="en-GB" sz="2400" dirty="0">
              <a:solidFill>
                <a:srgbClr val="002060"/>
              </a:solidFill>
            </a:endParaRPr>
          </a:p>
        </p:txBody>
      </p:sp>
      <p:pic>
        <p:nvPicPr>
          <p:cNvPr id="29" name="Рисунок 28">
            <a:extLst>
              <a:ext uri="{FF2B5EF4-FFF2-40B4-BE49-F238E27FC236}">
                <a16:creationId xmlns:a16="http://schemas.microsoft.com/office/drawing/2014/main" id="{A9C38F00-F010-47EF-9745-70DA36C93B6D}"/>
              </a:ext>
            </a:extLst>
          </p:cNvPr>
          <p:cNvPicPr>
            <a:picLocks noChangeAspect="1"/>
          </p:cNvPicPr>
          <p:nvPr/>
        </p:nvPicPr>
        <p:blipFill>
          <a:blip r:embed="rId4"/>
          <a:stretch>
            <a:fillRect/>
          </a:stretch>
        </p:blipFill>
        <p:spPr>
          <a:xfrm>
            <a:off x="6574188" y="4795397"/>
            <a:ext cx="5292537" cy="1243213"/>
          </a:xfrm>
          <a:prstGeom prst="rect">
            <a:avLst/>
          </a:prstGeom>
        </p:spPr>
      </p:pic>
      <p:pic>
        <p:nvPicPr>
          <p:cNvPr id="30" name="Рисунок 29">
            <a:extLst>
              <a:ext uri="{FF2B5EF4-FFF2-40B4-BE49-F238E27FC236}">
                <a16:creationId xmlns:a16="http://schemas.microsoft.com/office/drawing/2014/main" id="{4C2763A3-15AA-48C0-B97A-EAC956DE8C45}"/>
              </a:ext>
            </a:extLst>
          </p:cNvPr>
          <p:cNvPicPr>
            <a:picLocks noChangeAspect="1"/>
          </p:cNvPicPr>
          <p:nvPr/>
        </p:nvPicPr>
        <p:blipFill rotWithShape="1">
          <a:blip r:embed="rId4"/>
          <a:srcRect l="31944"/>
          <a:stretch/>
        </p:blipFill>
        <p:spPr>
          <a:xfrm>
            <a:off x="8181264" y="4701743"/>
            <a:ext cx="3601872" cy="1243213"/>
          </a:xfrm>
          <a:prstGeom prst="rect">
            <a:avLst/>
          </a:prstGeom>
        </p:spPr>
      </p:pic>
    </p:spTree>
    <p:extLst>
      <p:ext uri="{BB962C8B-B14F-4D97-AF65-F5344CB8AC3E}">
        <p14:creationId xmlns:p14="http://schemas.microsoft.com/office/powerpoint/2010/main" val="329050864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a:extLst>
              <a:ext uri="{FF2B5EF4-FFF2-40B4-BE49-F238E27FC236}">
                <a16:creationId xmlns:a16="http://schemas.microsoft.com/office/drawing/2014/main" id="{F99A8D73-AAAB-4488-9F25-F1DD7B5AF8BA}"/>
              </a:ext>
            </a:extLst>
          </p:cNvPr>
          <p:cNvSpPr>
            <a:spLocks noGrp="1"/>
          </p:cNvSpPr>
          <p:nvPr>
            <p:ph type="sldNum" sz="quarter" idx="12"/>
          </p:nvPr>
        </p:nvSpPr>
        <p:spPr/>
        <p:txBody>
          <a:bodyPr/>
          <a:lstStyle/>
          <a:p>
            <a:fld id="{93C419CB-0CF1-4F10-90F9-42551F8968FF}" type="slidenum">
              <a:rPr lang="en-GB" smtClean="0"/>
              <a:t>22</a:t>
            </a:fld>
            <a:endParaRPr lang="en-GB"/>
          </a:p>
        </p:txBody>
      </p:sp>
      <p:pic>
        <p:nvPicPr>
          <p:cNvPr id="6" name="Рисунок 5">
            <a:extLst>
              <a:ext uri="{FF2B5EF4-FFF2-40B4-BE49-F238E27FC236}">
                <a16:creationId xmlns:a16="http://schemas.microsoft.com/office/drawing/2014/main" id="{D31AD868-3753-431D-B08B-DCE2E0FC4E91}"/>
              </a:ext>
            </a:extLst>
          </p:cNvPr>
          <p:cNvPicPr>
            <a:picLocks noChangeAspect="1"/>
          </p:cNvPicPr>
          <p:nvPr/>
        </p:nvPicPr>
        <p:blipFill rotWithShape="1">
          <a:blip r:embed="rId2"/>
          <a:srcRect l="818" t="1299" r="1270" b="2309"/>
          <a:stretch/>
        </p:blipFill>
        <p:spPr>
          <a:xfrm>
            <a:off x="1132764" y="614149"/>
            <a:ext cx="9880980" cy="5288508"/>
          </a:xfrm>
          <a:prstGeom prst="rect">
            <a:avLst/>
          </a:prstGeom>
        </p:spPr>
      </p:pic>
    </p:spTree>
    <p:extLst>
      <p:ext uri="{BB962C8B-B14F-4D97-AF65-F5344CB8AC3E}">
        <p14:creationId xmlns:p14="http://schemas.microsoft.com/office/powerpoint/2010/main" val="5457532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a:extLst>
              <a:ext uri="{FF2B5EF4-FFF2-40B4-BE49-F238E27FC236}">
                <a16:creationId xmlns:a16="http://schemas.microsoft.com/office/drawing/2014/main" id="{779CE386-5ECD-4565-963A-689AD2F77A6B}"/>
              </a:ext>
            </a:extLst>
          </p:cNvPr>
          <p:cNvSpPr>
            <a:spLocks noGrp="1"/>
          </p:cNvSpPr>
          <p:nvPr>
            <p:ph type="sldNum" sz="quarter" idx="12"/>
          </p:nvPr>
        </p:nvSpPr>
        <p:spPr/>
        <p:txBody>
          <a:bodyPr/>
          <a:lstStyle/>
          <a:p>
            <a:fld id="{93C419CB-0CF1-4F10-90F9-42551F8968FF}" type="slidenum">
              <a:rPr lang="en-GB" smtClean="0"/>
              <a:t>23</a:t>
            </a:fld>
            <a:endParaRPr lang="en-GB"/>
          </a:p>
        </p:txBody>
      </p:sp>
      <p:pic>
        <p:nvPicPr>
          <p:cNvPr id="4" name="Рисунок 3">
            <a:extLst>
              <a:ext uri="{FF2B5EF4-FFF2-40B4-BE49-F238E27FC236}">
                <a16:creationId xmlns:a16="http://schemas.microsoft.com/office/drawing/2014/main" id="{9684D0CE-7772-4D07-B7EA-F90A7E9459E0}"/>
              </a:ext>
            </a:extLst>
          </p:cNvPr>
          <p:cNvPicPr>
            <a:picLocks noChangeAspect="1"/>
          </p:cNvPicPr>
          <p:nvPr/>
        </p:nvPicPr>
        <p:blipFill rotWithShape="1">
          <a:blip r:embed="rId3"/>
          <a:srcRect b="67987"/>
          <a:stretch/>
        </p:blipFill>
        <p:spPr>
          <a:xfrm>
            <a:off x="572423" y="947894"/>
            <a:ext cx="7628748" cy="1008946"/>
          </a:xfrm>
          <a:prstGeom prst="rect">
            <a:avLst/>
          </a:prstGeom>
        </p:spPr>
      </p:pic>
      <p:sp>
        <p:nvSpPr>
          <p:cNvPr id="6" name="TextBox 5">
            <a:extLst>
              <a:ext uri="{FF2B5EF4-FFF2-40B4-BE49-F238E27FC236}">
                <a16:creationId xmlns:a16="http://schemas.microsoft.com/office/drawing/2014/main" id="{0A2E4558-B122-436D-BB21-260124E6879A}"/>
              </a:ext>
            </a:extLst>
          </p:cNvPr>
          <p:cNvSpPr txBox="1"/>
          <p:nvPr/>
        </p:nvSpPr>
        <p:spPr>
          <a:xfrm>
            <a:off x="7409030" y="4798611"/>
            <a:ext cx="6097136" cy="400110"/>
          </a:xfrm>
          <a:prstGeom prst="rect">
            <a:avLst/>
          </a:prstGeom>
          <a:noFill/>
        </p:spPr>
        <p:txBody>
          <a:bodyPr wrap="square">
            <a:spAutoFit/>
          </a:bodyPr>
          <a:lstStyle/>
          <a:p>
            <a:r>
              <a:rPr lang="en-GB" sz="2000" i="1" u="sng" dirty="0">
                <a:solidFill>
                  <a:schemeClr val="accent1">
                    <a:lumMod val="75000"/>
                  </a:schemeClr>
                </a:solidFill>
              </a:rPr>
              <a:t>https://forms.gle/f6RUCcnU9nCfjUfj7</a:t>
            </a:r>
          </a:p>
        </p:txBody>
      </p:sp>
      <p:pic>
        <p:nvPicPr>
          <p:cNvPr id="7" name="Рисунок 6">
            <a:extLst>
              <a:ext uri="{FF2B5EF4-FFF2-40B4-BE49-F238E27FC236}">
                <a16:creationId xmlns:a16="http://schemas.microsoft.com/office/drawing/2014/main" id="{8E9B9F35-ABB9-490D-8DD3-81F464867FE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215651" y="1971866"/>
            <a:ext cx="2285999" cy="2285999"/>
          </a:xfrm>
          <a:prstGeom prst="rect">
            <a:avLst/>
          </a:prstGeom>
        </p:spPr>
      </p:pic>
      <p:sp>
        <p:nvSpPr>
          <p:cNvPr id="11" name="TextBox 10">
            <a:extLst>
              <a:ext uri="{FF2B5EF4-FFF2-40B4-BE49-F238E27FC236}">
                <a16:creationId xmlns:a16="http://schemas.microsoft.com/office/drawing/2014/main" id="{D39CB09E-A391-48C2-8FFC-D3DEC82EE870}"/>
              </a:ext>
            </a:extLst>
          </p:cNvPr>
          <p:cNvSpPr txBox="1"/>
          <p:nvPr/>
        </p:nvSpPr>
        <p:spPr>
          <a:xfrm>
            <a:off x="319017" y="255314"/>
            <a:ext cx="6097136" cy="584775"/>
          </a:xfrm>
          <a:prstGeom prst="rect">
            <a:avLst/>
          </a:prstGeom>
          <a:noFill/>
        </p:spPr>
        <p:txBody>
          <a:bodyPr wrap="square">
            <a:spAutoFit/>
          </a:bodyPr>
          <a:lstStyle/>
          <a:p>
            <a:r>
              <a:rPr lang="en-GB" sz="3200" b="1" dirty="0"/>
              <a:t>Task </a:t>
            </a:r>
            <a:r>
              <a:rPr lang="uk-UA" sz="3200" b="1" dirty="0"/>
              <a:t>2</a:t>
            </a:r>
            <a:r>
              <a:rPr lang="en-GB" sz="3200" b="1" dirty="0"/>
              <a:t>.</a:t>
            </a:r>
          </a:p>
        </p:txBody>
      </p:sp>
      <p:pic>
        <p:nvPicPr>
          <p:cNvPr id="13" name="Рисунок 12">
            <a:extLst>
              <a:ext uri="{FF2B5EF4-FFF2-40B4-BE49-F238E27FC236}">
                <a16:creationId xmlns:a16="http://schemas.microsoft.com/office/drawing/2014/main" id="{03908DE0-9E07-4F8E-A719-E98D75C099FA}"/>
              </a:ext>
            </a:extLst>
          </p:cNvPr>
          <p:cNvPicPr>
            <a:picLocks noChangeAspect="1"/>
          </p:cNvPicPr>
          <p:nvPr/>
        </p:nvPicPr>
        <p:blipFill>
          <a:blip r:embed="rId5"/>
          <a:stretch>
            <a:fillRect/>
          </a:stretch>
        </p:blipFill>
        <p:spPr>
          <a:xfrm>
            <a:off x="975332" y="3597463"/>
            <a:ext cx="7499928" cy="477066"/>
          </a:xfrm>
          <a:prstGeom prst="rect">
            <a:avLst/>
          </a:prstGeom>
        </p:spPr>
      </p:pic>
      <p:sp>
        <p:nvSpPr>
          <p:cNvPr id="14" name="TextBox 13">
            <a:extLst>
              <a:ext uri="{FF2B5EF4-FFF2-40B4-BE49-F238E27FC236}">
                <a16:creationId xmlns:a16="http://schemas.microsoft.com/office/drawing/2014/main" id="{C48E37C1-5743-48E8-8BFB-DA4F9D15DADE}"/>
              </a:ext>
            </a:extLst>
          </p:cNvPr>
          <p:cNvSpPr txBox="1"/>
          <p:nvPr/>
        </p:nvSpPr>
        <p:spPr>
          <a:xfrm>
            <a:off x="896834" y="3551309"/>
            <a:ext cx="7758827" cy="523220"/>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GB" sz="2800" b="1" dirty="0"/>
              <a:t>   A	</a:t>
            </a:r>
            <a:r>
              <a:rPr lang="uk-UA" sz="2800" b="1" dirty="0"/>
              <a:t>    </a:t>
            </a:r>
            <a:r>
              <a:rPr lang="en-GB" sz="2800" b="1" dirty="0"/>
              <a:t>       B	       C                D	             E	</a:t>
            </a:r>
          </a:p>
        </p:txBody>
      </p:sp>
      <p:graphicFrame>
        <p:nvGraphicFramePr>
          <p:cNvPr id="15" name="Объект 14">
            <a:extLst>
              <a:ext uri="{FF2B5EF4-FFF2-40B4-BE49-F238E27FC236}">
                <a16:creationId xmlns:a16="http://schemas.microsoft.com/office/drawing/2014/main" id="{739C3C82-CDFD-467D-AF09-71F4B81FBF4B}"/>
              </a:ext>
            </a:extLst>
          </p:cNvPr>
          <p:cNvGraphicFramePr>
            <a:graphicFrameLocks noChangeAspect="1"/>
          </p:cNvGraphicFramePr>
          <p:nvPr>
            <p:extLst>
              <p:ext uri="{D42A27DB-BD31-4B8C-83A1-F6EECF244321}">
                <p14:modId xmlns:p14="http://schemas.microsoft.com/office/powerpoint/2010/main" val="1999573174"/>
              </p:ext>
            </p:extLst>
          </p:nvPr>
        </p:nvGraphicFramePr>
        <p:xfrm>
          <a:off x="885807" y="2198383"/>
          <a:ext cx="7209864" cy="1102056"/>
        </p:xfrm>
        <a:graphic>
          <a:graphicData uri="http://schemas.openxmlformats.org/presentationml/2006/ole">
            <mc:AlternateContent xmlns:mc="http://schemas.openxmlformats.org/markup-compatibility/2006">
              <mc:Choice xmlns:v="urn:schemas-microsoft-com:vml" Requires="v">
                <p:oleObj spid="_x0000_s2129" name="CS ChemDraw Drawing" r:id="rId6" imgW="5785042" imgH="883675" progId="ChemDraw.Document.6.0">
                  <p:embed/>
                </p:oleObj>
              </mc:Choice>
              <mc:Fallback>
                <p:oleObj name="CS ChemDraw Drawing" r:id="rId6" imgW="5785042" imgH="883675" progId="ChemDraw.Document.6.0">
                  <p:embed/>
                  <p:pic>
                    <p:nvPicPr>
                      <p:cNvPr id="0" name=""/>
                      <p:cNvPicPr/>
                      <p:nvPr/>
                    </p:nvPicPr>
                    <p:blipFill>
                      <a:blip r:embed="rId7"/>
                      <a:stretch>
                        <a:fillRect/>
                      </a:stretch>
                    </p:blipFill>
                    <p:spPr>
                      <a:xfrm>
                        <a:off x="885807" y="2198383"/>
                        <a:ext cx="7209864" cy="1102056"/>
                      </a:xfrm>
                      <a:prstGeom prst="rect">
                        <a:avLst/>
                      </a:prstGeom>
                    </p:spPr>
                  </p:pic>
                </p:oleObj>
              </mc:Fallback>
            </mc:AlternateContent>
          </a:graphicData>
        </a:graphic>
      </p:graphicFrame>
      <p:sp>
        <p:nvSpPr>
          <p:cNvPr id="17" name="Прямоугольник 16">
            <a:extLst>
              <a:ext uri="{FF2B5EF4-FFF2-40B4-BE49-F238E27FC236}">
                <a16:creationId xmlns:a16="http://schemas.microsoft.com/office/drawing/2014/main" id="{FB242F91-52F5-4D93-BE58-C36606C9AD94}"/>
              </a:ext>
            </a:extLst>
          </p:cNvPr>
          <p:cNvSpPr/>
          <p:nvPr/>
        </p:nvSpPr>
        <p:spPr>
          <a:xfrm>
            <a:off x="572423" y="1471114"/>
            <a:ext cx="7628748" cy="4857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6" name="Рисунок 15">
            <a:extLst>
              <a:ext uri="{FF2B5EF4-FFF2-40B4-BE49-F238E27FC236}">
                <a16:creationId xmlns:a16="http://schemas.microsoft.com/office/drawing/2014/main" id="{91611415-611F-4F9D-9911-57E46427403C}"/>
              </a:ext>
            </a:extLst>
          </p:cNvPr>
          <p:cNvPicPr>
            <a:picLocks noChangeAspect="1"/>
          </p:cNvPicPr>
          <p:nvPr/>
        </p:nvPicPr>
        <p:blipFill rotWithShape="1">
          <a:blip r:embed="rId8"/>
          <a:srcRect l="18350" t="517" r="2" b="84504"/>
          <a:stretch/>
        </p:blipFill>
        <p:spPr>
          <a:xfrm>
            <a:off x="1129052" y="1565640"/>
            <a:ext cx="6157719" cy="436493"/>
          </a:xfrm>
          <a:prstGeom prst="rect">
            <a:avLst/>
          </a:prstGeom>
        </p:spPr>
      </p:pic>
    </p:spTree>
    <p:extLst>
      <p:ext uri="{BB962C8B-B14F-4D97-AF65-F5344CB8AC3E}">
        <p14:creationId xmlns:p14="http://schemas.microsoft.com/office/powerpoint/2010/main" val="9863908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a:extLst>
              <a:ext uri="{FF2B5EF4-FFF2-40B4-BE49-F238E27FC236}">
                <a16:creationId xmlns:a16="http://schemas.microsoft.com/office/drawing/2014/main" id="{BEC919AC-BC4B-4488-AB1C-61D9AE2815B8}"/>
              </a:ext>
            </a:extLst>
          </p:cNvPr>
          <p:cNvSpPr>
            <a:spLocks noGrp="1"/>
          </p:cNvSpPr>
          <p:nvPr>
            <p:ph type="sldNum" sz="quarter" idx="12"/>
          </p:nvPr>
        </p:nvSpPr>
        <p:spPr/>
        <p:txBody>
          <a:bodyPr/>
          <a:lstStyle/>
          <a:p>
            <a:fld id="{93C419CB-0CF1-4F10-90F9-42551F8968FF}" type="slidenum">
              <a:rPr lang="en-GB" smtClean="0"/>
              <a:t>24</a:t>
            </a:fld>
            <a:endParaRPr lang="en-GB"/>
          </a:p>
        </p:txBody>
      </p:sp>
      <p:sp>
        <p:nvSpPr>
          <p:cNvPr id="3" name="TextBox 2">
            <a:extLst>
              <a:ext uri="{FF2B5EF4-FFF2-40B4-BE49-F238E27FC236}">
                <a16:creationId xmlns:a16="http://schemas.microsoft.com/office/drawing/2014/main" id="{17F11D89-7A34-4153-B0B6-2D8FF4909454}"/>
              </a:ext>
            </a:extLst>
          </p:cNvPr>
          <p:cNvSpPr txBox="1"/>
          <p:nvPr/>
        </p:nvSpPr>
        <p:spPr>
          <a:xfrm>
            <a:off x="189362" y="57270"/>
            <a:ext cx="11677365" cy="369332"/>
          </a:xfrm>
          <a:prstGeom prst="rect">
            <a:avLst/>
          </a:prstGeom>
        </p:spPr>
        <p:style>
          <a:lnRef idx="1">
            <a:schemeClr val="accent6"/>
          </a:lnRef>
          <a:fillRef idx="2">
            <a:schemeClr val="accent6"/>
          </a:fillRef>
          <a:effectRef idx="1">
            <a:schemeClr val="accent6"/>
          </a:effectRef>
          <a:fontRef idx="minor">
            <a:schemeClr val="dk1"/>
          </a:fontRef>
        </p:style>
        <p:txBody>
          <a:bodyPr wrap="square">
            <a:spAutoFit/>
          </a:bodyPr>
          <a:lstStyle/>
          <a:p>
            <a:pPr algn="ctr"/>
            <a:r>
              <a:rPr lang="en-GB" b="1" spc="-5" dirty="0" err="1">
                <a:latin typeface="Times New Roman"/>
                <a:cs typeface="Times New Roman"/>
              </a:rPr>
              <a:t>Hantzsch</a:t>
            </a:r>
            <a:r>
              <a:rPr lang="en-GB" b="1" spc="-5" dirty="0">
                <a:latin typeface="Times New Roman"/>
                <a:cs typeface="Times New Roman"/>
              </a:rPr>
              <a:t>-Widman rules </a:t>
            </a:r>
            <a:r>
              <a:rPr lang="en-GB" b="1" dirty="0">
                <a:latin typeface="Times New Roman"/>
                <a:cs typeface="Times New Roman"/>
              </a:rPr>
              <a:t>for partially </a:t>
            </a:r>
            <a:r>
              <a:rPr lang="en-GB" b="1" spc="-5" dirty="0">
                <a:latin typeface="Times New Roman"/>
                <a:cs typeface="Times New Roman"/>
              </a:rPr>
              <a:t>unsaturated </a:t>
            </a:r>
            <a:r>
              <a:rPr lang="en-GB" b="1" spc="-585" dirty="0">
                <a:latin typeface="Times New Roman"/>
                <a:cs typeface="Times New Roman"/>
              </a:rPr>
              <a:t> </a:t>
            </a:r>
            <a:r>
              <a:rPr lang="en-GB" b="1" dirty="0">
                <a:latin typeface="Times New Roman"/>
                <a:cs typeface="Times New Roman"/>
              </a:rPr>
              <a:t>heterocycles</a:t>
            </a:r>
            <a:endParaRPr lang="en-GB" dirty="0"/>
          </a:p>
        </p:txBody>
      </p:sp>
      <p:sp>
        <p:nvSpPr>
          <p:cNvPr id="5" name="TextBox 4">
            <a:extLst>
              <a:ext uri="{FF2B5EF4-FFF2-40B4-BE49-F238E27FC236}">
                <a16:creationId xmlns:a16="http://schemas.microsoft.com/office/drawing/2014/main" id="{C1AC7460-D9F2-4618-9296-9A98A32F9827}"/>
              </a:ext>
            </a:extLst>
          </p:cNvPr>
          <p:cNvSpPr txBox="1"/>
          <p:nvPr/>
        </p:nvSpPr>
        <p:spPr>
          <a:xfrm>
            <a:off x="189363" y="675310"/>
            <a:ext cx="6593574" cy="4154342"/>
          </a:xfrm>
          <a:prstGeom prst="rect">
            <a:avLst/>
          </a:prstGeom>
          <a:noFill/>
        </p:spPr>
        <p:txBody>
          <a:bodyPr wrap="square">
            <a:spAutoFit/>
          </a:bodyPr>
          <a:lstStyle/>
          <a:p>
            <a:pPr marL="355600" indent="-342900" algn="just">
              <a:spcBef>
                <a:spcPts val="105"/>
              </a:spcBef>
              <a:buFont typeface="Arial MT"/>
              <a:buChar char="•"/>
              <a:tabLst>
                <a:tab pos="355600" algn="l"/>
              </a:tabLst>
            </a:pPr>
            <a:r>
              <a:rPr lang="en-GB" sz="1800" dirty="0">
                <a:solidFill>
                  <a:srgbClr val="00AF50"/>
                </a:solidFill>
                <a:latin typeface="Times New Roman"/>
                <a:cs typeface="Times New Roman"/>
              </a:rPr>
              <a:t>Partial</a:t>
            </a:r>
            <a:r>
              <a:rPr lang="en-GB" sz="1800" spc="-30" dirty="0">
                <a:solidFill>
                  <a:srgbClr val="00AF50"/>
                </a:solidFill>
                <a:latin typeface="Times New Roman"/>
                <a:cs typeface="Times New Roman"/>
              </a:rPr>
              <a:t> </a:t>
            </a:r>
            <a:r>
              <a:rPr lang="en-GB" sz="1800" dirty="0">
                <a:solidFill>
                  <a:srgbClr val="00AF50"/>
                </a:solidFill>
                <a:latin typeface="Times New Roman"/>
                <a:cs typeface="Times New Roman"/>
              </a:rPr>
              <a:t>unsaturation</a:t>
            </a:r>
            <a:r>
              <a:rPr lang="en-GB" sz="1800" spc="-40" dirty="0">
                <a:solidFill>
                  <a:srgbClr val="00AF50"/>
                </a:solidFill>
                <a:latin typeface="Times New Roman"/>
                <a:cs typeface="Times New Roman"/>
              </a:rPr>
              <a:t> </a:t>
            </a:r>
            <a:r>
              <a:rPr lang="en-GB" sz="1800" dirty="0">
                <a:solidFill>
                  <a:srgbClr val="00AF50"/>
                </a:solidFill>
                <a:latin typeface="Times New Roman"/>
                <a:cs typeface="Times New Roman"/>
              </a:rPr>
              <a:t>in</a:t>
            </a:r>
            <a:r>
              <a:rPr lang="en-GB" sz="1800" spc="475" dirty="0">
                <a:solidFill>
                  <a:srgbClr val="00AF50"/>
                </a:solidFill>
                <a:latin typeface="Times New Roman"/>
                <a:cs typeface="Times New Roman"/>
              </a:rPr>
              <a:t> </a:t>
            </a:r>
            <a:r>
              <a:rPr lang="en-GB" sz="1800" dirty="0">
                <a:solidFill>
                  <a:srgbClr val="00AF50"/>
                </a:solidFill>
                <a:latin typeface="Times New Roman"/>
                <a:cs typeface="Times New Roman"/>
              </a:rPr>
              <a:t>heterocyclic</a:t>
            </a:r>
            <a:r>
              <a:rPr lang="en-GB" sz="1800" spc="-40" dirty="0">
                <a:solidFill>
                  <a:srgbClr val="00AF50"/>
                </a:solidFill>
                <a:latin typeface="Times New Roman"/>
                <a:cs typeface="Times New Roman"/>
              </a:rPr>
              <a:t> </a:t>
            </a:r>
            <a:r>
              <a:rPr lang="en-GB" sz="1800" dirty="0">
                <a:solidFill>
                  <a:srgbClr val="00AF50"/>
                </a:solidFill>
                <a:latin typeface="Times New Roman"/>
                <a:cs typeface="Times New Roman"/>
              </a:rPr>
              <a:t>compounds</a:t>
            </a:r>
            <a:r>
              <a:rPr lang="en-GB" sz="1800" spc="-35" dirty="0">
                <a:solidFill>
                  <a:srgbClr val="00AF50"/>
                </a:solidFill>
                <a:latin typeface="Times New Roman"/>
                <a:cs typeface="Times New Roman"/>
              </a:rPr>
              <a:t> </a:t>
            </a:r>
            <a:r>
              <a:rPr lang="en-GB" sz="1800" dirty="0">
                <a:solidFill>
                  <a:srgbClr val="00AF50"/>
                </a:solidFill>
                <a:latin typeface="Times New Roman"/>
                <a:cs typeface="Times New Roman"/>
              </a:rPr>
              <a:t>can</a:t>
            </a:r>
            <a:r>
              <a:rPr lang="en-GB" sz="1800" spc="-5" dirty="0">
                <a:solidFill>
                  <a:srgbClr val="00AF50"/>
                </a:solidFill>
                <a:latin typeface="Times New Roman"/>
                <a:cs typeface="Times New Roman"/>
              </a:rPr>
              <a:t> </a:t>
            </a:r>
            <a:r>
              <a:rPr lang="en-GB" sz="1800" dirty="0">
                <a:solidFill>
                  <a:srgbClr val="00AF50"/>
                </a:solidFill>
                <a:latin typeface="Times New Roman"/>
                <a:cs typeface="Times New Roman"/>
              </a:rPr>
              <a:t>be</a:t>
            </a:r>
            <a:r>
              <a:rPr lang="en-GB" sz="1800" spc="-15" dirty="0">
                <a:solidFill>
                  <a:srgbClr val="00AF50"/>
                </a:solidFill>
                <a:latin typeface="Times New Roman"/>
                <a:cs typeface="Times New Roman"/>
              </a:rPr>
              <a:t> </a:t>
            </a:r>
            <a:r>
              <a:rPr lang="en-GB" sz="1800" spc="-5" dirty="0">
                <a:solidFill>
                  <a:srgbClr val="00AF50"/>
                </a:solidFill>
                <a:latin typeface="Times New Roman"/>
                <a:cs typeface="Times New Roman"/>
              </a:rPr>
              <a:t>indicated</a:t>
            </a:r>
            <a:r>
              <a:rPr lang="en-GB" sz="1800" spc="-20" dirty="0">
                <a:solidFill>
                  <a:srgbClr val="00AF50"/>
                </a:solidFill>
                <a:latin typeface="Times New Roman"/>
                <a:cs typeface="Times New Roman"/>
              </a:rPr>
              <a:t> </a:t>
            </a:r>
            <a:r>
              <a:rPr lang="en-GB" sz="1800" dirty="0">
                <a:solidFill>
                  <a:srgbClr val="00AF50"/>
                </a:solidFill>
                <a:latin typeface="Times New Roman"/>
                <a:cs typeface="Times New Roman"/>
              </a:rPr>
              <a:t>by</a:t>
            </a:r>
            <a:r>
              <a:rPr lang="en-GB" sz="1800" spc="-10" dirty="0">
                <a:solidFill>
                  <a:srgbClr val="00AF50"/>
                </a:solidFill>
                <a:latin typeface="Times New Roman"/>
                <a:cs typeface="Times New Roman"/>
              </a:rPr>
              <a:t> </a:t>
            </a:r>
            <a:r>
              <a:rPr lang="en-GB" sz="1800" spc="5" dirty="0">
                <a:solidFill>
                  <a:srgbClr val="00AF50"/>
                </a:solidFill>
                <a:latin typeface="Times New Roman"/>
                <a:cs typeface="Times New Roman"/>
              </a:rPr>
              <a:t>one </a:t>
            </a:r>
            <a:r>
              <a:rPr lang="en-GB" sz="1800" dirty="0">
                <a:solidFill>
                  <a:srgbClr val="00AF50"/>
                </a:solidFill>
                <a:latin typeface="Times New Roman"/>
                <a:cs typeface="Times New Roman"/>
              </a:rPr>
              <a:t>of</a:t>
            </a:r>
            <a:r>
              <a:rPr lang="en-GB" sz="1800" spc="-25" dirty="0">
                <a:solidFill>
                  <a:srgbClr val="00AF50"/>
                </a:solidFill>
                <a:latin typeface="Times New Roman"/>
                <a:cs typeface="Times New Roman"/>
              </a:rPr>
              <a:t> </a:t>
            </a:r>
            <a:r>
              <a:rPr lang="en-GB" sz="1800" dirty="0">
                <a:solidFill>
                  <a:srgbClr val="00AF50"/>
                </a:solidFill>
                <a:latin typeface="Times New Roman"/>
                <a:cs typeface="Times New Roman"/>
              </a:rPr>
              <a:t>the</a:t>
            </a:r>
            <a:r>
              <a:rPr lang="en-GB" sz="1800" spc="-25" dirty="0">
                <a:solidFill>
                  <a:srgbClr val="00AF50"/>
                </a:solidFill>
                <a:latin typeface="Times New Roman"/>
                <a:cs typeface="Times New Roman"/>
              </a:rPr>
              <a:t> </a:t>
            </a:r>
            <a:r>
              <a:rPr lang="en-GB" sz="1800" dirty="0">
                <a:solidFill>
                  <a:srgbClr val="00AF50"/>
                </a:solidFill>
                <a:latin typeface="Times New Roman"/>
                <a:cs typeface="Times New Roman"/>
              </a:rPr>
              <a:t>following</a:t>
            </a:r>
            <a:r>
              <a:rPr lang="en-GB" sz="1800" spc="-50" dirty="0">
                <a:solidFill>
                  <a:srgbClr val="00AF50"/>
                </a:solidFill>
                <a:latin typeface="Times New Roman"/>
                <a:cs typeface="Times New Roman"/>
              </a:rPr>
              <a:t> </a:t>
            </a:r>
            <a:r>
              <a:rPr lang="en-GB" sz="1800" spc="-5" dirty="0">
                <a:solidFill>
                  <a:srgbClr val="00AF50"/>
                </a:solidFill>
                <a:latin typeface="Times New Roman"/>
                <a:cs typeface="Times New Roman"/>
              </a:rPr>
              <a:t>methods:</a:t>
            </a:r>
            <a:endParaRPr lang="en-GB" sz="1800" dirty="0">
              <a:latin typeface="Times New Roman"/>
              <a:cs typeface="Times New Roman"/>
            </a:endParaRPr>
          </a:p>
          <a:p>
            <a:pPr marL="355600" marR="5080" indent="-342900" algn="just">
              <a:spcBef>
                <a:spcPts val="600"/>
              </a:spcBef>
              <a:spcAft>
                <a:spcPts val="600"/>
              </a:spcAft>
              <a:buAutoNum type="alphaLcParenR"/>
            </a:pPr>
            <a:r>
              <a:rPr lang="en-GB" sz="1600" dirty="0">
                <a:latin typeface="Times New Roman"/>
                <a:cs typeface="Times New Roman"/>
              </a:rPr>
              <a:t>The </a:t>
            </a:r>
            <a:r>
              <a:rPr lang="en-GB" sz="1600" spc="-5" dirty="0">
                <a:latin typeface="Times New Roman"/>
                <a:cs typeface="Times New Roman"/>
              </a:rPr>
              <a:t>position </a:t>
            </a:r>
            <a:r>
              <a:rPr lang="en-GB" sz="1600" dirty="0">
                <a:latin typeface="Times New Roman"/>
                <a:cs typeface="Times New Roman"/>
              </a:rPr>
              <a:t>of nitrogen or </a:t>
            </a:r>
            <a:r>
              <a:rPr lang="en-GB" sz="1600" spc="-5" dirty="0">
                <a:latin typeface="Times New Roman"/>
                <a:cs typeface="Times New Roman"/>
              </a:rPr>
              <a:t>carbon atoms </a:t>
            </a:r>
            <a:r>
              <a:rPr lang="en-GB" sz="1600" dirty="0">
                <a:latin typeface="Times New Roman"/>
                <a:cs typeface="Times New Roman"/>
              </a:rPr>
              <a:t>which bear </a:t>
            </a:r>
            <a:r>
              <a:rPr lang="en-GB" sz="1600" spc="-5" dirty="0">
                <a:latin typeface="Times New Roman"/>
                <a:cs typeface="Times New Roman"/>
              </a:rPr>
              <a:t>extra hydrogen atoms must </a:t>
            </a:r>
            <a:r>
              <a:rPr lang="en-GB" sz="1600" dirty="0">
                <a:latin typeface="Times New Roman"/>
                <a:cs typeface="Times New Roman"/>
              </a:rPr>
              <a:t> be indicated </a:t>
            </a:r>
            <a:r>
              <a:rPr lang="en-GB" sz="1600" spc="-10" dirty="0">
                <a:latin typeface="Times New Roman"/>
                <a:cs typeface="Times New Roman"/>
              </a:rPr>
              <a:t>by </a:t>
            </a:r>
            <a:r>
              <a:rPr lang="en-GB" sz="1600" spc="-5" dirty="0">
                <a:latin typeface="Times New Roman"/>
                <a:cs typeface="Times New Roman"/>
              </a:rPr>
              <a:t>numbers </a:t>
            </a:r>
            <a:r>
              <a:rPr lang="en-GB" sz="1600" dirty="0">
                <a:latin typeface="Times New Roman"/>
                <a:cs typeface="Times New Roman"/>
              </a:rPr>
              <a:t>and </a:t>
            </a:r>
            <a:r>
              <a:rPr lang="en-GB" sz="1600" spc="-5" dirty="0">
                <a:latin typeface="Times New Roman"/>
                <a:cs typeface="Times New Roman"/>
              </a:rPr>
              <a:t>italic capital H (e.g. </a:t>
            </a:r>
            <a:r>
              <a:rPr lang="en-GB" sz="1600" spc="-5" dirty="0">
                <a:solidFill>
                  <a:srgbClr val="C00000"/>
                </a:solidFill>
                <a:latin typeface="Times New Roman"/>
                <a:cs typeface="Times New Roman"/>
              </a:rPr>
              <a:t>1</a:t>
            </a:r>
            <a:r>
              <a:rPr lang="en-GB" sz="1600" i="1" spc="-5" dirty="0">
                <a:solidFill>
                  <a:srgbClr val="C00000"/>
                </a:solidFill>
                <a:latin typeface="Times New Roman"/>
                <a:cs typeface="Times New Roman"/>
              </a:rPr>
              <a:t>H</a:t>
            </a:r>
            <a:r>
              <a:rPr lang="en-GB" sz="1600" spc="-5" dirty="0">
                <a:solidFill>
                  <a:srgbClr val="C00000"/>
                </a:solidFill>
                <a:latin typeface="Times New Roman"/>
                <a:cs typeface="Times New Roman"/>
              </a:rPr>
              <a:t>, 2</a:t>
            </a:r>
            <a:r>
              <a:rPr lang="en-GB" sz="1600" i="1" spc="-5" dirty="0">
                <a:solidFill>
                  <a:srgbClr val="C00000"/>
                </a:solidFill>
                <a:latin typeface="Times New Roman"/>
                <a:cs typeface="Times New Roman"/>
              </a:rPr>
              <a:t>H</a:t>
            </a:r>
            <a:r>
              <a:rPr lang="en-GB" sz="1600" spc="-5" dirty="0">
                <a:latin typeface="Times New Roman"/>
                <a:cs typeface="Times New Roman"/>
              </a:rPr>
              <a:t>, etc.) followed </a:t>
            </a:r>
            <a:r>
              <a:rPr lang="en-GB" sz="1600" spc="-10" dirty="0">
                <a:latin typeface="Times New Roman"/>
                <a:cs typeface="Times New Roman"/>
              </a:rPr>
              <a:t>by </a:t>
            </a:r>
            <a:r>
              <a:rPr lang="en-GB" sz="1600" dirty="0">
                <a:latin typeface="Times New Roman"/>
                <a:cs typeface="Times New Roman"/>
              </a:rPr>
              <a:t>the </a:t>
            </a:r>
            <a:r>
              <a:rPr lang="en-GB" sz="1600" spc="5" dirty="0">
                <a:latin typeface="Times New Roman"/>
                <a:cs typeface="Times New Roman"/>
              </a:rPr>
              <a:t> </a:t>
            </a:r>
            <a:r>
              <a:rPr lang="en-GB" sz="1600" dirty="0">
                <a:latin typeface="Times New Roman"/>
                <a:cs typeface="Times New Roman"/>
              </a:rPr>
              <a:t>name</a:t>
            </a:r>
            <a:r>
              <a:rPr lang="en-GB" sz="1600" spc="-10" dirty="0">
                <a:latin typeface="Times New Roman"/>
                <a:cs typeface="Times New Roman"/>
              </a:rPr>
              <a:t> </a:t>
            </a:r>
            <a:r>
              <a:rPr lang="en-GB" sz="1600" dirty="0">
                <a:latin typeface="Times New Roman"/>
                <a:cs typeface="Times New Roman"/>
              </a:rPr>
              <a:t>of</a:t>
            </a:r>
            <a:r>
              <a:rPr lang="en-GB" sz="1600" spc="5" dirty="0">
                <a:latin typeface="Times New Roman"/>
                <a:cs typeface="Times New Roman"/>
              </a:rPr>
              <a:t> </a:t>
            </a:r>
            <a:r>
              <a:rPr lang="en-GB" sz="1600" spc="-5" dirty="0">
                <a:latin typeface="Times New Roman"/>
                <a:cs typeface="Times New Roman"/>
              </a:rPr>
              <a:t>maximally</a:t>
            </a:r>
            <a:r>
              <a:rPr lang="en-GB" sz="1600" dirty="0">
                <a:latin typeface="Times New Roman"/>
                <a:cs typeface="Times New Roman"/>
              </a:rPr>
              <a:t> unsaturated</a:t>
            </a:r>
            <a:r>
              <a:rPr lang="en-GB" sz="1600" spc="-15" dirty="0">
                <a:latin typeface="Times New Roman"/>
                <a:cs typeface="Times New Roman"/>
              </a:rPr>
              <a:t> </a:t>
            </a:r>
            <a:r>
              <a:rPr lang="en-GB" sz="1600" dirty="0">
                <a:latin typeface="Times New Roman"/>
                <a:cs typeface="Times New Roman"/>
              </a:rPr>
              <a:t>ring.</a:t>
            </a:r>
            <a:endParaRPr lang="uk-UA" sz="1600" dirty="0">
              <a:latin typeface="Times New Roman"/>
              <a:cs typeface="Times New Roman"/>
            </a:endParaRPr>
          </a:p>
          <a:p>
            <a:pPr marL="355600" marR="5080" indent="-342900" algn="just">
              <a:spcBef>
                <a:spcPts val="600"/>
              </a:spcBef>
              <a:spcAft>
                <a:spcPts val="600"/>
              </a:spcAft>
              <a:buFontTx/>
              <a:buAutoNum type="alphaLcParenR"/>
            </a:pPr>
            <a:r>
              <a:rPr lang="en-GB" sz="1600" dirty="0">
                <a:latin typeface="Times New Roman"/>
                <a:cs typeface="Times New Roman"/>
              </a:rPr>
              <a:t>The </a:t>
            </a:r>
            <a:r>
              <a:rPr lang="en-GB" sz="1600" spc="-5" dirty="0">
                <a:latin typeface="Times New Roman"/>
                <a:cs typeface="Times New Roman"/>
              </a:rPr>
              <a:t>words </a:t>
            </a:r>
            <a:r>
              <a:rPr lang="en-GB" sz="1600" dirty="0">
                <a:latin typeface="Times New Roman"/>
                <a:cs typeface="Times New Roman"/>
              </a:rPr>
              <a:t>dihydro,</a:t>
            </a:r>
            <a:r>
              <a:rPr lang="en-GB" sz="1600" spc="5" dirty="0">
                <a:latin typeface="Times New Roman"/>
                <a:cs typeface="Times New Roman"/>
              </a:rPr>
              <a:t> </a:t>
            </a:r>
            <a:r>
              <a:rPr lang="en-GB" sz="1600" dirty="0">
                <a:latin typeface="Times New Roman"/>
                <a:cs typeface="Times New Roman"/>
              </a:rPr>
              <a:t>or </a:t>
            </a:r>
            <a:r>
              <a:rPr lang="en-GB" sz="1600" dirty="0" err="1">
                <a:latin typeface="Times New Roman"/>
                <a:cs typeface="Times New Roman"/>
              </a:rPr>
              <a:t>trihydro</a:t>
            </a:r>
            <a:r>
              <a:rPr lang="en-GB" sz="1600" dirty="0">
                <a:latin typeface="Times New Roman"/>
                <a:cs typeface="Times New Roman"/>
              </a:rPr>
              <a:t>,</a:t>
            </a:r>
            <a:r>
              <a:rPr lang="en-GB" sz="1600" spc="5" dirty="0">
                <a:latin typeface="Times New Roman"/>
                <a:cs typeface="Times New Roman"/>
              </a:rPr>
              <a:t> </a:t>
            </a:r>
            <a:r>
              <a:rPr lang="en-GB" sz="1600" dirty="0">
                <a:latin typeface="Times New Roman"/>
                <a:cs typeface="Times New Roman"/>
              </a:rPr>
              <a:t>or tetrahydro are used if </a:t>
            </a:r>
            <a:r>
              <a:rPr lang="en-GB" sz="1600" spc="-5" dirty="0">
                <a:latin typeface="Times New Roman"/>
                <a:cs typeface="Times New Roman"/>
              </a:rPr>
              <a:t>two </a:t>
            </a:r>
            <a:r>
              <a:rPr lang="en-GB" sz="1600" dirty="0">
                <a:latin typeface="Times New Roman"/>
                <a:cs typeface="Times New Roman"/>
              </a:rPr>
              <a:t>or three or four </a:t>
            </a:r>
            <a:r>
              <a:rPr lang="en-GB" sz="1600" spc="5" dirty="0">
                <a:latin typeface="Times New Roman"/>
                <a:cs typeface="Times New Roman"/>
              </a:rPr>
              <a:t> </a:t>
            </a:r>
            <a:r>
              <a:rPr lang="en-GB" sz="1600" spc="-5" dirty="0">
                <a:latin typeface="Times New Roman"/>
                <a:cs typeface="Times New Roman"/>
              </a:rPr>
              <a:t>atoms </a:t>
            </a:r>
            <a:r>
              <a:rPr lang="en-GB" sz="1600" dirty="0">
                <a:latin typeface="Times New Roman"/>
                <a:cs typeface="Times New Roman"/>
              </a:rPr>
              <a:t>are saturated. These </a:t>
            </a:r>
            <a:r>
              <a:rPr lang="en-GB" sz="1600" spc="-5" dirty="0">
                <a:latin typeface="Times New Roman"/>
                <a:cs typeface="Times New Roman"/>
              </a:rPr>
              <a:t>words </a:t>
            </a:r>
            <a:r>
              <a:rPr lang="en-GB" sz="1600" dirty="0">
                <a:latin typeface="Times New Roman"/>
                <a:cs typeface="Times New Roman"/>
              </a:rPr>
              <a:t>are preceded by </a:t>
            </a:r>
            <a:r>
              <a:rPr lang="en-GB" sz="1600" spc="-5" dirty="0">
                <a:latin typeface="Times New Roman"/>
                <a:cs typeface="Times New Roman"/>
              </a:rPr>
              <a:t>numbers </a:t>
            </a:r>
            <a:r>
              <a:rPr lang="en-GB" sz="1600" dirty="0">
                <a:latin typeface="Times New Roman"/>
                <a:cs typeface="Times New Roman"/>
              </a:rPr>
              <a:t>indicate the </a:t>
            </a:r>
            <a:r>
              <a:rPr lang="en-GB" sz="1600" spc="-5" dirty="0">
                <a:latin typeface="Times New Roman"/>
                <a:cs typeface="Times New Roman"/>
              </a:rPr>
              <a:t>position </a:t>
            </a:r>
            <a:r>
              <a:rPr lang="en-GB" sz="1600" spc="-434" dirty="0">
                <a:latin typeface="Times New Roman"/>
                <a:cs typeface="Times New Roman"/>
              </a:rPr>
              <a:t> </a:t>
            </a:r>
            <a:r>
              <a:rPr lang="en-GB" sz="1600" dirty="0">
                <a:latin typeface="Times New Roman"/>
                <a:cs typeface="Times New Roman"/>
              </a:rPr>
              <a:t>of saturated </a:t>
            </a:r>
            <a:r>
              <a:rPr lang="en-GB" sz="1600" spc="-5" dirty="0">
                <a:latin typeface="Times New Roman"/>
                <a:cs typeface="Times New Roman"/>
              </a:rPr>
              <a:t>atoms </a:t>
            </a:r>
            <a:r>
              <a:rPr lang="en-GB" sz="1600" dirty="0">
                <a:latin typeface="Times New Roman"/>
                <a:cs typeface="Times New Roman"/>
              </a:rPr>
              <a:t>as </a:t>
            </a:r>
            <a:r>
              <a:rPr lang="en-GB" sz="1600" spc="-5" dirty="0">
                <a:latin typeface="Times New Roman"/>
                <a:cs typeface="Times New Roman"/>
              </a:rPr>
              <a:t>low as possible </a:t>
            </a:r>
            <a:r>
              <a:rPr lang="en-GB" sz="1600" dirty="0">
                <a:latin typeface="Times New Roman"/>
                <a:cs typeface="Times New Roman"/>
              </a:rPr>
              <a:t>and followed by the corresponding fully </a:t>
            </a:r>
            <a:r>
              <a:rPr lang="en-GB" sz="1600" spc="5" dirty="0">
                <a:latin typeface="Times New Roman"/>
                <a:cs typeface="Times New Roman"/>
              </a:rPr>
              <a:t> </a:t>
            </a:r>
            <a:r>
              <a:rPr lang="en-GB" sz="1600" dirty="0">
                <a:latin typeface="Times New Roman"/>
                <a:cs typeface="Times New Roman"/>
              </a:rPr>
              <a:t>unsaturated</a:t>
            </a:r>
            <a:r>
              <a:rPr lang="en-GB" sz="1600" spc="-25" dirty="0">
                <a:latin typeface="Times New Roman"/>
                <a:cs typeface="Times New Roman"/>
              </a:rPr>
              <a:t> </a:t>
            </a:r>
            <a:r>
              <a:rPr lang="en-GB" sz="1600" dirty="0" err="1">
                <a:latin typeface="Times New Roman"/>
                <a:cs typeface="Times New Roman"/>
              </a:rPr>
              <a:t>Hantzsch</a:t>
            </a:r>
            <a:r>
              <a:rPr lang="en-GB" sz="1600" dirty="0">
                <a:latin typeface="Times New Roman"/>
                <a:cs typeface="Times New Roman"/>
              </a:rPr>
              <a:t>-Widman</a:t>
            </a:r>
            <a:r>
              <a:rPr lang="en-GB" sz="1600" spc="10" dirty="0">
                <a:latin typeface="Times New Roman"/>
                <a:cs typeface="Times New Roman"/>
              </a:rPr>
              <a:t> </a:t>
            </a:r>
            <a:r>
              <a:rPr lang="en-GB" sz="1600" dirty="0">
                <a:latin typeface="Times New Roman"/>
                <a:cs typeface="Times New Roman"/>
              </a:rPr>
              <a:t>name.</a:t>
            </a:r>
            <a:endParaRPr lang="uk-UA" sz="1600" dirty="0">
              <a:latin typeface="Times New Roman"/>
              <a:cs typeface="Times New Roman"/>
            </a:endParaRPr>
          </a:p>
          <a:p>
            <a:pPr marL="355600" marR="5080" indent="-342900" algn="just">
              <a:spcBef>
                <a:spcPts val="600"/>
              </a:spcBef>
              <a:spcAft>
                <a:spcPts val="600"/>
              </a:spcAft>
              <a:buFontTx/>
              <a:buAutoNum type="alphaLcParenR"/>
            </a:pPr>
            <a:r>
              <a:rPr lang="en-GB" sz="1600" dirty="0">
                <a:latin typeface="Times New Roman"/>
                <a:cs typeface="Times New Roman"/>
              </a:rPr>
              <a:t>Alternatively, the partially unsaturated 4 and 5 rings (i.e. rings contain one </a:t>
            </a:r>
            <a:r>
              <a:rPr lang="en-GB" sz="1600" spc="5" dirty="0">
                <a:latin typeface="Times New Roman"/>
                <a:cs typeface="Times New Roman"/>
              </a:rPr>
              <a:t> </a:t>
            </a:r>
            <a:r>
              <a:rPr lang="en-GB" sz="1600" dirty="0">
                <a:latin typeface="Times New Roman"/>
                <a:cs typeface="Times New Roman"/>
              </a:rPr>
              <a:t>double </a:t>
            </a:r>
            <a:r>
              <a:rPr lang="en-GB" sz="1600" spc="-5" dirty="0">
                <a:latin typeface="Times New Roman"/>
                <a:cs typeface="Times New Roman"/>
              </a:rPr>
              <a:t>bond) </a:t>
            </a:r>
            <a:r>
              <a:rPr lang="en-GB" sz="1600" dirty="0">
                <a:latin typeface="Times New Roman"/>
                <a:cs typeface="Times New Roman"/>
              </a:rPr>
              <a:t>are given special </a:t>
            </a:r>
            <a:r>
              <a:rPr lang="en-GB" sz="1600" dirty="0" err="1">
                <a:latin typeface="Times New Roman"/>
                <a:cs typeface="Times New Roman"/>
              </a:rPr>
              <a:t>Hantzsch</a:t>
            </a:r>
            <a:r>
              <a:rPr lang="en-GB" sz="1600" dirty="0">
                <a:latin typeface="Times New Roman"/>
                <a:cs typeface="Times New Roman"/>
              </a:rPr>
              <a:t>-Widman </a:t>
            </a:r>
            <a:r>
              <a:rPr lang="en-GB" sz="1600" spc="-5" dirty="0">
                <a:latin typeface="Times New Roman"/>
                <a:cs typeface="Times New Roman"/>
              </a:rPr>
              <a:t>suffixes </a:t>
            </a:r>
            <a:r>
              <a:rPr lang="en-GB" sz="1600" dirty="0">
                <a:latin typeface="Times New Roman"/>
                <a:cs typeface="Times New Roman"/>
              </a:rPr>
              <a:t>as in table 3 and the </a:t>
            </a:r>
            <a:r>
              <a:rPr lang="en-GB" sz="1600" spc="-434" dirty="0">
                <a:latin typeface="Times New Roman"/>
                <a:cs typeface="Times New Roman"/>
              </a:rPr>
              <a:t> </a:t>
            </a:r>
            <a:r>
              <a:rPr lang="en-GB" sz="1600" dirty="0">
                <a:latin typeface="Times New Roman"/>
                <a:cs typeface="Times New Roman"/>
              </a:rPr>
              <a:t>double</a:t>
            </a:r>
            <a:r>
              <a:rPr lang="en-GB" sz="1600" spc="25" dirty="0">
                <a:latin typeface="Times New Roman"/>
                <a:cs typeface="Times New Roman"/>
              </a:rPr>
              <a:t> </a:t>
            </a:r>
            <a:r>
              <a:rPr lang="en-GB" sz="1600" dirty="0">
                <a:latin typeface="Times New Roman"/>
                <a:cs typeface="Times New Roman"/>
              </a:rPr>
              <a:t>bond</a:t>
            </a:r>
            <a:r>
              <a:rPr lang="en-GB" sz="1600" spc="20" dirty="0">
                <a:latin typeface="Times New Roman"/>
                <a:cs typeface="Times New Roman"/>
              </a:rPr>
              <a:t> </a:t>
            </a:r>
            <a:r>
              <a:rPr lang="en-GB" sz="1600" spc="-5" dirty="0">
                <a:latin typeface="Times New Roman"/>
                <a:cs typeface="Times New Roman"/>
              </a:rPr>
              <a:t>is</a:t>
            </a:r>
            <a:r>
              <a:rPr lang="en-GB" sz="1600" spc="30" dirty="0">
                <a:latin typeface="Times New Roman"/>
                <a:cs typeface="Times New Roman"/>
              </a:rPr>
              <a:t> </a:t>
            </a:r>
            <a:r>
              <a:rPr lang="en-GB" sz="1600" dirty="0">
                <a:latin typeface="Times New Roman"/>
                <a:cs typeface="Times New Roman"/>
              </a:rPr>
              <a:t>specified</a:t>
            </a:r>
            <a:r>
              <a:rPr lang="en-GB" sz="1600" spc="5" dirty="0">
                <a:latin typeface="Times New Roman"/>
                <a:cs typeface="Times New Roman"/>
              </a:rPr>
              <a:t> </a:t>
            </a:r>
            <a:r>
              <a:rPr lang="en-GB" sz="1600" spc="-5" dirty="0">
                <a:latin typeface="Times New Roman"/>
                <a:cs typeface="Times New Roman"/>
              </a:rPr>
              <a:t>as</a:t>
            </a:r>
            <a:r>
              <a:rPr lang="en-GB" sz="1600" spc="45" dirty="0">
                <a:latin typeface="Times New Roman"/>
                <a:cs typeface="Times New Roman"/>
              </a:rPr>
              <a:t> </a:t>
            </a:r>
            <a:r>
              <a:rPr lang="en-GB" sz="1600" dirty="0">
                <a:latin typeface="Times New Roman"/>
                <a:cs typeface="Times New Roman"/>
              </a:rPr>
              <a:t>∆</a:t>
            </a:r>
            <a:r>
              <a:rPr lang="en-GB" sz="1600" baseline="25462" dirty="0">
                <a:latin typeface="Times New Roman"/>
                <a:cs typeface="Times New Roman"/>
              </a:rPr>
              <a:t>1</a:t>
            </a:r>
            <a:r>
              <a:rPr lang="en-GB" sz="1600" dirty="0">
                <a:latin typeface="Times New Roman"/>
                <a:cs typeface="Times New Roman"/>
              </a:rPr>
              <a:t>,</a:t>
            </a:r>
            <a:r>
              <a:rPr lang="en-GB" sz="1600" spc="15" dirty="0">
                <a:latin typeface="Times New Roman"/>
                <a:cs typeface="Times New Roman"/>
              </a:rPr>
              <a:t> </a:t>
            </a:r>
            <a:r>
              <a:rPr lang="en-GB" sz="1600" dirty="0">
                <a:latin typeface="Times New Roman"/>
                <a:cs typeface="Times New Roman"/>
              </a:rPr>
              <a:t>∆</a:t>
            </a:r>
            <a:r>
              <a:rPr lang="en-GB" sz="1600" baseline="25462" dirty="0">
                <a:latin typeface="Times New Roman"/>
                <a:cs typeface="Times New Roman"/>
              </a:rPr>
              <a:t>2</a:t>
            </a:r>
            <a:r>
              <a:rPr lang="en-GB" sz="1600" dirty="0">
                <a:latin typeface="Times New Roman"/>
                <a:cs typeface="Times New Roman"/>
              </a:rPr>
              <a:t>,</a:t>
            </a:r>
            <a:r>
              <a:rPr lang="en-GB" sz="1600" spc="25" dirty="0">
                <a:latin typeface="Times New Roman"/>
                <a:cs typeface="Times New Roman"/>
              </a:rPr>
              <a:t> </a:t>
            </a:r>
            <a:r>
              <a:rPr lang="en-GB" sz="1600" dirty="0">
                <a:latin typeface="Times New Roman"/>
                <a:cs typeface="Times New Roman"/>
              </a:rPr>
              <a:t>∆</a:t>
            </a:r>
            <a:r>
              <a:rPr lang="en-GB" sz="1600" baseline="25462" dirty="0">
                <a:latin typeface="Times New Roman"/>
                <a:cs typeface="Times New Roman"/>
              </a:rPr>
              <a:t>3</a:t>
            </a:r>
            <a:r>
              <a:rPr lang="en-GB" sz="1600" dirty="0">
                <a:latin typeface="Times New Roman"/>
                <a:cs typeface="Times New Roman"/>
              </a:rPr>
              <a:t>,</a:t>
            </a:r>
            <a:r>
              <a:rPr lang="en-GB" sz="1600" spc="25" dirty="0">
                <a:latin typeface="Times New Roman"/>
                <a:cs typeface="Times New Roman"/>
              </a:rPr>
              <a:t> </a:t>
            </a:r>
            <a:r>
              <a:rPr lang="en-GB" sz="1600" dirty="0">
                <a:latin typeface="Times New Roman"/>
                <a:cs typeface="Times New Roman"/>
              </a:rPr>
              <a:t>etc.. </a:t>
            </a:r>
            <a:r>
              <a:rPr lang="en-GB" sz="1600" spc="-5" dirty="0">
                <a:latin typeface="Times New Roman"/>
                <a:cs typeface="Times New Roman"/>
              </a:rPr>
              <a:t>Which</a:t>
            </a:r>
            <a:r>
              <a:rPr lang="en-GB" sz="1600" spc="25" dirty="0">
                <a:latin typeface="Times New Roman"/>
                <a:cs typeface="Times New Roman"/>
              </a:rPr>
              <a:t> </a:t>
            </a:r>
            <a:r>
              <a:rPr lang="en-GB" sz="1600" dirty="0">
                <a:latin typeface="Times New Roman"/>
                <a:cs typeface="Times New Roman"/>
              </a:rPr>
              <a:t>indicates</a:t>
            </a:r>
            <a:r>
              <a:rPr lang="en-GB" sz="1600" spc="15" dirty="0">
                <a:latin typeface="Times New Roman"/>
                <a:cs typeface="Times New Roman"/>
              </a:rPr>
              <a:t> </a:t>
            </a:r>
            <a:r>
              <a:rPr lang="en-GB" sz="1600" dirty="0">
                <a:latin typeface="Times New Roman"/>
                <a:cs typeface="Times New Roman"/>
              </a:rPr>
              <a:t>1</a:t>
            </a:r>
            <a:r>
              <a:rPr lang="en-GB" sz="1600" spc="35" dirty="0">
                <a:latin typeface="Times New Roman"/>
                <a:cs typeface="Times New Roman"/>
              </a:rPr>
              <a:t> </a:t>
            </a:r>
            <a:r>
              <a:rPr lang="en-GB" sz="1600" dirty="0">
                <a:latin typeface="Times New Roman"/>
                <a:cs typeface="Times New Roman"/>
              </a:rPr>
              <a:t>and</a:t>
            </a:r>
            <a:r>
              <a:rPr lang="en-GB" sz="1600" spc="25" dirty="0">
                <a:latin typeface="Times New Roman"/>
                <a:cs typeface="Times New Roman"/>
              </a:rPr>
              <a:t> </a:t>
            </a:r>
            <a:r>
              <a:rPr lang="en-GB" sz="1600" dirty="0">
                <a:latin typeface="Times New Roman"/>
                <a:cs typeface="Times New Roman"/>
              </a:rPr>
              <a:t>2</a:t>
            </a:r>
            <a:r>
              <a:rPr lang="en-GB" sz="1600" spc="30" dirty="0">
                <a:latin typeface="Times New Roman"/>
                <a:cs typeface="Times New Roman"/>
              </a:rPr>
              <a:t> </a:t>
            </a:r>
            <a:r>
              <a:rPr lang="en-GB" sz="1600" dirty="0">
                <a:latin typeface="Times New Roman"/>
                <a:cs typeface="Times New Roman"/>
              </a:rPr>
              <a:t>;</a:t>
            </a:r>
            <a:r>
              <a:rPr lang="en-GB" sz="1600" spc="25" dirty="0">
                <a:latin typeface="Times New Roman"/>
                <a:cs typeface="Times New Roman"/>
              </a:rPr>
              <a:t> </a:t>
            </a:r>
            <a:r>
              <a:rPr lang="en-GB" sz="1600" dirty="0">
                <a:latin typeface="Times New Roman"/>
                <a:cs typeface="Times New Roman"/>
              </a:rPr>
              <a:t>2</a:t>
            </a:r>
            <a:r>
              <a:rPr lang="en-GB" sz="1600" spc="20" dirty="0">
                <a:latin typeface="Times New Roman"/>
                <a:cs typeface="Times New Roman"/>
              </a:rPr>
              <a:t> </a:t>
            </a:r>
            <a:r>
              <a:rPr lang="en-GB" sz="1600" dirty="0">
                <a:latin typeface="Times New Roman"/>
                <a:cs typeface="Times New Roman"/>
              </a:rPr>
              <a:t>and</a:t>
            </a:r>
            <a:r>
              <a:rPr lang="en-GB" sz="1600" spc="20" dirty="0">
                <a:latin typeface="Times New Roman"/>
                <a:cs typeface="Times New Roman"/>
              </a:rPr>
              <a:t> </a:t>
            </a:r>
            <a:r>
              <a:rPr lang="en-GB" sz="1600" dirty="0">
                <a:latin typeface="Times New Roman"/>
                <a:cs typeface="Times New Roman"/>
              </a:rPr>
              <a:t>3; </a:t>
            </a:r>
            <a:r>
              <a:rPr lang="en-GB" sz="1600" spc="5" dirty="0">
                <a:latin typeface="Times New Roman"/>
                <a:cs typeface="Times New Roman"/>
              </a:rPr>
              <a:t> </a:t>
            </a:r>
            <a:r>
              <a:rPr lang="en-GB" sz="1600" dirty="0">
                <a:latin typeface="Times New Roman"/>
                <a:cs typeface="Times New Roman"/>
              </a:rPr>
              <a:t>3</a:t>
            </a:r>
            <a:r>
              <a:rPr lang="en-GB" sz="1600" spc="-15" dirty="0">
                <a:latin typeface="Times New Roman"/>
                <a:cs typeface="Times New Roman"/>
              </a:rPr>
              <a:t> </a:t>
            </a:r>
            <a:r>
              <a:rPr lang="en-GB" sz="1600" dirty="0">
                <a:latin typeface="Times New Roman"/>
                <a:cs typeface="Times New Roman"/>
              </a:rPr>
              <a:t>and</a:t>
            </a:r>
            <a:r>
              <a:rPr lang="en-GB" sz="1600" spc="10" dirty="0">
                <a:latin typeface="Times New Roman"/>
                <a:cs typeface="Times New Roman"/>
              </a:rPr>
              <a:t> </a:t>
            </a:r>
            <a:r>
              <a:rPr lang="en-GB" sz="1600" dirty="0">
                <a:latin typeface="Times New Roman"/>
                <a:cs typeface="Times New Roman"/>
              </a:rPr>
              <a:t>4</a:t>
            </a:r>
            <a:r>
              <a:rPr lang="en-GB" sz="1600" spc="-5" dirty="0">
                <a:latin typeface="Times New Roman"/>
                <a:cs typeface="Times New Roman"/>
              </a:rPr>
              <a:t> atoms</a:t>
            </a:r>
            <a:r>
              <a:rPr lang="en-GB" sz="1600" dirty="0">
                <a:latin typeface="Times New Roman"/>
                <a:cs typeface="Times New Roman"/>
              </a:rPr>
              <a:t> respectively</a:t>
            </a:r>
            <a:r>
              <a:rPr lang="en-GB" sz="1600" spc="-25" dirty="0">
                <a:latin typeface="Times New Roman"/>
                <a:cs typeface="Times New Roman"/>
              </a:rPr>
              <a:t> </a:t>
            </a:r>
            <a:r>
              <a:rPr lang="en-GB" sz="1600" dirty="0">
                <a:latin typeface="Times New Roman"/>
                <a:cs typeface="Times New Roman"/>
              </a:rPr>
              <a:t>have</a:t>
            </a:r>
            <a:r>
              <a:rPr lang="en-GB" sz="1600" spc="-15" dirty="0">
                <a:latin typeface="Times New Roman"/>
                <a:cs typeface="Times New Roman"/>
              </a:rPr>
              <a:t> </a:t>
            </a:r>
            <a:r>
              <a:rPr lang="en-GB" sz="1600" dirty="0">
                <a:latin typeface="Times New Roman"/>
                <a:cs typeface="Times New Roman"/>
              </a:rPr>
              <a:t>a</a:t>
            </a:r>
            <a:r>
              <a:rPr lang="en-GB" sz="1600" spc="5" dirty="0">
                <a:latin typeface="Times New Roman"/>
                <a:cs typeface="Times New Roman"/>
              </a:rPr>
              <a:t> </a:t>
            </a:r>
            <a:r>
              <a:rPr lang="en-GB" sz="1600" dirty="0">
                <a:latin typeface="Times New Roman"/>
                <a:cs typeface="Times New Roman"/>
              </a:rPr>
              <a:t>double</a:t>
            </a:r>
            <a:r>
              <a:rPr lang="en-GB" sz="1600" spc="-15" dirty="0">
                <a:latin typeface="Times New Roman"/>
                <a:cs typeface="Times New Roman"/>
              </a:rPr>
              <a:t> </a:t>
            </a:r>
            <a:r>
              <a:rPr lang="en-GB" sz="1600" dirty="0">
                <a:latin typeface="Times New Roman"/>
                <a:cs typeface="Times New Roman"/>
              </a:rPr>
              <a:t>bond.</a:t>
            </a:r>
          </a:p>
          <a:p>
            <a:pPr marL="355600" marR="5080" indent="-342900" algn="just">
              <a:lnSpc>
                <a:spcPct val="150000"/>
              </a:lnSpc>
              <a:spcBef>
                <a:spcPts val="55"/>
              </a:spcBef>
              <a:buAutoNum type="alphaLcParenR"/>
            </a:pPr>
            <a:endParaRPr lang="en-GB" sz="1600" dirty="0">
              <a:latin typeface="Times New Roman"/>
              <a:cs typeface="Times New Roman"/>
            </a:endParaRPr>
          </a:p>
        </p:txBody>
      </p:sp>
      <p:pic>
        <p:nvPicPr>
          <p:cNvPr id="7" name="Рисунок 6">
            <a:extLst>
              <a:ext uri="{FF2B5EF4-FFF2-40B4-BE49-F238E27FC236}">
                <a16:creationId xmlns:a16="http://schemas.microsoft.com/office/drawing/2014/main" id="{24FD8259-C387-485F-B16B-98F30D941194}"/>
              </a:ext>
            </a:extLst>
          </p:cNvPr>
          <p:cNvPicPr>
            <a:picLocks noChangeAspect="1"/>
          </p:cNvPicPr>
          <p:nvPr/>
        </p:nvPicPr>
        <p:blipFill rotWithShape="1">
          <a:blip r:embed="rId3"/>
          <a:srcRect b="16437"/>
          <a:stretch/>
        </p:blipFill>
        <p:spPr>
          <a:xfrm>
            <a:off x="7027380" y="675310"/>
            <a:ext cx="5164620" cy="1292466"/>
          </a:xfrm>
          <a:prstGeom prst="rect">
            <a:avLst/>
          </a:prstGeom>
        </p:spPr>
      </p:pic>
      <p:pic>
        <p:nvPicPr>
          <p:cNvPr id="9" name="Рисунок 8">
            <a:extLst>
              <a:ext uri="{FF2B5EF4-FFF2-40B4-BE49-F238E27FC236}">
                <a16:creationId xmlns:a16="http://schemas.microsoft.com/office/drawing/2014/main" id="{32425E3F-09B8-472B-BBAC-999E55BCB74C}"/>
              </a:ext>
            </a:extLst>
          </p:cNvPr>
          <p:cNvPicPr>
            <a:picLocks noChangeAspect="1"/>
          </p:cNvPicPr>
          <p:nvPr/>
        </p:nvPicPr>
        <p:blipFill>
          <a:blip r:embed="rId4"/>
          <a:stretch>
            <a:fillRect/>
          </a:stretch>
        </p:blipFill>
        <p:spPr>
          <a:xfrm>
            <a:off x="6838017" y="1939898"/>
            <a:ext cx="5164620" cy="2571227"/>
          </a:xfrm>
          <a:prstGeom prst="rect">
            <a:avLst/>
          </a:prstGeom>
        </p:spPr>
      </p:pic>
      <p:pic>
        <p:nvPicPr>
          <p:cNvPr id="13" name="Рисунок 12">
            <a:extLst>
              <a:ext uri="{FF2B5EF4-FFF2-40B4-BE49-F238E27FC236}">
                <a16:creationId xmlns:a16="http://schemas.microsoft.com/office/drawing/2014/main" id="{4102BBE7-04BF-4A6D-87AB-50C1FF471591}"/>
              </a:ext>
            </a:extLst>
          </p:cNvPr>
          <p:cNvPicPr>
            <a:picLocks noChangeAspect="1"/>
          </p:cNvPicPr>
          <p:nvPr/>
        </p:nvPicPr>
        <p:blipFill>
          <a:blip r:embed="rId5"/>
          <a:stretch>
            <a:fillRect/>
          </a:stretch>
        </p:blipFill>
        <p:spPr>
          <a:xfrm>
            <a:off x="1039702" y="4743315"/>
            <a:ext cx="4257706" cy="2057415"/>
          </a:xfrm>
          <a:prstGeom prst="rect">
            <a:avLst/>
          </a:prstGeom>
        </p:spPr>
      </p:pic>
      <p:sp>
        <p:nvSpPr>
          <p:cNvPr id="10" name="TextBox 9">
            <a:extLst>
              <a:ext uri="{FF2B5EF4-FFF2-40B4-BE49-F238E27FC236}">
                <a16:creationId xmlns:a16="http://schemas.microsoft.com/office/drawing/2014/main" id="{944B6A19-AA65-401F-B947-EDD4B590481E}"/>
              </a:ext>
            </a:extLst>
          </p:cNvPr>
          <p:cNvSpPr txBox="1"/>
          <p:nvPr/>
        </p:nvSpPr>
        <p:spPr>
          <a:xfrm>
            <a:off x="5908497" y="4627046"/>
            <a:ext cx="6094140" cy="523220"/>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pPr algn="just"/>
            <a:r>
              <a:rPr lang="en-GB" sz="1400" dirty="0">
                <a:solidFill>
                  <a:srgbClr val="002060"/>
                </a:solidFill>
              </a:rPr>
              <a:t>Note that the position of unsaturation takes precedence in adopting the lowest possible location number (locant)  starting at the heteroatom.</a:t>
            </a:r>
          </a:p>
        </p:txBody>
      </p:sp>
      <p:pic>
        <p:nvPicPr>
          <p:cNvPr id="8" name="Рисунок 7">
            <a:extLst>
              <a:ext uri="{FF2B5EF4-FFF2-40B4-BE49-F238E27FC236}">
                <a16:creationId xmlns:a16="http://schemas.microsoft.com/office/drawing/2014/main" id="{4111103D-1FF6-452E-BA48-8967AF09EB13}"/>
              </a:ext>
            </a:extLst>
          </p:cNvPr>
          <p:cNvPicPr>
            <a:picLocks noChangeAspect="1"/>
          </p:cNvPicPr>
          <p:nvPr/>
        </p:nvPicPr>
        <p:blipFill>
          <a:blip r:embed="rId6"/>
          <a:stretch>
            <a:fillRect/>
          </a:stretch>
        </p:blipFill>
        <p:spPr>
          <a:xfrm>
            <a:off x="7531784" y="5290225"/>
            <a:ext cx="3620514" cy="1096434"/>
          </a:xfrm>
          <a:prstGeom prst="rect">
            <a:avLst/>
          </a:prstGeom>
        </p:spPr>
      </p:pic>
    </p:spTree>
    <p:extLst>
      <p:ext uri="{BB962C8B-B14F-4D97-AF65-F5344CB8AC3E}">
        <p14:creationId xmlns:p14="http://schemas.microsoft.com/office/powerpoint/2010/main" val="103473026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a:extLst>
              <a:ext uri="{FF2B5EF4-FFF2-40B4-BE49-F238E27FC236}">
                <a16:creationId xmlns:a16="http://schemas.microsoft.com/office/drawing/2014/main" id="{10A1A06F-8BB5-47D1-B427-9FCEC6A1FBF3}"/>
              </a:ext>
            </a:extLst>
          </p:cNvPr>
          <p:cNvSpPr>
            <a:spLocks noGrp="1"/>
          </p:cNvSpPr>
          <p:nvPr>
            <p:ph type="sldNum" sz="quarter" idx="12"/>
          </p:nvPr>
        </p:nvSpPr>
        <p:spPr/>
        <p:txBody>
          <a:bodyPr/>
          <a:lstStyle/>
          <a:p>
            <a:fld id="{93C419CB-0CF1-4F10-90F9-42551F8968FF}" type="slidenum">
              <a:rPr lang="en-GB" smtClean="0"/>
              <a:t>25</a:t>
            </a:fld>
            <a:endParaRPr lang="en-GB"/>
          </a:p>
        </p:txBody>
      </p:sp>
      <p:grpSp>
        <p:nvGrpSpPr>
          <p:cNvPr id="3" name="object 10">
            <a:extLst>
              <a:ext uri="{FF2B5EF4-FFF2-40B4-BE49-F238E27FC236}">
                <a16:creationId xmlns:a16="http://schemas.microsoft.com/office/drawing/2014/main" id="{3C709CBE-BEFE-401F-A5E9-339479F39EA6}"/>
              </a:ext>
            </a:extLst>
          </p:cNvPr>
          <p:cNvGrpSpPr/>
          <p:nvPr/>
        </p:nvGrpSpPr>
        <p:grpSpPr>
          <a:xfrm>
            <a:off x="888860" y="1441503"/>
            <a:ext cx="924560" cy="760730"/>
            <a:chOff x="4343015" y="3144061"/>
            <a:chExt cx="924560" cy="760730"/>
          </a:xfrm>
        </p:grpSpPr>
        <p:sp>
          <p:nvSpPr>
            <p:cNvPr id="4" name="object 11">
              <a:extLst>
                <a:ext uri="{FF2B5EF4-FFF2-40B4-BE49-F238E27FC236}">
                  <a16:creationId xmlns:a16="http://schemas.microsoft.com/office/drawing/2014/main" id="{889AB2AD-924C-44D2-8B23-580FFE9C2F47}"/>
                </a:ext>
              </a:extLst>
            </p:cNvPr>
            <p:cNvSpPr/>
            <p:nvPr/>
          </p:nvSpPr>
          <p:spPr>
            <a:xfrm>
              <a:off x="4343006" y="3144062"/>
              <a:ext cx="379095" cy="411480"/>
            </a:xfrm>
            <a:custGeom>
              <a:avLst/>
              <a:gdLst/>
              <a:ahLst/>
              <a:cxnLst/>
              <a:rect l="l" t="t" r="r" b="b"/>
              <a:pathLst>
                <a:path w="379095" h="411479">
                  <a:moveTo>
                    <a:pt x="48247" y="327660"/>
                  </a:moveTo>
                  <a:lnTo>
                    <a:pt x="18605" y="327660"/>
                  </a:lnTo>
                  <a:lnTo>
                    <a:pt x="2743" y="359359"/>
                  </a:lnTo>
                  <a:lnTo>
                    <a:pt x="10388" y="359676"/>
                  </a:lnTo>
                  <a:lnTo>
                    <a:pt x="16433" y="360730"/>
                  </a:lnTo>
                  <a:lnTo>
                    <a:pt x="26517" y="364871"/>
                  </a:lnTo>
                  <a:lnTo>
                    <a:pt x="30949" y="368160"/>
                  </a:lnTo>
                  <a:lnTo>
                    <a:pt x="37376" y="376745"/>
                  </a:lnTo>
                  <a:lnTo>
                    <a:pt x="38989" y="381304"/>
                  </a:lnTo>
                  <a:lnTo>
                    <a:pt x="38989" y="391375"/>
                  </a:lnTo>
                  <a:lnTo>
                    <a:pt x="37185" y="395719"/>
                  </a:lnTo>
                  <a:lnTo>
                    <a:pt x="29984" y="402818"/>
                  </a:lnTo>
                  <a:lnTo>
                    <a:pt x="25806" y="404622"/>
                  </a:lnTo>
                  <a:lnTo>
                    <a:pt x="17907" y="404622"/>
                  </a:lnTo>
                  <a:lnTo>
                    <a:pt x="14820" y="403555"/>
                  </a:lnTo>
                  <a:lnTo>
                    <a:pt x="8509" y="399326"/>
                  </a:lnTo>
                  <a:lnTo>
                    <a:pt x="6921" y="398678"/>
                  </a:lnTo>
                  <a:lnTo>
                    <a:pt x="3517" y="398576"/>
                  </a:lnTo>
                  <a:lnTo>
                    <a:pt x="2336" y="399008"/>
                  </a:lnTo>
                  <a:lnTo>
                    <a:pt x="469" y="400697"/>
                  </a:lnTo>
                  <a:lnTo>
                    <a:pt x="0" y="401650"/>
                  </a:lnTo>
                  <a:lnTo>
                    <a:pt x="0" y="404837"/>
                  </a:lnTo>
                  <a:lnTo>
                    <a:pt x="1130" y="406628"/>
                  </a:lnTo>
                  <a:lnTo>
                    <a:pt x="5638" y="410032"/>
                  </a:lnTo>
                  <a:lnTo>
                    <a:pt x="9245" y="410870"/>
                  </a:lnTo>
                  <a:lnTo>
                    <a:pt x="19138" y="410870"/>
                  </a:lnTo>
                  <a:lnTo>
                    <a:pt x="46913" y="384263"/>
                  </a:lnTo>
                  <a:lnTo>
                    <a:pt x="46913" y="372605"/>
                  </a:lnTo>
                  <a:lnTo>
                    <a:pt x="13169" y="348856"/>
                  </a:lnTo>
                  <a:lnTo>
                    <a:pt x="18605" y="337832"/>
                  </a:lnTo>
                  <a:lnTo>
                    <a:pt x="43497" y="337832"/>
                  </a:lnTo>
                  <a:lnTo>
                    <a:pt x="48247" y="327660"/>
                  </a:lnTo>
                  <a:close/>
                </a:path>
                <a:path w="379095" h="411479">
                  <a:moveTo>
                    <a:pt x="379069" y="81203"/>
                  </a:moveTo>
                  <a:lnTo>
                    <a:pt x="368630" y="73571"/>
                  </a:lnTo>
                  <a:lnTo>
                    <a:pt x="368630" y="0"/>
                  </a:lnTo>
                  <a:lnTo>
                    <a:pt x="366623" y="0"/>
                  </a:lnTo>
                  <a:lnTo>
                    <a:pt x="346481" y="9652"/>
                  </a:lnTo>
                  <a:lnTo>
                    <a:pt x="347408" y="11557"/>
                  </a:lnTo>
                  <a:lnTo>
                    <a:pt x="350088" y="10287"/>
                  </a:lnTo>
                  <a:lnTo>
                    <a:pt x="352183" y="9652"/>
                  </a:lnTo>
                  <a:lnTo>
                    <a:pt x="354749" y="9652"/>
                  </a:lnTo>
                  <a:lnTo>
                    <a:pt x="355650" y="9969"/>
                  </a:lnTo>
                  <a:lnTo>
                    <a:pt x="357162" y="11137"/>
                  </a:lnTo>
                  <a:lnTo>
                    <a:pt x="357670" y="12090"/>
                  </a:lnTo>
                  <a:lnTo>
                    <a:pt x="358368" y="15062"/>
                  </a:lnTo>
                  <a:lnTo>
                    <a:pt x="358571" y="18872"/>
                  </a:lnTo>
                  <a:lnTo>
                    <a:pt x="358571" y="73888"/>
                  </a:lnTo>
                  <a:lnTo>
                    <a:pt x="347954" y="81203"/>
                  </a:lnTo>
                  <a:lnTo>
                    <a:pt x="347954" y="83426"/>
                  </a:lnTo>
                  <a:lnTo>
                    <a:pt x="379069" y="83426"/>
                  </a:lnTo>
                  <a:lnTo>
                    <a:pt x="379069" y="81203"/>
                  </a:lnTo>
                  <a:close/>
                </a:path>
              </a:pathLst>
            </a:custGeom>
            <a:solidFill>
              <a:srgbClr val="FF0000"/>
            </a:solidFill>
          </p:spPr>
          <p:txBody>
            <a:bodyPr wrap="square" lIns="0" tIns="0" rIns="0" bIns="0" rtlCol="0"/>
            <a:lstStyle/>
            <a:p>
              <a:endParaRPr/>
            </a:p>
          </p:txBody>
        </p:sp>
        <p:pic>
          <p:nvPicPr>
            <p:cNvPr id="5" name="object 12">
              <a:extLst>
                <a:ext uri="{FF2B5EF4-FFF2-40B4-BE49-F238E27FC236}">
                  <a16:creationId xmlns:a16="http://schemas.microsoft.com/office/drawing/2014/main" id="{B8FF5C8E-4C59-4C37-B1B3-F60D57B1C7C0}"/>
                </a:ext>
              </a:extLst>
            </p:cNvPr>
            <p:cNvPicPr/>
            <p:nvPr/>
          </p:nvPicPr>
          <p:blipFill>
            <a:blip r:embed="rId2" cstate="print"/>
            <a:stretch>
              <a:fillRect/>
            </a:stretch>
          </p:blipFill>
          <p:spPr>
            <a:xfrm>
              <a:off x="4420619" y="3257167"/>
              <a:ext cx="316834" cy="218261"/>
            </a:xfrm>
            <a:prstGeom prst="rect">
              <a:avLst/>
            </a:prstGeom>
          </p:spPr>
        </p:pic>
        <p:sp>
          <p:nvSpPr>
            <p:cNvPr id="6" name="object 13">
              <a:extLst>
                <a:ext uri="{FF2B5EF4-FFF2-40B4-BE49-F238E27FC236}">
                  <a16:creationId xmlns:a16="http://schemas.microsoft.com/office/drawing/2014/main" id="{7F57E523-2F43-40E1-9C85-E567ED8046BD}"/>
                </a:ext>
              </a:extLst>
            </p:cNvPr>
            <p:cNvSpPr/>
            <p:nvPr/>
          </p:nvSpPr>
          <p:spPr>
            <a:xfrm>
              <a:off x="4436791" y="3764182"/>
              <a:ext cx="56515" cy="83820"/>
            </a:xfrm>
            <a:custGeom>
              <a:avLst/>
              <a:gdLst/>
              <a:ahLst/>
              <a:cxnLst/>
              <a:rect l="l" t="t" r="r" b="b"/>
              <a:pathLst>
                <a:path w="56514" h="83820">
                  <a:moveTo>
                    <a:pt x="45086" y="61800"/>
                  </a:moveTo>
                  <a:lnTo>
                    <a:pt x="35026" y="61800"/>
                  </a:lnTo>
                  <a:lnTo>
                    <a:pt x="35026" y="83424"/>
                  </a:lnTo>
                  <a:lnTo>
                    <a:pt x="45086" y="83424"/>
                  </a:lnTo>
                  <a:lnTo>
                    <a:pt x="45086" y="61800"/>
                  </a:lnTo>
                  <a:close/>
                </a:path>
                <a:path w="56514" h="83820">
                  <a:moveTo>
                    <a:pt x="45086" y="0"/>
                  </a:moveTo>
                  <a:lnTo>
                    <a:pt x="38383" y="0"/>
                  </a:lnTo>
                  <a:lnTo>
                    <a:pt x="0" y="54061"/>
                  </a:lnTo>
                  <a:lnTo>
                    <a:pt x="0" y="61800"/>
                  </a:lnTo>
                  <a:lnTo>
                    <a:pt x="56197" y="61800"/>
                  </a:lnTo>
                  <a:lnTo>
                    <a:pt x="56197" y="53213"/>
                  </a:lnTo>
                  <a:lnTo>
                    <a:pt x="5984" y="53213"/>
                  </a:lnTo>
                  <a:lnTo>
                    <a:pt x="35026" y="12720"/>
                  </a:lnTo>
                  <a:lnTo>
                    <a:pt x="45086" y="12720"/>
                  </a:lnTo>
                  <a:lnTo>
                    <a:pt x="45086" y="0"/>
                  </a:lnTo>
                  <a:close/>
                </a:path>
                <a:path w="56514" h="83820">
                  <a:moveTo>
                    <a:pt x="45086" y="12720"/>
                  </a:moveTo>
                  <a:lnTo>
                    <a:pt x="35026" y="12720"/>
                  </a:lnTo>
                  <a:lnTo>
                    <a:pt x="35026" y="53213"/>
                  </a:lnTo>
                  <a:lnTo>
                    <a:pt x="45086" y="53213"/>
                  </a:lnTo>
                  <a:lnTo>
                    <a:pt x="45086" y="12720"/>
                  </a:lnTo>
                  <a:close/>
                </a:path>
              </a:pathLst>
            </a:custGeom>
            <a:solidFill>
              <a:srgbClr val="FF0000"/>
            </a:solidFill>
          </p:spPr>
          <p:txBody>
            <a:bodyPr wrap="square" lIns="0" tIns="0" rIns="0" bIns="0" rtlCol="0"/>
            <a:lstStyle/>
            <a:p>
              <a:endParaRPr/>
            </a:p>
          </p:txBody>
        </p:sp>
        <p:sp>
          <p:nvSpPr>
            <p:cNvPr id="7" name="object 14">
              <a:extLst>
                <a:ext uri="{FF2B5EF4-FFF2-40B4-BE49-F238E27FC236}">
                  <a16:creationId xmlns:a16="http://schemas.microsoft.com/office/drawing/2014/main" id="{07E2F628-9428-40CD-803C-CB6DF7C6AF37}"/>
                </a:ext>
              </a:extLst>
            </p:cNvPr>
            <p:cNvSpPr/>
            <p:nvPr/>
          </p:nvSpPr>
          <p:spPr>
            <a:xfrm>
              <a:off x="4434024" y="3472354"/>
              <a:ext cx="85725" cy="302895"/>
            </a:xfrm>
            <a:custGeom>
              <a:avLst/>
              <a:gdLst/>
              <a:ahLst/>
              <a:cxnLst/>
              <a:rect l="l" t="t" r="r" b="b"/>
              <a:pathLst>
                <a:path w="85725" h="302895">
                  <a:moveTo>
                    <a:pt x="85679" y="302746"/>
                  </a:moveTo>
                  <a:lnTo>
                    <a:pt x="0" y="0"/>
                  </a:lnTo>
                </a:path>
              </a:pathLst>
            </a:custGeom>
            <a:ln w="3175">
              <a:solidFill>
                <a:srgbClr val="0000FF"/>
              </a:solidFill>
            </a:ln>
          </p:spPr>
          <p:txBody>
            <a:bodyPr wrap="square" lIns="0" tIns="0" rIns="0" bIns="0" rtlCol="0"/>
            <a:lstStyle/>
            <a:p>
              <a:endParaRPr/>
            </a:p>
          </p:txBody>
        </p:sp>
        <p:sp>
          <p:nvSpPr>
            <p:cNvPr id="8" name="object 15">
              <a:extLst>
                <a:ext uri="{FF2B5EF4-FFF2-40B4-BE49-F238E27FC236}">
                  <a16:creationId xmlns:a16="http://schemas.microsoft.com/office/drawing/2014/main" id="{E17463AB-8D09-4AD7-A9AF-52B9AEFBBB16}"/>
                </a:ext>
              </a:extLst>
            </p:cNvPr>
            <p:cNvSpPr/>
            <p:nvPr/>
          </p:nvSpPr>
          <p:spPr>
            <a:xfrm>
              <a:off x="4420619" y="3465570"/>
              <a:ext cx="108585" cy="322580"/>
            </a:xfrm>
            <a:custGeom>
              <a:avLst/>
              <a:gdLst/>
              <a:ahLst/>
              <a:cxnLst/>
              <a:rect l="l" t="t" r="r" b="b"/>
              <a:pathLst>
                <a:path w="108585" h="322579">
                  <a:moveTo>
                    <a:pt x="0" y="0"/>
                  </a:moveTo>
                  <a:lnTo>
                    <a:pt x="90162" y="322462"/>
                  </a:lnTo>
                  <a:lnTo>
                    <a:pt x="108019" y="300414"/>
                  </a:lnTo>
                  <a:lnTo>
                    <a:pt x="26811" y="9858"/>
                  </a:lnTo>
                  <a:lnTo>
                    <a:pt x="0" y="0"/>
                  </a:lnTo>
                  <a:close/>
                </a:path>
              </a:pathLst>
            </a:custGeom>
            <a:solidFill>
              <a:srgbClr val="0000FF"/>
            </a:solidFill>
          </p:spPr>
          <p:txBody>
            <a:bodyPr wrap="square" lIns="0" tIns="0" rIns="0" bIns="0" rtlCol="0"/>
            <a:lstStyle/>
            <a:p>
              <a:endParaRPr/>
            </a:p>
          </p:txBody>
        </p:sp>
        <p:sp>
          <p:nvSpPr>
            <p:cNvPr id="9" name="object 16">
              <a:extLst>
                <a:ext uri="{FF2B5EF4-FFF2-40B4-BE49-F238E27FC236}">
                  <a16:creationId xmlns:a16="http://schemas.microsoft.com/office/drawing/2014/main" id="{DE11F3A2-AB89-407D-B635-B6D34B84B0AB}"/>
                </a:ext>
              </a:extLst>
            </p:cNvPr>
            <p:cNvSpPr/>
            <p:nvPr/>
          </p:nvSpPr>
          <p:spPr>
            <a:xfrm>
              <a:off x="4501054" y="3497265"/>
              <a:ext cx="63500" cy="222885"/>
            </a:xfrm>
            <a:custGeom>
              <a:avLst/>
              <a:gdLst/>
              <a:ahLst/>
              <a:cxnLst/>
              <a:rect l="l" t="t" r="r" b="b"/>
              <a:pathLst>
                <a:path w="63500" h="222885">
                  <a:moveTo>
                    <a:pt x="63275" y="222501"/>
                  </a:moveTo>
                  <a:lnTo>
                    <a:pt x="0" y="0"/>
                  </a:lnTo>
                </a:path>
              </a:pathLst>
            </a:custGeom>
            <a:ln w="3175">
              <a:solidFill>
                <a:srgbClr val="0000FF"/>
              </a:solidFill>
            </a:ln>
          </p:spPr>
          <p:txBody>
            <a:bodyPr wrap="square" lIns="0" tIns="0" rIns="0" bIns="0" rtlCol="0"/>
            <a:lstStyle/>
            <a:p>
              <a:endParaRPr/>
            </a:p>
          </p:txBody>
        </p:sp>
        <p:sp>
          <p:nvSpPr>
            <p:cNvPr id="10" name="object 17">
              <a:extLst>
                <a:ext uri="{FF2B5EF4-FFF2-40B4-BE49-F238E27FC236}">
                  <a16:creationId xmlns:a16="http://schemas.microsoft.com/office/drawing/2014/main" id="{27EBA077-009B-48AC-990B-8725D6556AC4}"/>
                </a:ext>
              </a:extLst>
            </p:cNvPr>
            <p:cNvSpPr/>
            <p:nvPr/>
          </p:nvSpPr>
          <p:spPr>
            <a:xfrm>
              <a:off x="4489889" y="3492283"/>
              <a:ext cx="85725" cy="233045"/>
            </a:xfrm>
            <a:custGeom>
              <a:avLst/>
              <a:gdLst/>
              <a:ahLst/>
              <a:cxnLst/>
              <a:rect l="l" t="t" r="r" b="b"/>
              <a:pathLst>
                <a:path w="85725" h="233045">
                  <a:moveTo>
                    <a:pt x="22328" y="0"/>
                  </a:moveTo>
                  <a:lnTo>
                    <a:pt x="0" y="6148"/>
                  </a:lnTo>
                  <a:lnTo>
                    <a:pt x="63275" y="232465"/>
                  </a:lnTo>
                  <a:lnTo>
                    <a:pt x="85604" y="226317"/>
                  </a:lnTo>
                  <a:lnTo>
                    <a:pt x="22328" y="0"/>
                  </a:lnTo>
                  <a:close/>
                </a:path>
              </a:pathLst>
            </a:custGeom>
            <a:solidFill>
              <a:srgbClr val="0000FF"/>
            </a:solidFill>
          </p:spPr>
          <p:txBody>
            <a:bodyPr wrap="square" lIns="0" tIns="0" rIns="0" bIns="0" rtlCol="0"/>
            <a:lstStyle/>
            <a:p>
              <a:endParaRPr/>
            </a:p>
          </p:txBody>
        </p:sp>
        <p:sp>
          <p:nvSpPr>
            <p:cNvPr id="11" name="object 18">
              <a:extLst>
                <a:ext uri="{FF2B5EF4-FFF2-40B4-BE49-F238E27FC236}">
                  <a16:creationId xmlns:a16="http://schemas.microsoft.com/office/drawing/2014/main" id="{4CE2E022-B6A5-447A-83E7-0771C943637F}"/>
                </a:ext>
              </a:extLst>
            </p:cNvPr>
            <p:cNvSpPr/>
            <p:nvPr/>
          </p:nvSpPr>
          <p:spPr>
            <a:xfrm>
              <a:off x="4864921" y="3819834"/>
              <a:ext cx="47625" cy="85090"/>
            </a:xfrm>
            <a:custGeom>
              <a:avLst/>
              <a:gdLst/>
              <a:ahLst/>
              <a:cxnLst/>
              <a:rect l="l" t="t" r="r" b="b"/>
              <a:pathLst>
                <a:path w="47625" h="85089">
                  <a:moveTo>
                    <a:pt x="30307" y="0"/>
                  </a:moveTo>
                  <a:lnTo>
                    <a:pt x="18307" y="0"/>
                  </a:lnTo>
                  <a:lnTo>
                    <a:pt x="13824" y="1484"/>
                  </a:lnTo>
                  <a:lnTo>
                    <a:pt x="6627" y="7420"/>
                  </a:lnTo>
                  <a:lnTo>
                    <a:pt x="3646" y="11660"/>
                  </a:lnTo>
                  <a:lnTo>
                    <a:pt x="1286" y="17172"/>
                  </a:lnTo>
                  <a:lnTo>
                    <a:pt x="3303" y="18126"/>
                  </a:lnTo>
                  <a:lnTo>
                    <a:pt x="7528" y="11448"/>
                  </a:lnTo>
                  <a:lnTo>
                    <a:pt x="12794" y="8162"/>
                  </a:lnTo>
                  <a:lnTo>
                    <a:pt x="23004" y="8162"/>
                  </a:lnTo>
                  <a:lnTo>
                    <a:pt x="26264" y="9434"/>
                  </a:lnTo>
                  <a:lnTo>
                    <a:pt x="31519" y="14522"/>
                  </a:lnTo>
                  <a:lnTo>
                    <a:pt x="32828" y="17914"/>
                  </a:lnTo>
                  <a:lnTo>
                    <a:pt x="32828" y="25228"/>
                  </a:lnTo>
                  <a:lnTo>
                    <a:pt x="13909" y="41023"/>
                  </a:lnTo>
                  <a:lnTo>
                    <a:pt x="13909" y="42825"/>
                  </a:lnTo>
                  <a:lnTo>
                    <a:pt x="19036" y="42825"/>
                  </a:lnTo>
                  <a:lnTo>
                    <a:pt x="22146" y="43461"/>
                  </a:lnTo>
                  <a:lnTo>
                    <a:pt x="38008" y="60422"/>
                  </a:lnTo>
                  <a:lnTo>
                    <a:pt x="38008" y="67948"/>
                  </a:lnTo>
                  <a:lnTo>
                    <a:pt x="36474" y="71658"/>
                  </a:lnTo>
                  <a:lnTo>
                    <a:pt x="30340" y="78018"/>
                  </a:lnTo>
                  <a:lnTo>
                    <a:pt x="26725" y="79608"/>
                  </a:lnTo>
                  <a:lnTo>
                    <a:pt x="20870" y="79608"/>
                  </a:lnTo>
                  <a:lnTo>
                    <a:pt x="19261" y="79396"/>
                  </a:lnTo>
                  <a:lnTo>
                    <a:pt x="16827" y="78760"/>
                  </a:lnTo>
                  <a:lnTo>
                    <a:pt x="8687" y="74732"/>
                  </a:lnTo>
                  <a:lnTo>
                    <a:pt x="5898" y="73990"/>
                  </a:lnTo>
                  <a:lnTo>
                    <a:pt x="3539" y="73990"/>
                  </a:lnTo>
                  <a:lnTo>
                    <a:pt x="2391" y="74414"/>
                  </a:lnTo>
                  <a:lnTo>
                    <a:pt x="482" y="76216"/>
                  </a:lnTo>
                  <a:lnTo>
                    <a:pt x="0" y="77276"/>
                  </a:lnTo>
                  <a:lnTo>
                    <a:pt x="0" y="79926"/>
                  </a:lnTo>
                  <a:lnTo>
                    <a:pt x="1008" y="81410"/>
                  </a:lnTo>
                  <a:lnTo>
                    <a:pt x="5040" y="84166"/>
                  </a:lnTo>
                  <a:lnTo>
                    <a:pt x="8826" y="84908"/>
                  </a:lnTo>
                  <a:lnTo>
                    <a:pt x="14403" y="84908"/>
                  </a:lnTo>
                  <a:lnTo>
                    <a:pt x="47038" y="63390"/>
                  </a:lnTo>
                  <a:lnTo>
                    <a:pt x="47038" y="51411"/>
                  </a:lnTo>
                  <a:lnTo>
                    <a:pt x="45740" y="47065"/>
                  </a:lnTo>
                  <a:lnTo>
                    <a:pt x="40539" y="39751"/>
                  </a:lnTo>
                  <a:lnTo>
                    <a:pt x="36689" y="36995"/>
                  </a:lnTo>
                  <a:lnTo>
                    <a:pt x="31605" y="34981"/>
                  </a:lnTo>
                  <a:lnTo>
                    <a:pt x="39166" y="28620"/>
                  </a:lnTo>
                  <a:lnTo>
                    <a:pt x="42952" y="22472"/>
                  </a:lnTo>
                  <a:lnTo>
                    <a:pt x="42952" y="12932"/>
                  </a:lnTo>
                  <a:lnTo>
                    <a:pt x="41611" y="9540"/>
                  </a:lnTo>
                  <a:lnTo>
                    <a:pt x="35391" y="2120"/>
                  </a:lnTo>
                  <a:lnTo>
                    <a:pt x="30307" y="0"/>
                  </a:lnTo>
                  <a:close/>
                </a:path>
              </a:pathLst>
            </a:custGeom>
            <a:solidFill>
              <a:srgbClr val="FF0000"/>
            </a:solidFill>
          </p:spPr>
          <p:txBody>
            <a:bodyPr wrap="square" lIns="0" tIns="0" rIns="0" bIns="0" rtlCol="0"/>
            <a:lstStyle/>
            <a:p>
              <a:endParaRPr/>
            </a:p>
          </p:txBody>
        </p:sp>
        <p:sp>
          <p:nvSpPr>
            <p:cNvPr id="12" name="object 19">
              <a:extLst>
                <a:ext uri="{FF2B5EF4-FFF2-40B4-BE49-F238E27FC236}">
                  <a16:creationId xmlns:a16="http://schemas.microsoft.com/office/drawing/2014/main" id="{5DBDF8A1-3821-48C2-8601-A88A3EF1E800}"/>
                </a:ext>
              </a:extLst>
            </p:cNvPr>
            <p:cNvSpPr/>
            <p:nvPr/>
          </p:nvSpPr>
          <p:spPr>
            <a:xfrm>
              <a:off x="4521634" y="3777008"/>
              <a:ext cx="318135" cy="14604"/>
            </a:xfrm>
            <a:custGeom>
              <a:avLst/>
              <a:gdLst/>
              <a:ahLst/>
              <a:cxnLst/>
              <a:rect l="l" t="t" r="r" b="b"/>
              <a:pathLst>
                <a:path w="318135" h="14604">
                  <a:moveTo>
                    <a:pt x="317568" y="14204"/>
                  </a:moveTo>
                  <a:lnTo>
                    <a:pt x="0" y="0"/>
                  </a:lnTo>
                </a:path>
              </a:pathLst>
            </a:custGeom>
            <a:ln w="3175">
              <a:solidFill>
                <a:srgbClr val="0000FF"/>
              </a:solidFill>
            </a:ln>
          </p:spPr>
          <p:txBody>
            <a:bodyPr wrap="square" lIns="0" tIns="0" rIns="0" bIns="0" rtlCol="0"/>
            <a:lstStyle/>
            <a:p>
              <a:endParaRPr/>
            </a:p>
          </p:txBody>
        </p:sp>
        <p:sp>
          <p:nvSpPr>
            <p:cNvPr id="13" name="object 20">
              <a:extLst>
                <a:ext uri="{FF2B5EF4-FFF2-40B4-BE49-F238E27FC236}">
                  <a16:creationId xmlns:a16="http://schemas.microsoft.com/office/drawing/2014/main" id="{89A78F4B-E6AC-4488-AB19-00CCE9C6A7D8}"/>
                </a:ext>
              </a:extLst>
            </p:cNvPr>
            <p:cNvSpPr/>
            <p:nvPr/>
          </p:nvSpPr>
          <p:spPr>
            <a:xfrm>
              <a:off x="4510781" y="3765984"/>
              <a:ext cx="338455" cy="37465"/>
            </a:xfrm>
            <a:custGeom>
              <a:avLst/>
              <a:gdLst/>
              <a:ahLst/>
              <a:cxnLst/>
              <a:rect l="l" t="t" r="r" b="b"/>
              <a:pathLst>
                <a:path w="338454" h="37464">
                  <a:moveTo>
                    <a:pt x="17856" y="0"/>
                  </a:moveTo>
                  <a:lnTo>
                    <a:pt x="0" y="22048"/>
                  </a:lnTo>
                  <a:lnTo>
                    <a:pt x="338235" y="36995"/>
                  </a:lnTo>
                  <a:lnTo>
                    <a:pt x="322459" y="13356"/>
                  </a:lnTo>
                  <a:lnTo>
                    <a:pt x="17856" y="0"/>
                  </a:lnTo>
                  <a:close/>
                </a:path>
              </a:pathLst>
            </a:custGeom>
            <a:solidFill>
              <a:srgbClr val="0000FF"/>
            </a:solidFill>
          </p:spPr>
          <p:txBody>
            <a:bodyPr wrap="square" lIns="0" tIns="0" rIns="0" bIns="0" rtlCol="0"/>
            <a:lstStyle/>
            <a:p>
              <a:endParaRPr/>
            </a:p>
          </p:txBody>
        </p:sp>
        <p:sp>
          <p:nvSpPr>
            <p:cNvPr id="14" name="object 21">
              <a:extLst>
                <a:ext uri="{FF2B5EF4-FFF2-40B4-BE49-F238E27FC236}">
                  <a16:creationId xmlns:a16="http://schemas.microsoft.com/office/drawing/2014/main" id="{6937E4C9-B9D1-4D51-879A-3AB2FBF17600}"/>
                </a:ext>
              </a:extLst>
            </p:cNvPr>
            <p:cNvSpPr/>
            <p:nvPr/>
          </p:nvSpPr>
          <p:spPr>
            <a:xfrm>
              <a:off x="4841134" y="3495357"/>
              <a:ext cx="113030" cy="294005"/>
            </a:xfrm>
            <a:custGeom>
              <a:avLst/>
              <a:gdLst/>
              <a:ahLst/>
              <a:cxnLst/>
              <a:rect l="l" t="t" r="r" b="b"/>
              <a:pathLst>
                <a:path w="113029" h="294004">
                  <a:moveTo>
                    <a:pt x="112963" y="0"/>
                  </a:moveTo>
                  <a:lnTo>
                    <a:pt x="0" y="293947"/>
                  </a:lnTo>
                </a:path>
              </a:pathLst>
            </a:custGeom>
            <a:ln w="3175">
              <a:solidFill>
                <a:srgbClr val="0000FF"/>
              </a:solidFill>
            </a:ln>
          </p:spPr>
          <p:txBody>
            <a:bodyPr wrap="square" lIns="0" tIns="0" rIns="0" bIns="0" rtlCol="0"/>
            <a:lstStyle/>
            <a:p>
              <a:endParaRPr/>
            </a:p>
          </p:txBody>
        </p:sp>
        <p:sp>
          <p:nvSpPr>
            <p:cNvPr id="15" name="object 22">
              <a:extLst>
                <a:ext uri="{FF2B5EF4-FFF2-40B4-BE49-F238E27FC236}">
                  <a16:creationId xmlns:a16="http://schemas.microsoft.com/office/drawing/2014/main" id="{EA1CB0AB-1444-40AC-A8CB-B0863D2F5169}"/>
                </a:ext>
              </a:extLst>
            </p:cNvPr>
            <p:cNvSpPr/>
            <p:nvPr/>
          </p:nvSpPr>
          <p:spPr>
            <a:xfrm>
              <a:off x="4833240" y="3493449"/>
              <a:ext cx="130175" cy="309880"/>
            </a:xfrm>
            <a:custGeom>
              <a:avLst/>
              <a:gdLst/>
              <a:ahLst/>
              <a:cxnLst/>
              <a:rect l="l" t="t" r="r" b="b"/>
              <a:pathLst>
                <a:path w="130175" h="309879">
                  <a:moveTo>
                    <a:pt x="120856" y="0"/>
                  </a:moveTo>
                  <a:lnTo>
                    <a:pt x="107053" y="3710"/>
                  </a:lnTo>
                  <a:lnTo>
                    <a:pt x="0" y="285891"/>
                  </a:lnTo>
                  <a:lnTo>
                    <a:pt x="15776" y="309530"/>
                  </a:lnTo>
                  <a:lnTo>
                    <a:pt x="129629" y="9434"/>
                  </a:lnTo>
                  <a:lnTo>
                    <a:pt x="120856" y="0"/>
                  </a:lnTo>
                  <a:close/>
                </a:path>
              </a:pathLst>
            </a:custGeom>
            <a:solidFill>
              <a:srgbClr val="0000FF"/>
            </a:solidFill>
          </p:spPr>
          <p:txBody>
            <a:bodyPr wrap="square" lIns="0" tIns="0" rIns="0" bIns="0" rtlCol="0"/>
            <a:lstStyle/>
            <a:p>
              <a:endParaRPr/>
            </a:p>
          </p:txBody>
        </p:sp>
        <p:sp>
          <p:nvSpPr>
            <p:cNvPr id="16" name="object 23">
              <a:extLst>
                <a:ext uri="{FF2B5EF4-FFF2-40B4-BE49-F238E27FC236}">
                  <a16:creationId xmlns:a16="http://schemas.microsoft.com/office/drawing/2014/main" id="{53EDAD2C-6125-4DB5-AF9F-8FD9F95E09DC}"/>
                </a:ext>
              </a:extLst>
            </p:cNvPr>
            <p:cNvSpPr/>
            <p:nvPr/>
          </p:nvSpPr>
          <p:spPr>
            <a:xfrm>
              <a:off x="4991215" y="3350768"/>
              <a:ext cx="54610" cy="83820"/>
            </a:xfrm>
            <a:custGeom>
              <a:avLst/>
              <a:gdLst/>
              <a:ahLst/>
              <a:cxnLst/>
              <a:rect l="l" t="t" r="r" b="b"/>
              <a:pathLst>
                <a:path w="54610" h="83820">
                  <a:moveTo>
                    <a:pt x="32710" y="0"/>
                  </a:moveTo>
                  <a:lnTo>
                    <a:pt x="19733" y="0"/>
                  </a:lnTo>
                  <a:lnTo>
                    <a:pt x="14478" y="1908"/>
                  </a:lnTo>
                  <a:lnTo>
                    <a:pt x="6005" y="9858"/>
                  </a:lnTo>
                  <a:lnTo>
                    <a:pt x="3431" y="15582"/>
                  </a:lnTo>
                  <a:lnTo>
                    <a:pt x="2359" y="23002"/>
                  </a:lnTo>
                  <a:lnTo>
                    <a:pt x="4611" y="23002"/>
                  </a:lnTo>
                  <a:lnTo>
                    <a:pt x="6220" y="18550"/>
                  </a:lnTo>
                  <a:lnTo>
                    <a:pt x="8579" y="15052"/>
                  </a:lnTo>
                  <a:lnTo>
                    <a:pt x="15014" y="10388"/>
                  </a:lnTo>
                  <a:lnTo>
                    <a:pt x="18768" y="9222"/>
                  </a:lnTo>
                  <a:lnTo>
                    <a:pt x="27240" y="9222"/>
                  </a:lnTo>
                  <a:lnTo>
                    <a:pt x="31101" y="10812"/>
                  </a:lnTo>
                  <a:lnTo>
                    <a:pt x="37536" y="17490"/>
                  </a:lnTo>
                  <a:lnTo>
                    <a:pt x="39145" y="21836"/>
                  </a:lnTo>
                  <a:lnTo>
                    <a:pt x="39145" y="33815"/>
                  </a:lnTo>
                  <a:lnTo>
                    <a:pt x="9975" y="71938"/>
                  </a:lnTo>
                  <a:lnTo>
                    <a:pt x="0" y="81198"/>
                  </a:lnTo>
                  <a:lnTo>
                    <a:pt x="0" y="83424"/>
                  </a:lnTo>
                  <a:lnTo>
                    <a:pt x="48797" y="83424"/>
                  </a:lnTo>
                  <a:lnTo>
                    <a:pt x="54588" y="67630"/>
                  </a:lnTo>
                  <a:lnTo>
                    <a:pt x="52336" y="67630"/>
                  </a:lnTo>
                  <a:lnTo>
                    <a:pt x="51264" y="69432"/>
                  </a:lnTo>
                  <a:lnTo>
                    <a:pt x="50084" y="70916"/>
                  </a:lnTo>
                  <a:lnTo>
                    <a:pt x="47188" y="72824"/>
                  </a:lnTo>
                  <a:lnTo>
                    <a:pt x="45579" y="73460"/>
                  </a:lnTo>
                  <a:lnTo>
                    <a:pt x="42040" y="74096"/>
                  </a:lnTo>
                  <a:lnTo>
                    <a:pt x="39037" y="74308"/>
                  </a:lnTo>
                  <a:lnTo>
                    <a:pt x="12976" y="74308"/>
                  </a:lnTo>
                  <a:lnTo>
                    <a:pt x="15611" y="71822"/>
                  </a:lnTo>
                  <a:lnTo>
                    <a:pt x="19652" y="67696"/>
                  </a:lnTo>
                  <a:lnTo>
                    <a:pt x="38716" y="47277"/>
                  </a:lnTo>
                  <a:lnTo>
                    <a:pt x="43649" y="40387"/>
                  </a:lnTo>
                  <a:lnTo>
                    <a:pt x="48582" y="29681"/>
                  </a:lnTo>
                  <a:lnTo>
                    <a:pt x="49548" y="25546"/>
                  </a:lnTo>
                  <a:lnTo>
                    <a:pt x="49548" y="15582"/>
                  </a:lnTo>
                  <a:lnTo>
                    <a:pt x="47295" y="10600"/>
                  </a:lnTo>
                  <a:lnTo>
                    <a:pt x="38287" y="2120"/>
                  </a:lnTo>
                  <a:lnTo>
                    <a:pt x="32710" y="0"/>
                  </a:lnTo>
                  <a:close/>
                </a:path>
              </a:pathLst>
            </a:custGeom>
            <a:solidFill>
              <a:srgbClr val="FF0000"/>
            </a:solidFill>
          </p:spPr>
          <p:txBody>
            <a:bodyPr wrap="square" lIns="0" tIns="0" rIns="0" bIns="0" rtlCol="0"/>
            <a:lstStyle/>
            <a:p>
              <a:endParaRPr/>
            </a:p>
          </p:txBody>
        </p:sp>
        <p:pic>
          <p:nvPicPr>
            <p:cNvPr id="17" name="object 24">
              <a:extLst>
                <a:ext uri="{FF2B5EF4-FFF2-40B4-BE49-F238E27FC236}">
                  <a16:creationId xmlns:a16="http://schemas.microsoft.com/office/drawing/2014/main" id="{482CE42B-B51B-4787-AAE2-F3F3B5B61182}"/>
                </a:ext>
              </a:extLst>
            </p:cNvPr>
            <p:cNvPicPr/>
            <p:nvPr/>
          </p:nvPicPr>
          <p:blipFill>
            <a:blip r:embed="rId3" cstate="print"/>
            <a:stretch>
              <a:fillRect/>
            </a:stretch>
          </p:blipFill>
          <p:spPr>
            <a:xfrm>
              <a:off x="4743871" y="3324585"/>
              <a:ext cx="212831" cy="411612"/>
            </a:xfrm>
            <a:prstGeom prst="rect">
              <a:avLst/>
            </a:prstGeom>
          </p:spPr>
        </p:pic>
        <p:sp>
          <p:nvSpPr>
            <p:cNvPr id="18" name="object 25">
              <a:extLst>
                <a:ext uri="{FF2B5EF4-FFF2-40B4-BE49-F238E27FC236}">
                  <a16:creationId xmlns:a16="http://schemas.microsoft.com/office/drawing/2014/main" id="{AB067414-071E-4AAA-B6E1-AF76958C714A}"/>
                </a:ext>
              </a:extLst>
            </p:cNvPr>
            <p:cNvSpPr/>
            <p:nvPr/>
          </p:nvSpPr>
          <p:spPr>
            <a:xfrm>
              <a:off x="4956027" y="3408752"/>
              <a:ext cx="306705" cy="85090"/>
            </a:xfrm>
            <a:custGeom>
              <a:avLst/>
              <a:gdLst/>
              <a:ahLst/>
              <a:cxnLst/>
              <a:rect l="l" t="t" r="r" b="b"/>
              <a:pathLst>
                <a:path w="306704" h="85089">
                  <a:moveTo>
                    <a:pt x="306307" y="0"/>
                  </a:moveTo>
                  <a:lnTo>
                    <a:pt x="0" y="84696"/>
                  </a:lnTo>
                </a:path>
              </a:pathLst>
            </a:custGeom>
            <a:ln w="3175">
              <a:solidFill>
                <a:srgbClr val="0000FF"/>
              </a:solidFill>
            </a:ln>
          </p:spPr>
          <p:txBody>
            <a:bodyPr wrap="square" lIns="0" tIns="0" rIns="0" bIns="0" rtlCol="0"/>
            <a:lstStyle/>
            <a:p>
              <a:endParaRPr/>
            </a:p>
          </p:txBody>
        </p:sp>
        <p:sp>
          <p:nvSpPr>
            <p:cNvPr id="19" name="object 26">
              <a:extLst>
                <a:ext uri="{FF2B5EF4-FFF2-40B4-BE49-F238E27FC236}">
                  <a16:creationId xmlns:a16="http://schemas.microsoft.com/office/drawing/2014/main" id="{142DE19E-CAAC-4149-8233-F5F710517F3F}"/>
                </a:ext>
              </a:extLst>
            </p:cNvPr>
            <p:cNvSpPr/>
            <p:nvPr/>
          </p:nvSpPr>
          <p:spPr>
            <a:xfrm>
              <a:off x="4954097" y="3397727"/>
              <a:ext cx="313690" cy="105410"/>
            </a:xfrm>
            <a:custGeom>
              <a:avLst/>
              <a:gdLst/>
              <a:ahLst/>
              <a:cxnLst/>
              <a:rect l="l" t="t" r="r" b="b"/>
              <a:pathLst>
                <a:path w="313689" h="105410">
                  <a:moveTo>
                    <a:pt x="307058" y="0"/>
                  </a:moveTo>
                  <a:lnTo>
                    <a:pt x="2606" y="83106"/>
                  </a:lnTo>
                  <a:lnTo>
                    <a:pt x="0" y="95721"/>
                  </a:lnTo>
                  <a:lnTo>
                    <a:pt x="8772" y="105155"/>
                  </a:lnTo>
                  <a:lnTo>
                    <a:pt x="313279" y="22048"/>
                  </a:lnTo>
                  <a:lnTo>
                    <a:pt x="307058" y="0"/>
                  </a:lnTo>
                  <a:close/>
                </a:path>
              </a:pathLst>
            </a:custGeom>
            <a:solidFill>
              <a:srgbClr val="0000FF"/>
            </a:solidFill>
          </p:spPr>
          <p:txBody>
            <a:bodyPr wrap="square" lIns="0" tIns="0" rIns="0" bIns="0" rtlCol="0"/>
            <a:lstStyle/>
            <a:p>
              <a:endParaRPr/>
            </a:p>
          </p:txBody>
        </p:sp>
      </p:grpSp>
      <p:sp>
        <p:nvSpPr>
          <p:cNvPr id="20" name="object 27">
            <a:extLst>
              <a:ext uri="{FF2B5EF4-FFF2-40B4-BE49-F238E27FC236}">
                <a16:creationId xmlns:a16="http://schemas.microsoft.com/office/drawing/2014/main" id="{7FCAAF82-9184-4D20-AE7A-2BEAEA330EB7}"/>
              </a:ext>
            </a:extLst>
          </p:cNvPr>
          <p:cNvSpPr/>
          <p:nvPr/>
        </p:nvSpPr>
        <p:spPr>
          <a:xfrm>
            <a:off x="4127610" y="1505105"/>
            <a:ext cx="56515" cy="83820"/>
          </a:xfrm>
          <a:custGeom>
            <a:avLst/>
            <a:gdLst/>
            <a:ahLst/>
            <a:cxnLst/>
            <a:rect l="l" t="t" r="r" b="b"/>
            <a:pathLst>
              <a:path w="56515" h="83820">
                <a:moveTo>
                  <a:pt x="45150" y="61800"/>
                </a:moveTo>
                <a:lnTo>
                  <a:pt x="35069" y="61800"/>
                </a:lnTo>
                <a:lnTo>
                  <a:pt x="35069" y="83424"/>
                </a:lnTo>
                <a:lnTo>
                  <a:pt x="45150" y="83424"/>
                </a:lnTo>
                <a:lnTo>
                  <a:pt x="45150" y="61800"/>
                </a:lnTo>
                <a:close/>
              </a:path>
              <a:path w="56515" h="83820">
                <a:moveTo>
                  <a:pt x="45150" y="0"/>
                </a:moveTo>
                <a:lnTo>
                  <a:pt x="38394" y="0"/>
                </a:lnTo>
                <a:lnTo>
                  <a:pt x="0" y="54061"/>
                </a:lnTo>
                <a:lnTo>
                  <a:pt x="0" y="61800"/>
                </a:lnTo>
                <a:lnTo>
                  <a:pt x="56197" y="61800"/>
                </a:lnTo>
                <a:lnTo>
                  <a:pt x="56197" y="53213"/>
                </a:lnTo>
                <a:lnTo>
                  <a:pt x="6005" y="53213"/>
                </a:lnTo>
                <a:lnTo>
                  <a:pt x="35069" y="12720"/>
                </a:lnTo>
                <a:lnTo>
                  <a:pt x="45150" y="12720"/>
                </a:lnTo>
                <a:lnTo>
                  <a:pt x="45150" y="0"/>
                </a:lnTo>
                <a:close/>
              </a:path>
              <a:path w="56515" h="83820">
                <a:moveTo>
                  <a:pt x="45150" y="12720"/>
                </a:moveTo>
                <a:lnTo>
                  <a:pt x="35069" y="12720"/>
                </a:lnTo>
                <a:lnTo>
                  <a:pt x="35069" y="53213"/>
                </a:lnTo>
                <a:lnTo>
                  <a:pt x="45150" y="53213"/>
                </a:lnTo>
                <a:lnTo>
                  <a:pt x="45150" y="12720"/>
                </a:lnTo>
                <a:close/>
              </a:path>
            </a:pathLst>
          </a:custGeom>
          <a:solidFill>
            <a:srgbClr val="FF0000"/>
          </a:solidFill>
        </p:spPr>
        <p:txBody>
          <a:bodyPr wrap="square" lIns="0" tIns="0" rIns="0" bIns="0" rtlCol="0"/>
          <a:lstStyle/>
          <a:p>
            <a:endParaRPr/>
          </a:p>
        </p:txBody>
      </p:sp>
      <p:sp>
        <p:nvSpPr>
          <p:cNvPr id="21" name="object 28">
            <a:extLst>
              <a:ext uri="{FF2B5EF4-FFF2-40B4-BE49-F238E27FC236}">
                <a16:creationId xmlns:a16="http://schemas.microsoft.com/office/drawing/2014/main" id="{530C901C-B4CC-4285-99F9-AED0B5BAD4BE}"/>
              </a:ext>
            </a:extLst>
          </p:cNvPr>
          <p:cNvSpPr/>
          <p:nvPr/>
        </p:nvSpPr>
        <p:spPr>
          <a:xfrm>
            <a:off x="4316686" y="1180840"/>
            <a:ext cx="48260" cy="83820"/>
          </a:xfrm>
          <a:custGeom>
            <a:avLst/>
            <a:gdLst/>
            <a:ahLst/>
            <a:cxnLst/>
            <a:rect l="l" t="t" r="r" b="b"/>
            <a:pathLst>
              <a:path w="48259" h="83819">
                <a:moveTo>
                  <a:pt x="48261" y="0"/>
                </a:moveTo>
                <a:lnTo>
                  <a:pt x="18553" y="0"/>
                </a:lnTo>
                <a:lnTo>
                  <a:pt x="2788" y="31695"/>
                </a:lnTo>
                <a:lnTo>
                  <a:pt x="10402" y="32013"/>
                </a:lnTo>
                <a:lnTo>
                  <a:pt x="16408" y="33073"/>
                </a:lnTo>
                <a:lnTo>
                  <a:pt x="26489" y="37207"/>
                </a:lnTo>
                <a:lnTo>
                  <a:pt x="30994" y="40493"/>
                </a:lnTo>
                <a:lnTo>
                  <a:pt x="37429" y="49079"/>
                </a:lnTo>
                <a:lnTo>
                  <a:pt x="38930" y="53637"/>
                </a:lnTo>
                <a:lnTo>
                  <a:pt x="38930" y="63708"/>
                </a:lnTo>
                <a:lnTo>
                  <a:pt x="37214" y="68054"/>
                </a:lnTo>
                <a:lnTo>
                  <a:pt x="30029" y="75156"/>
                </a:lnTo>
                <a:lnTo>
                  <a:pt x="25846" y="76958"/>
                </a:lnTo>
                <a:lnTo>
                  <a:pt x="17910" y="76958"/>
                </a:lnTo>
                <a:lnTo>
                  <a:pt x="14800" y="75898"/>
                </a:lnTo>
                <a:lnTo>
                  <a:pt x="11797" y="73778"/>
                </a:lnTo>
                <a:lnTo>
                  <a:pt x="8472" y="71658"/>
                </a:lnTo>
                <a:lnTo>
                  <a:pt x="0" y="73990"/>
                </a:lnTo>
                <a:lnTo>
                  <a:pt x="0" y="77170"/>
                </a:lnTo>
                <a:lnTo>
                  <a:pt x="1179" y="78972"/>
                </a:lnTo>
                <a:lnTo>
                  <a:pt x="5684" y="82364"/>
                </a:lnTo>
                <a:lnTo>
                  <a:pt x="9223" y="83212"/>
                </a:lnTo>
                <a:lnTo>
                  <a:pt x="19089" y="83212"/>
                </a:lnTo>
                <a:lnTo>
                  <a:pt x="46866" y="56605"/>
                </a:lnTo>
                <a:lnTo>
                  <a:pt x="46866" y="44945"/>
                </a:lnTo>
                <a:lnTo>
                  <a:pt x="13191" y="21200"/>
                </a:lnTo>
                <a:lnTo>
                  <a:pt x="18553" y="10176"/>
                </a:lnTo>
                <a:lnTo>
                  <a:pt x="43542" y="10176"/>
                </a:lnTo>
                <a:lnTo>
                  <a:pt x="48261" y="0"/>
                </a:lnTo>
                <a:close/>
              </a:path>
            </a:pathLst>
          </a:custGeom>
          <a:solidFill>
            <a:srgbClr val="FF0000"/>
          </a:solidFill>
        </p:spPr>
        <p:txBody>
          <a:bodyPr wrap="square" lIns="0" tIns="0" rIns="0" bIns="0" rtlCol="0"/>
          <a:lstStyle/>
          <a:p>
            <a:endParaRPr/>
          </a:p>
        </p:txBody>
      </p:sp>
      <p:sp>
        <p:nvSpPr>
          <p:cNvPr id="22" name="object 29">
            <a:extLst>
              <a:ext uri="{FF2B5EF4-FFF2-40B4-BE49-F238E27FC236}">
                <a16:creationId xmlns:a16="http://schemas.microsoft.com/office/drawing/2014/main" id="{F5406BA2-5DB0-4507-90DA-3F383973839E}"/>
              </a:ext>
            </a:extLst>
          </p:cNvPr>
          <p:cNvSpPr/>
          <p:nvPr/>
        </p:nvSpPr>
        <p:spPr>
          <a:xfrm>
            <a:off x="468616" y="653048"/>
            <a:ext cx="403860" cy="175260"/>
          </a:xfrm>
          <a:custGeom>
            <a:avLst/>
            <a:gdLst/>
            <a:ahLst/>
            <a:cxnLst/>
            <a:rect l="l" t="t" r="r" b="b"/>
            <a:pathLst>
              <a:path w="403860" h="175260">
                <a:moveTo>
                  <a:pt x="71015" y="167061"/>
                </a:moveTo>
                <a:lnTo>
                  <a:pt x="0" y="167061"/>
                </a:lnTo>
                <a:lnTo>
                  <a:pt x="0" y="171513"/>
                </a:lnTo>
                <a:lnTo>
                  <a:pt x="71015" y="171513"/>
                </a:lnTo>
                <a:lnTo>
                  <a:pt x="71015" y="167061"/>
                </a:lnTo>
                <a:close/>
              </a:path>
              <a:path w="403860" h="175260">
                <a:moveTo>
                  <a:pt x="123116" y="7950"/>
                </a:moveTo>
                <a:lnTo>
                  <a:pt x="0" y="7950"/>
                </a:lnTo>
                <a:lnTo>
                  <a:pt x="0" y="12402"/>
                </a:lnTo>
                <a:lnTo>
                  <a:pt x="9843" y="12402"/>
                </a:lnTo>
                <a:lnTo>
                  <a:pt x="13584" y="13462"/>
                </a:lnTo>
                <a:lnTo>
                  <a:pt x="19604" y="16748"/>
                </a:lnTo>
                <a:lnTo>
                  <a:pt x="21272" y="18550"/>
                </a:lnTo>
                <a:lnTo>
                  <a:pt x="23142" y="23214"/>
                </a:lnTo>
                <a:lnTo>
                  <a:pt x="23671" y="28620"/>
                </a:lnTo>
                <a:lnTo>
                  <a:pt x="23671" y="152433"/>
                </a:lnTo>
                <a:lnTo>
                  <a:pt x="22695" y="158581"/>
                </a:lnTo>
                <a:lnTo>
                  <a:pt x="20743" y="161125"/>
                </a:lnTo>
                <a:lnTo>
                  <a:pt x="17651" y="165047"/>
                </a:lnTo>
                <a:lnTo>
                  <a:pt x="12690" y="167061"/>
                </a:lnTo>
                <a:lnTo>
                  <a:pt x="61131" y="167061"/>
                </a:lnTo>
                <a:lnTo>
                  <a:pt x="47099" y="150843"/>
                </a:lnTo>
                <a:lnTo>
                  <a:pt x="47099" y="91163"/>
                </a:lnTo>
                <a:lnTo>
                  <a:pt x="103350" y="91163"/>
                </a:lnTo>
                <a:lnTo>
                  <a:pt x="103350" y="81198"/>
                </a:lnTo>
                <a:lnTo>
                  <a:pt x="47099" y="81198"/>
                </a:lnTo>
                <a:lnTo>
                  <a:pt x="47099" y="16960"/>
                </a:lnTo>
                <a:lnTo>
                  <a:pt x="123514" y="16960"/>
                </a:lnTo>
                <a:lnTo>
                  <a:pt x="123116" y="7950"/>
                </a:lnTo>
                <a:close/>
              </a:path>
              <a:path w="403860" h="175260">
                <a:moveTo>
                  <a:pt x="103350" y="91163"/>
                </a:moveTo>
                <a:lnTo>
                  <a:pt x="82769" y="91163"/>
                </a:lnTo>
                <a:lnTo>
                  <a:pt x="86941" y="91905"/>
                </a:lnTo>
                <a:lnTo>
                  <a:pt x="92550" y="94873"/>
                </a:lnTo>
                <a:lnTo>
                  <a:pt x="94749" y="97099"/>
                </a:lnTo>
                <a:lnTo>
                  <a:pt x="96336" y="100173"/>
                </a:lnTo>
                <a:lnTo>
                  <a:pt x="97923" y="103141"/>
                </a:lnTo>
                <a:lnTo>
                  <a:pt x="98749" y="107805"/>
                </a:lnTo>
                <a:lnTo>
                  <a:pt x="98835" y="114165"/>
                </a:lnTo>
                <a:lnTo>
                  <a:pt x="103350" y="114165"/>
                </a:lnTo>
                <a:lnTo>
                  <a:pt x="103350" y="91163"/>
                </a:lnTo>
                <a:close/>
              </a:path>
              <a:path w="403860" h="175260">
                <a:moveTo>
                  <a:pt x="103350" y="58725"/>
                </a:moveTo>
                <a:lnTo>
                  <a:pt x="98835" y="58725"/>
                </a:lnTo>
                <a:lnTo>
                  <a:pt x="97773" y="67736"/>
                </a:lnTo>
                <a:lnTo>
                  <a:pt x="95639" y="73672"/>
                </a:lnTo>
                <a:lnTo>
                  <a:pt x="92432" y="76640"/>
                </a:lnTo>
                <a:lnTo>
                  <a:pt x="89215" y="79714"/>
                </a:lnTo>
                <a:lnTo>
                  <a:pt x="84153" y="81198"/>
                </a:lnTo>
                <a:lnTo>
                  <a:pt x="103350" y="81198"/>
                </a:lnTo>
                <a:lnTo>
                  <a:pt x="103350" y="58725"/>
                </a:lnTo>
                <a:close/>
              </a:path>
              <a:path w="403860" h="175260">
                <a:moveTo>
                  <a:pt x="123514" y="16960"/>
                </a:moveTo>
                <a:lnTo>
                  <a:pt x="92207" y="16960"/>
                </a:lnTo>
                <a:lnTo>
                  <a:pt x="98567" y="17702"/>
                </a:lnTo>
                <a:lnTo>
                  <a:pt x="106782" y="20882"/>
                </a:lnTo>
                <a:lnTo>
                  <a:pt x="110246" y="23532"/>
                </a:lnTo>
                <a:lnTo>
                  <a:pt x="113056" y="27136"/>
                </a:lnTo>
                <a:lnTo>
                  <a:pt x="115855" y="30635"/>
                </a:lnTo>
                <a:lnTo>
                  <a:pt x="118322" y="36253"/>
                </a:lnTo>
                <a:lnTo>
                  <a:pt x="120435" y="43885"/>
                </a:lnTo>
                <a:lnTo>
                  <a:pt x="124703" y="43885"/>
                </a:lnTo>
                <a:lnTo>
                  <a:pt x="123514" y="16960"/>
                </a:lnTo>
                <a:close/>
              </a:path>
              <a:path w="403860" h="175260">
                <a:moveTo>
                  <a:pt x="178509" y="65404"/>
                </a:moveTo>
                <a:lnTo>
                  <a:pt x="145198" y="65404"/>
                </a:lnTo>
                <a:lnTo>
                  <a:pt x="149252" y="65934"/>
                </a:lnTo>
                <a:lnTo>
                  <a:pt x="153724" y="68054"/>
                </a:lnTo>
                <a:lnTo>
                  <a:pt x="155408" y="69644"/>
                </a:lnTo>
                <a:lnTo>
                  <a:pt x="157692" y="73672"/>
                </a:lnTo>
                <a:lnTo>
                  <a:pt x="158261" y="77276"/>
                </a:lnTo>
                <a:lnTo>
                  <a:pt x="158261" y="142150"/>
                </a:lnTo>
                <a:lnTo>
                  <a:pt x="159151" y="150101"/>
                </a:lnTo>
                <a:lnTo>
                  <a:pt x="162733" y="161337"/>
                </a:lnTo>
                <a:lnTo>
                  <a:pt x="165929" y="166001"/>
                </a:lnTo>
                <a:lnTo>
                  <a:pt x="170519" y="169499"/>
                </a:lnTo>
                <a:lnTo>
                  <a:pt x="175120" y="173103"/>
                </a:lnTo>
                <a:lnTo>
                  <a:pt x="180546" y="174905"/>
                </a:lnTo>
                <a:lnTo>
                  <a:pt x="192429" y="174905"/>
                </a:lnTo>
                <a:lnTo>
                  <a:pt x="216301" y="160065"/>
                </a:lnTo>
                <a:lnTo>
                  <a:pt x="191936" y="160065"/>
                </a:lnTo>
                <a:lnTo>
                  <a:pt x="187560" y="158475"/>
                </a:lnTo>
                <a:lnTo>
                  <a:pt x="183946" y="155295"/>
                </a:lnTo>
                <a:lnTo>
                  <a:pt x="180321" y="152009"/>
                </a:lnTo>
                <a:lnTo>
                  <a:pt x="178509" y="145224"/>
                </a:lnTo>
                <a:lnTo>
                  <a:pt x="178509" y="65404"/>
                </a:lnTo>
                <a:close/>
              </a:path>
              <a:path w="403860" h="175260">
                <a:moveTo>
                  <a:pt x="245806" y="151479"/>
                </a:moveTo>
                <a:lnTo>
                  <a:pt x="224764" y="151479"/>
                </a:lnTo>
                <a:lnTo>
                  <a:pt x="224764" y="174905"/>
                </a:lnTo>
                <a:lnTo>
                  <a:pt x="230255" y="174905"/>
                </a:lnTo>
                <a:lnTo>
                  <a:pt x="263684" y="161231"/>
                </a:lnTo>
                <a:lnTo>
                  <a:pt x="262810" y="159111"/>
                </a:lnTo>
                <a:lnTo>
                  <a:pt x="251640" y="159111"/>
                </a:lnTo>
                <a:lnTo>
                  <a:pt x="250075" y="158581"/>
                </a:lnTo>
                <a:lnTo>
                  <a:pt x="247394" y="156249"/>
                </a:lnTo>
                <a:lnTo>
                  <a:pt x="246418" y="154341"/>
                </a:lnTo>
                <a:lnTo>
                  <a:pt x="245806" y="151479"/>
                </a:lnTo>
                <a:close/>
              </a:path>
              <a:path w="403860" h="175260">
                <a:moveTo>
                  <a:pt x="244895" y="61058"/>
                </a:moveTo>
                <a:lnTo>
                  <a:pt x="206822" y="61058"/>
                </a:lnTo>
                <a:lnTo>
                  <a:pt x="206822" y="65510"/>
                </a:lnTo>
                <a:lnTo>
                  <a:pt x="214147" y="65722"/>
                </a:lnTo>
                <a:lnTo>
                  <a:pt x="218962" y="66888"/>
                </a:lnTo>
                <a:lnTo>
                  <a:pt x="221279" y="69114"/>
                </a:lnTo>
                <a:lnTo>
                  <a:pt x="223595" y="71234"/>
                </a:lnTo>
                <a:lnTo>
                  <a:pt x="224764" y="75474"/>
                </a:lnTo>
                <a:lnTo>
                  <a:pt x="224764" y="144376"/>
                </a:lnTo>
                <a:lnTo>
                  <a:pt x="218662" y="150525"/>
                </a:lnTo>
                <a:lnTo>
                  <a:pt x="213396" y="154659"/>
                </a:lnTo>
                <a:lnTo>
                  <a:pt x="208956" y="156779"/>
                </a:lnTo>
                <a:lnTo>
                  <a:pt x="204527" y="159005"/>
                </a:lnTo>
                <a:lnTo>
                  <a:pt x="200559" y="160065"/>
                </a:lnTo>
                <a:lnTo>
                  <a:pt x="216301" y="160065"/>
                </a:lnTo>
                <a:lnTo>
                  <a:pt x="218095" y="158369"/>
                </a:lnTo>
                <a:lnTo>
                  <a:pt x="224764" y="151479"/>
                </a:lnTo>
                <a:lnTo>
                  <a:pt x="245806" y="151479"/>
                </a:lnTo>
                <a:lnTo>
                  <a:pt x="245195" y="148617"/>
                </a:lnTo>
                <a:lnTo>
                  <a:pt x="244947" y="142150"/>
                </a:lnTo>
                <a:lnTo>
                  <a:pt x="244895" y="61058"/>
                </a:lnTo>
                <a:close/>
              </a:path>
              <a:path w="403860" h="175260">
                <a:moveTo>
                  <a:pt x="261979" y="157097"/>
                </a:moveTo>
                <a:lnTo>
                  <a:pt x="258805" y="158369"/>
                </a:lnTo>
                <a:lnTo>
                  <a:pt x="255952" y="159111"/>
                </a:lnTo>
                <a:lnTo>
                  <a:pt x="262810" y="159111"/>
                </a:lnTo>
                <a:lnTo>
                  <a:pt x="261979" y="157097"/>
                </a:lnTo>
                <a:close/>
              </a:path>
              <a:path w="403860" h="175260">
                <a:moveTo>
                  <a:pt x="178509" y="61058"/>
                </a:moveTo>
                <a:lnTo>
                  <a:pt x="139342" y="61058"/>
                </a:lnTo>
                <a:lnTo>
                  <a:pt x="139342" y="65510"/>
                </a:lnTo>
                <a:lnTo>
                  <a:pt x="145198" y="65404"/>
                </a:lnTo>
                <a:lnTo>
                  <a:pt x="178509" y="65404"/>
                </a:lnTo>
                <a:lnTo>
                  <a:pt x="178509" y="61058"/>
                </a:lnTo>
                <a:close/>
              </a:path>
              <a:path w="403860" h="175260">
                <a:moveTo>
                  <a:pt x="332140" y="167167"/>
                </a:moveTo>
                <a:lnTo>
                  <a:pt x="277348" y="167167"/>
                </a:lnTo>
                <a:lnTo>
                  <a:pt x="277348" y="171513"/>
                </a:lnTo>
                <a:lnTo>
                  <a:pt x="332140" y="171513"/>
                </a:lnTo>
                <a:lnTo>
                  <a:pt x="332140" y="167167"/>
                </a:lnTo>
                <a:close/>
              </a:path>
              <a:path w="403860" h="175260">
                <a:moveTo>
                  <a:pt x="314080" y="15794"/>
                </a:moveTo>
                <a:lnTo>
                  <a:pt x="287354" y="15794"/>
                </a:lnTo>
                <a:lnTo>
                  <a:pt x="288962" y="16324"/>
                </a:lnTo>
                <a:lnTo>
                  <a:pt x="291483" y="18444"/>
                </a:lnTo>
                <a:lnTo>
                  <a:pt x="292394" y="20352"/>
                </a:lnTo>
                <a:lnTo>
                  <a:pt x="293542" y="26076"/>
                </a:lnTo>
                <a:lnTo>
                  <a:pt x="293821" y="33709"/>
                </a:lnTo>
                <a:lnTo>
                  <a:pt x="293809" y="153493"/>
                </a:lnTo>
                <a:lnTo>
                  <a:pt x="293295" y="158051"/>
                </a:lnTo>
                <a:lnTo>
                  <a:pt x="292233" y="160383"/>
                </a:lnTo>
                <a:lnTo>
                  <a:pt x="291182" y="162821"/>
                </a:lnTo>
                <a:lnTo>
                  <a:pt x="289713" y="164517"/>
                </a:lnTo>
                <a:lnTo>
                  <a:pt x="285970" y="166637"/>
                </a:lnTo>
                <a:lnTo>
                  <a:pt x="282474" y="167167"/>
                </a:lnTo>
                <a:lnTo>
                  <a:pt x="326359" y="167167"/>
                </a:lnTo>
                <a:lnTo>
                  <a:pt x="322413" y="166637"/>
                </a:lnTo>
                <a:lnTo>
                  <a:pt x="318187" y="164305"/>
                </a:lnTo>
                <a:lnTo>
                  <a:pt x="316621" y="162609"/>
                </a:lnTo>
                <a:lnTo>
                  <a:pt x="315603" y="160277"/>
                </a:lnTo>
                <a:lnTo>
                  <a:pt x="314584" y="158051"/>
                </a:lnTo>
                <a:lnTo>
                  <a:pt x="314080" y="153493"/>
                </a:lnTo>
                <a:lnTo>
                  <a:pt x="314080" y="15794"/>
                </a:lnTo>
                <a:close/>
              </a:path>
              <a:path w="403860" h="175260">
                <a:moveTo>
                  <a:pt x="314080" y="0"/>
                </a:moveTo>
                <a:lnTo>
                  <a:pt x="308589" y="0"/>
                </a:lnTo>
                <a:lnTo>
                  <a:pt x="275278" y="13568"/>
                </a:lnTo>
                <a:lnTo>
                  <a:pt x="277348" y="17702"/>
                </a:lnTo>
                <a:lnTo>
                  <a:pt x="280608" y="16430"/>
                </a:lnTo>
                <a:lnTo>
                  <a:pt x="283289" y="15794"/>
                </a:lnTo>
                <a:lnTo>
                  <a:pt x="314080" y="15794"/>
                </a:lnTo>
                <a:lnTo>
                  <a:pt x="314080" y="0"/>
                </a:lnTo>
                <a:close/>
              </a:path>
              <a:path w="403860" h="175260">
                <a:moveTo>
                  <a:pt x="403642" y="167167"/>
                </a:moveTo>
                <a:lnTo>
                  <a:pt x="348849" y="167167"/>
                </a:lnTo>
                <a:lnTo>
                  <a:pt x="348849" y="171513"/>
                </a:lnTo>
                <a:lnTo>
                  <a:pt x="403642" y="171513"/>
                </a:lnTo>
                <a:lnTo>
                  <a:pt x="403642" y="167167"/>
                </a:lnTo>
                <a:close/>
              </a:path>
              <a:path w="403860" h="175260">
                <a:moveTo>
                  <a:pt x="385581" y="15794"/>
                </a:moveTo>
                <a:lnTo>
                  <a:pt x="358855" y="15794"/>
                </a:lnTo>
                <a:lnTo>
                  <a:pt x="360464" y="16324"/>
                </a:lnTo>
                <a:lnTo>
                  <a:pt x="362984" y="18444"/>
                </a:lnTo>
                <a:lnTo>
                  <a:pt x="363907" y="20352"/>
                </a:lnTo>
                <a:lnTo>
                  <a:pt x="365043" y="26076"/>
                </a:lnTo>
                <a:lnTo>
                  <a:pt x="365322" y="33709"/>
                </a:lnTo>
                <a:lnTo>
                  <a:pt x="365310" y="153493"/>
                </a:lnTo>
                <a:lnTo>
                  <a:pt x="364797" y="158051"/>
                </a:lnTo>
                <a:lnTo>
                  <a:pt x="363735" y="160383"/>
                </a:lnTo>
                <a:lnTo>
                  <a:pt x="362684" y="162821"/>
                </a:lnTo>
                <a:lnTo>
                  <a:pt x="361215" y="164517"/>
                </a:lnTo>
                <a:lnTo>
                  <a:pt x="357472" y="166637"/>
                </a:lnTo>
                <a:lnTo>
                  <a:pt x="353976" y="167167"/>
                </a:lnTo>
                <a:lnTo>
                  <a:pt x="397861" y="167167"/>
                </a:lnTo>
                <a:lnTo>
                  <a:pt x="393914" y="166637"/>
                </a:lnTo>
                <a:lnTo>
                  <a:pt x="389689" y="164305"/>
                </a:lnTo>
                <a:lnTo>
                  <a:pt x="388123" y="162609"/>
                </a:lnTo>
                <a:lnTo>
                  <a:pt x="387104" y="160277"/>
                </a:lnTo>
                <a:lnTo>
                  <a:pt x="386085" y="158051"/>
                </a:lnTo>
                <a:lnTo>
                  <a:pt x="385581" y="153493"/>
                </a:lnTo>
                <a:lnTo>
                  <a:pt x="385581" y="15794"/>
                </a:lnTo>
                <a:close/>
              </a:path>
              <a:path w="403860" h="175260">
                <a:moveTo>
                  <a:pt x="385581" y="0"/>
                </a:moveTo>
                <a:lnTo>
                  <a:pt x="380090" y="0"/>
                </a:lnTo>
                <a:lnTo>
                  <a:pt x="346779" y="13568"/>
                </a:lnTo>
                <a:lnTo>
                  <a:pt x="348849" y="17702"/>
                </a:lnTo>
                <a:lnTo>
                  <a:pt x="352109" y="16430"/>
                </a:lnTo>
                <a:lnTo>
                  <a:pt x="354791" y="15794"/>
                </a:lnTo>
                <a:lnTo>
                  <a:pt x="385581" y="15794"/>
                </a:lnTo>
                <a:lnTo>
                  <a:pt x="385581" y="0"/>
                </a:lnTo>
                <a:close/>
              </a:path>
            </a:pathLst>
          </a:custGeom>
          <a:solidFill>
            <a:srgbClr val="0000FF"/>
          </a:solidFill>
        </p:spPr>
        <p:txBody>
          <a:bodyPr wrap="square" lIns="0" tIns="0" rIns="0" bIns="0" rtlCol="0"/>
          <a:lstStyle/>
          <a:p>
            <a:endParaRPr/>
          </a:p>
        </p:txBody>
      </p:sp>
      <p:pic>
        <p:nvPicPr>
          <p:cNvPr id="23" name="object 30">
            <a:extLst>
              <a:ext uri="{FF2B5EF4-FFF2-40B4-BE49-F238E27FC236}">
                <a16:creationId xmlns:a16="http://schemas.microsoft.com/office/drawing/2014/main" id="{67844F51-86DB-4B2D-ACFB-A6320A344120}"/>
              </a:ext>
            </a:extLst>
          </p:cNvPr>
          <p:cNvPicPr/>
          <p:nvPr/>
        </p:nvPicPr>
        <p:blipFill>
          <a:blip r:embed="rId4" cstate="print"/>
          <a:stretch>
            <a:fillRect/>
          </a:stretch>
        </p:blipFill>
        <p:spPr>
          <a:xfrm>
            <a:off x="945175" y="653048"/>
            <a:ext cx="1323309" cy="175435"/>
          </a:xfrm>
          <a:prstGeom prst="rect">
            <a:avLst/>
          </a:prstGeom>
        </p:spPr>
      </p:pic>
      <p:pic>
        <p:nvPicPr>
          <p:cNvPr id="24" name="object 31">
            <a:extLst>
              <a:ext uri="{FF2B5EF4-FFF2-40B4-BE49-F238E27FC236}">
                <a16:creationId xmlns:a16="http://schemas.microsoft.com/office/drawing/2014/main" id="{3F208E4E-6E80-4296-9F7E-9F72F655903F}"/>
              </a:ext>
            </a:extLst>
          </p:cNvPr>
          <p:cNvPicPr/>
          <p:nvPr/>
        </p:nvPicPr>
        <p:blipFill>
          <a:blip r:embed="rId5" cstate="print"/>
          <a:stretch>
            <a:fillRect/>
          </a:stretch>
        </p:blipFill>
        <p:spPr>
          <a:xfrm>
            <a:off x="4097902" y="645098"/>
            <a:ext cx="1323319" cy="175435"/>
          </a:xfrm>
          <a:prstGeom prst="rect">
            <a:avLst/>
          </a:prstGeom>
        </p:spPr>
      </p:pic>
      <p:pic>
        <p:nvPicPr>
          <p:cNvPr id="25" name="object 32">
            <a:extLst>
              <a:ext uri="{FF2B5EF4-FFF2-40B4-BE49-F238E27FC236}">
                <a16:creationId xmlns:a16="http://schemas.microsoft.com/office/drawing/2014/main" id="{56F05500-C039-48B2-8CE7-788A39D585ED}"/>
              </a:ext>
            </a:extLst>
          </p:cNvPr>
          <p:cNvPicPr/>
          <p:nvPr/>
        </p:nvPicPr>
        <p:blipFill>
          <a:blip r:embed="rId6" cstate="print"/>
          <a:stretch>
            <a:fillRect/>
          </a:stretch>
        </p:blipFill>
        <p:spPr>
          <a:xfrm>
            <a:off x="3364441" y="645098"/>
            <a:ext cx="660319" cy="173845"/>
          </a:xfrm>
          <a:prstGeom prst="rect">
            <a:avLst/>
          </a:prstGeom>
        </p:spPr>
      </p:pic>
      <p:grpSp>
        <p:nvGrpSpPr>
          <p:cNvPr id="26" name="object 33">
            <a:extLst>
              <a:ext uri="{FF2B5EF4-FFF2-40B4-BE49-F238E27FC236}">
                <a16:creationId xmlns:a16="http://schemas.microsoft.com/office/drawing/2014/main" id="{D99E8538-6B0D-4871-BCE5-03D7875102F5}"/>
              </a:ext>
            </a:extLst>
          </p:cNvPr>
          <p:cNvGrpSpPr/>
          <p:nvPr/>
        </p:nvGrpSpPr>
        <p:grpSpPr>
          <a:xfrm>
            <a:off x="3672239" y="886786"/>
            <a:ext cx="884555" cy="631825"/>
            <a:chOff x="7126394" y="2589344"/>
            <a:chExt cx="884555" cy="631825"/>
          </a:xfrm>
        </p:grpSpPr>
        <p:pic>
          <p:nvPicPr>
            <p:cNvPr id="27" name="object 34">
              <a:extLst>
                <a:ext uri="{FF2B5EF4-FFF2-40B4-BE49-F238E27FC236}">
                  <a16:creationId xmlns:a16="http://schemas.microsoft.com/office/drawing/2014/main" id="{B5E7220C-52FA-4E5A-BEAB-6247560CBC2C}"/>
                </a:ext>
              </a:extLst>
            </p:cNvPr>
            <p:cNvPicPr/>
            <p:nvPr/>
          </p:nvPicPr>
          <p:blipFill>
            <a:blip r:embed="rId7" cstate="print"/>
            <a:stretch>
              <a:fillRect/>
            </a:stretch>
          </p:blipFill>
          <p:spPr>
            <a:xfrm>
              <a:off x="7163501" y="2589344"/>
              <a:ext cx="316791" cy="218261"/>
            </a:xfrm>
            <a:prstGeom prst="rect">
              <a:avLst/>
            </a:prstGeom>
          </p:spPr>
        </p:pic>
        <p:sp>
          <p:nvSpPr>
            <p:cNvPr id="28" name="object 35">
              <a:extLst>
                <a:ext uri="{FF2B5EF4-FFF2-40B4-BE49-F238E27FC236}">
                  <a16:creationId xmlns:a16="http://schemas.microsoft.com/office/drawing/2014/main" id="{3BD763F9-9B06-4F35-8EEE-975D9E332A80}"/>
                </a:ext>
              </a:extLst>
            </p:cNvPr>
            <p:cNvSpPr/>
            <p:nvPr/>
          </p:nvSpPr>
          <p:spPr>
            <a:xfrm>
              <a:off x="7176907" y="2804531"/>
              <a:ext cx="85725" cy="302895"/>
            </a:xfrm>
            <a:custGeom>
              <a:avLst/>
              <a:gdLst/>
              <a:ahLst/>
              <a:cxnLst/>
              <a:rect l="l" t="t" r="r" b="b"/>
              <a:pathLst>
                <a:path w="85725" h="302894">
                  <a:moveTo>
                    <a:pt x="85690" y="302746"/>
                  </a:moveTo>
                  <a:lnTo>
                    <a:pt x="0" y="0"/>
                  </a:lnTo>
                </a:path>
              </a:pathLst>
            </a:custGeom>
            <a:ln w="3175">
              <a:solidFill>
                <a:srgbClr val="0000FF"/>
              </a:solidFill>
            </a:ln>
          </p:spPr>
          <p:txBody>
            <a:bodyPr wrap="square" lIns="0" tIns="0" rIns="0" bIns="0" rtlCol="0"/>
            <a:lstStyle/>
            <a:p>
              <a:endParaRPr/>
            </a:p>
          </p:txBody>
        </p:sp>
        <p:sp>
          <p:nvSpPr>
            <p:cNvPr id="29" name="object 36">
              <a:extLst>
                <a:ext uri="{FF2B5EF4-FFF2-40B4-BE49-F238E27FC236}">
                  <a16:creationId xmlns:a16="http://schemas.microsoft.com/office/drawing/2014/main" id="{82421E72-ADBE-4302-82FD-A5DC59D4E81E}"/>
                </a:ext>
              </a:extLst>
            </p:cNvPr>
            <p:cNvSpPr/>
            <p:nvPr/>
          </p:nvSpPr>
          <p:spPr>
            <a:xfrm>
              <a:off x="7163501" y="2797747"/>
              <a:ext cx="108585" cy="322580"/>
            </a:xfrm>
            <a:custGeom>
              <a:avLst/>
              <a:gdLst/>
              <a:ahLst/>
              <a:cxnLst/>
              <a:rect l="l" t="t" r="r" b="b"/>
              <a:pathLst>
                <a:path w="108584" h="322580">
                  <a:moveTo>
                    <a:pt x="0" y="0"/>
                  </a:moveTo>
                  <a:lnTo>
                    <a:pt x="90087" y="322462"/>
                  </a:lnTo>
                  <a:lnTo>
                    <a:pt x="107997" y="300414"/>
                  </a:lnTo>
                  <a:lnTo>
                    <a:pt x="26811" y="9858"/>
                  </a:lnTo>
                  <a:lnTo>
                    <a:pt x="0" y="0"/>
                  </a:lnTo>
                  <a:close/>
                </a:path>
              </a:pathLst>
            </a:custGeom>
            <a:solidFill>
              <a:srgbClr val="0000FF"/>
            </a:solidFill>
          </p:spPr>
          <p:txBody>
            <a:bodyPr wrap="square" lIns="0" tIns="0" rIns="0" bIns="0" rtlCol="0"/>
            <a:lstStyle/>
            <a:p>
              <a:endParaRPr/>
            </a:p>
          </p:txBody>
        </p:sp>
        <p:sp>
          <p:nvSpPr>
            <p:cNvPr id="30" name="object 37">
              <a:extLst>
                <a:ext uri="{FF2B5EF4-FFF2-40B4-BE49-F238E27FC236}">
                  <a16:creationId xmlns:a16="http://schemas.microsoft.com/office/drawing/2014/main" id="{328558F3-D5F0-4AFE-8360-F83DC7279D78}"/>
                </a:ext>
              </a:extLst>
            </p:cNvPr>
            <p:cNvSpPr/>
            <p:nvPr/>
          </p:nvSpPr>
          <p:spPr>
            <a:xfrm>
              <a:off x="7264528" y="3109185"/>
              <a:ext cx="318135" cy="14604"/>
            </a:xfrm>
            <a:custGeom>
              <a:avLst/>
              <a:gdLst/>
              <a:ahLst/>
              <a:cxnLst/>
              <a:rect l="l" t="t" r="r" b="b"/>
              <a:pathLst>
                <a:path w="318134" h="14605">
                  <a:moveTo>
                    <a:pt x="317558" y="14204"/>
                  </a:moveTo>
                  <a:lnTo>
                    <a:pt x="0" y="0"/>
                  </a:lnTo>
                </a:path>
              </a:pathLst>
            </a:custGeom>
            <a:ln w="3175">
              <a:solidFill>
                <a:srgbClr val="0000FF"/>
              </a:solidFill>
            </a:ln>
          </p:spPr>
          <p:txBody>
            <a:bodyPr wrap="square" lIns="0" tIns="0" rIns="0" bIns="0" rtlCol="0"/>
            <a:lstStyle/>
            <a:p>
              <a:endParaRPr/>
            </a:p>
          </p:txBody>
        </p:sp>
        <p:sp>
          <p:nvSpPr>
            <p:cNvPr id="31" name="object 38">
              <a:extLst>
                <a:ext uri="{FF2B5EF4-FFF2-40B4-BE49-F238E27FC236}">
                  <a16:creationId xmlns:a16="http://schemas.microsoft.com/office/drawing/2014/main" id="{E1D49AB1-6A88-4880-A900-EED1AF24191B}"/>
                </a:ext>
              </a:extLst>
            </p:cNvPr>
            <p:cNvSpPr/>
            <p:nvPr/>
          </p:nvSpPr>
          <p:spPr>
            <a:xfrm>
              <a:off x="7253589" y="3098161"/>
              <a:ext cx="338455" cy="37465"/>
            </a:xfrm>
            <a:custGeom>
              <a:avLst/>
              <a:gdLst/>
              <a:ahLst/>
              <a:cxnLst/>
              <a:rect l="l" t="t" r="r" b="b"/>
              <a:pathLst>
                <a:path w="338454" h="37464">
                  <a:moveTo>
                    <a:pt x="17910" y="0"/>
                  </a:moveTo>
                  <a:lnTo>
                    <a:pt x="0" y="22048"/>
                  </a:lnTo>
                  <a:lnTo>
                    <a:pt x="338256" y="36995"/>
                  </a:lnTo>
                  <a:lnTo>
                    <a:pt x="322491" y="13356"/>
                  </a:lnTo>
                  <a:lnTo>
                    <a:pt x="17910" y="0"/>
                  </a:lnTo>
                  <a:close/>
                </a:path>
              </a:pathLst>
            </a:custGeom>
            <a:solidFill>
              <a:srgbClr val="0000FF"/>
            </a:solidFill>
          </p:spPr>
          <p:txBody>
            <a:bodyPr wrap="square" lIns="0" tIns="0" rIns="0" bIns="0" rtlCol="0"/>
            <a:lstStyle/>
            <a:p>
              <a:endParaRPr/>
            </a:p>
          </p:txBody>
        </p:sp>
        <p:sp>
          <p:nvSpPr>
            <p:cNvPr id="32" name="object 39">
              <a:extLst>
                <a:ext uri="{FF2B5EF4-FFF2-40B4-BE49-F238E27FC236}">
                  <a16:creationId xmlns:a16="http://schemas.microsoft.com/office/drawing/2014/main" id="{2D54BFCE-07C5-4EC0-A701-8E27AE440F72}"/>
                </a:ext>
              </a:extLst>
            </p:cNvPr>
            <p:cNvSpPr/>
            <p:nvPr/>
          </p:nvSpPr>
          <p:spPr>
            <a:xfrm>
              <a:off x="7584017" y="2827534"/>
              <a:ext cx="113030" cy="294005"/>
            </a:xfrm>
            <a:custGeom>
              <a:avLst/>
              <a:gdLst/>
              <a:ahLst/>
              <a:cxnLst/>
              <a:rect l="l" t="t" r="r" b="b"/>
              <a:pathLst>
                <a:path w="113029" h="294005">
                  <a:moveTo>
                    <a:pt x="112931" y="0"/>
                  </a:moveTo>
                  <a:lnTo>
                    <a:pt x="0" y="293947"/>
                  </a:lnTo>
                </a:path>
              </a:pathLst>
            </a:custGeom>
            <a:ln w="3175">
              <a:solidFill>
                <a:srgbClr val="0000FF"/>
              </a:solidFill>
            </a:ln>
          </p:spPr>
          <p:txBody>
            <a:bodyPr wrap="square" lIns="0" tIns="0" rIns="0" bIns="0" rtlCol="0"/>
            <a:lstStyle/>
            <a:p>
              <a:endParaRPr/>
            </a:p>
          </p:txBody>
        </p:sp>
        <p:sp>
          <p:nvSpPr>
            <p:cNvPr id="33" name="object 40">
              <a:extLst>
                <a:ext uri="{FF2B5EF4-FFF2-40B4-BE49-F238E27FC236}">
                  <a16:creationId xmlns:a16="http://schemas.microsoft.com/office/drawing/2014/main" id="{C0C15536-49D3-4EE7-B557-8E1C8E1BD67A}"/>
                </a:ext>
              </a:extLst>
            </p:cNvPr>
            <p:cNvSpPr/>
            <p:nvPr/>
          </p:nvSpPr>
          <p:spPr>
            <a:xfrm>
              <a:off x="7576080" y="2825626"/>
              <a:ext cx="130175" cy="309880"/>
            </a:xfrm>
            <a:custGeom>
              <a:avLst/>
              <a:gdLst/>
              <a:ahLst/>
              <a:cxnLst/>
              <a:rect l="l" t="t" r="r" b="b"/>
              <a:pathLst>
                <a:path w="130175" h="309880">
                  <a:moveTo>
                    <a:pt x="120867" y="0"/>
                  </a:moveTo>
                  <a:lnTo>
                    <a:pt x="107032" y="3710"/>
                  </a:lnTo>
                  <a:lnTo>
                    <a:pt x="0" y="285891"/>
                  </a:lnTo>
                  <a:lnTo>
                    <a:pt x="15765" y="309530"/>
                  </a:lnTo>
                  <a:lnTo>
                    <a:pt x="129661" y="9540"/>
                  </a:lnTo>
                  <a:lnTo>
                    <a:pt x="120867" y="0"/>
                  </a:lnTo>
                  <a:close/>
                </a:path>
              </a:pathLst>
            </a:custGeom>
            <a:solidFill>
              <a:srgbClr val="0000FF"/>
            </a:solidFill>
          </p:spPr>
          <p:txBody>
            <a:bodyPr wrap="square" lIns="0" tIns="0" rIns="0" bIns="0" rtlCol="0"/>
            <a:lstStyle/>
            <a:p>
              <a:endParaRPr/>
            </a:p>
          </p:txBody>
        </p:sp>
        <p:pic>
          <p:nvPicPr>
            <p:cNvPr id="34" name="object 41">
              <a:extLst>
                <a:ext uri="{FF2B5EF4-FFF2-40B4-BE49-F238E27FC236}">
                  <a16:creationId xmlns:a16="http://schemas.microsoft.com/office/drawing/2014/main" id="{2EE89C6A-B61E-4CFA-940C-C1E723C8FDC4}"/>
                </a:ext>
              </a:extLst>
            </p:cNvPr>
            <p:cNvPicPr/>
            <p:nvPr/>
          </p:nvPicPr>
          <p:blipFill>
            <a:blip r:embed="rId8" cstate="print"/>
            <a:stretch>
              <a:fillRect/>
            </a:stretch>
          </p:blipFill>
          <p:spPr>
            <a:xfrm>
              <a:off x="7486744" y="2656762"/>
              <a:ext cx="212885" cy="411612"/>
            </a:xfrm>
            <a:prstGeom prst="rect">
              <a:avLst/>
            </a:prstGeom>
          </p:spPr>
        </p:pic>
        <p:sp>
          <p:nvSpPr>
            <p:cNvPr id="35" name="object 42">
              <a:extLst>
                <a:ext uri="{FF2B5EF4-FFF2-40B4-BE49-F238E27FC236}">
                  <a16:creationId xmlns:a16="http://schemas.microsoft.com/office/drawing/2014/main" id="{C6D690E3-936F-44B7-8D99-AE2562562F77}"/>
                </a:ext>
              </a:extLst>
            </p:cNvPr>
            <p:cNvSpPr/>
            <p:nvPr/>
          </p:nvSpPr>
          <p:spPr>
            <a:xfrm>
              <a:off x="7698878" y="2743261"/>
              <a:ext cx="307340" cy="82550"/>
            </a:xfrm>
            <a:custGeom>
              <a:avLst/>
              <a:gdLst/>
              <a:ahLst/>
              <a:cxnLst/>
              <a:rect l="l" t="t" r="r" b="b"/>
              <a:pathLst>
                <a:path w="307340" h="82550">
                  <a:moveTo>
                    <a:pt x="306940" y="0"/>
                  </a:moveTo>
                  <a:lnTo>
                    <a:pt x="0" y="82364"/>
                  </a:lnTo>
                </a:path>
              </a:pathLst>
            </a:custGeom>
            <a:ln w="3175">
              <a:solidFill>
                <a:srgbClr val="0000FF"/>
              </a:solidFill>
            </a:ln>
          </p:spPr>
          <p:txBody>
            <a:bodyPr wrap="square" lIns="0" tIns="0" rIns="0" bIns="0" rtlCol="0"/>
            <a:lstStyle/>
            <a:p>
              <a:endParaRPr/>
            </a:p>
          </p:txBody>
        </p:sp>
        <p:sp>
          <p:nvSpPr>
            <p:cNvPr id="36" name="object 43">
              <a:extLst>
                <a:ext uri="{FF2B5EF4-FFF2-40B4-BE49-F238E27FC236}">
                  <a16:creationId xmlns:a16="http://schemas.microsoft.com/office/drawing/2014/main" id="{D93452F5-BB09-45A0-A0C6-8ECB97D5A4EC}"/>
                </a:ext>
              </a:extLst>
            </p:cNvPr>
            <p:cNvSpPr/>
            <p:nvPr/>
          </p:nvSpPr>
          <p:spPr>
            <a:xfrm>
              <a:off x="7696948" y="2732237"/>
              <a:ext cx="314325" cy="103505"/>
            </a:xfrm>
            <a:custGeom>
              <a:avLst/>
              <a:gdLst/>
              <a:ahLst/>
              <a:cxnLst/>
              <a:rect l="l" t="t" r="r" b="b"/>
              <a:pathLst>
                <a:path w="314325" h="103505">
                  <a:moveTo>
                    <a:pt x="307798" y="0"/>
                  </a:moveTo>
                  <a:lnTo>
                    <a:pt x="2681" y="80774"/>
                  </a:lnTo>
                  <a:lnTo>
                    <a:pt x="0" y="93389"/>
                  </a:lnTo>
                  <a:lnTo>
                    <a:pt x="8794" y="102929"/>
                  </a:lnTo>
                  <a:lnTo>
                    <a:pt x="313804" y="22154"/>
                  </a:lnTo>
                  <a:lnTo>
                    <a:pt x="307798" y="0"/>
                  </a:lnTo>
                  <a:close/>
                </a:path>
              </a:pathLst>
            </a:custGeom>
            <a:solidFill>
              <a:srgbClr val="0000FF"/>
            </a:solidFill>
          </p:spPr>
          <p:txBody>
            <a:bodyPr wrap="square" lIns="0" tIns="0" rIns="0" bIns="0" rtlCol="0"/>
            <a:lstStyle/>
            <a:p>
              <a:endParaRPr/>
            </a:p>
          </p:txBody>
        </p:sp>
        <p:sp>
          <p:nvSpPr>
            <p:cNvPr id="37" name="object 44">
              <a:extLst>
                <a:ext uri="{FF2B5EF4-FFF2-40B4-BE49-F238E27FC236}">
                  <a16:creationId xmlns:a16="http://schemas.microsoft.com/office/drawing/2014/main" id="{058941EA-37D5-4C55-AF7E-9F2E6DECA302}"/>
                </a:ext>
              </a:extLst>
            </p:cNvPr>
            <p:cNvSpPr/>
            <p:nvPr/>
          </p:nvSpPr>
          <p:spPr>
            <a:xfrm>
              <a:off x="7126394" y="3136110"/>
              <a:ext cx="47625" cy="85090"/>
            </a:xfrm>
            <a:custGeom>
              <a:avLst/>
              <a:gdLst/>
              <a:ahLst/>
              <a:cxnLst/>
              <a:rect l="l" t="t" r="r" b="b"/>
              <a:pathLst>
                <a:path w="47625" h="85089">
                  <a:moveTo>
                    <a:pt x="30350" y="0"/>
                  </a:moveTo>
                  <a:lnTo>
                    <a:pt x="18339" y="0"/>
                  </a:lnTo>
                  <a:lnTo>
                    <a:pt x="13834" y="1484"/>
                  </a:lnTo>
                  <a:lnTo>
                    <a:pt x="6649" y="7420"/>
                  </a:lnTo>
                  <a:lnTo>
                    <a:pt x="3646" y="11660"/>
                  </a:lnTo>
                  <a:lnTo>
                    <a:pt x="1286" y="17172"/>
                  </a:lnTo>
                  <a:lnTo>
                    <a:pt x="3324" y="18126"/>
                  </a:lnTo>
                  <a:lnTo>
                    <a:pt x="7614" y="11448"/>
                  </a:lnTo>
                  <a:lnTo>
                    <a:pt x="12869" y="8162"/>
                  </a:lnTo>
                  <a:lnTo>
                    <a:pt x="23058" y="8162"/>
                  </a:lnTo>
                  <a:lnTo>
                    <a:pt x="26275" y="9434"/>
                  </a:lnTo>
                  <a:lnTo>
                    <a:pt x="31530" y="14522"/>
                  </a:lnTo>
                  <a:lnTo>
                    <a:pt x="32817" y="17914"/>
                  </a:lnTo>
                  <a:lnTo>
                    <a:pt x="32817" y="25228"/>
                  </a:lnTo>
                  <a:lnTo>
                    <a:pt x="13942" y="41023"/>
                  </a:lnTo>
                  <a:lnTo>
                    <a:pt x="13942" y="42825"/>
                  </a:lnTo>
                  <a:lnTo>
                    <a:pt x="19089" y="42825"/>
                  </a:lnTo>
                  <a:lnTo>
                    <a:pt x="22200" y="43461"/>
                  </a:lnTo>
                  <a:lnTo>
                    <a:pt x="38072" y="60422"/>
                  </a:lnTo>
                  <a:lnTo>
                    <a:pt x="38072" y="67948"/>
                  </a:lnTo>
                  <a:lnTo>
                    <a:pt x="36571" y="71658"/>
                  </a:lnTo>
                  <a:lnTo>
                    <a:pt x="30350" y="78018"/>
                  </a:lnTo>
                  <a:lnTo>
                    <a:pt x="26811" y="79608"/>
                  </a:lnTo>
                  <a:lnTo>
                    <a:pt x="20913" y="79608"/>
                  </a:lnTo>
                  <a:lnTo>
                    <a:pt x="19304" y="79396"/>
                  </a:lnTo>
                  <a:lnTo>
                    <a:pt x="16837" y="78760"/>
                  </a:lnTo>
                  <a:lnTo>
                    <a:pt x="8687" y="74732"/>
                  </a:lnTo>
                  <a:lnTo>
                    <a:pt x="5898" y="73990"/>
                  </a:lnTo>
                  <a:lnTo>
                    <a:pt x="3539" y="73990"/>
                  </a:lnTo>
                  <a:lnTo>
                    <a:pt x="2466" y="74414"/>
                  </a:lnTo>
                  <a:lnTo>
                    <a:pt x="536" y="76216"/>
                  </a:lnTo>
                  <a:lnTo>
                    <a:pt x="0" y="77276"/>
                  </a:lnTo>
                  <a:lnTo>
                    <a:pt x="0" y="79926"/>
                  </a:lnTo>
                  <a:lnTo>
                    <a:pt x="1072" y="81410"/>
                  </a:lnTo>
                  <a:lnTo>
                    <a:pt x="5040" y="84166"/>
                  </a:lnTo>
                  <a:lnTo>
                    <a:pt x="8901" y="84908"/>
                  </a:lnTo>
                  <a:lnTo>
                    <a:pt x="14478" y="84908"/>
                  </a:lnTo>
                  <a:lnTo>
                    <a:pt x="47081" y="63390"/>
                  </a:lnTo>
                  <a:lnTo>
                    <a:pt x="47081" y="51411"/>
                  </a:lnTo>
                  <a:lnTo>
                    <a:pt x="45794" y="47065"/>
                  </a:lnTo>
                  <a:lnTo>
                    <a:pt x="40539" y="39751"/>
                  </a:lnTo>
                  <a:lnTo>
                    <a:pt x="36785" y="36995"/>
                  </a:lnTo>
                  <a:lnTo>
                    <a:pt x="31637" y="34981"/>
                  </a:lnTo>
                  <a:lnTo>
                    <a:pt x="39252" y="28620"/>
                  </a:lnTo>
                  <a:lnTo>
                    <a:pt x="43006" y="22472"/>
                  </a:lnTo>
                  <a:lnTo>
                    <a:pt x="43006" y="12932"/>
                  </a:lnTo>
                  <a:lnTo>
                    <a:pt x="41611" y="9540"/>
                  </a:lnTo>
                  <a:lnTo>
                    <a:pt x="35391" y="2120"/>
                  </a:lnTo>
                  <a:lnTo>
                    <a:pt x="30350" y="0"/>
                  </a:lnTo>
                  <a:close/>
                </a:path>
              </a:pathLst>
            </a:custGeom>
            <a:solidFill>
              <a:srgbClr val="FF0000"/>
            </a:solidFill>
          </p:spPr>
          <p:txBody>
            <a:bodyPr wrap="square" lIns="0" tIns="0" rIns="0" bIns="0" rtlCol="0"/>
            <a:lstStyle/>
            <a:p>
              <a:endParaRPr/>
            </a:p>
          </p:txBody>
        </p:sp>
      </p:grpSp>
      <p:pic>
        <p:nvPicPr>
          <p:cNvPr id="38" name="object 45">
            <a:extLst>
              <a:ext uri="{FF2B5EF4-FFF2-40B4-BE49-F238E27FC236}">
                <a16:creationId xmlns:a16="http://schemas.microsoft.com/office/drawing/2014/main" id="{24EBE650-2102-4210-AD14-BED94AC028D1}"/>
              </a:ext>
            </a:extLst>
          </p:cNvPr>
          <p:cNvPicPr/>
          <p:nvPr/>
        </p:nvPicPr>
        <p:blipFill>
          <a:blip r:embed="rId9" cstate="print"/>
          <a:stretch>
            <a:fillRect/>
          </a:stretch>
        </p:blipFill>
        <p:spPr>
          <a:xfrm>
            <a:off x="3139115" y="1674923"/>
            <a:ext cx="2101074" cy="168651"/>
          </a:xfrm>
          <a:prstGeom prst="rect">
            <a:avLst/>
          </a:prstGeom>
        </p:spPr>
      </p:pic>
      <p:pic>
        <p:nvPicPr>
          <p:cNvPr id="39" name="object 46">
            <a:extLst>
              <a:ext uri="{FF2B5EF4-FFF2-40B4-BE49-F238E27FC236}">
                <a16:creationId xmlns:a16="http://schemas.microsoft.com/office/drawing/2014/main" id="{A8ABFF6C-0E8C-4365-B86B-05D3CB44240B}"/>
              </a:ext>
            </a:extLst>
          </p:cNvPr>
          <p:cNvPicPr/>
          <p:nvPr/>
        </p:nvPicPr>
        <p:blipFill>
          <a:blip r:embed="rId10" cstate="print"/>
          <a:stretch>
            <a:fillRect/>
          </a:stretch>
        </p:blipFill>
        <p:spPr>
          <a:xfrm>
            <a:off x="3077126" y="1893608"/>
            <a:ext cx="2217437" cy="959004"/>
          </a:xfrm>
          <a:prstGeom prst="rect">
            <a:avLst/>
          </a:prstGeom>
        </p:spPr>
      </p:pic>
      <p:pic>
        <p:nvPicPr>
          <p:cNvPr id="40" name="object 47">
            <a:extLst>
              <a:ext uri="{FF2B5EF4-FFF2-40B4-BE49-F238E27FC236}">
                <a16:creationId xmlns:a16="http://schemas.microsoft.com/office/drawing/2014/main" id="{75628C95-ADDE-46C6-8C85-ECB6F4181F83}"/>
              </a:ext>
            </a:extLst>
          </p:cNvPr>
          <p:cNvPicPr/>
          <p:nvPr/>
        </p:nvPicPr>
        <p:blipFill>
          <a:blip r:embed="rId11" cstate="print"/>
          <a:stretch>
            <a:fillRect/>
          </a:stretch>
        </p:blipFill>
        <p:spPr>
          <a:xfrm>
            <a:off x="3472009" y="2923126"/>
            <a:ext cx="1317743" cy="168598"/>
          </a:xfrm>
          <a:prstGeom prst="rect">
            <a:avLst/>
          </a:prstGeom>
        </p:spPr>
      </p:pic>
      <p:pic>
        <p:nvPicPr>
          <p:cNvPr id="41" name="object 48">
            <a:extLst>
              <a:ext uri="{FF2B5EF4-FFF2-40B4-BE49-F238E27FC236}">
                <a16:creationId xmlns:a16="http://schemas.microsoft.com/office/drawing/2014/main" id="{E26160F3-7162-4F46-AF54-1074CC5BD734}"/>
              </a:ext>
            </a:extLst>
          </p:cNvPr>
          <p:cNvPicPr/>
          <p:nvPr/>
        </p:nvPicPr>
        <p:blipFill>
          <a:blip r:embed="rId12" cstate="print"/>
          <a:stretch>
            <a:fillRect/>
          </a:stretch>
        </p:blipFill>
        <p:spPr>
          <a:xfrm>
            <a:off x="3086135" y="3141896"/>
            <a:ext cx="2084773" cy="165444"/>
          </a:xfrm>
          <a:prstGeom prst="rect">
            <a:avLst/>
          </a:prstGeom>
        </p:spPr>
      </p:pic>
      <p:pic>
        <p:nvPicPr>
          <p:cNvPr id="42" name="object 49">
            <a:extLst>
              <a:ext uri="{FF2B5EF4-FFF2-40B4-BE49-F238E27FC236}">
                <a16:creationId xmlns:a16="http://schemas.microsoft.com/office/drawing/2014/main" id="{F1F380A2-7984-4BE9-A1E0-0632D915CDDD}"/>
              </a:ext>
            </a:extLst>
          </p:cNvPr>
          <p:cNvPicPr/>
          <p:nvPr/>
        </p:nvPicPr>
        <p:blipFill>
          <a:blip r:embed="rId13" cstate="print"/>
          <a:stretch>
            <a:fillRect/>
          </a:stretch>
        </p:blipFill>
        <p:spPr>
          <a:xfrm>
            <a:off x="715442" y="2310955"/>
            <a:ext cx="1135637" cy="168598"/>
          </a:xfrm>
          <a:prstGeom prst="rect">
            <a:avLst/>
          </a:prstGeom>
        </p:spPr>
      </p:pic>
      <p:pic>
        <p:nvPicPr>
          <p:cNvPr id="43" name="object 50">
            <a:extLst>
              <a:ext uri="{FF2B5EF4-FFF2-40B4-BE49-F238E27FC236}">
                <a16:creationId xmlns:a16="http://schemas.microsoft.com/office/drawing/2014/main" id="{A6BF1077-67B4-42C6-8B0B-DD65D45B1C41}"/>
              </a:ext>
            </a:extLst>
          </p:cNvPr>
          <p:cNvPicPr/>
          <p:nvPr/>
        </p:nvPicPr>
        <p:blipFill>
          <a:blip r:embed="rId14" cstate="print"/>
          <a:stretch>
            <a:fillRect/>
          </a:stretch>
        </p:blipFill>
        <p:spPr>
          <a:xfrm>
            <a:off x="683675" y="2529735"/>
            <a:ext cx="1198398" cy="165429"/>
          </a:xfrm>
          <a:prstGeom prst="rect">
            <a:avLst/>
          </a:prstGeom>
        </p:spPr>
      </p:pic>
      <p:pic>
        <p:nvPicPr>
          <p:cNvPr id="44" name="object 51">
            <a:extLst>
              <a:ext uri="{FF2B5EF4-FFF2-40B4-BE49-F238E27FC236}">
                <a16:creationId xmlns:a16="http://schemas.microsoft.com/office/drawing/2014/main" id="{41220015-D704-4CE7-A7EE-C3DECEF1FC8F}"/>
              </a:ext>
            </a:extLst>
          </p:cNvPr>
          <p:cNvPicPr/>
          <p:nvPr/>
        </p:nvPicPr>
        <p:blipFill>
          <a:blip r:embed="rId15" cstate="print"/>
          <a:stretch>
            <a:fillRect/>
          </a:stretch>
        </p:blipFill>
        <p:spPr>
          <a:xfrm>
            <a:off x="2298084" y="1319382"/>
            <a:ext cx="536341" cy="326389"/>
          </a:xfrm>
          <a:prstGeom prst="rect">
            <a:avLst/>
          </a:prstGeom>
        </p:spPr>
      </p:pic>
      <p:sp>
        <p:nvSpPr>
          <p:cNvPr id="45" name="object 52">
            <a:extLst>
              <a:ext uri="{FF2B5EF4-FFF2-40B4-BE49-F238E27FC236}">
                <a16:creationId xmlns:a16="http://schemas.microsoft.com/office/drawing/2014/main" id="{BE1C388D-4B46-4691-9237-956DF03A0F04}"/>
              </a:ext>
            </a:extLst>
          </p:cNvPr>
          <p:cNvSpPr/>
          <p:nvPr/>
        </p:nvSpPr>
        <p:spPr>
          <a:xfrm>
            <a:off x="3589445" y="1091691"/>
            <a:ext cx="54610" cy="83820"/>
          </a:xfrm>
          <a:custGeom>
            <a:avLst/>
            <a:gdLst/>
            <a:ahLst/>
            <a:cxnLst/>
            <a:rect l="l" t="t" r="r" b="b"/>
            <a:pathLst>
              <a:path w="54609" h="83819">
                <a:moveTo>
                  <a:pt x="32710" y="0"/>
                </a:moveTo>
                <a:lnTo>
                  <a:pt x="19733" y="0"/>
                </a:lnTo>
                <a:lnTo>
                  <a:pt x="14478" y="1908"/>
                </a:lnTo>
                <a:lnTo>
                  <a:pt x="6005" y="9858"/>
                </a:lnTo>
                <a:lnTo>
                  <a:pt x="3431" y="15582"/>
                </a:lnTo>
                <a:lnTo>
                  <a:pt x="2359" y="23002"/>
                </a:lnTo>
                <a:lnTo>
                  <a:pt x="4611" y="23002"/>
                </a:lnTo>
                <a:lnTo>
                  <a:pt x="6220" y="18550"/>
                </a:lnTo>
                <a:lnTo>
                  <a:pt x="8579" y="15052"/>
                </a:lnTo>
                <a:lnTo>
                  <a:pt x="15014" y="10388"/>
                </a:lnTo>
                <a:lnTo>
                  <a:pt x="18768" y="9222"/>
                </a:lnTo>
                <a:lnTo>
                  <a:pt x="27240" y="9222"/>
                </a:lnTo>
                <a:lnTo>
                  <a:pt x="31101" y="10812"/>
                </a:lnTo>
                <a:lnTo>
                  <a:pt x="37536" y="17490"/>
                </a:lnTo>
                <a:lnTo>
                  <a:pt x="39145" y="21836"/>
                </a:lnTo>
                <a:lnTo>
                  <a:pt x="39145" y="33815"/>
                </a:lnTo>
                <a:lnTo>
                  <a:pt x="9975" y="71938"/>
                </a:lnTo>
                <a:lnTo>
                  <a:pt x="0" y="81198"/>
                </a:lnTo>
                <a:lnTo>
                  <a:pt x="0" y="83424"/>
                </a:lnTo>
                <a:lnTo>
                  <a:pt x="48797" y="83424"/>
                </a:lnTo>
                <a:lnTo>
                  <a:pt x="54588" y="67630"/>
                </a:lnTo>
                <a:lnTo>
                  <a:pt x="52336" y="67630"/>
                </a:lnTo>
                <a:lnTo>
                  <a:pt x="51264" y="69432"/>
                </a:lnTo>
                <a:lnTo>
                  <a:pt x="50084" y="70916"/>
                </a:lnTo>
                <a:lnTo>
                  <a:pt x="47188" y="72824"/>
                </a:lnTo>
                <a:lnTo>
                  <a:pt x="45579" y="73460"/>
                </a:lnTo>
                <a:lnTo>
                  <a:pt x="42040" y="74096"/>
                </a:lnTo>
                <a:lnTo>
                  <a:pt x="39037" y="74308"/>
                </a:lnTo>
                <a:lnTo>
                  <a:pt x="12976" y="74308"/>
                </a:lnTo>
                <a:lnTo>
                  <a:pt x="15611" y="71822"/>
                </a:lnTo>
                <a:lnTo>
                  <a:pt x="19652" y="67696"/>
                </a:lnTo>
                <a:lnTo>
                  <a:pt x="38716" y="47277"/>
                </a:lnTo>
                <a:lnTo>
                  <a:pt x="43649" y="40387"/>
                </a:lnTo>
                <a:lnTo>
                  <a:pt x="48582" y="29681"/>
                </a:lnTo>
                <a:lnTo>
                  <a:pt x="49548" y="25546"/>
                </a:lnTo>
                <a:lnTo>
                  <a:pt x="49548" y="15582"/>
                </a:lnTo>
                <a:lnTo>
                  <a:pt x="47295" y="10600"/>
                </a:lnTo>
                <a:lnTo>
                  <a:pt x="38287" y="2120"/>
                </a:lnTo>
                <a:lnTo>
                  <a:pt x="32710" y="0"/>
                </a:lnTo>
                <a:close/>
              </a:path>
            </a:pathLst>
          </a:custGeom>
          <a:solidFill>
            <a:srgbClr val="FF0000"/>
          </a:solidFill>
        </p:spPr>
        <p:txBody>
          <a:bodyPr wrap="square" lIns="0" tIns="0" rIns="0" bIns="0" rtlCol="0"/>
          <a:lstStyle/>
          <a:p>
            <a:endParaRPr/>
          </a:p>
        </p:txBody>
      </p:sp>
      <p:pic>
        <p:nvPicPr>
          <p:cNvPr id="46" name="object 53">
            <a:extLst>
              <a:ext uri="{FF2B5EF4-FFF2-40B4-BE49-F238E27FC236}">
                <a16:creationId xmlns:a16="http://schemas.microsoft.com/office/drawing/2014/main" id="{4A4B411F-B752-4760-B02C-450D49B5AFB9}"/>
              </a:ext>
            </a:extLst>
          </p:cNvPr>
          <p:cNvPicPr/>
          <p:nvPr/>
        </p:nvPicPr>
        <p:blipFill>
          <a:blip r:embed="rId16" cstate="print"/>
          <a:stretch>
            <a:fillRect/>
          </a:stretch>
        </p:blipFill>
        <p:spPr>
          <a:xfrm>
            <a:off x="2257545" y="2360535"/>
            <a:ext cx="509959" cy="317499"/>
          </a:xfrm>
          <a:prstGeom prst="rect">
            <a:avLst/>
          </a:prstGeom>
        </p:spPr>
      </p:pic>
      <p:grpSp>
        <p:nvGrpSpPr>
          <p:cNvPr id="155" name="object 5">
            <a:extLst>
              <a:ext uri="{FF2B5EF4-FFF2-40B4-BE49-F238E27FC236}">
                <a16:creationId xmlns:a16="http://schemas.microsoft.com/office/drawing/2014/main" id="{647B5B91-4A96-4EA2-A971-FCB166134747}"/>
              </a:ext>
            </a:extLst>
          </p:cNvPr>
          <p:cNvGrpSpPr/>
          <p:nvPr/>
        </p:nvGrpSpPr>
        <p:grpSpPr>
          <a:xfrm>
            <a:off x="10324888" y="169506"/>
            <a:ext cx="764540" cy="908685"/>
            <a:chOff x="7529181" y="3851134"/>
            <a:chExt cx="764540" cy="908685"/>
          </a:xfrm>
        </p:grpSpPr>
        <p:pic>
          <p:nvPicPr>
            <p:cNvPr id="156" name="object 6">
              <a:extLst>
                <a:ext uri="{FF2B5EF4-FFF2-40B4-BE49-F238E27FC236}">
                  <a16:creationId xmlns:a16="http://schemas.microsoft.com/office/drawing/2014/main" id="{B3DB14E3-14DA-4922-9DE6-6341B9166B1B}"/>
                </a:ext>
              </a:extLst>
            </p:cNvPr>
            <p:cNvPicPr/>
            <p:nvPr/>
          </p:nvPicPr>
          <p:blipFill>
            <a:blip r:embed="rId17" cstate="print"/>
            <a:stretch>
              <a:fillRect/>
            </a:stretch>
          </p:blipFill>
          <p:spPr>
            <a:xfrm>
              <a:off x="7993935" y="4003422"/>
              <a:ext cx="201824" cy="109753"/>
            </a:xfrm>
            <a:prstGeom prst="rect">
              <a:avLst/>
            </a:prstGeom>
          </p:spPr>
        </p:pic>
        <p:sp>
          <p:nvSpPr>
            <p:cNvPr id="157" name="object 7">
              <a:extLst>
                <a:ext uri="{FF2B5EF4-FFF2-40B4-BE49-F238E27FC236}">
                  <a16:creationId xmlns:a16="http://schemas.microsoft.com/office/drawing/2014/main" id="{DEC51A90-EF61-4EA9-A6C4-296FDA31FB02}"/>
                </a:ext>
              </a:extLst>
            </p:cNvPr>
            <p:cNvSpPr/>
            <p:nvPr/>
          </p:nvSpPr>
          <p:spPr>
            <a:xfrm>
              <a:off x="8071520" y="4148873"/>
              <a:ext cx="86995" cy="261620"/>
            </a:xfrm>
            <a:custGeom>
              <a:avLst/>
              <a:gdLst/>
              <a:ahLst/>
              <a:cxnLst/>
              <a:rect l="l" t="t" r="r" b="b"/>
              <a:pathLst>
                <a:path w="86995" h="261620">
                  <a:moveTo>
                    <a:pt x="86459" y="261154"/>
                  </a:moveTo>
                  <a:lnTo>
                    <a:pt x="0" y="0"/>
                  </a:lnTo>
                </a:path>
              </a:pathLst>
            </a:custGeom>
            <a:ln w="3175">
              <a:solidFill>
                <a:srgbClr val="0000FF"/>
              </a:solidFill>
            </a:ln>
          </p:spPr>
          <p:txBody>
            <a:bodyPr wrap="square" lIns="0" tIns="0" rIns="0" bIns="0" rtlCol="0"/>
            <a:lstStyle/>
            <a:p>
              <a:endParaRPr/>
            </a:p>
          </p:txBody>
        </p:sp>
        <p:sp>
          <p:nvSpPr>
            <p:cNvPr id="158" name="object 8">
              <a:extLst>
                <a:ext uri="{FF2B5EF4-FFF2-40B4-BE49-F238E27FC236}">
                  <a16:creationId xmlns:a16="http://schemas.microsoft.com/office/drawing/2014/main" id="{31D1F087-DA78-4E62-BC5B-5CB93082D21B}"/>
                </a:ext>
              </a:extLst>
            </p:cNvPr>
            <p:cNvSpPr/>
            <p:nvPr/>
          </p:nvSpPr>
          <p:spPr>
            <a:xfrm>
              <a:off x="8060618" y="4143050"/>
              <a:ext cx="111125" cy="273685"/>
            </a:xfrm>
            <a:custGeom>
              <a:avLst/>
              <a:gdLst/>
              <a:ahLst/>
              <a:cxnLst/>
              <a:rect l="l" t="t" r="r" b="b"/>
              <a:pathLst>
                <a:path w="111125" h="273685">
                  <a:moveTo>
                    <a:pt x="21805" y="0"/>
                  </a:moveTo>
                  <a:lnTo>
                    <a:pt x="0" y="7089"/>
                  </a:lnTo>
                  <a:lnTo>
                    <a:pt x="83924" y="264952"/>
                  </a:lnTo>
                  <a:lnTo>
                    <a:pt x="110800" y="273560"/>
                  </a:lnTo>
                  <a:lnTo>
                    <a:pt x="21805" y="0"/>
                  </a:lnTo>
                  <a:close/>
                </a:path>
              </a:pathLst>
            </a:custGeom>
            <a:solidFill>
              <a:srgbClr val="0000FF"/>
            </a:solidFill>
          </p:spPr>
          <p:txBody>
            <a:bodyPr wrap="square" lIns="0" tIns="0" rIns="0" bIns="0" rtlCol="0"/>
            <a:lstStyle/>
            <a:p>
              <a:endParaRPr/>
            </a:p>
          </p:txBody>
        </p:sp>
        <p:sp>
          <p:nvSpPr>
            <p:cNvPr id="159" name="object 9">
              <a:extLst>
                <a:ext uri="{FF2B5EF4-FFF2-40B4-BE49-F238E27FC236}">
                  <a16:creationId xmlns:a16="http://schemas.microsoft.com/office/drawing/2014/main" id="{00089DCB-9419-406D-BC7C-41E2B8763827}"/>
                </a:ext>
              </a:extLst>
            </p:cNvPr>
            <p:cNvSpPr/>
            <p:nvPr/>
          </p:nvSpPr>
          <p:spPr>
            <a:xfrm>
              <a:off x="7852582" y="4414585"/>
              <a:ext cx="303530" cy="219075"/>
            </a:xfrm>
            <a:custGeom>
              <a:avLst/>
              <a:gdLst/>
              <a:ahLst/>
              <a:cxnLst/>
              <a:rect l="l" t="t" r="r" b="b"/>
              <a:pathLst>
                <a:path w="303529" h="219075">
                  <a:moveTo>
                    <a:pt x="0" y="218620"/>
                  </a:moveTo>
                  <a:lnTo>
                    <a:pt x="303116" y="0"/>
                  </a:lnTo>
                </a:path>
              </a:pathLst>
            </a:custGeom>
            <a:ln w="3175">
              <a:solidFill>
                <a:srgbClr val="0000FF"/>
              </a:solidFill>
            </a:ln>
          </p:spPr>
          <p:txBody>
            <a:bodyPr wrap="square" lIns="0" tIns="0" rIns="0" bIns="0" rtlCol="0"/>
            <a:lstStyle/>
            <a:p>
              <a:endParaRPr/>
            </a:p>
          </p:txBody>
        </p:sp>
        <p:sp>
          <p:nvSpPr>
            <p:cNvPr id="160" name="object 10">
              <a:extLst>
                <a:ext uri="{FF2B5EF4-FFF2-40B4-BE49-F238E27FC236}">
                  <a16:creationId xmlns:a16="http://schemas.microsoft.com/office/drawing/2014/main" id="{CF465EB8-E642-4917-96B3-8F2810EDB4AA}"/>
                </a:ext>
              </a:extLst>
            </p:cNvPr>
            <p:cNvSpPr/>
            <p:nvPr/>
          </p:nvSpPr>
          <p:spPr>
            <a:xfrm>
              <a:off x="7850300" y="4408003"/>
              <a:ext cx="321310" cy="241935"/>
            </a:xfrm>
            <a:custGeom>
              <a:avLst/>
              <a:gdLst/>
              <a:ahLst/>
              <a:cxnLst/>
              <a:rect l="l" t="t" r="r" b="b"/>
              <a:pathLst>
                <a:path w="321309" h="241935">
                  <a:moveTo>
                    <a:pt x="294242" y="0"/>
                  </a:moveTo>
                  <a:lnTo>
                    <a:pt x="0" y="213430"/>
                  </a:lnTo>
                  <a:lnTo>
                    <a:pt x="0" y="241659"/>
                  </a:lnTo>
                  <a:lnTo>
                    <a:pt x="321118" y="8608"/>
                  </a:lnTo>
                  <a:lnTo>
                    <a:pt x="294242" y="0"/>
                  </a:lnTo>
                  <a:close/>
                </a:path>
              </a:pathLst>
            </a:custGeom>
            <a:solidFill>
              <a:srgbClr val="0000FF"/>
            </a:solidFill>
          </p:spPr>
          <p:txBody>
            <a:bodyPr wrap="square" lIns="0" tIns="0" rIns="0" bIns="0" rtlCol="0"/>
            <a:lstStyle/>
            <a:p>
              <a:endParaRPr/>
            </a:p>
          </p:txBody>
        </p:sp>
        <p:sp>
          <p:nvSpPr>
            <p:cNvPr id="161" name="object 11">
              <a:extLst>
                <a:ext uri="{FF2B5EF4-FFF2-40B4-BE49-F238E27FC236}">
                  <a16:creationId xmlns:a16="http://schemas.microsoft.com/office/drawing/2014/main" id="{CEFDBD07-94E1-4E80-9F6F-2197B75EC18A}"/>
                </a:ext>
              </a:extLst>
            </p:cNvPr>
            <p:cNvSpPr/>
            <p:nvPr/>
          </p:nvSpPr>
          <p:spPr>
            <a:xfrm>
              <a:off x="7544774" y="4414585"/>
              <a:ext cx="303530" cy="219075"/>
            </a:xfrm>
            <a:custGeom>
              <a:avLst/>
              <a:gdLst/>
              <a:ahLst/>
              <a:cxnLst/>
              <a:rect l="l" t="t" r="r" b="b"/>
              <a:pathLst>
                <a:path w="303529" h="219075">
                  <a:moveTo>
                    <a:pt x="0" y="0"/>
                  </a:moveTo>
                  <a:lnTo>
                    <a:pt x="303243" y="218620"/>
                  </a:lnTo>
                </a:path>
              </a:pathLst>
            </a:custGeom>
            <a:ln w="3175">
              <a:solidFill>
                <a:srgbClr val="0000FF"/>
              </a:solidFill>
            </a:ln>
          </p:spPr>
          <p:txBody>
            <a:bodyPr wrap="square" lIns="0" tIns="0" rIns="0" bIns="0" rtlCol="0"/>
            <a:lstStyle/>
            <a:p>
              <a:endParaRPr/>
            </a:p>
          </p:txBody>
        </p:sp>
        <p:sp>
          <p:nvSpPr>
            <p:cNvPr id="162" name="object 12">
              <a:extLst>
                <a:ext uri="{FF2B5EF4-FFF2-40B4-BE49-F238E27FC236}">
                  <a16:creationId xmlns:a16="http://schemas.microsoft.com/office/drawing/2014/main" id="{37F4F97D-4C3F-4FC3-AC17-766863D6D7ED}"/>
                </a:ext>
              </a:extLst>
            </p:cNvPr>
            <p:cNvSpPr/>
            <p:nvPr/>
          </p:nvSpPr>
          <p:spPr>
            <a:xfrm>
              <a:off x="7529181" y="4408003"/>
              <a:ext cx="321310" cy="241935"/>
            </a:xfrm>
            <a:custGeom>
              <a:avLst/>
              <a:gdLst/>
              <a:ahLst/>
              <a:cxnLst/>
              <a:rect l="l" t="t" r="r" b="b"/>
              <a:pathLst>
                <a:path w="321309" h="241935">
                  <a:moveTo>
                    <a:pt x="26749" y="0"/>
                  </a:moveTo>
                  <a:lnTo>
                    <a:pt x="0" y="8608"/>
                  </a:lnTo>
                  <a:lnTo>
                    <a:pt x="321118" y="241659"/>
                  </a:lnTo>
                  <a:lnTo>
                    <a:pt x="321118" y="213430"/>
                  </a:lnTo>
                  <a:lnTo>
                    <a:pt x="26749" y="0"/>
                  </a:lnTo>
                  <a:close/>
                </a:path>
              </a:pathLst>
            </a:custGeom>
            <a:solidFill>
              <a:srgbClr val="0000FF"/>
            </a:solidFill>
          </p:spPr>
          <p:txBody>
            <a:bodyPr wrap="square" lIns="0" tIns="0" rIns="0" bIns="0" rtlCol="0"/>
            <a:lstStyle/>
            <a:p>
              <a:endParaRPr/>
            </a:p>
          </p:txBody>
        </p:sp>
        <p:sp>
          <p:nvSpPr>
            <p:cNvPr id="163" name="object 13">
              <a:extLst>
                <a:ext uri="{FF2B5EF4-FFF2-40B4-BE49-F238E27FC236}">
                  <a16:creationId xmlns:a16="http://schemas.microsoft.com/office/drawing/2014/main" id="{02F93478-7BC0-4222-9667-D5DD46891287}"/>
                </a:ext>
              </a:extLst>
            </p:cNvPr>
            <p:cNvSpPr/>
            <p:nvPr/>
          </p:nvSpPr>
          <p:spPr>
            <a:xfrm>
              <a:off x="7611838" y="4392812"/>
              <a:ext cx="236220" cy="170180"/>
            </a:xfrm>
            <a:custGeom>
              <a:avLst/>
              <a:gdLst/>
              <a:ahLst/>
              <a:cxnLst/>
              <a:rect l="l" t="t" r="r" b="b"/>
              <a:pathLst>
                <a:path w="236220" h="170179">
                  <a:moveTo>
                    <a:pt x="0" y="0"/>
                  </a:moveTo>
                  <a:lnTo>
                    <a:pt x="236179" y="170010"/>
                  </a:lnTo>
                </a:path>
              </a:pathLst>
            </a:custGeom>
            <a:ln w="3175">
              <a:solidFill>
                <a:srgbClr val="0000FF"/>
              </a:solidFill>
            </a:ln>
          </p:spPr>
          <p:txBody>
            <a:bodyPr wrap="square" lIns="0" tIns="0" rIns="0" bIns="0" rtlCol="0"/>
            <a:lstStyle/>
            <a:p>
              <a:endParaRPr/>
            </a:p>
          </p:txBody>
        </p:sp>
        <p:sp>
          <p:nvSpPr>
            <p:cNvPr id="164" name="object 14">
              <a:extLst>
                <a:ext uri="{FF2B5EF4-FFF2-40B4-BE49-F238E27FC236}">
                  <a16:creationId xmlns:a16="http://schemas.microsoft.com/office/drawing/2014/main" id="{A65A70F9-0F34-494F-8D69-FE52D8F10773}"/>
                </a:ext>
              </a:extLst>
            </p:cNvPr>
            <p:cNvSpPr/>
            <p:nvPr/>
          </p:nvSpPr>
          <p:spPr>
            <a:xfrm>
              <a:off x="7602963" y="4381292"/>
              <a:ext cx="254635" cy="193675"/>
            </a:xfrm>
            <a:custGeom>
              <a:avLst/>
              <a:gdLst/>
              <a:ahLst/>
              <a:cxnLst/>
              <a:rect l="l" t="t" r="r" b="b"/>
              <a:pathLst>
                <a:path w="254634" h="193675">
                  <a:moveTo>
                    <a:pt x="13311" y="0"/>
                  </a:moveTo>
                  <a:lnTo>
                    <a:pt x="0" y="18482"/>
                  </a:lnTo>
                  <a:lnTo>
                    <a:pt x="240617" y="193049"/>
                  </a:lnTo>
                  <a:lnTo>
                    <a:pt x="254055" y="174567"/>
                  </a:lnTo>
                  <a:lnTo>
                    <a:pt x="13311" y="0"/>
                  </a:lnTo>
                  <a:close/>
                </a:path>
              </a:pathLst>
            </a:custGeom>
            <a:solidFill>
              <a:srgbClr val="0000FF"/>
            </a:solidFill>
          </p:spPr>
          <p:txBody>
            <a:bodyPr wrap="square" lIns="0" tIns="0" rIns="0" bIns="0" rtlCol="0"/>
            <a:lstStyle/>
            <a:p>
              <a:endParaRPr/>
            </a:p>
          </p:txBody>
        </p:sp>
        <p:sp>
          <p:nvSpPr>
            <p:cNvPr id="165" name="object 15">
              <a:extLst>
                <a:ext uri="{FF2B5EF4-FFF2-40B4-BE49-F238E27FC236}">
                  <a16:creationId xmlns:a16="http://schemas.microsoft.com/office/drawing/2014/main" id="{22FD81D9-0F24-4A9B-AFB6-791192F46733}"/>
                </a:ext>
              </a:extLst>
            </p:cNvPr>
            <p:cNvSpPr/>
            <p:nvPr/>
          </p:nvSpPr>
          <p:spPr>
            <a:xfrm>
              <a:off x="7542492" y="4053298"/>
              <a:ext cx="118110" cy="356870"/>
            </a:xfrm>
            <a:custGeom>
              <a:avLst/>
              <a:gdLst/>
              <a:ahLst/>
              <a:cxnLst/>
              <a:rect l="l" t="t" r="r" b="b"/>
              <a:pathLst>
                <a:path w="118109" h="356870">
                  <a:moveTo>
                    <a:pt x="117646" y="0"/>
                  </a:moveTo>
                  <a:lnTo>
                    <a:pt x="0" y="356730"/>
                  </a:lnTo>
                </a:path>
              </a:pathLst>
            </a:custGeom>
            <a:ln w="3175">
              <a:solidFill>
                <a:srgbClr val="0000FF"/>
              </a:solidFill>
            </a:ln>
          </p:spPr>
          <p:txBody>
            <a:bodyPr wrap="square" lIns="0" tIns="0" rIns="0" bIns="0" rtlCol="0"/>
            <a:lstStyle/>
            <a:p>
              <a:endParaRPr/>
            </a:p>
          </p:txBody>
        </p:sp>
        <p:sp>
          <p:nvSpPr>
            <p:cNvPr id="166" name="object 16">
              <a:extLst>
                <a:ext uri="{FF2B5EF4-FFF2-40B4-BE49-F238E27FC236}">
                  <a16:creationId xmlns:a16="http://schemas.microsoft.com/office/drawing/2014/main" id="{F2340252-0EBB-4D5F-B6C7-F535F300CD2D}"/>
                </a:ext>
              </a:extLst>
            </p:cNvPr>
            <p:cNvSpPr/>
            <p:nvPr/>
          </p:nvSpPr>
          <p:spPr>
            <a:xfrm>
              <a:off x="7529181" y="4039626"/>
              <a:ext cx="139700" cy="377190"/>
            </a:xfrm>
            <a:custGeom>
              <a:avLst/>
              <a:gdLst/>
              <a:ahLst/>
              <a:cxnLst/>
              <a:rect l="l" t="t" r="r" b="b"/>
              <a:pathLst>
                <a:path w="139700" h="377189">
                  <a:moveTo>
                    <a:pt x="122590" y="0"/>
                  </a:moveTo>
                  <a:lnTo>
                    <a:pt x="0" y="376984"/>
                  </a:lnTo>
                  <a:lnTo>
                    <a:pt x="26749" y="368376"/>
                  </a:lnTo>
                  <a:lnTo>
                    <a:pt x="139197" y="22786"/>
                  </a:lnTo>
                  <a:lnTo>
                    <a:pt x="122590" y="0"/>
                  </a:lnTo>
                  <a:close/>
                </a:path>
              </a:pathLst>
            </a:custGeom>
            <a:solidFill>
              <a:srgbClr val="0000FF"/>
            </a:solidFill>
          </p:spPr>
          <p:txBody>
            <a:bodyPr wrap="square" lIns="0" tIns="0" rIns="0" bIns="0" rtlCol="0"/>
            <a:lstStyle/>
            <a:p>
              <a:endParaRPr/>
            </a:p>
          </p:txBody>
        </p:sp>
        <p:sp>
          <p:nvSpPr>
            <p:cNvPr id="167" name="object 17">
              <a:extLst>
                <a:ext uri="{FF2B5EF4-FFF2-40B4-BE49-F238E27FC236}">
                  <a16:creationId xmlns:a16="http://schemas.microsoft.com/office/drawing/2014/main" id="{D57CDA66-24F2-4325-BBE3-F7D5D75CDFD7}"/>
                </a:ext>
              </a:extLst>
            </p:cNvPr>
            <p:cNvSpPr/>
            <p:nvPr/>
          </p:nvSpPr>
          <p:spPr>
            <a:xfrm>
              <a:off x="7662421" y="4051020"/>
              <a:ext cx="306070" cy="0"/>
            </a:xfrm>
            <a:custGeom>
              <a:avLst/>
              <a:gdLst/>
              <a:ahLst/>
              <a:cxnLst/>
              <a:rect l="l" t="t" r="r" b="b"/>
              <a:pathLst>
                <a:path w="306070">
                  <a:moveTo>
                    <a:pt x="0" y="0"/>
                  </a:moveTo>
                  <a:lnTo>
                    <a:pt x="305778" y="0"/>
                  </a:lnTo>
                </a:path>
              </a:pathLst>
            </a:custGeom>
            <a:ln w="3175">
              <a:solidFill>
                <a:srgbClr val="0000FF"/>
              </a:solidFill>
            </a:ln>
          </p:spPr>
          <p:txBody>
            <a:bodyPr wrap="square" lIns="0" tIns="0" rIns="0" bIns="0" rtlCol="0"/>
            <a:lstStyle/>
            <a:p>
              <a:endParaRPr/>
            </a:p>
          </p:txBody>
        </p:sp>
        <p:sp>
          <p:nvSpPr>
            <p:cNvPr id="168" name="object 18">
              <a:extLst>
                <a:ext uri="{FF2B5EF4-FFF2-40B4-BE49-F238E27FC236}">
                  <a16:creationId xmlns:a16="http://schemas.microsoft.com/office/drawing/2014/main" id="{41379E21-4B67-4C11-96B9-A8CCB67673F5}"/>
                </a:ext>
              </a:extLst>
            </p:cNvPr>
            <p:cNvSpPr/>
            <p:nvPr/>
          </p:nvSpPr>
          <p:spPr>
            <a:xfrm>
              <a:off x="7651771" y="4039626"/>
              <a:ext cx="318770" cy="22860"/>
            </a:xfrm>
            <a:custGeom>
              <a:avLst/>
              <a:gdLst/>
              <a:ahLst/>
              <a:cxnLst/>
              <a:rect l="l" t="t" r="r" b="b"/>
              <a:pathLst>
                <a:path w="318770" h="22860">
                  <a:moveTo>
                    <a:pt x="318709" y="0"/>
                  </a:moveTo>
                  <a:lnTo>
                    <a:pt x="0" y="0"/>
                  </a:lnTo>
                  <a:lnTo>
                    <a:pt x="16607" y="22786"/>
                  </a:lnTo>
                  <a:lnTo>
                    <a:pt x="318709" y="22786"/>
                  </a:lnTo>
                  <a:lnTo>
                    <a:pt x="318709" y="0"/>
                  </a:lnTo>
                  <a:close/>
                </a:path>
              </a:pathLst>
            </a:custGeom>
            <a:solidFill>
              <a:srgbClr val="0000FF"/>
            </a:solidFill>
          </p:spPr>
          <p:txBody>
            <a:bodyPr wrap="square" lIns="0" tIns="0" rIns="0" bIns="0" rtlCol="0"/>
            <a:lstStyle/>
            <a:p>
              <a:endParaRPr/>
            </a:p>
          </p:txBody>
        </p:sp>
        <p:pic>
          <p:nvPicPr>
            <p:cNvPr id="169" name="object 19">
              <a:extLst>
                <a:ext uri="{FF2B5EF4-FFF2-40B4-BE49-F238E27FC236}">
                  <a16:creationId xmlns:a16="http://schemas.microsoft.com/office/drawing/2014/main" id="{0E6A61EA-500E-4EEF-A201-C703A6C00CC1}"/>
                </a:ext>
              </a:extLst>
            </p:cNvPr>
            <p:cNvPicPr/>
            <p:nvPr/>
          </p:nvPicPr>
          <p:blipFill>
            <a:blip r:embed="rId18" cstate="print"/>
            <a:stretch>
              <a:fillRect/>
            </a:stretch>
          </p:blipFill>
          <p:spPr>
            <a:xfrm>
              <a:off x="7998498" y="3851134"/>
              <a:ext cx="66936" cy="109373"/>
            </a:xfrm>
            <a:prstGeom prst="rect">
              <a:avLst/>
            </a:prstGeom>
          </p:spPr>
        </p:pic>
        <p:pic>
          <p:nvPicPr>
            <p:cNvPr id="170" name="object 20">
              <a:extLst>
                <a:ext uri="{FF2B5EF4-FFF2-40B4-BE49-F238E27FC236}">
                  <a16:creationId xmlns:a16="http://schemas.microsoft.com/office/drawing/2014/main" id="{D1F0F31B-DC7C-46A8-B71E-D87D2169CB68}"/>
                </a:ext>
              </a:extLst>
            </p:cNvPr>
            <p:cNvPicPr/>
            <p:nvPr/>
          </p:nvPicPr>
          <p:blipFill>
            <a:blip r:embed="rId19" cstate="print"/>
            <a:stretch>
              <a:fillRect/>
            </a:stretch>
          </p:blipFill>
          <p:spPr>
            <a:xfrm>
              <a:off x="7594089" y="3908100"/>
              <a:ext cx="73021" cy="110639"/>
            </a:xfrm>
            <a:prstGeom prst="rect">
              <a:avLst/>
            </a:prstGeom>
          </p:spPr>
        </p:pic>
        <p:pic>
          <p:nvPicPr>
            <p:cNvPr id="171" name="object 21">
              <a:extLst>
                <a:ext uri="{FF2B5EF4-FFF2-40B4-BE49-F238E27FC236}">
                  <a16:creationId xmlns:a16="http://schemas.microsoft.com/office/drawing/2014/main" id="{55C45C22-B335-49AD-9241-6DFC039AA41C}"/>
                </a:ext>
              </a:extLst>
            </p:cNvPr>
            <p:cNvPicPr/>
            <p:nvPr/>
          </p:nvPicPr>
          <p:blipFill>
            <a:blip r:embed="rId20" cstate="print"/>
            <a:stretch>
              <a:fillRect/>
            </a:stretch>
          </p:blipFill>
          <p:spPr>
            <a:xfrm>
              <a:off x="7770432" y="4650169"/>
              <a:ext cx="80628" cy="109626"/>
            </a:xfrm>
            <a:prstGeom prst="rect">
              <a:avLst/>
            </a:prstGeom>
          </p:spPr>
        </p:pic>
        <p:pic>
          <p:nvPicPr>
            <p:cNvPr id="172" name="object 22">
              <a:extLst>
                <a:ext uri="{FF2B5EF4-FFF2-40B4-BE49-F238E27FC236}">
                  <a16:creationId xmlns:a16="http://schemas.microsoft.com/office/drawing/2014/main" id="{96DE640D-2B3C-4A36-9576-57CBA772DC05}"/>
                </a:ext>
              </a:extLst>
            </p:cNvPr>
            <p:cNvPicPr/>
            <p:nvPr/>
          </p:nvPicPr>
          <p:blipFill>
            <a:blip r:embed="rId21" cstate="print"/>
            <a:stretch>
              <a:fillRect/>
            </a:stretch>
          </p:blipFill>
          <p:spPr>
            <a:xfrm>
              <a:off x="8222255" y="4327871"/>
              <a:ext cx="71373" cy="110639"/>
            </a:xfrm>
            <a:prstGeom prst="rect">
              <a:avLst/>
            </a:prstGeom>
          </p:spPr>
        </p:pic>
      </p:grpSp>
      <p:grpSp>
        <p:nvGrpSpPr>
          <p:cNvPr id="173" name="object 23">
            <a:extLst>
              <a:ext uri="{FF2B5EF4-FFF2-40B4-BE49-F238E27FC236}">
                <a16:creationId xmlns:a16="http://schemas.microsoft.com/office/drawing/2014/main" id="{9064538C-7EBF-4109-8C24-B0EE99DFB034}"/>
              </a:ext>
            </a:extLst>
          </p:cNvPr>
          <p:cNvGrpSpPr/>
          <p:nvPr/>
        </p:nvGrpSpPr>
        <p:grpSpPr>
          <a:xfrm>
            <a:off x="8532050" y="1603642"/>
            <a:ext cx="681990" cy="951865"/>
            <a:chOff x="5736343" y="5285270"/>
            <a:chExt cx="681990" cy="951865"/>
          </a:xfrm>
        </p:grpSpPr>
        <p:pic>
          <p:nvPicPr>
            <p:cNvPr id="174" name="object 24">
              <a:extLst>
                <a:ext uri="{FF2B5EF4-FFF2-40B4-BE49-F238E27FC236}">
                  <a16:creationId xmlns:a16="http://schemas.microsoft.com/office/drawing/2014/main" id="{18028584-6B38-4182-B8DF-073CF65F7DD6}"/>
                </a:ext>
              </a:extLst>
            </p:cNvPr>
            <p:cNvPicPr/>
            <p:nvPr/>
          </p:nvPicPr>
          <p:blipFill>
            <a:blip r:embed="rId22" cstate="print"/>
            <a:stretch>
              <a:fillRect/>
            </a:stretch>
          </p:blipFill>
          <p:spPr>
            <a:xfrm>
              <a:off x="6030585" y="5285270"/>
              <a:ext cx="85065" cy="109753"/>
            </a:xfrm>
            <a:prstGeom prst="rect">
              <a:avLst/>
            </a:prstGeom>
          </p:spPr>
        </p:pic>
        <p:pic>
          <p:nvPicPr>
            <p:cNvPr id="175" name="object 25">
              <a:extLst>
                <a:ext uri="{FF2B5EF4-FFF2-40B4-BE49-F238E27FC236}">
                  <a16:creationId xmlns:a16="http://schemas.microsoft.com/office/drawing/2014/main" id="{8C973456-9DC7-4B2F-A4E1-4220EED6BC58}"/>
                </a:ext>
              </a:extLst>
            </p:cNvPr>
            <p:cNvPicPr/>
            <p:nvPr/>
          </p:nvPicPr>
          <p:blipFill>
            <a:blip r:embed="rId23" cstate="print"/>
            <a:stretch>
              <a:fillRect/>
            </a:stretch>
          </p:blipFill>
          <p:spPr>
            <a:xfrm>
              <a:off x="6030585" y="5416784"/>
              <a:ext cx="89882" cy="109550"/>
            </a:xfrm>
            <a:prstGeom prst="rect">
              <a:avLst/>
            </a:prstGeom>
          </p:spPr>
        </p:pic>
        <p:sp>
          <p:nvSpPr>
            <p:cNvPr id="176" name="object 26">
              <a:extLst>
                <a:ext uri="{FF2B5EF4-FFF2-40B4-BE49-F238E27FC236}">
                  <a16:creationId xmlns:a16="http://schemas.microsoft.com/office/drawing/2014/main" id="{B7517CEC-1168-4D92-B3F0-B7D63460EFF2}"/>
                </a:ext>
              </a:extLst>
            </p:cNvPr>
            <p:cNvSpPr/>
            <p:nvPr/>
          </p:nvSpPr>
          <p:spPr>
            <a:xfrm>
              <a:off x="5747752" y="5656406"/>
              <a:ext cx="0" cy="375285"/>
            </a:xfrm>
            <a:custGeom>
              <a:avLst/>
              <a:gdLst/>
              <a:ahLst/>
              <a:cxnLst/>
              <a:rect l="l" t="t" r="r" b="b"/>
              <a:pathLst>
                <a:path h="375285">
                  <a:moveTo>
                    <a:pt x="0" y="375237"/>
                  </a:moveTo>
                  <a:lnTo>
                    <a:pt x="0" y="0"/>
                  </a:lnTo>
                </a:path>
              </a:pathLst>
            </a:custGeom>
            <a:ln w="3175">
              <a:solidFill>
                <a:srgbClr val="0000FF"/>
              </a:solidFill>
            </a:ln>
          </p:spPr>
          <p:txBody>
            <a:bodyPr wrap="square" lIns="0" tIns="0" rIns="0" bIns="0" rtlCol="0"/>
            <a:lstStyle/>
            <a:p>
              <a:endParaRPr/>
            </a:p>
          </p:txBody>
        </p:sp>
        <p:sp>
          <p:nvSpPr>
            <p:cNvPr id="177" name="object 27">
              <a:extLst>
                <a:ext uri="{FF2B5EF4-FFF2-40B4-BE49-F238E27FC236}">
                  <a16:creationId xmlns:a16="http://schemas.microsoft.com/office/drawing/2014/main" id="{944A955E-6BB2-48A9-81B2-93CD1AC98F59}"/>
                </a:ext>
              </a:extLst>
            </p:cNvPr>
            <p:cNvSpPr/>
            <p:nvPr/>
          </p:nvSpPr>
          <p:spPr>
            <a:xfrm>
              <a:off x="5736343" y="5647545"/>
              <a:ext cx="22860" cy="393065"/>
            </a:xfrm>
            <a:custGeom>
              <a:avLst/>
              <a:gdLst/>
              <a:ahLst/>
              <a:cxnLst/>
              <a:rect l="l" t="t" r="r" b="b"/>
              <a:pathLst>
                <a:path w="22860" h="393064">
                  <a:moveTo>
                    <a:pt x="0" y="0"/>
                  </a:moveTo>
                  <a:lnTo>
                    <a:pt x="0" y="392960"/>
                  </a:lnTo>
                  <a:lnTo>
                    <a:pt x="22819" y="379807"/>
                  </a:lnTo>
                  <a:lnTo>
                    <a:pt x="22819" y="13152"/>
                  </a:lnTo>
                  <a:lnTo>
                    <a:pt x="0" y="0"/>
                  </a:lnTo>
                  <a:close/>
                </a:path>
              </a:pathLst>
            </a:custGeom>
            <a:solidFill>
              <a:srgbClr val="0000FF"/>
            </a:solidFill>
          </p:spPr>
          <p:txBody>
            <a:bodyPr wrap="square" lIns="0" tIns="0" rIns="0" bIns="0" rtlCol="0"/>
            <a:lstStyle/>
            <a:p>
              <a:endParaRPr/>
            </a:p>
          </p:txBody>
        </p:sp>
        <p:sp>
          <p:nvSpPr>
            <p:cNvPr id="178" name="object 28">
              <a:extLst>
                <a:ext uri="{FF2B5EF4-FFF2-40B4-BE49-F238E27FC236}">
                  <a16:creationId xmlns:a16="http://schemas.microsoft.com/office/drawing/2014/main" id="{7C259FFC-028C-409D-B112-CA32701C142E}"/>
                </a:ext>
              </a:extLst>
            </p:cNvPr>
            <p:cNvSpPr/>
            <p:nvPr/>
          </p:nvSpPr>
          <p:spPr>
            <a:xfrm>
              <a:off x="5804801" y="5689294"/>
              <a:ext cx="0" cy="309880"/>
            </a:xfrm>
            <a:custGeom>
              <a:avLst/>
              <a:gdLst/>
              <a:ahLst/>
              <a:cxnLst/>
              <a:rect l="l" t="t" r="r" b="b"/>
              <a:pathLst>
                <a:path h="309879">
                  <a:moveTo>
                    <a:pt x="0" y="309461"/>
                  </a:moveTo>
                  <a:lnTo>
                    <a:pt x="0" y="0"/>
                  </a:lnTo>
                </a:path>
              </a:pathLst>
            </a:custGeom>
            <a:ln w="3175">
              <a:solidFill>
                <a:srgbClr val="0000FF"/>
              </a:solidFill>
            </a:ln>
          </p:spPr>
          <p:txBody>
            <a:bodyPr wrap="square" lIns="0" tIns="0" rIns="0" bIns="0" rtlCol="0"/>
            <a:lstStyle/>
            <a:p>
              <a:endParaRPr/>
            </a:p>
          </p:txBody>
        </p:sp>
        <p:sp>
          <p:nvSpPr>
            <p:cNvPr id="179" name="object 29">
              <a:extLst>
                <a:ext uri="{FF2B5EF4-FFF2-40B4-BE49-F238E27FC236}">
                  <a16:creationId xmlns:a16="http://schemas.microsoft.com/office/drawing/2014/main" id="{4783D8A2-B416-46B1-9450-B3662C6DA181}"/>
                </a:ext>
              </a:extLst>
            </p:cNvPr>
            <p:cNvSpPr/>
            <p:nvPr/>
          </p:nvSpPr>
          <p:spPr>
            <a:xfrm>
              <a:off x="5793391" y="5687016"/>
              <a:ext cx="22860" cy="314325"/>
            </a:xfrm>
            <a:custGeom>
              <a:avLst/>
              <a:gdLst/>
              <a:ahLst/>
              <a:cxnLst/>
              <a:rect l="l" t="t" r="r" b="b"/>
              <a:pathLst>
                <a:path w="22860" h="314325">
                  <a:moveTo>
                    <a:pt x="22819" y="0"/>
                  </a:moveTo>
                  <a:lnTo>
                    <a:pt x="0" y="0"/>
                  </a:lnTo>
                  <a:lnTo>
                    <a:pt x="0" y="314018"/>
                  </a:lnTo>
                  <a:lnTo>
                    <a:pt x="22819" y="314018"/>
                  </a:lnTo>
                  <a:lnTo>
                    <a:pt x="22819" y="0"/>
                  </a:lnTo>
                  <a:close/>
                </a:path>
              </a:pathLst>
            </a:custGeom>
            <a:solidFill>
              <a:srgbClr val="0000FF"/>
            </a:solidFill>
          </p:spPr>
          <p:txBody>
            <a:bodyPr wrap="square" lIns="0" tIns="0" rIns="0" bIns="0" rtlCol="0"/>
            <a:lstStyle/>
            <a:p>
              <a:endParaRPr/>
            </a:p>
          </p:txBody>
        </p:sp>
        <p:sp>
          <p:nvSpPr>
            <p:cNvPr id="180" name="object 30">
              <a:extLst>
                <a:ext uri="{FF2B5EF4-FFF2-40B4-BE49-F238E27FC236}">
                  <a16:creationId xmlns:a16="http://schemas.microsoft.com/office/drawing/2014/main" id="{3506AAFA-8256-4370-9D0E-0612F4A4DB6B}"/>
                </a:ext>
              </a:extLst>
            </p:cNvPr>
            <p:cNvSpPr/>
            <p:nvPr/>
          </p:nvSpPr>
          <p:spPr>
            <a:xfrm>
              <a:off x="5750034" y="6036201"/>
              <a:ext cx="325120" cy="185420"/>
            </a:xfrm>
            <a:custGeom>
              <a:avLst/>
              <a:gdLst/>
              <a:ahLst/>
              <a:cxnLst/>
              <a:rect l="l" t="t" r="r" b="b"/>
              <a:pathLst>
                <a:path w="325120" h="185420">
                  <a:moveTo>
                    <a:pt x="324795" y="185340"/>
                  </a:moveTo>
                  <a:lnTo>
                    <a:pt x="0" y="0"/>
                  </a:lnTo>
                </a:path>
              </a:pathLst>
            </a:custGeom>
            <a:ln w="3175">
              <a:solidFill>
                <a:srgbClr val="0000FF"/>
              </a:solidFill>
            </a:ln>
          </p:spPr>
          <p:txBody>
            <a:bodyPr wrap="square" lIns="0" tIns="0" rIns="0" bIns="0" rtlCol="0"/>
            <a:lstStyle/>
            <a:p>
              <a:endParaRPr/>
            </a:p>
          </p:txBody>
        </p:sp>
        <p:sp>
          <p:nvSpPr>
            <p:cNvPr id="181" name="object 31">
              <a:extLst>
                <a:ext uri="{FF2B5EF4-FFF2-40B4-BE49-F238E27FC236}">
                  <a16:creationId xmlns:a16="http://schemas.microsoft.com/office/drawing/2014/main" id="{2DA75012-B957-4D74-8254-A9257ADDD5C4}"/>
                </a:ext>
              </a:extLst>
            </p:cNvPr>
            <p:cNvSpPr/>
            <p:nvPr/>
          </p:nvSpPr>
          <p:spPr>
            <a:xfrm>
              <a:off x="5736343" y="6027352"/>
              <a:ext cx="340995" cy="210185"/>
            </a:xfrm>
            <a:custGeom>
              <a:avLst/>
              <a:gdLst/>
              <a:ahLst/>
              <a:cxnLst/>
              <a:rect l="l" t="t" r="r" b="b"/>
              <a:pathLst>
                <a:path w="340995" h="210185">
                  <a:moveTo>
                    <a:pt x="22819" y="0"/>
                  </a:moveTo>
                  <a:lnTo>
                    <a:pt x="0" y="13152"/>
                  </a:lnTo>
                  <a:lnTo>
                    <a:pt x="340768" y="209632"/>
                  </a:lnTo>
                  <a:lnTo>
                    <a:pt x="340768" y="183314"/>
                  </a:lnTo>
                  <a:lnTo>
                    <a:pt x="22819" y="0"/>
                  </a:lnTo>
                  <a:close/>
                </a:path>
              </a:pathLst>
            </a:custGeom>
            <a:solidFill>
              <a:srgbClr val="0000FF"/>
            </a:solidFill>
          </p:spPr>
          <p:txBody>
            <a:bodyPr wrap="square" lIns="0" tIns="0" rIns="0" bIns="0" rtlCol="0"/>
            <a:lstStyle/>
            <a:p>
              <a:endParaRPr/>
            </a:p>
          </p:txBody>
        </p:sp>
        <p:sp>
          <p:nvSpPr>
            <p:cNvPr id="182" name="object 32">
              <a:extLst>
                <a:ext uri="{FF2B5EF4-FFF2-40B4-BE49-F238E27FC236}">
                  <a16:creationId xmlns:a16="http://schemas.microsoft.com/office/drawing/2014/main" id="{BADBD33D-8DB8-4048-8ED1-40AA87B20643}"/>
                </a:ext>
              </a:extLst>
            </p:cNvPr>
            <p:cNvSpPr/>
            <p:nvPr/>
          </p:nvSpPr>
          <p:spPr>
            <a:xfrm>
              <a:off x="6079393" y="6036201"/>
              <a:ext cx="325120" cy="185420"/>
            </a:xfrm>
            <a:custGeom>
              <a:avLst/>
              <a:gdLst/>
              <a:ahLst/>
              <a:cxnLst/>
              <a:rect l="l" t="t" r="r" b="b"/>
              <a:pathLst>
                <a:path w="325120" h="185420">
                  <a:moveTo>
                    <a:pt x="324795" y="0"/>
                  </a:moveTo>
                  <a:lnTo>
                    <a:pt x="0" y="185340"/>
                  </a:lnTo>
                </a:path>
              </a:pathLst>
            </a:custGeom>
            <a:ln w="3175">
              <a:solidFill>
                <a:srgbClr val="0000FF"/>
              </a:solidFill>
            </a:ln>
          </p:spPr>
          <p:txBody>
            <a:bodyPr wrap="square" lIns="0" tIns="0" rIns="0" bIns="0" rtlCol="0"/>
            <a:lstStyle/>
            <a:p>
              <a:endParaRPr/>
            </a:p>
          </p:txBody>
        </p:sp>
        <p:sp>
          <p:nvSpPr>
            <p:cNvPr id="183" name="object 33">
              <a:extLst>
                <a:ext uri="{FF2B5EF4-FFF2-40B4-BE49-F238E27FC236}">
                  <a16:creationId xmlns:a16="http://schemas.microsoft.com/office/drawing/2014/main" id="{5CAA870F-233A-4C6E-A9B6-DC5AFFFDF277}"/>
                </a:ext>
              </a:extLst>
            </p:cNvPr>
            <p:cNvSpPr/>
            <p:nvPr/>
          </p:nvSpPr>
          <p:spPr>
            <a:xfrm>
              <a:off x="6077111" y="6027352"/>
              <a:ext cx="340995" cy="210185"/>
            </a:xfrm>
            <a:custGeom>
              <a:avLst/>
              <a:gdLst/>
              <a:ahLst/>
              <a:cxnLst/>
              <a:rect l="l" t="t" r="r" b="b"/>
              <a:pathLst>
                <a:path w="340995" h="210185">
                  <a:moveTo>
                    <a:pt x="317949" y="0"/>
                  </a:moveTo>
                  <a:lnTo>
                    <a:pt x="0" y="183314"/>
                  </a:lnTo>
                  <a:lnTo>
                    <a:pt x="0" y="209632"/>
                  </a:lnTo>
                  <a:lnTo>
                    <a:pt x="340768" y="13152"/>
                  </a:lnTo>
                  <a:lnTo>
                    <a:pt x="317949" y="0"/>
                  </a:lnTo>
                  <a:close/>
                </a:path>
              </a:pathLst>
            </a:custGeom>
            <a:solidFill>
              <a:srgbClr val="0000FF"/>
            </a:solidFill>
          </p:spPr>
          <p:txBody>
            <a:bodyPr wrap="square" lIns="0" tIns="0" rIns="0" bIns="0" rtlCol="0"/>
            <a:lstStyle/>
            <a:p>
              <a:endParaRPr/>
            </a:p>
          </p:txBody>
        </p:sp>
        <p:sp>
          <p:nvSpPr>
            <p:cNvPr id="184" name="object 34">
              <a:extLst>
                <a:ext uri="{FF2B5EF4-FFF2-40B4-BE49-F238E27FC236}">
                  <a16:creationId xmlns:a16="http://schemas.microsoft.com/office/drawing/2014/main" id="{72EC501B-9106-41E5-A35F-A73276F1797A}"/>
                </a:ext>
              </a:extLst>
            </p:cNvPr>
            <p:cNvSpPr/>
            <p:nvPr/>
          </p:nvSpPr>
          <p:spPr>
            <a:xfrm>
              <a:off x="6406470" y="5656406"/>
              <a:ext cx="0" cy="375285"/>
            </a:xfrm>
            <a:custGeom>
              <a:avLst/>
              <a:gdLst/>
              <a:ahLst/>
              <a:cxnLst/>
              <a:rect l="l" t="t" r="r" b="b"/>
              <a:pathLst>
                <a:path h="375285">
                  <a:moveTo>
                    <a:pt x="0" y="0"/>
                  </a:moveTo>
                  <a:lnTo>
                    <a:pt x="0" y="375237"/>
                  </a:lnTo>
                </a:path>
              </a:pathLst>
            </a:custGeom>
            <a:ln w="3175">
              <a:solidFill>
                <a:srgbClr val="0000FF"/>
              </a:solidFill>
            </a:ln>
          </p:spPr>
          <p:txBody>
            <a:bodyPr wrap="square" lIns="0" tIns="0" rIns="0" bIns="0" rtlCol="0"/>
            <a:lstStyle/>
            <a:p>
              <a:endParaRPr/>
            </a:p>
          </p:txBody>
        </p:sp>
        <p:sp>
          <p:nvSpPr>
            <p:cNvPr id="185" name="object 35">
              <a:extLst>
                <a:ext uri="{FF2B5EF4-FFF2-40B4-BE49-F238E27FC236}">
                  <a16:creationId xmlns:a16="http://schemas.microsoft.com/office/drawing/2014/main" id="{E61B0A64-3F12-4EB0-924A-EE3AD20D89F9}"/>
                </a:ext>
              </a:extLst>
            </p:cNvPr>
            <p:cNvSpPr/>
            <p:nvPr/>
          </p:nvSpPr>
          <p:spPr>
            <a:xfrm>
              <a:off x="6395061" y="5647545"/>
              <a:ext cx="22860" cy="393065"/>
            </a:xfrm>
            <a:custGeom>
              <a:avLst/>
              <a:gdLst/>
              <a:ahLst/>
              <a:cxnLst/>
              <a:rect l="l" t="t" r="r" b="b"/>
              <a:pathLst>
                <a:path w="22860" h="393064">
                  <a:moveTo>
                    <a:pt x="22819" y="0"/>
                  </a:moveTo>
                  <a:lnTo>
                    <a:pt x="0" y="13152"/>
                  </a:lnTo>
                  <a:lnTo>
                    <a:pt x="0" y="379807"/>
                  </a:lnTo>
                  <a:lnTo>
                    <a:pt x="22819" y="392960"/>
                  </a:lnTo>
                  <a:lnTo>
                    <a:pt x="22819" y="0"/>
                  </a:lnTo>
                  <a:close/>
                </a:path>
              </a:pathLst>
            </a:custGeom>
            <a:solidFill>
              <a:srgbClr val="0000FF"/>
            </a:solidFill>
          </p:spPr>
          <p:txBody>
            <a:bodyPr wrap="square" lIns="0" tIns="0" rIns="0" bIns="0" rtlCol="0"/>
            <a:lstStyle/>
            <a:p>
              <a:endParaRPr/>
            </a:p>
          </p:txBody>
        </p:sp>
        <p:sp>
          <p:nvSpPr>
            <p:cNvPr id="186" name="object 36">
              <a:extLst>
                <a:ext uri="{FF2B5EF4-FFF2-40B4-BE49-F238E27FC236}">
                  <a16:creationId xmlns:a16="http://schemas.microsoft.com/office/drawing/2014/main" id="{B28390F4-28F3-4D7B-82DD-D945FC843DD5}"/>
                </a:ext>
              </a:extLst>
            </p:cNvPr>
            <p:cNvSpPr/>
            <p:nvPr/>
          </p:nvSpPr>
          <p:spPr>
            <a:xfrm>
              <a:off x="6349422" y="5689294"/>
              <a:ext cx="0" cy="309880"/>
            </a:xfrm>
            <a:custGeom>
              <a:avLst/>
              <a:gdLst/>
              <a:ahLst/>
              <a:cxnLst/>
              <a:rect l="l" t="t" r="r" b="b"/>
              <a:pathLst>
                <a:path h="309879">
                  <a:moveTo>
                    <a:pt x="0" y="0"/>
                  </a:moveTo>
                  <a:lnTo>
                    <a:pt x="0" y="309461"/>
                  </a:lnTo>
                </a:path>
              </a:pathLst>
            </a:custGeom>
            <a:ln w="3175">
              <a:solidFill>
                <a:srgbClr val="0000FF"/>
              </a:solidFill>
            </a:ln>
          </p:spPr>
          <p:txBody>
            <a:bodyPr wrap="square" lIns="0" tIns="0" rIns="0" bIns="0" rtlCol="0"/>
            <a:lstStyle/>
            <a:p>
              <a:endParaRPr/>
            </a:p>
          </p:txBody>
        </p:sp>
        <p:sp>
          <p:nvSpPr>
            <p:cNvPr id="187" name="object 37">
              <a:extLst>
                <a:ext uri="{FF2B5EF4-FFF2-40B4-BE49-F238E27FC236}">
                  <a16:creationId xmlns:a16="http://schemas.microsoft.com/office/drawing/2014/main" id="{A3A97925-460C-483D-B504-E0AC9F7C019D}"/>
                </a:ext>
              </a:extLst>
            </p:cNvPr>
            <p:cNvSpPr/>
            <p:nvPr/>
          </p:nvSpPr>
          <p:spPr>
            <a:xfrm>
              <a:off x="6338012" y="5687016"/>
              <a:ext cx="22860" cy="314325"/>
            </a:xfrm>
            <a:custGeom>
              <a:avLst/>
              <a:gdLst/>
              <a:ahLst/>
              <a:cxnLst/>
              <a:rect l="l" t="t" r="r" b="b"/>
              <a:pathLst>
                <a:path w="22860" h="314325">
                  <a:moveTo>
                    <a:pt x="22819" y="0"/>
                  </a:moveTo>
                  <a:lnTo>
                    <a:pt x="0" y="0"/>
                  </a:lnTo>
                  <a:lnTo>
                    <a:pt x="0" y="314018"/>
                  </a:lnTo>
                  <a:lnTo>
                    <a:pt x="22819" y="314018"/>
                  </a:lnTo>
                  <a:lnTo>
                    <a:pt x="22819" y="0"/>
                  </a:lnTo>
                  <a:close/>
                </a:path>
              </a:pathLst>
            </a:custGeom>
            <a:solidFill>
              <a:srgbClr val="0000FF"/>
            </a:solidFill>
          </p:spPr>
          <p:txBody>
            <a:bodyPr wrap="square" lIns="0" tIns="0" rIns="0" bIns="0" rtlCol="0"/>
            <a:lstStyle/>
            <a:p>
              <a:endParaRPr/>
            </a:p>
          </p:txBody>
        </p:sp>
        <p:sp>
          <p:nvSpPr>
            <p:cNvPr id="188" name="object 38">
              <a:extLst>
                <a:ext uri="{FF2B5EF4-FFF2-40B4-BE49-F238E27FC236}">
                  <a16:creationId xmlns:a16="http://schemas.microsoft.com/office/drawing/2014/main" id="{4CECF264-C824-4B2C-91F8-5496ABABBD1A}"/>
                </a:ext>
              </a:extLst>
            </p:cNvPr>
            <p:cNvSpPr/>
            <p:nvPr/>
          </p:nvSpPr>
          <p:spPr>
            <a:xfrm>
              <a:off x="6162430" y="5514335"/>
              <a:ext cx="241935" cy="137795"/>
            </a:xfrm>
            <a:custGeom>
              <a:avLst/>
              <a:gdLst/>
              <a:ahLst/>
              <a:cxnLst/>
              <a:rect l="l" t="t" r="r" b="b"/>
              <a:pathLst>
                <a:path w="241935" h="137795">
                  <a:moveTo>
                    <a:pt x="0" y="0"/>
                  </a:moveTo>
                  <a:lnTo>
                    <a:pt x="241758" y="137514"/>
                  </a:lnTo>
                </a:path>
              </a:pathLst>
            </a:custGeom>
            <a:ln w="3175">
              <a:solidFill>
                <a:srgbClr val="0000FF"/>
              </a:solidFill>
            </a:ln>
          </p:spPr>
          <p:txBody>
            <a:bodyPr wrap="square" lIns="0" tIns="0" rIns="0" bIns="0" rtlCol="0"/>
            <a:lstStyle/>
            <a:p>
              <a:endParaRPr/>
            </a:p>
          </p:txBody>
        </p:sp>
        <p:sp>
          <p:nvSpPr>
            <p:cNvPr id="189" name="object 39">
              <a:extLst>
                <a:ext uri="{FF2B5EF4-FFF2-40B4-BE49-F238E27FC236}">
                  <a16:creationId xmlns:a16="http://schemas.microsoft.com/office/drawing/2014/main" id="{23031E88-4EF4-4259-AD63-E7877D01B586}"/>
                </a:ext>
              </a:extLst>
            </p:cNvPr>
            <p:cNvSpPr/>
            <p:nvPr/>
          </p:nvSpPr>
          <p:spPr>
            <a:xfrm>
              <a:off x="6154443" y="5502195"/>
              <a:ext cx="263525" cy="158750"/>
            </a:xfrm>
            <a:custGeom>
              <a:avLst/>
              <a:gdLst/>
              <a:ahLst/>
              <a:cxnLst/>
              <a:rect l="l" t="t" r="r" b="b"/>
              <a:pathLst>
                <a:path w="263525" h="158750">
                  <a:moveTo>
                    <a:pt x="11409" y="0"/>
                  </a:moveTo>
                  <a:lnTo>
                    <a:pt x="0" y="19735"/>
                  </a:lnTo>
                  <a:lnTo>
                    <a:pt x="240617" y="158503"/>
                  </a:lnTo>
                  <a:lnTo>
                    <a:pt x="263436" y="145350"/>
                  </a:lnTo>
                  <a:lnTo>
                    <a:pt x="11409" y="0"/>
                  </a:lnTo>
                  <a:close/>
                </a:path>
              </a:pathLst>
            </a:custGeom>
            <a:solidFill>
              <a:srgbClr val="0000FF"/>
            </a:solidFill>
          </p:spPr>
          <p:txBody>
            <a:bodyPr wrap="square" lIns="0" tIns="0" rIns="0" bIns="0" rtlCol="0"/>
            <a:lstStyle/>
            <a:p>
              <a:endParaRPr/>
            </a:p>
          </p:txBody>
        </p:sp>
        <p:sp>
          <p:nvSpPr>
            <p:cNvPr id="190" name="object 40">
              <a:extLst>
                <a:ext uri="{FF2B5EF4-FFF2-40B4-BE49-F238E27FC236}">
                  <a16:creationId xmlns:a16="http://schemas.microsoft.com/office/drawing/2014/main" id="{CABA376B-7871-4B15-82D5-2E215BA5D22E}"/>
                </a:ext>
              </a:extLst>
            </p:cNvPr>
            <p:cNvSpPr/>
            <p:nvPr/>
          </p:nvSpPr>
          <p:spPr>
            <a:xfrm>
              <a:off x="5750034" y="5514499"/>
              <a:ext cx="241935" cy="137795"/>
            </a:xfrm>
            <a:custGeom>
              <a:avLst/>
              <a:gdLst/>
              <a:ahLst/>
              <a:cxnLst/>
              <a:rect l="l" t="t" r="r" b="b"/>
              <a:pathLst>
                <a:path w="241935" h="137795">
                  <a:moveTo>
                    <a:pt x="0" y="137349"/>
                  </a:moveTo>
                  <a:lnTo>
                    <a:pt x="241504" y="0"/>
                  </a:lnTo>
                </a:path>
              </a:pathLst>
            </a:custGeom>
            <a:ln w="3175">
              <a:solidFill>
                <a:srgbClr val="0000FF"/>
              </a:solidFill>
            </a:ln>
          </p:spPr>
          <p:txBody>
            <a:bodyPr wrap="square" lIns="0" tIns="0" rIns="0" bIns="0" rtlCol="0"/>
            <a:lstStyle/>
            <a:p>
              <a:endParaRPr/>
            </a:p>
          </p:txBody>
        </p:sp>
        <p:sp>
          <p:nvSpPr>
            <p:cNvPr id="191" name="object 41">
              <a:extLst>
                <a:ext uri="{FF2B5EF4-FFF2-40B4-BE49-F238E27FC236}">
                  <a16:creationId xmlns:a16="http://schemas.microsoft.com/office/drawing/2014/main" id="{B590A077-E47C-40E5-954B-19A3B6901519}"/>
                </a:ext>
              </a:extLst>
            </p:cNvPr>
            <p:cNvSpPr/>
            <p:nvPr/>
          </p:nvSpPr>
          <p:spPr>
            <a:xfrm>
              <a:off x="5736343" y="5502347"/>
              <a:ext cx="263525" cy="158750"/>
            </a:xfrm>
            <a:custGeom>
              <a:avLst/>
              <a:gdLst/>
              <a:ahLst/>
              <a:cxnLst/>
              <a:rect l="l" t="t" r="r" b="b"/>
              <a:pathLst>
                <a:path w="263525" h="158750">
                  <a:moveTo>
                    <a:pt x="251773" y="0"/>
                  </a:moveTo>
                  <a:lnTo>
                    <a:pt x="0" y="145198"/>
                  </a:lnTo>
                  <a:lnTo>
                    <a:pt x="22819" y="158351"/>
                  </a:lnTo>
                  <a:lnTo>
                    <a:pt x="263182" y="19735"/>
                  </a:lnTo>
                  <a:lnTo>
                    <a:pt x="251773" y="0"/>
                  </a:lnTo>
                  <a:close/>
                </a:path>
              </a:pathLst>
            </a:custGeom>
            <a:solidFill>
              <a:srgbClr val="0000FF"/>
            </a:solidFill>
          </p:spPr>
          <p:txBody>
            <a:bodyPr wrap="square" lIns="0" tIns="0" rIns="0" bIns="0" rtlCol="0"/>
            <a:lstStyle/>
            <a:p>
              <a:endParaRPr/>
            </a:p>
          </p:txBody>
        </p:sp>
        <p:pic>
          <p:nvPicPr>
            <p:cNvPr id="192" name="object 42">
              <a:extLst>
                <a:ext uri="{FF2B5EF4-FFF2-40B4-BE49-F238E27FC236}">
                  <a16:creationId xmlns:a16="http://schemas.microsoft.com/office/drawing/2014/main" id="{36E5DB94-7579-436E-9CB1-C9782ED7E27F}"/>
                </a:ext>
              </a:extLst>
            </p:cNvPr>
            <p:cNvPicPr/>
            <p:nvPr/>
          </p:nvPicPr>
          <p:blipFill>
            <a:blip r:embed="rId24" cstate="print"/>
            <a:stretch>
              <a:fillRect/>
            </a:stretch>
          </p:blipFill>
          <p:spPr>
            <a:xfrm>
              <a:off x="5935251" y="5334134"/>
              <a:ext cx="66936" cy="109424"/>
            </a:xfrm>
            <a:prstGeom prst="rect">
              <a:avLst/>
            </a:prstGeom>
          </p:spPr>
        </p:pic>
      </p:grpSp>
      <p:grpSp>
        <p:nvGrpSpPr>
          <p:cNvPr id="193" name="object 43">
            <a:extLst>
              <a:ext uri="{FF2B5EF4-FFF2-40B4-BE49-F238E27FC236}">
                <a16:creationId xmlns:a16="http://schemas.microsoft.com/office/drawing/2014/main" id="{7B3FB8FA-4B62-45C2-8307-2D0DBF9D23CE}"/>
              </a:ext>
            </a:extLst>
          </p:cNvPr>
          <p:cNvGrpSpPr/>
          <p:nvPr/>
        </p:nvGrpSpPr>
        <p:grpSpPr>
          <a:xfrm>
            <a:off x="10070326" y="1820592"/>
            <a:ext cx="1452880" cy="1101090"/>
            <a:chOff x="7274619" y="5502220"/>
            <a:chExt cx="1452880" cy="1101090"/>
          </a:xfrm>
        </p:grpSpPr>
        <p:pic>
          <p:nvPicPr>
            <p:cNvPr id="194" name="object 44">
              <a:extLst>
                <a:ext uri="{FF2B5EF4-FFF2-40B4-BE49-F238E27FC236}">
                  <a16:creationId xmlns:a16="http://schemas.microsoft.com/office/drawing/2014/main" id="{DA969F69-D5F1-4039-8589-FF979728F4E3}"/>
                </a:ext>
              </a:extLst>
            </p:cNvPr>
            <p:cNvPicPr/>
            <p:nvPr/>
          </p:nvPicPr>
          <p:blipFill>
            <a:blip r:embed="rId25" cstate="print"/>
            <a:stretch>
              <a:fillRect/>
            </a:stretch>
          </p:blipFill>
          <p:spPr>
            <a:xfrm>
              <a:off x="7274619" y="5502220"/>
              <a:ext cx="1452576" cy="1101018"/>
            </a:xfrm>
            <a:prstGeom prst="rect">
              <a:avLst/>
            </a:prstGeom>
          </p:spPr>
        </p:pic>
        <p:pic>
          <p:nvPicPr>
            <p:cNvPr id="195" name="object 45">
              <a:extLst>
                <a:ext uri="{FF2B5EF4-FFF2-40B4-BE49-F238E27FC236}">
                  <a16:creationId xmlns:a16="http://schemas.microsoft.com/office/drawing/2014/main" id="{30D6E6E2-0B93-4D9D-9828-D4CCE487B8AF}"/>
                </a:ext>
              </a:extLst>
            </p:cNvPr>
            <p:cNvPicPr/>
            <p:nvPr/>
          </p:nvPicPr>
          <p:blipFill>
            <a:blip r:embed="rId26" cstate="print"/>
            <a:stretch>
              <a:fillRect/>
            </a:stretch>
          </p:blipFill>
          <p:spPr>
            <a:xfrm>
              <a:off x="8269161" y="5655710"/>
              <a:ext cx="73021" cy="110652"/>
            </a:xfrm>
            <a:prstGeom prst="rect">
              <a:avLst/>
            </a:prstGeom>
          </p:spPr>
        </p:pic>
      </p:grpSp>
      <p:grpSp>
        <p:nvGrpSpPr>
          <p:cNvPr id="196" name="object 46">
            <a:extLst>
              <a:ext uri="{FF2B5EF4-FFF2-40B4-BE49-F238E27FC236}">
                <a16:creationId xmlns:a16="http://schemas.microsoft.com/office/drawing/2014/main" id="{2B1AB937-2C0C-45B4-9F57-351505123F4B}"/>
              </a:ext>
            </a:extLst>
          </p:cNvPr>
          <p:cNvGrpSpPr/>
          <p:nvPr/>
        </p:nvGrpSpPr>
        <p:grpSpPr>
          <a:xfrm>
            <a:off x="8450788" y="202673"/>
            <a:ext cx="721995" cy="915669"/>
            <a:chOff x="5655081" y="3884301"/>
            <a:chExt cx="721995" cy="915669"/>
          </a:xfrm>
        </p:grpSpPr>
        <p:pic>
          <p:nvPicPr>
            <p:cNvPr id="197" name="object 47">
              <a:extLst>
                <a:ext uri="{FF2B5EF4-FFF2-40B4-BE49-F238E27FC236}">
                  <a16:creationId xmlns:a16="http://schemas.microsoft.com/office/drawing/2014/main" id="{8154E220-9590-4198-A878-F699DBBADDDF}"/>
                </a:ext>
              </a:extLst>
            </p:cNvPr>
            <p:cNvPicPr/>
            <p:nvPr/>
          </p:nvPicPr>
          <p:blipFill>
            <a:blip r:embed="rId27" cstate="print"/>
            <a:stretch>
              <a:fillRect/>
            </a:stretch>
          </p:blipFill>
          <p:spPr>
            <a:xfrm>
              <a:off x="6092324" y="3884301"/>
              <a:ext cx="84938" cy="109753"/>
            </a:xfrm>
            <a:prstGeom prst="rect">
              <a:avLst/>
            </a:prstGeom>
          </p:spPr>
        </p:pic>
        <p:pic>
          <p:nvPicPr>
            <p:cNvPr id="198" name="object 48">
              <a:extLst>
                <a:ext uri="{FF2B5EF4-FFF2-40B4-BE49-F238E27FC236}">
                  <a16:creationId xmlns:a16="http://schemas.microsoft.com/office/drawing/2014/main" id="{DA000239-F12E-4884-A61B-38D4E7D8E39D}"/>
                </a:ext>
              </a:extLst>
            </p:cNvPr>
            <p:cNvPicPr/>
            <p:nvPr/>
          </p:nvPicPr>
          <p:blipFill>
            <a:blip r:embed="rId28" cstate="print"/>
            <a:stretch>
              <a:fillRect/>
            </a:stretch>
          </p:blipFill>
          <p:spPr>
            <a:xfrm>
              <a:off x="6092324" y="4015828"/>
              <a:ext cx="89756" cy="109626"/>
            </a:xfrm>
            <a:prstGeom prst="rect">
              <a:avLst/>
            </a:prstGeom>
          </p:spPr>
        </p:pic>
        <p:sp>
          <p:nvSpPr>
            <p:cNvPr id="199" name="object 49">
              <a:extLst>
                <a:ext uri="{FF2B5EF4-FFF2-40B4-BE49-F238E27FC236}">
                  <a16:creationId xmlns:a16="http://schemas.microsoft.com/office/drawing/2014/main" id="{2DB77CBA-3A3A-40FB-BE64-A0EFD1A20EFC}"/>
                </a:ext>
              </a:extLst>
            </p:cNvPr>
            <p:cNvSpPr/>
            <p:nvPr/>
          </p:nvSpPr>
          <p:spPr>
            <a:xfrm>
              <a:off x="5777037" y="4182926"/>
              <a:ext cx="0" cy="375285"/>
            </a:xfrm>
            <a:custGeom>
              <a:avLst/>
              <a:gdLst/>
              <a:ahLst/>
              <a:cxnLst/>
              <a:rect l="l" t="t" r="r" b="b"/>
              <a:pathLst>
                <a:path h="375285">
                  <a:moveTo>
                    <a:pt x="0" y="375212"/>
                  </a:moveTo>
                  <a:lnTo>
                    <a:pt x="0" y="0"/>
                  </a:lnTo>
                </a:path>
              </a:pathLst>
            </a:custGeom>
            <a:ln w="3175">
              <a:solidFill>
                <a:srgbClr val="0000FF"/>
              </a:solidFill>
            </a:ln>
          </p:spPr>
          <p:txBody>
            <a:bodyPr wrap="square" lIns="0" tIns="0" rIns="0" bIns="0" rtlCol="0"/>
            <a:lstStyle/>
            <a:p>
              <a:endParaRPr/>
            </a:p>
          </p:txBody>
        </p:sp>
        <p:sp>
          <p:nvSpPr>
            <p:cNvPr id="200" name="object 50">
              <a:extLst>
                <a:ext uri="{FF2B5EF4-FFF2-40B4-BE49-F238E27FC236}">
                  <a16:creationId xmlns:a16="http://schemas.microsoft.com/office/drawing/2014/main" id="{C9EAD24F-474C-44DC-9848-E312354E1336}"/>
                </a:ext>
              </a:extLst>
            </p:cNvPr>
            <p:cNvSpPr/>
            <p:nvPr/>
          </p:nvSpPr>
          <p:spPr>
            <a:xfrm>
              <a:off x="5765628" y="4172419"/>
              <a:ext cx="22860" cy="396875"/>
            </a:xfrm>
            <a:custGeom>
              <a:avLst/>
              <a:gdLst/>
              <a:ahLst/>
              <a:cxnLst/>
              <a:rect l="l" t="t" r="r" b="b"/>
              <a:pathLst>
                <a:path w="22860" h="396875">
                  <a:moveTo>
                    <a:pt x="0" y="0"/>
                  </a:moveTo>
                  <a:lnTo>
                    <a:pt x="0" y="396352"/>
                  </a:lnTo>
                  <a:lnTo>
                    <a:pt x="22819" y="379769"/>
                  </a:lnTo>
                  <a:lnTo>
                    <a:pt x="22819" y="16583"/>
                  </a:lnTo>
                  <a:lnTo>
                    <a:pt x="0" y="0"/>
                  </a:lnTo>
                  <a:close/>
                </a:path>
              </a:pathLst>
            </a:custGeom>
            <a:solidFill>
              <a:srgbClr val="0000FF"/>
            </a:solidFill>
          </p:spPr>
          <p:txBody>
            <a:bodyPr wrap="square" lIns="0" tIns="0" rIns="0" bIns="0" rtlCol="0"/>
            <a:lstStyle/>
            <a:p>
              <a:endParaRPr/>
            </a:p>
          </p:txBody>
        </p:sp>
        <p:sp>
          <p:nvSpPr>
            <p:cNvPr id="201" name="object 51">
              <a:extLst>
                <a:ext uri="{FF2B5EF4-FFF2-40B4-BE49-F238E27FC236}">
                  <a16:creationId xmlns:a16="http://schemas.microsoft.com/office/drawing/2014/main" id="{780CC6F8-98F2-4211-81AC-32902A349A16}"/>
                </a:ext>
              </a:extLst>
            </p:cNvPr>
            <p:cNvSpPr/>
            <p:nvPr/>
          </p:nvSpPr>
          <p:spPr>
            <a:xfrm>
              <a:off x="5834086" y="4224321"/>
              <a:ext cx="0" cy="292735"/>
            </a:xfrm>
            <a:custGeom>
              <a:avLst/>
              <a:gdLst/>
              <a:ahLst/>
              <a:cxnLst/>
              <a:rect l="l" t="t" r="r" b="b"/>
              <a:pathLst>
                <a:path h="292735">
                  <a:moveTo>
                    <a:pt x="0" y="292422"/>
                  </a:moveTo>
                  <a:lnTo>
                    <a:pt x="0" y="0"/>
                  </a:lnTo>
                </a:path>
              </a:pathLst>
            </a:custGeom>
            <a:ln w="3175">
              <a:solidFill>
                <a:srgbClr val="0000FF"/>
              </a:solidFill>
            </a:ln>
          </p:spPr>
          <p:txBody>
            <a:bodyPr wrap="square" lIns="0" tIns="0" rIns="0" bIns="0" rtlCol="0"/>
            <a:lstStyle/>
            <a:p>
              <a:endParaRPr/>
            </a:p>
          </p:txBody>
        </p:sp>
        <p:sp>
          <p:nvSpPr>
            <p:cNvPr id="202" name="object 52">
              <a:extLst>
                <a:ext uri="{FF2B5EF4-FFF2-40B4-BE49-F238E27FC236}">
                  <a16:creationId xmlns:a16="http://schemas.microsoft.com/office/drawing/2014/main" id="{B20DD980-1438-4933-829E-D4C6AA0BE3E5}"/>
                </a:ext>
              </a:extLst>
            </p:cNvPr>
            <p:cNvSpPr/>
            <p:nvPr/>
          </p:nvSpPr>
          <p:spPr>
            <a:xfrm>
              <a:off x="5822676" y="4221992"/>
              <a:ext cx="22860" cy="297180"/>
            </a:xfrm>
            <a:custGeom>
              <a:avLst/>
              <a:gdLst/>
              <a:ahLst/>
              <a:cxnLst/>
              <a:rect l="l" t="t" r="r" b="b"/>
              <a:pathLst>
                <a:path w="22860" h="297179">
                  <a:moveTo>
                    <a:pt x="22819" y="0"/>
                  </a:moveTo>
                  <a:lnTo>
                    <a:pt x="0" y="0"/>
                  </a:lnTo>
                  <a:lnTo>
                    <a:pt x="0" y="297030"/>
                  </a:lnTo>
                  <a:lnTo>
                    <a:pt x="22819" y="297030"/>
                  </a:lnTo>
                  <a:lnTo>
                    <a:pt x="22819" y="0"/>
                  </a:lnTo>
                  <a:close/>
                </a:path>
              </a:pathLst>
            </a:custGeom>
            <a:solidFill>
              <a:srgbClr val="0000FF"/>
            </a:solidFill>
          </p:spPr>
          <p:txBody>
            <a:bodyPr wrap="square" lIns="0" tIns="0" rIns="0" bIns="0" rtlCol="0"/>
            <a:lstStyle/>
            <a:p>
              <a:endParaRPr/>
            </a:p>
          </p:txBody>
        </p:sp>
        <p:sp>
          <p:nvSpPr>
            <p:cNvPr id="203" name="object 53">
              <a:extLst>
                <a:ext uri="{FF2B5EF4-FFF2-40B4-BE49-F238E27FC236}">
                  <a16:creationId xmlns:a16="http://schemas.microsoft.com/office/drawing/2014/main" id="{D3A4F0C1-CCC7-4545-B90B-70FA8D89F738}"/>
                </a:ext>
              </a:extLst>
            </p:cNvPr>
            <p:cNvSpPr/>
            <p:nvPr/>
          </p:nvSpPr>
          <p:spPr>
            <a:xfrm>
              <a:off x="5779319" y="4560417"/>
              <a:ext cx="357505" cy="117475"/>
            </a:xfrm>
            <a:custGeom>
              <a:avLst/>
              <a:gdLst/>
              <a:ahLst/>
              <a:cxnLst/>
              <a:rect l="l" t="t" r="r" b="b"/>
              <a:pathLst>
                <a:path w="357504" h="117475">
                  <a:moveTo>
                    <a:pt x="357249" y="117475"/>
                  </a:moveTo>
                  <a:lnTo>
                    <a:pt x="0" y="0"/>
                  </a:lnTo>
                </a:path>
              </a:pathLst>
            </a:custGeom>
            <a:ln w="3175">
              <a:solidFill>
                <a:srgbClr val="0000FF"/>
              </a:solidFill>
            </a:ln>
          </p:spPr>
          <p:txBody>
            <a:bodyPr wrap="square" lIns="0" tIns="0" rIns="0" bIns="0" rtlCol="0"/>
            <a:lstStyle/>
            <a:p>
              <a:endParaRPr/>
            </a:p>
          </p:txBody>
        </p:sp>
        <p:sp>
          <p:nvSpPr>
            <p:cNvPr id="204" name="object 54">
              <a:extLst>
                <a:ext uri="{FF2B5EF4-FFF2-40B4-BE49-F238E27FC236}">
                  <a16:creationId xmlns:a16="http://schemas.microsoft.com/office/drawing/2014/main" id="{0142B9C0-B9E4-4F30-A697-478ED53FBE96}"/>
                </a:ext>
              </a:extLst>
            </p:cNvPr>
            <p:cNvSpPr/>
            <p:nvPr/>
          </p:nvSpPr>
          <p:spPr>
            <a:xfrm>
              <a:off x="5765628" y="4552189"/>
              <a:ext cx="377825" cy="139065"/>
            </a:xfrm>
            <a:custGeom>
              <a:avLst/>
              <a:gdLst/>
              <a:ahLst/>
              <a:cxnLst/>
              <a:rect l="l" t="t" r="r" b="b"/>
              <a:pathLst>
                <a:path w="377825" h="139064">
                  <a:moveTo>
                    <a:pt x="22819" y="0"/>
                  </a:moveTo>
                  <a:lnTo>
                    <a:pt x="0" y="16583"/>
                  </a:lnTo>
                  <a:lnTo>
                    <a:pt x="377533" y="138995"/>
                  </a:lnTo>
                  <a:lnTo>
                    <a:pt x="368785" y="112285"/>
                  </a:lnTo>
                  <a:lnTo>
                    <a:pt x="22819" y="0"/>
                  </a:lnTo>
                  <a:close/>
                </a:path>
              </a:pathLst>
            </a:custGeom>
            <a:solidFill>
              <a:srgbClr val="0000FF"/>
            </a:solidFill>
          </p:spPr>
          <p:txBody>
            <a:bodyPr wrap="square" lIns="0" tIns="0" rIns="0" bIns="0" rtlCol="0"/>
            <a:lstStyle/>
            <a:p>
              <a:endParaRPr/>
            </a:p>
          </p:txBody>
        </p:sp>
        <p:sp>
          <p:nvSpPr>
            <p:cNvPr id="205" name="object 55">
              <a:extLst>
                <a:ext uri="{FF2B5EF4-FFF2-40B4-BE49-F238E27FC236}">
                  <a16:creationId xmlns:a16="http://schemas.microsoft.com/office/drawing/2014/main" id="{9C97A66A-67E5-4147-9C3C-A8CBFF217B0A}"/>
                </a:ext>
              </a:extLst>
            </p:cNvPr>
            <p:cNvSpPr/>
            <p:nvPr/>
          </p:nvSpPr>
          <p:spPr>
            <a:xfrm>
              <a:off x="6141132" y="4372811"/>
              <a:ext cx="219075" cy="302895"/>
            </a:xfrm>
            <a:custGeom>
              <a:avLst/>
              <a:gdLst/>
              <a:ahLst/>
              <a:cxnLst/>
              <a:rect l="l" t="t" r="r" b="b"/>
              <a:pathLst>
                <a:path w="219075" h="302895">
                  <a:moveTo>
                    <a:pt x="218938" y="0"/>
                  </a:moveTo>
                  <a:lnTo>
                    <a:pt x="0" y="302802"/>
                  </a:lnTo>
                </a:path>
              </a:pathLst>
            </a:custGeom>
            <a:ln w="3175">
              <a:solidFill>
                <a:srgbClr val="0000FF"/>
              </a:solidFill>
            </a:ln>
          </p:spPr>
          <p:txBody>
            <a:bodyPr wrap="square" lIns="0" tIns="0" rIns="0" bIns="0" rtlCol="0"/>
            <a:lstStyle/>
            <a:p>
              <a:endParaRPr/>
            </a:p>
          </p:txBody>
        </p:sp>
        <p:sp>
          <p:nvSpPr>
            <p:cNvPr id="206" name="object 56">
              <a:extLst>
                <a:ext uri="{FF2B5EF4-FFF2-40B4-BE49-F238E27FC236}">
                  <a16:creationId xmlns:a16="http://schemas.microsoft.com/office/drawing/2014/main" id="{985BFC28-2058-44B4-BB9E-54E9CE4D21ED}"/>
                </a:ext>
              </a:extLst>
            </p:cNvPr>
            <p:cNvSpPr/>
            <p:nvPr/>
          </p:nvSpPr>
          <p:spPr>
            <a:xfrm>
              <a:off x="6134413" y="4370532"/>
              <a:ext cx="242570" cy="320675"/>
            </a:xfrm>
            <a:custGeom>
              <a:avLst/>
              <a:gdLst/>
              <a:ahLst/>
              <a:cxnLst/>
              <a:rect l="l" t="t" r="r" b="b"/>
              <a:pathLst>
                <a:path w="242570" h="320675">
                  <a:moveTo>
                    <a:pt x="242138" y="0"/>
                  </a:moveTo>
                  <a:lnTo>
                    <a:pt x="213867" y="0"/>
                  </a:lnTo>
                  <a:lnTo>
                    <a:pt x="0" y="293941"/>
                  </a:lnTo>
                  <a:lnTo>
                    <a:pt x="8747" y="320651"/>
                  </a:lnTo>
                  <a:lnTo>
                    <a:pt x="242138" y="0"/>
                  </a:lnTo>
                  <a:close/>
                </a:path>
              </a:pathLst>
            </a:custGeom>
            <a:solidFill>
              <a:srgbClr val="0000FF"/>
            </a:solidFill>
          </p:spPr>
          <p:txBody>
            <a:bodyPr wrap="square" lIns="0" tIns="0" rIns="0" bIns="0" rtlCol="0"/>
            <a:lstStyle/>
            <a:p>
              <a:endParaRPr/>
            </a:p>
          </p:txBody>
        </p:sp>
        <p:sp>
          <p:nvSpPr>
            <p:cNvPr id="207" name="object 57">
              <a:extLst>
                <a:ext uri="{FF2B5EF4-FFF2-40B4-BE49-F238E27FC236}">
                  <a16:creationId xmlns:a16="http://schemas.microsoft.com/office/drawing/2014/main" id="{0E809C21-F8E1-4431-B9CF-DD6FAD6D13DF}"/>
                </a:ext>
              </a:extLst>
            </p:cNvPr>
            <p:cNvSpPr/>
            <p:nvPr/>
          </p:nvSpPr>
          <p:spPr>
            <a:xfrm>
              <a:off x="6201603" y="4148747"/>
              <a:ext cx="158750" cy="219710"/>
            </a:xfrm>
            <a:custGeom>
              <a:avLst/>
              <a:gdLst/>
              <a:ahLst/>
              <a:cxnLst/>
              <a:rect l="l" t="t" r="r" b="b"/>
              <a:pathLst>
                <a:path w="158750" h="219710">
                  <a:moveTo>
                    <a:pt x="0" y="0"/>
                  </a:moveTo>
                  <a:lnTo>
                    <a:pt x="158467" y="219506"/>
                  </a:lnTo>
                </a:path>
              </a:pathLst>
            </a:custGeom>
            <a:ln w="3175">
              <a:solidFill>
                <a:srgbClr val="0000FF"/>
              </a:solidFill>
            </a:ln>
          </p:spPr>
          <p:txBody>
            <a:bodyPr wrap="square" lIns="0" tIns="0" rIns="0" bIns="0" rtlCol="0"/>
            <a:lstStyle/>
            <a:p>
              <a:endParaRPr/>
            </a:p>
          </p:txBody>
        </p:sp>
        <p:sp>
          <p:nvSpPr>
            <p:cNvPr id="208" name="object 58">
              <a:extLst>
                <a:ext uri="{FF2B5EF4-FFF2-40B4-BE49-F238E27FC236}">
                  <a16:creationId xmlns:a16="http://schemas.microsoft.com/office/drawing/2014/main" id="{9E9EEF0F-C296-4C1F-B63F-59F46B0FE08E}"/>
                </a:ext>
              </a:extLst>
            </p:cNvPr>
            <p:cNvSpPr/>
            <p:nvPr/>
          </p:nvSpPr>
          <p:spPr>
            <a:xfrm>
              <a:off x="6190067" y="4139759"/>
              <a:ext cx="186690" cy="231140"/>
            </a:xfrm>
            <a:custGeom>
              <a:avLst/>
              <a:gdLst/>
              <a:ahLst/>
              <a:cxnLst/>
              <a:rect l="l" t="t" r="r" b="b"/>
              <a:pathLst>
                <a:path w="186689" h="231139">
                  <a:moveTo>
                    <a:pt x="18509" y="0"/>
                  </a:moveTo>
                  <a:lnTo>
                    <a:pt x="0" y="13418"/>
                  </a:lnTo>
                  <a:lnTo>
                    <a:pt x="158213" y="230773"/>
                  </a:lnTo>
                  <a:lnTo>
                    <a:pt x="186484" y="230773"/>
                  </a:lnTo>
                  <a:lnTo>
                    <a:pt x="18509" y="0"/>
                  </a:lnTo>
                  <a:close/>
                </a:path>
              </a:pathLst>
            </a:custGeom>
            <a:solidFill>
              <a:srgbClr val="0000FF"/>
            </a:solidFill>
          </p:spPr>
          <p:txBody>
            <a:bodyPr wrap="square" lIns="0" tIns="0" rIns="0" bIns="0" rtlCol="0"/>
            <a:lstStyle/>
            <a:p>
              <a:endParaRPr/>
            </a:p>
          </p:txBody>
        </p:sp>
        <p:sp>
          <p:nvSpPr>
            <p:cNvPr id="209" name="object 59">
              <a:extLst>
                <a:ext uri="{FF2B5EF4-FFF2-40B4-BE49-F238E27FC236}">
                  <a16:creationId xmlns:a16="http://schemas.microsoft.com/office/drawing/2014/main" id="{DCBD0A35-8C38-462C-BDC5-335E3DD07C90}"/>
                </a:ext>
              </a:extLst>
            </p:cNvPr>
            <p:cNvSpPr/>
            <p:nvPr/>
          </p:nvSpPr>
          <p:spPr>
            <a:xfrm>
              <a:off x="5779319" y="4089250"/>
              <a:ext cx="277495" cy="91440"/>
            </a:xfrm>
            <a:custGeom>
              <a:avLst/>
              <a:gdLst/>
              <a:ahLst/>
              <a:cxnLst/>
              <a:rect l="l" t="t" r="r" b="b"/>
              <a:pathLst>
                <a:path w="277495" h="91439">
                  <a:moveTo>
                    <a:pt x="0" y="91397"/>
                  </a:moveTo>
                  <a:lnTo>
                    <a:pt x="277381" y="0"/>
                  </a:lnTo>
                </a:path>
              </a:pathLst>
            </a:custGeom>
            <a:ln w="3175">
              <a:solidFill>
                <a:srgbClr val="0000FF"/>
              </a:solidFill>
            </a:ln>
          </p:spPr>
          <p:txBody>
            <a:bodyPr wrap="square" lIns="0" tIns="0" rIns="0" bIns="0" rtlCol="0"/>
            <a:lstStyle/>
            <a:p>
              <a:endParaRPr/>
            </a:p>
          </p:txBody>
        </p:sp>
        <p:sp>
          <p:nvSpPr>
            <p:cNvPr id="210" name="object 60">
              <a:extLst>
                <a:ext uri="{FF2B5EF4-FFF2-40B4-BE49-F238E27FC236}">
                  <a16:creationId xmlns:a16="http://schemas.microsoft.com/office/drawing/2014/main" id="{159E9F6D-1A82-4A35-AA15-ABE3C2C254D4}"/>
                </a:ext>
              </a:extLst>
            </p:cNvPr>
            <p:cNvSpPr/>
            <p:nvPr/>
          </p:nvSpPr>
          <p:spPr>
            <a:xfrm>
              <a:off x="5765628" y="4078363"/>
              <a:ext cx="297180" cy="111125"/>
            </a:xfrm>
            <a:custGeom>
              <a:avLst/>
              <a:gdLst/>
              <a:ahLst/>
              <a:cxnLst/>
              <a:rect l="l" t="t" r="r" b="b"/>
              <a:pathLst>
                <a:path w="297179" h="111125">
                  <a:moveTo>
                    <a:pt x="289932" y="0"/>
                  </a:moveTo>
                  <a:lnTo>
                    <a:pt x="0" y="94056"/>
                  </a:lnTo>
                  <a:lnTo>
                    <a:pt x="22819" y="110639"/>
                  </a:lnTo>
                  <a:lnTo>
                    <a:pt x="296904" y="21646"/>
                  </a:lnTo>
                  <a:lnTo>
                    <a:pt x="289932" y="0"/>
                  </a:lnTo>
                  <a:close/>
                </a:path>
              </a:pathLst>
            </a:custGeom>
            <a:solidFill>
              <a:srgbClr val="0000FF"/>
            </a:solidFill>
          </p:spPr>
          <p:txBody>
            <a:bodyPr wrap="square" lIns="0" tIns="0" rIns="0" bIns="0" rtlCol="0"/>
            <a:lstStyle/>
            <a:p>
              <a:endParaRPr/>
            </a:p>
          </p:txBody>
        </p:sp>
        <p:pic>
          <p:nvPicPr>
            <p:cNvPr id="211" name="object 61">
              <a:extLst>
                <a:ext uri="{FF2B5EF4-FFF2-40B4-BE49-F238E27FC236}">
                  <a16:creationId xmlns:a16="http://schemas.microsoft.com/office/drawing/2014/main" id="{74187D5B-EE2B-4479-ABB6-2B6A103BF18B}"/>
                </a:ext>
              </a:extLst>
            </p:cNvPr>
            <p:cNvPicPr/>
            <p:nvPr/>
          </p:nvPicPr>
          <p:blipFill>
            <a:blip r:embed="rId29" cstate="print"/>
            <a:stretch>
              <a:fillRect/>
            </a:stretch>
          </p:blipFill>
          <p:spPr>
            <a:xfrm>
              <a:off x="6239509" y="3919493"/>
              <a:ext cx="66936" cy="109373"/>
            </a:xfrm>
            <a:prstGeom prst="rect">
              <a:avLst/>
            </a:prstGeom>
          </p:spPr>
        </p:pic>
        <p:pic>
          <p:nvPicPr>
            <p:cNvPr id="212" name="object 62">
              <a:extLst>
                <a:ext uri="{FF2B5EF4-FFF2-40B4-BE49-F238E27FC236}">
                  <a16:creationId xmlns:a16="http://schemas.microsoft.com/office/drawing/2014/main" id="{72C7A5A3-51FA-4D41-81CE-1AE3508E8760}"/>
                </a:ext>
              </a:extLst>
            </p:cNvPr>
            <p:cNvPicPr/>
            <p:nvPr/>
          </p:nvPicPr>
          <p:blipFill>
            <a:blip r:embed="rId30" cstate="print"/>
            <a:stretch>
              <a:fillRect/>
            </a:stretch>
          </p:blipFill>
          <p:spPr>
            <a:xfrm>
              <a:off x="6167628" y="4687260"/>
              <a:ext cx="72768" cy="112664"/>
            </a:xfrm>
            <a:prstGeom prst="rect">
              <a:avLst/>
            </a:prstGeom>
          </p:spPr>
        </p:pic>
        <p:pic>
          <p:nvPicPr>
            <p:cNvPr id="213" name="object 63">
              <a:extLst>
                <a:ext uri="{FF2B5EF4-FFF2-40B4-BE49-F238E27FC236}">
                  <a16:creationId xmlns:a16="http://schemas.microsoft.com/office/drawing/2014/main" id="{2AA6CBAA-0D75-4453-AEBC-CC96AACA696E}"/>
                </a:ext>
              </a:extLst>
            </p:cNvPr>
            <p:cNvPicPr/>
            <p:nvPr/>
          </p:nvPicPr>
          <p:blipFill>
            <a:blip r:embed="rId31" cstate="print"/>
            <a:stretch>
              <a:fillRect/>
            </a:stretch>
          </p:blipFill>
          <p:spPr>
            <a:xfrm>
              <a:off x="5707185" y="4631814"/>
              <a:ext cx="80628" cy="109626"/>
            </a:xfrm>
            <a:prstGeom prst="rect">
              <a:avLst/>
            </a:prstGeom>
          </p:spPr>
        </p:pic>
        <p:pic>
          <p:nvPicPr>
            <p:cNvPr id="214" name="object 64">
              <a:extLst>
                <a:ext uri="{FF2B5EF4-FFF2-40B4-BE49-F238E27FC236}">
                  <a16:creationId xmlns:a16="http://schemas.microsoft.com/office/drawing/2014/main" id="{9150AA3C-08F5-4717-9630-902F17FB5159}"/>
                </a:ext>
              </a:extLst>
            </p:cNvPr>
            <p:cNvPicPr/>
            <p:nvPr/>
          </p:nvPicPr>
          <p:blipFill>
            <a:blip r:embed="rId21" cstate="print"/>
            <a:stretch>
              <a:fillRect/>
            </a:stretch>
          </p:blipFill>
          <p:spPr>
            <a:xfrm>
              <a:off x="5655081" y="4081654"/>
              <a:ext cx="71373" cy="110639"/>
            </a:xfrm>
            <a:prstGeom prst="rect">
              <a:avLst/>
            </a:prstGeom>
          </p:spPr>
        </p:pic>
      </p:grpSp>
      <p:pic>
        <p:nvPicPr>
          <p:cNvPr id="215" name="object 65">
            <a:extLst>
              <a:ext uri="{FF2B5EF4-FFF2-40B4-BE49-F238E27FC236}">
                <a16:creationId xmlns:a16="http://schemas.microsoft.com/office/drawing/2014/main" id="{4B3E5C0D-4E18-41E6-9CF9-91155B754E0F}"/>
              </a:ext>
            </a:extLst>
          </p:cNvPr>
          <p:cNvPicPr/>
          <p:nvPr/>
        </p:nvPicPr>
        <p:blipFill>
          <a:blip r:embed="rId32" cstate="print"/>
          <a:stretch>
            <a:fillRect/>
          </a:stretch>
        </p:blipFill>
        <p:spPr>
          <a:xfrm>
            <a:off x="8078453" y="2630615"/>
            <a:ext cx="1447759" cy="300490"/>
          </a:xfrm>
          <a:prstGeom prst="rect">
            <a:avLst/>
          </a:prstGeom>
        </p:spPr>
      </p:pic>
      <p:grpSp>
        <p:nvGrpSpPr>
          <p:cNvPr id="216" name="object 66">
            <a:extLst>
              <a:ext uri="{FF2B5EF4-FFF2-40B4-BE49-F238E27FC236}">
                <a16:creationId xmlns:a16="http://schemas.microsoft.com/office/drawing/2014/main" id="{ED1F2F7C-C5CB-4C91-9603-2FF19868CA7A}"/>
              </a:ext>
            </a:extLst>
          </p:cNvPr>
          <p:cNvGrpSpPr/>
          <p:nvPr/>
        </p:nvGrpSpPr>
        <p:grpSpPr>
          <a:xfrm>
            <a:off x="6821415" y="250144"/>
            <a:ext cx="610870" cy="807085"/>
            <a:chOff x="4025708" y="3931772"/>
            <a:chExt cx="610870" cy="807085"/>
          </a:xfrm>
        </p:grpSpPr>
        <p:pic>
          <p:nvPicPr>
            <p:cNvPr id="217" name="object 67">
              <a:extLst>
                <a:ext uri="{FF2B5EF4-FFF2-40B4-BE49-F238E27FC236}">
                  <a16:creationId xmlns:a16="http://schemas.microsoft.com/office/drawing/2014/main" id="{5DB78F28-0294-4DA1-AEE9-74E911432E06}"/>
                </a:ext>
              </a:extLst>
            </p:cNvPr>
            <p:cNvPicPr/>
            <p:nvPr/>
          </p:nvPicPr>
          <p:blipFill>
            <a:blip r:embed="rId33" cstate="print"/>
            <a:stretch>
              <a:fillRect/>
            </a:stretch>
          </p:blipFill>
          <p:spPr>
            <a:xfrm>
              <a:off x="4352376" y="4063299"/>
              <a:ext cx="89768" cy="109626"/>
            </a:xfrm>
            <a:prstGeom prst="rect">
              <a:avLst/>
            </a:prstGeom>
          </p:spPr>
        </p:pic>
        <p:pic>
          <p:nvPicPr>
            <p:cNvPr id="218" name="object 68">
              <a:extLst>
                <a:ext uri="{FF2B5EF4-FFF2-40B4-BE49-F238E27FC236}">
                  <a16:creationId xmlns:a16="http://schemas.microsoft.com/office/drawing/2014/main" id="{C49C6E37-BCA2-4816-92D5-2E41A52BDFE4}"/>
                </a:ext>
              </a:extLst>
            </p:cNvPr>
            <p:cNvPicPr/>
            <p:nvPr/>
          </p:nvPicPr>
          <p:blipFill>
            <a:blip r:embed="rId34" cstate="print"/>
            <a:stretch>
              <a:fillRect/>
            </a:stretch>
          </p:blipFill>
          <p:spPr>
            <a:xfrm>
              <a:off x="4352376" y="3931772"/>
              <a:ext cx="84976" cy="109753"/>
            </a:xfrm>
            <a:prstGeom prst="rect">
              <a:avLst/>
            </a:prstGeom>
          </p:spPr>
        </p:pic>
        <p:sp>
          <p:nvSpPr>
            <p:cNvPr id="219" name="object 69">
              <a:extLst>
                <a:ext uri="{FF2B5EF4-FFF2-40B4-BE49-F238E27FC236}">
                  <a16:creationId xmlns:a16="http://schemas.microsoft.com/office/drawing/2014/main" id="{0FCE2E49-E5E0-42A4-ABBC-28FCDD14CC57}"/>
                </a:ext>
              </a:extLst>
            </p:cNvPr>
            <p:cNvSpPr/>
            <p:nvPr/>
          </p:nvSpPr>
          <p:spPr>
            <a:xfrm>
              <a:off x="4037117" y="4230397"/>
              <a:ext cx="0" cy="375285"/>
            </a:xfrm>
            <a:custGeom>
              <a:avLst/>
              <a:gdLst/>
              <a:ahLst/>
              <a:cxnLst/>
              <a:rect l="l" t="t" r="r" b="b"/>
              <a:pathLst>
                <a:path h="375285">
                  <a:moveTo>
                    <a:pt x="0" y="375212"/>
                  </a:moveTo>
                  <a:lnTo>
                    <a:pt x="0" y="0"/>
                  </a:lnTo>
                </a:path>
              </a:pathLst>
            </a:custGeom>
            <a:ln w="3175">
              <a:solidFill>
                <a:srgbClr val="000000"/>
              </a:solidFill>
            </a:ln>
          </p:spPr>
          <p:txBody>
            <a:bodyPr wrap="square" lIns="0" tIns="0" rIns="0" bIns="0" rtlCol="0"/>
            <a:lstStyle/>
            <a:p>
              <a:endParaRPr/>
            </a:p>
          </p:txBody>
        </p:sp>
        <p:sp>
          <p:nvSpPr>
            <p:cNvPr id="220" name="object 70">
              <a:extLst>
                <a:ext uri="{FF2B5EF4-FFF2-40B4-BE49-F238E27FC236}">
                  <a16:creationId xmlns:a16="http://schemas.microsoft.com/office/drawing/2014/main" id="{CBE94D15-9E58-4DCF-9F35-7FD75D382A9C}"/>
                </a:ext>
              </a:extLst>
            </p:cNvPr>
            <p:cNvSpPr/>
            <p:nvPr/>
          </p:nvSpPr>
          <p:spPr>
            <a:xfrm>
              <a:off x="4025708" y="4219890"/>
              <a:ext cx="22860" cy="396875"/>
            </a:xfrm>
            <a:custGeom>
              <a:avLst/>
              <a:gdLst/>
              <a:ahLst/>
              <a:cxnLst/>
              <a:rect l="l" t="t" r="r" b="b"/>
              <a:pathLst>
                <a:path w="22860" h="396875">
                  <a:moveTo>
                    <a:pt x="0" y="0"/>
                  </a:moveTo>
                  <a:lnTo>
                    <a:pt x="0" y="396352"/>
                  </a:lnTo>
                  <a:lnTo>
                    <a:pt x="22819" y="379769"/>
                  </a:lnTo>
                  <a:lnTo>
                    <a:pt x="22819" y="16583"/>
                  </a:lnTo>
                  <a:lnTo>
                    <a:pt x="0" y="0"/>
                  </a:lnTo>
                  <a:close/>
                </a:path>
              </a:pathLst>
            </a:custGeom>
            <a:solidFill>
              <a:srgbClr val="000000"/>
            </a:solidFill>
          </p:spPr>
          <p:txBody>
            <a:bodyPr wrap="square" lIns="0" tIns="0" rIns="0" bIns="0" rtlCol="0"/>
            <a:lstStyle/>
            <a:p>
              <a:endParaRPr/>
            </a:p>
          </p:txBody>
        </p:sp>
        <p:sp>
          <p:nvSpPr>
            <p:cNvPr id="221" name="object 71">
              <a:extLst>
                <a:ext uri="{FF2B5EF4-FFF2-40B4-BE49-F238E27FC236}">
                  <a16:creationId xmlns:a16="http://schemas.microsoft.com/office/drawing/2014/main" id="{9491E1FE-22C2-4C21-9341-9E0E5870AE48}"/>
                </a:ext>
              </a:extLst>
            </p:cNvPr>
            <p:cNvSpPr/>
            <p:nvPr/>
          </p:nvSpPr>
          <p:spPr>
            <a:xfrm>
              <a:off x="4094163" y="4271792"/>
              <a:ext cx="0" cy="292735"/>
            </a:xfrm>
            <a:custGeom>
              <a:avLst/>
              <a:gdLst/>
              <a:ahLst/>
              <a:cxnLst/>
              <a:rect l="l" t="t" r="r" b="b"/>
              <a:pathLst>
                <a:path h="292735">
                  <a:moveTo>
                    <a:pt x="0" y="292422"/>
                  </a:moveTo>
                  <a:lnTo>
                    <a:pt x="0" y="0"/>
                  </a:lnTo>
                </a:path>
              </a:pathLst>
            </a:custGeom>
            <a:ln w="3175">
              <a:solidFill>
                <a:srgbClr val="000000"/>
              </a:solidFill>
            </a:ln>
          </p:spPr>
          <p:txBody>
            <a:bodyPr wrap="square" lIns="0" tIns="0" rIns="0" bIns="0" rtlCol="0"/>
            <a:lstStyle/>
            <a:p>
              <a:endParaRPr/>
            </a:p>
          </p:txBody>
        </p:sp>
        <p:sp>
          <p:nvSpPr>
            <p:cNvPr id="222" name="object 72">
              <a:extLst>
                <a:ext uri="{FF2B5EF4-FFF2-40B4-BE49-F238E27FC236}">
                  <a16:creationId xmlns:a16="http://schemas.microsoft.com/office/drawing/2014/main" id="{F40F1D16-034C-429A-8031-33D8B2F1A9E6}"/>
                </a:ext>
              </a:extLst>
            </p:cNvPr>
            <p:cNvSpPr/>
            <p:nvPr/>
          </p:nvSpPr>
          <p:spPr>
            <a:xfrm>
              <a:off x="4082756" y="4269463"/>
              <a:ext cx="22860" cy="297180"/>
            </a:xfrm>
            <a:custGeom>
              <a:avLst/>
              <a:gdLst/>
              <a:ahLst/>
              <a:cxnLst/>
              <a:rect l="l" t="t" r="r" b="b"/>
              <a:pathLst>
                <a:path w="22860" h="297179">
                  <a:moveTo>
                    <a:pt x="22819" y="0"/>
                  </a:moveTo>
                  <a:lnTo>
                    <a:pt x="0" y="0"/>
                  </a:lnTo>
                  <a:lnTo>
                    <a:pt x="0" y="297030"/>
                  </a:lnTo>
                  <a:lnTo>
                    <a:pt x="22819" y="297030"/>
                  </a:lnTo>
                  <a:lnTo>
                    <a:pt x="22819" y="0"/>
                  </a:lnTo>
                  <a:close/>
                </a:path>
              </a:pathLst>
            </a:custGeom>
            <a:solidFill>
              <a:srgbClr val="000000"/>
            </a:solidFill>
          </p:spPr>
          <p:txBody>
            <a:bodyPr wrap="square" lIns="0" tIns="0" rIns="0" bIns="0" rtlCol="0"/>
            <a:lstStyle/>
            <a:p>
              <a:endParaRPr/>
            </a:p>
          </p:txBody>
        </p:sp>
        <p:sp>
          <p:nvSpPr>
            <p:cNvPr id="223" name="object 73">
              <a:extLst>
                <a:ext uri="{FF2B5EF4-FFF2-40B4-BE49-F238E27FC236}">
                  <a16:creationId xmlns:a16="http://schemas.microsoft.com/office/drawing/2014/main" id="{E65EA66C-67F6-420C-B595-668D0AB344C4}"/>
                </a:ext>
              </a:extLst>
            </p:cNvPr>
            <p:cNvSpPr/>
            <p:nvPr/>
          </p:nvSpPr>
          <p:spPr>
            <a:xfrm>
              <a:off x="4039399" y="4607888"/>
              <a:ext cx="357505" cy="117475"/>
            </a:xfrm>
            <a:custGeom>
              <a:avLst/>
              <a:gdLst/>
              <a:ahLst/>
              <a:cxnLst/>
              <a:rect l="l" t="t" r="r" b="b"/>
              <a:pathLst>
                <a:path w="357504" h="117475">
                  <a:moveTo>
                    <a:pt x="357170" y="117475"/>
                  </a:moveTo>
                  <a:lnTo>
                    <a:pt x="0" y="0"/>
                  </a:lnTo>
                </a:path>
              </a:pathLst>
            </a:custGeom>
            <a:ln w="3175">
              <a:solidFill>
                <a:srgbClr val="000000"/>
              </a:solidFill>
            </a:ln>
          </p:spPr>
          <p:txBody>
            <a:bodyPr wrap="square" lIns="0" tIns="0" rIns="0" bIns="0" rtlCol="0"/>
            <a:lstStyle/>
            <a:p>
              <a:endParaRPr/>
            </a:p>
          </p:txBody>
        </p:sp>
        <p:sp>
          <p:nvSpPr>
            <p:cNvPr id="224" name="object 74">
              <a:extLst>
                <a:ext uri="{FF2B5EF4-FFF2-40B4-BE49-F238E27FC236}">
                  <a16:creationId xmlns:a16="http://schemas.microsoft.com/office/drawing/2014/main" id="{D6FA780A-47F7-4B38-BB20-2D19625A6874}"/>
                </a:ext>
              </a:extLst>
            </p:cNvPr>
            <p:cNvSpPr/>
            <p:nvPr/>
          </p:nvSpPr>
          <p:spPr>
            <a:xfrm>
              <a:off x="4025708" y="4599660"/>
              <a:ext cx="377825" cy="139065"/>
            </a:xfrm>
            <a:custGeom>
              <a:avLst/>
              <a:gdLst/>
              <a:ahLst/>
              <a:cxnLst/>
              <a:rect l="l" t="t" r="r" b="b"/>
              <a:pathLst>
                <a:path w="377825" h="139064">
                  <a:moveTo>
                    <a:pt x="22819" y="0"/>
                  </a:moveTo>
                  <a:lnTo>
                    <a:pt x="0" y="16583"/>
                  </a:lnTo>
                  <a:lnTo>
                    <a:pt x="377505" y="138995"/>
                  </a:lnTo>
                  <a:lnTo>
                    <a:pt x="368783" y="112285"/>
                  </a:lnTo>
                  <a:lnTo>
                    <a:pt x="22819" y="0"/>
                  </a:lnTo>
                  <a:close/>
                </a:path>
              </a:pathLst>
            </a:custGeom>
            <a:solidFill>
              <a:srgbClr val="000000"/>
            </a:solidFill>
          </p:spPr>
          <p:txBody>
            <a:bodyPr wrap="square" lIns="0" tIns="0" rIns="0" bIns="0" rtlCol="0"/>
            <a:lstStyle/>
            <a:p>
              <a:endParaRPr/>
            </a:p>
          </p:txBody>
        </p:sp>
        <p:sp>
          <p:nvSpPr>
            <p:cNvPr id="225" name="object 75">
              <a:extLst>
                <a:ext uri="{FF2B5EF4-FFF2-40B4-BE49-F238E27FC236}">
                  <a16:creationId xmlns:a16="http://schemas.microsoft.com/office/drawing/2014/main" id="{1B0D3DE1-91E6-453A-8217-5BA673096995}"/>
                </a:ext>
              </a:extLst>
            </p:cNvPr>
            <p:cNvSpPr/>
            <p:nvPr/>
          </p:nvSpPr>
          <p:spPr>
            <a:xfrm>
              <a:off x="4401134" y="4420282"/>
              <a:ext cx="219075" cy="302895"/>
            </a:xfrm>
            <a:custGeom>
              <a:avLst/>
              <a:gdLst/>
              <a:ahLst/>
              <a:cxnLst/>
              <a:rect l="l" t="t" r="r" b="b"/>
              <a:pathLst>
                <a:path w="219075" h="302895">
                  <a:moveTo>
                    <a:pt x="219002" y="0"/>
                  </a:moveTo>
                  <a:lnTo>
                    <a:pt x="0" y="302802"/>
                  </a:lnTo>
                </a:path>
              </a:pathLst>
            </a:custGeom>
            <a:ln w="3175">
              <a:solidFill>
                <a:srgbClr val="000000"/>
              </a:solidFill>
            </a:ln>
          </p:spPr>
          <p:txBody>
            <a:bodyPr wrap="square" lIns="0" tIns="0" rIns="0" bIns="0" rtlCol="0"/>
            <a:lstStyle/>
            <a:p>
              <a:endParaRPr/>
            </a:p>
          </p:txBody>
        </p:sp>
        <p:sp>
          <p:nvSpPr>
            <p:cNvPr id="226" name="object 76">
              <a:extLst>
                <a:ext uri="{FF2B5EF4-FFF2-40B4-BE49-F238E27FC236}">
                  <a16:creationId xmlns:a16="http://schemas.microsoft.com/office/drawing/2014/main" id="{0793E61F-826F-4222-BE90-BA99B079779A}"/>
                </a:ext>
              </a:extLst>
            </p:cNvPr>
            <p:cNvSpPr/>
            <p:nvPr/>
          </p:nvSpPr>
          <p:spPr>
            <a:xfrm>
              <a:off x="4394491" y="4418003"/>
              <a:ext cx="242570" cy="320675"/>
            </a:xfrm>
            <a:custGeom>
              <a:avLst/>
              <a:gdLst/>
              <a:ahLst/>
              <a:cxnLst/>
              <a:rect l="l" t="t" r="r" b="b"/>
              <a:pathLst>
                <a:path w="242570" h="320675">
                  <a:moveTo>
                    <a:pt x="242036" y="0"/>
                  </a:moveTo>
                  <a:lnTo>
                    <a:pt x="213829" y="0"/>
                  </a:lnTo>
                  <a:lnTo>
                    <a:pt x="0" y="293941"/>
                  </a:lnTo>
                  <a:lnTo>
                    <a:pt x="8722" y="320651"/>
                  </a:lnTo>
                  <a:lnTo>
                    <a:pt x="242036" y="0"/>
                  </a:lnTo>
                  <a:close/>
                </a:path>
              </a:pathLst>
            </a:custGeom>
            <a:solidFill>
              <a:srgbClr val="000000"/>
            </a:solidFill>
          </p:spPr>
          <p:txBody>
            <a:bodyPr wrap="square" lIns="0" tIns="0" rIns="0" bIns="0" rtlCol="0"/>
            <a:lstStyle/>
            <a:p>
              <a:endParaRPr/>
            </a:p>
          </p:txBody>
        </p:sp>
        <p:pic>
          <p:nvPicPr>
            <p:cNvPr id="227" name="object 77">
              <a:extLst>
                <a:ext uri="{FF2B5EF4-FFF2-40B4-BE49-F238E27FC236}">
                  <a16:creationId xmlns:a16="http://schemas.microsoft.com/office/drawing/2014/main" id="{4696EDCD-E868-4F25-941B-0CBBDFFE0202}"/>
                </a:ext>
              </a:extLst>
            </p:cNvPr>
            <p:cNvPicPr/>
            <p:nvPr/>
          </p:nvPicPr>
          <p:blipFill>
            <a:blip r:embed="rId35" cstate="print"/>
            <a:stretch>
              <a:fillRect/>
            </a:stretch>
          </p:blipFill>
          <p:spPr>
            <a:xfrm>
              <a:off x="4367830" y="4187230"/>
              <a:ext cx="268697" cy="477749"/>
            </a:xfrm>
            <a:prstGeom prst="rect">
              <a:avLst/>
            </a:prstGeom>
          </p:spPr>
        </p:pic>
        <p:sp>
          <p:nvSpPr>
            <p:cNvPr id="228" name="object 78">
              <a:extLst>
                <a:ext uri="{FF2B5EF4-FFF2-40B4-BE49-F238E27FC236}">
                  <a16:creationId xmlns:a16="http://schemas.microsoft.com/office/drawing/2014/main" id="{AB59F285-CD70-42D3-8B8F-924AADB7C835}"/>
                </a:ext>
              </a:extLst>
            </p:cNvPr>
            <p:cNvSpPr/>
            <p:nvPr/>
          </p:nvSpPr>
          <p:spPr>
            <a:xfrm>
              <a:off x="4039399" y="4136721"/>
              <a:ext cx="277495" cy="91440"/>
            </a:xfrm>
            <a:custGeom>
              <a:avLst/>
              <a:gdLst/>
              <a:ahLst/>
              <a:cxnLst/>
              <a:rect l="l" t="t" r="r" b="b"/>
              <a:pathLst>
                <a:path w="277495" h="91439">
                  <a:moveTo>
                    <a:pt x="0" y="91397"/>
                  </a:moveTo>
                  <a:lnTo>
                    <a:pt x="277379" y="0"/>
                  </a:lnTo>
                </a:path>
              </a:pathLst>
            </a:custGeom>
            <a:ln w="3175">
              <a:solidFill>
                <a:srgbClr val="000000"/>
              </a:solidFill>
            </a:ln>
          </p:spPr>
          <p:txBody>
            <a:bodyPr wrap="square" lIns="0" tIns="0" rIns="0" bIns="0" rtlCol="0"/>
            <a:lstStyle/>
            <a:p>
              <a:endParaRPr/>
            </a:p>
          </p:txBody>
        </p:sp>
        <p:sp>
          <p:nvSpPr>
            <p:cNvPr id="229" name="object 79">
              <a:extLst>
                <a:ext uri="{FF2B5EF4-FFF2-40B4-BE49-F238E27FC236}">
                  <a16:creationId xmlns:a16="http://schemas.microsoft.com/office/drawing/2014/main" id="{1E45B94A-3849-4FA1-88B0-7051C1EFDACF}"/>
                </a:ext>
              </a:extLst>
            </p:cNvPr>
            <p:cNvSpPr/>
            <p:nvPr/>
          </p:nvSpPr>
          <p:spPr>
            <a:xfrm>
              <a:off x="4025708" y="4125834"/>
              <a:ext cx="297180" cy="111125"/>
            </a:xfrm>
            <a:custGeom>
              <a:avLst/>
              <a:gdLst/>
              <a:ahLst/>
              <a:cxnLst/>
              <a:rect l="l" t="t" r="r" b="b"/>
              <a:pathLst>
                <a:path w="297179" h="111125">
                  <a:moveTo>
                    <a:pt x="289828" y="0"/>
                  </a:moveTo>
                  <a:lnTo>
                    <a:pt x="0" y="94056"/>
                  </a:lnTo>
                  <a:lnTo>
                    <a:pt x="22819" y="110639"/>
                  </a:lnTo>
                  <a:lnTo>
                    <a:pt x="296876" y="21646"/>
                  </a:lnTo>
                  <a:lnTo>
                    <a:pt x="289828" y="0"/>
                  </a:lnTo>
                  <a:close/>
                </a:path>
              </a:pathLst>
            </a:custGeom>
            <a:solidFill>
              <a:srgbClr val="000000"/>
            </a:solidFill>
          </p:spPr>
          <p:txBody>
            <a:bodyPr wrap="square" lIns="0" tIns="0" rIns="0" bIns="0" rtlCol="0"/>
            <a:lstStyle/>
            <a:p>
              <a:endParaRPr/>
            </a:p>
          </p:txBody>
        </p:sp>
      </p:grpSp>
      <p:pic>
        <p:nvPicPr>
          <p:cNvPr id="230" name="object 80">
            <a:extLst>
              <a:ext uri="{FF2B5EF4-FFF2-40B4-BE49-F238E27FC236}">
                <a16:creationId xmlns:a16="http://schemas.microsoft.com/office/drawing/2014/main" id="{6219874A-1E81-4C9C-8785-C2B8E5580FC7}"/>
              </a:ext>
            </a:extLst>
          </p:cNvPr>
          <p:cNvPicPr/>
          <p:nvPr/>
        </p:nvPicPr>
        <p:blipFill>
          <a:blip r:embed="rId36" cstate="print"/>
          <a:stretch>
            <a:fillRect/>
          </a:stretch>
        </p:blipFill>
        <p:spPr>
          <a:xfrm>
            <a:off x="7658704" y="642573"/>
            <a:ext cx="168076" cy="231152"/>
          </a:xfrm>
          <a:prstGeom prst="rect">
            <a:avLst/>
          </a:prstGeom>
        </p:spPr>
      </p:pic>
      <p:grpSp>
        <p:nvGrpSpPr>
          <p:cNvPr id="231" name="object 81">
            <a:extLst>
              <a:ext uri="{FF2B5EF4-FFF2-40B4-BE49-F238E27FC236}">
                <a16:creationId xmlns:a16="http://schemas.microsoft.com/office/drawing/2014/main" id="{495323D6-A9B3-4991-86AD-421D98FEB905}"/>
              </a:ext>
            </a:extLst>
          </p:cNvPr>
          <p:cNvGrpSpPr/>
          <p:nvPr/>
        </p:nvGrpSpPr>
        <p:grpSpPr>
          <a:xfrm>
            <a:off x="6792184" y="1906040"/>
            <a:ext cx="681990" cy="820419"/>
            <a:chOff x="3996477" y="5587668"/>
            <a:chExt cx="681990" cy="820419"/>
          </a:xfrm>
        </p:grpSpPr>
        <p:pic>
          <p:nvPicPr>
            <p:cNvPr id="232" name="object 82">
              <a:extLst>
                <a:ext uri="{FF2B5EF4-FFF2-40B4-BE49-F238E27FC236}">
                  <a16:creationId xmlns:a16="http://schemas.microsoft.com/office/drawing/2014/main" id="{01A94FF4-5E30-42D3-9183-69BBD9E83850}"/>
                </a:ext>
              </a:extLst>
            </p:cNvPr>
            <p:cNvPicPr/>
            <p:nvPr/>
          </p:nvPicPr>
          <p:blipFill>
            <a:blip r:embed="rId37" cstate="print"/>
            <a:stretch>
              <a:fillRect/>
            </a:stretch>
          </p:blipFill>
          <p:spPr>
            <a:xfrm>
              <a:off x="4290802" y="5587668"/>
              <a:ext cx="89768" cy="109474"/>
            </a:xfrm>
            <a:prstGeom prst="rect">
              <a:avLst/>
            </a:prstGeom>
          </p:spPr>
        </p:pic>
        <p:sp>
          <p:nvSpPr>
            <p:cNvPr id="233" name="object 83">
              <a:extLst>
                <a:ext uri="{FF2B5EF4-FFF2-40B4-BE49-F238E27FC236}">
                  <a16:creationId xmlns:a16="http://schemas.microsoft.com/office/drawing/2014/main" id="{697B9E9E-A550-498B-B9B2-9C90269E2558}"/>
                </a:ext>
              </a:extLst>
            </p:cNvPr>
            <p:cNvSpPr/>
            <p:nvPr/>
          </p:nvSpPr>
          <p:spPr>
            <a:xfrm>
              <a:off x="4007887" y="5827290"/>
              <a:ext cx="0" cy="375285"/>
            </a:xfrm>
            <a:custGeom>
              <a:avLst/>
              <a:gdLst/>
              <a:ahLst/>
              <a:cxnLst/>
              <a:rect l="l" t="t" r="r" b="b"/>
              <a:pathLst>
                <a:path h="375285">
                  <a:moveTo>
                    <a:pt x="0" y="375237"/>
                  </a:moveTo>
                  <a:lnTo>
                    <a:pt x="0" y="0"/>
                  </a:lnTo>
                </a:path>
              </a:pathLst>
            </a:custGeom>
            <a:ln w="3175">
              <a:solidFill>
                <a:srgbClr val="000000"/>
              </a:solidFill>
            </a:ln>
          </p:spPr>
          <p:txBody>
            <a:bodyPr wrap="square" lIns="0" tIns="0" rIns="0" bIns="0" rtlCol="0"/>
            <a:lstStyle/>
            <a:p>
              <a:endParaRPr/>
            </a:p>
          </p:txBody>
        </p:sp>
        <p:sp>
          <p:nvSpPr>
            <p:cNvPr id="234" name="object 84">
              <a:extLst>
                <a:ext uri="{FF2B5EF4-FFF2-40B4-BE49-F238E27FC236}">
                  <a16:creationId xmlns:a16="http://schemas.microsoft.com/office/drawing/2014/main" id="{29875896-F672-463C-B001-E21F92675116}"/>
                </a:ext>
              </a:extLst>
            </p:cNvPr>
            <p:cNvSpPr/>
            <p:nvPr/>
          </p:nvSpPr>
          <p:spPr>
            <a:xfrm>
              <a:off x="3996477" y="5818429"/>
              <a:ext cx="22860" cy="393065"/>
            </a:xfrm>
            <a:custGeom>
              <a:avLst/>
              <a:gdLst/>
              <a:ahLst/>
              <a:cxnLst/>
              <a:rect l="l" t="t" r="r" b="b"/>
              <a:pathLst>
                <a:path w="22860" h="393064">
                  <a:moveTo>
                    <a:pt x="0" y="0"/>
                  </a:moveTo>
                  <a:lnTo>
                    <a:pt x="0" y="392960"/>
                  </a:lnTo>
                  <a:lnTo>
                    <a:pt x="22819" y="379807"/>
                  </a:lnTo>
                  <a:lnTo>
                    <a:pt x="22819" y="13165"/>
                  </a:lnTo>
                  <a:lnTo>
                    <a:pt x="0" y="0"/>
                  </a:lnTo>
                  <a:close/>
                </a:path>
              </a:pathLst>
            </a:custGeom>
            <a:solidFill>
              <a:srgbClr val="000000"/>
            </a:solidFill>
          </p:spPr>
          <p:txBody>
            <a:bodyPr wrap="square" lIns="0" tIns="0" rIns="0" bIns="0" rtlCol="0"/>
            <a:lstStyle/>
            <a:p>
              <a:endParaRPr/>
            </a:p>
          </p:txBody>
        </p:sp>
        <p:sp>
          <p:nvSpPr>
            <p:cNvPr id="235" name="object 85">
              <a:extLst>
                <a:ext uri="{FF2B5EF4-FFF2-40B4-BE49-F238E27FC236}">
                  <a16:creationId xmlns:a16="http://schemas.microsoft.com/office/drawing/2014/main" id="{F47C772F-B8F5-4910-AE54-40E9E4CEAD7D}"/>
                </a:ext>
              </a:extLst>
            </p:cNvPr>
            <p:cNvSpPr/>
            <p:nvPr/>
          </p:nvSpPr>
          <p:spPr>
            <a:xfrm>
              <a:off x="4010169" y="6207085"/>
              <a:ext cx="325120" cy="185420"/>
            </a:xfrm>
            <a:custGeom>
              <a:avLst/>
              <a:gdLst/>
              <a:ahLst/>
              <a:cxnLst/>
              <a:rect l="l" t="t" r="r" b="b"/>
              <a:pathLst>
                <a:path w="325120" h="185420">
                  <a:moveTo>
                    <a:pt x="324826" y="185352"/>
                  </a:moveTo>
                  <a:lnTo>
                    <a:pt x="0" y="0"/>
                  </a:lnTo>
                </a:path>
              </a:pathLst>
            </a:custGeom>
            <a:ln w="3175">
              <a:solidFill>
                <a:srgbClr val="000000"/>
              </a:solidFill>
            </a:ln>
          </p:spPr>
          <p:txBody>
            <a:bodyPr wrap="square" lIns="0" tIns="0" rIns="0" bIns="0" rtlCol="0"/>
            <a:lstStyle/>
            <a:p>
              <a:endParaRPr/>
            </a:p>
          </p:txBody>
        </p:sp>
        <p:sp>
          <p:nvSpPr>
            <p:cNvPr id="236" name="object 86">
              <a:extLst>
                <a:ext uri="{FF2B5EF4-FFF2-40B4-BE49-F238E27FC236}">
                  <a16:creationId xmlns:a16="http://schemas.microsoft.com/office/drawing/2014/main" id="{1DF93A82-60D2-42D4-80C1-2192DF08157E}"/>
                </a:ext>
              </a:extLst>
            </p:cNvPr>
            <p:cNvSpPr/>
            <p:nvPr/>
          </p:nvSpPr>
          <p:spPr>
            <a:xfrm>
              <a:off x="3996477" y="6198236"/>
              <a:ext cx="340995" cy="210185"/>
            </a:xfrm>
            <a:custGeom>
              <a:avLst/>
              <a:gdLst/>
              <a:ahLst/>
              <a:cxnLst/>
              <a:rect l="l" t="t" r="r" b="b"/>
              <a:pathLst>
                <a:path w="340995" h="210185">
                  <a:moveTo>
                    <a:pt x="22819" y="0"/>
                  </a:moveTo>
                  <a:lnTo>
                    <a:pt x="0" y="13152"/>
                  </a:lnTo>
                  <a:lnTo>
                    <a:pt x="340800" y="209632"/>
                  </a:lnTo>
                  <a:lnTo>
                    <a:pt x="340800" y="183314"/>
                  </a:lnTo>
                  <a:lnTo>
                    <a:pt x="22819" y="0"/>
                  </a:lnTo>
                  <a:close/>
                </a:path>
              </a:pathLst>
            </a:custGeom>
            <a:solidFill>
              <a:srgbClr val="000000"/>
            </a:solidFill>
          </p:spPr>
          <p:txBody>
            <a:bodyPr wrap="square" lIns="0" tIns="0" rIns="0" bIns="0" rtlCol="0"/>
            <a:lstStyle/>
            <a:p>
              <a:endParaRPr/>
            </a:p>
          </p:txBody>
        </p:sp>
        <p:sp>
          <p:nvSpPr>
            <p:cNvPr id="237" name="object 87">
              <a:extLst>
                <a:ext uri="{FF2B5EF4-FFF2-40B4-BE49-F238E27FC236}">
                  <a16:creationId xmlns:a16="http://schemas.microsoft.com/office/drawing/2014/main" id="{196B37FB-310B-4026-93DC-42BF681793FE}"/>
                </a:ext>
              </a:extLst>
            </p:cNvPr>
            <p:cNvSpPr/>
            <p:nvPr/>
          </p:nvSpPr>
          <p:spPr>
            <a:xfrm>
              <a:off x="4067217" y="6174197"/>
              <a:ext cx="267970" cy="153035"/>
            </a:xfrm>
            <a:custGeom>
              <a:avLst/>
              <a:gdLst/>
              <a:ahLst/>
              <a:cxnLst/>
              <a:rect l="l" t="t" r="r" b="b"/>
              <a:pathLst>
                <a:path w="267970" h="153035">
                  <a:moveTo>
                    <a:pt x="267778" y="152452"/>
                  </a:moveTo>
                  <a:lnTo>
                    <a:pt x="0" y="0"/>
                  </a:lnTo>
                </a:path>
              </a:pathLst>
            </a:custGeom>
            <a:ln w="3175">
              <a:solidFill>
                <a:srgbClr val="000000"/>
              </a:solidFill>
            </a:ln>
          </p:spPr>
          <p:txBody>
            <a:bodyPr wrap="square" lIns="0" tIns="0" rIns="0" bIns="0" rtlCol="0"/>
            <a:lstStyle/>
            <a:p>
              <a:endParaRPr/>
            </a:p>
          </p:txBody>
        </p:sp>
        <p:sp>
          <p:nvSpPr>
            <p:cNvPr id="238" name="object 88">
              <a:extLst>
                <a:ext uri="{FF2B5EF4-FFF2-40B4-BE49-F238E27FC236}">
                  <a16:creationId xmlns:a16="http://schemas.microsoft.com/office/drawing/2014/main" id="{06DC7227-8B34-4783-AB9D-D7D2C92FA293}"/>
                </a:ext>
              </a:extLst>
            </p:cNvPr>
            <p:cNvSpPr/>
            <p:nvPr/>
          </p:nvSpPr>
          <p:spPr>
            <a:xfrm>
              <a:off x="4059230" y="6162057"/>
              <a:ext cx="283845" cy="177165"/>
            </a:xfrm>
            <a:custGeom>
              <a:avLst/>
              <a:gdLst/>
              <a:ahLst/>
              <a:cxnLst/>
              <a:rect l="l" t="t" r="r" b="b"/>
              <a:pathLst>
                <a:path w="283845" h="177164">
                  <a:moveTo>
                    <a:pt x="11409" y="0"/>
                  </a:moveTo>
                  <a:lnTo>
                    <a:pt x="0" y="19735"/>
                  </a:lnTo>
                  <a:lnTo>
                    <a:pt x="272342" y="176744"/>
                  </a:lnTo>
                  <a:lnTo>
                    <a:pt x="283751" y="157009"/>
                  </a:lnTo>
                  <a:lnTo>
                    <a:pt x="11409" y="0"/>
                  </a:lnTo>
                  <a:close/>
                </a:path>
              </a:pathLst>
            </a:custGeom>
            <a:solidFill>
              <a:srgbClr val="000000"/>
            </a:solidFill>
          </p:spPr>
          <p:txBody>
            <a:bodyPr wrap="square" lIns="0" tIns="0" rIns="0" bIns="0" rtlCol="0"/>
            <a:lstStyle/>
            <a:p>
              <a:endParaRPr/>
            </a:p>
          </p:txBody>
        </p:sp>
        <p:sp>
          <p:nvSpPr>
            <p:cNvPr id="239" name="object 89">
              <a:extLst>
                <a:ext uri="{FF2B5EF4-FFF2-40B4-BE49-F238E27FC236}">
                  <a16:creationId xmlns:a16="http://schemas.microsoft.com/office/drawing/2014/main" id="{8DC67D08-EC89-46DD-AE22-BD868F4A3792}"/>
                </a:ext>
              </a:extLst>
            </p:cNvPr>
            <p:cNvSpPr/>
            <p:nvPr/>
          </p:nvSpPr>
          <p:spPr>
            <a:xfrm>
              <a:off x="4339559" y="6207085"/>
              <a:ext cx="325120" cy="185420"/>
            </a:xfrm>
            <a:custGeom>
              <a:avLst/>
              <a:gdLst/>
              <a:ahLst/>
              <a:cxnLst/>
              <a:rect l="l" t="t" r="r" b="b"/>
              <a:pathLst>
                <a:path w="325120" h="185420">
                  <a:moveTo>
                    <a:pt x="324833" y="0"/>
                  </a:moveTo>
                  <a:lnTo>
                    <a:pt x="0" y="185352"/>
                  </a:lnTo>
                </a:path>
              </a:pathLst>
            </a:custGeom>
            <a:ln w="3175">
              <a:solidFill>
                <a:srgbClr val="000000"/>
              </a:solidFill>
            </a:ln>
          </p:spPr>
          <p:txBody>
            <a:bodyPr wrap="square" lIns="0" tIns="0" rIns="0" bIns="0" rtlCol="0"/>
            <a:lstStyle/>
            <a:p>
              <a:endParaRPr/>
            </a:p>
          </p:txBody>
        </p:sp>
        <p:sp>
          <p:nvSpPr>
            <p:cNvPr id="240" name="object 90">
              <a:extLst>
                <a:ext uri="{FF2B5EF4-FFF2-40B4-BE49-F238E27FC236}">
                  <a16:creationId xmlns:a16="http://schemas.microsoft.com/office/drawing/2014/main" id="{14623422-602B-487A-AFC6-691EBE2BF105}"/>
                </a:ext>
              </a:extLst>
            </p:cNvPr>
            <p:cNvSpPr/>
            <p:nvPr/>
          </p:nvSpPr>
          <p:spPr>
            <a:xfrm>
              <a:off x="4337278" y="6198236"/>
              <a:ext cx="340995" cy="210185"/>
            </a:xfrm>
            <a:custGeom>
              <a:avLst/>
              <a:gdLst/>
              <a:ahLst/>
              <a:cxnLst/>
              <a:rect l="l" t="t" r="r" b="b"/>
              <a:pathLst>
                <a:path w="340995" h="210185">
                  <a:moveTo>
                    <a:pt x="317987" y="0"/>
                  </a:moveTo>
                  <a:lnTo>
                    <a:pt x="0" y="183314"/>
                  </a:lnTo>
                  <a:lnTo>
                    <a:pt x="0" y="209632"/>
                  </a:lnTo>
                  <a:lnTo>
                    <a:pt x="340806" y="13152"/>
                  </a:lnTo>
                  <a:lnTo>
                    <a:pt x="317987" y="0"/>
                  </a:lnTo>
                  <a:close/>
                </a:path>
              </a:pathLst>
            </a:custGeom>
            <a:solidFill>
              <a:srgbClr val="000000"/>
            </a:solidFill>
          </p:spPr>
          <p:txBody>
            <a:bodyPr wrap="square" lIns="0" tIns="0" rIns="0" bIns="0" rtlCol="0"/>
            <a:lstStyle/>
            <a:p>
              <a:endParaRPr/>
            </a:p>
          </p:txBody>
        </p:sp>
        <p:sp>
          <p:nvSpPr>
            <p:cNvPr id="241" name="object 91">
              <a:extLst>
                <a:ext uri="{FF2B5EF4-FFF2-40B4-BE49-F238E27FC236}">
                  <a16:creationId xmlns:a16="http://schemas.microsoft.com/office/drawing/2014/main" id="{A40241D5-5327-4E93-926C-2A84B0FA71E6}"/>
                </a:ext>
              </a:extLst>
            </p:cNvPr>
            <p:cNvSpPr/>
            <p:nvPr/>
          </p:nvSpPr>
          <p:spPr>
            <a:xfrm>
              <a:off x="4666674" y="5827290"/>
              <a:ext cx="0" cy="375285"/>
            </a:xfrm>
            <a:custGeom>
              <a:avLst/>
              <a:gdLst/>
              <a:ahLst/>
              <a:cxnLst/>
              <a:rect l="l" t="t" r="r" b="b"/>
              <a:pathLst>
                <a:path h="375285">
                  <a:moveTo>
                    <a:pt x="0" y="0"/>
                  </a:moveTo>
                  <a:lnTo>
                    <a:pt x="0" y="375237"/>
                  </a:lnTo>
                </a:path>
              </a:pathLst>
            </a:custGeom>
            <a:ln w="3175">
              <a:solidFill>
                <a:srgbClr val="000000"/>
              </a:solidFill>
            </a:ln>
          </p:spPr>
          <p:txBody>
            <a:bodyPr wrap="square" lIns="0" tIns="0" rIns="0" bIns="0" rtlCol="0"/>
            <a:lstStyle/>
            <a:p>
              <a:endParaRPr/>
            </a:p>
          </p:txBody>
        </p:sp>
        <p:sp>
          <p:nvSpPr>
            <p:cNvPr id="242" name="object 92">
              <a:extLst>
                <a:ext uri="{FF2B5EF4-FFF2-40B4-BE49-F238E27FC236}">
                  <a16:creationId xmlns:a16="http://schemas.microsoft.com/office/drawing/2014/main" id="{08AF7073-A586-4699-85E6-0D0915A78616}"/>
                </a:ext>
              </a:extLst>
            </p:cNvPr>
            <p:cNvSpPr/>
            <p:nvPr/>
          </p:nvSpPr>
          <p:spPr>
            <a:xfrm>
              <a:off x="4655265" y="5818429"/>
              <a:ext cx="22860" cy="393065"/>
            </a:xfrm>
            <a:custGeom>
              <a:avLst/>
              <a:gdLst/>
              <a:ahLst/>
              <a:cxnLst/>
              <a:rect l="l" t="t" r="r" b="b"/>
              <a:pathLst>
                <a:path w="22860" h="393064">
                  <a:moveTo>
                    <a:pt x="22819" y="0"/>
                  </a:moveTo>
                  <a:lnTo>
                    <a:pt x="0" y="13165"/>
                  </a:lnTo>
                  <a:lnTo>
                    <a:pt x="0" y="379807"/>
                  </a:lnTo>
                  <a:lnTo>
                    <a:pt x="22819" y="392960"/>
                  </a:lnTo>
                  <a:lnTo>
                    <a:pt x="22819" y="0"/>
                  </a:lnTo>
                  <a:close/>
                </a:path>
              </a:pathLst>
            </a:custGeom>
            <a:solidFill>
              <a:srgbClr val="000000"/>
            </a:solidFill>
          </p:spPr>
          <p:txBody>
            <a:bodyPr wrap="square" lIns="0" tIns="0" rIns="0" bIns="0" rtlCol="0"/>
            <a:lstStyle/>
            <a:p>
              <a:endParaRPr/>
            </a:p>
          </p:txBody>
        </p:sp>
        <p:sp>
          <p:nvSpPr>
            <p:cNvPr id="243" name="object 93">
              <a:extLst>
                <a:ext uri="{FF2B5EF4-FFF2-40B4-BE49-F238E27FC236}">
                  <a16:creationId xmlns:a16="http://schemas.microsoft.com/office/drawing/2014/main" id="{AAE17271-489D-4792-9488-855C044004D5}"/>
                </a:ext>
              </a:extLst>
            </p:cNvPr>
            <p:cNvSpPr/>
            <p:nvPr/>
          </p:nvSpPr>
          <p:spPr>
            <a:xfrm>
              <a:off x="4609626" y="5860178"/>
              <a:ext cx="0" cy="309880"/>
            </a:xfrm>
            <a:custGeom>
              <a:avLst/>
              <a:gdLst/>
              <a:ahLst/>
              <a:cxnLst/>
              <a:rect l="l" t="t" r="r" b="b"/>
              <a:pathLst>
                <a:path h="309879">
                  <a:moveTo>
                    <a:pt x="0" y="0"/>
                  </a:moveTo>
                  <a:lnTo>
                    <a:pt x="0" y="309461"/>
                  </a:lnTo>
                </a:path>
              </a:pathLst>
            </a:custGeom>
            <a:ln w="3175">
              <a:solidFill>
                <a:srgbClr val="000000"/>
              </a:solidFill>
            </a:ln>
          </p:spPr>
          <p:txBody>
            <a:bodyPr wrap="square" lIns="0" tIns="0" rIns="0" bIns="0" rtlCol="0"/>
            <a:lstStyle/>
            <a:p>
              <a:endParaRPr/>
            </a:p>
          </p:txBody>
        </p:sp>
        <p:sp>
          <p:nvSpPr>
            <p:cNvPr id="244" name="object 94">
              <a:extLst>
                <a:ext uri="{FF2B5EF4-FFF2-40B4-BE49-F238E27FC236}">
                  <a16:creationId xmlns:a16="http://schemas.microsoft.com/office/drawing/2014/main" id="{639AF4CE-F6E9-4189-A3C5-ABF4A52698F3}"/>
                </a:ext>
              </a:extLst>
            </p:cNvPr>
            <p:cNvSpPr/>
            <p:nvPr/>
          </p:nvSpPr>
          <p:spPr>
            <a:xfrm>
              <a:off x="4598217" y="5857899"/>
              <a:ext cx="22860" cy="314325"/>
            </a:xfrm>
            <a:custGeom>
              <a:avLst/>
              <a:gdLst/>
              <a:ahLst/>
              <a:cxnLst/>
              <a:rect l="l" t="t" r="r" b="b"/>
              <a:pathLst>
                <a:path w="22860" h="314325">
                  <a:moveTo>
                    <a:pt x="22819" y="0"/>
                  </a:moveTo>
                  <a:lnTo>
                    <a:pt x="0" y="0"/>
                  </a:lnTo>
                  <a:lnTo>
                    <a:pt x="0" y="314018"/>
                  </a:lnTo>
                  <a:lnTo>
                    <a:pt x="22819" y="314018"/>
                  </a:lnTo>
                  <a:lnTo>
                    <a:pt x="22819" y="0"/>
                  </a:lnTo>
                  <a:close/>
                </a:path>
              </a:pathLst>
            </a:custGeom>
            <a:solidFill>
              <a:srgbClr val="000000"/>
            </a:solidFill>
          </p:spPr>
          <p:txBody>
            <a:bodyPr wrap="square" lIns="0" tIns="0" rIns="0" bIns="0" rtlCol="0"/>
            <a:lstStyle/>
            <a:p>
              <a:endParaRPr/>
            </a:p>
          </p:txBody>
        </p:sp>
        <p:sp>
          <p:nvSpPr>
            <p:cNvPr id="245" name="object 95">
              <a:extLst>
                <a:ext uri="{FF2B5EF4-FFF2-40B4-BE49-F238E27FC236}">
                  <a16:creationId xmlns:a16="http://schemas.microsoft.com/office/drawing/2014/main" id="{63552F97-2410-47A7-B91B-DD7D80D312EA}"/>
                </a:ext>
              </a:extLst>
            </p:cNvPr>
            <p:cNvSpPr/>
            <p:nvPr/>
          </p:nvSpPr>
          <p:spPr>
            <a:xfrm>
              <a:off x="4422356" y="5685117"/>
              <a:ext cx="242570" cy="137795"/>
            </a:xfrm>
            <a:custGeom>
              <a:avLst/>
              <a:gdLst/>
              <a:ahLst/>
              <a:cxnLst/>
              <a:rect l="l" t="t" r="r" b="b"/>
              <a:pathLst>
                <a:path w="242570" h="137795">
                  <a:moveTo>
                    <a:pt x="0" y="0"/>
                  </a:moveTo>
                  <a:lnTo>
                    <a:pt x="242036" y="137615"/>
                  </a:lnTo>
                </a:path>
              </a:pathLst>
            </a:custGeom>
            <a:ln w="3175">
              <a:solidFill>
                <a:srgbClr val="000000"/>
              </a:solidFill>
            </a:ln>
          </p:spPr>
          <p:txBody>
            <a:bodyPr wrap="square" lIns="0" tIns="0" rIns="0" bIns="0" rtlCol="0"/>
            <a:lstStyle/>
            <a:p>
              <a:endParaRPr/>
            </a:p>
          </p:txBody>
        </p:sp>
        <p:sp>
          <p:nvSpPr>
            <p:cNvPr id="246" name="object 96">
              <a:extLst>
                <a:ext uri="{FF2B5EF4-FFF2-40B4-BE49-F238E27FC236}">
                  <a16:creationId xmlns:a16="http://schemas.microsoft.com/office/drawing/2014/main" id="{F44656F7-1368-444E-B12C-BD8F1BD5D5E4}"/>
                </a:ext>
              </a:extLst>
            </p:cNvPr>
            <p:cNvSpPr/>
            <p:nvPr/>
          </p:nvSpPr>
          <p:spPr>
            <a:xfrm>
              <a:off x="4414369" y="5672977"/>
              <a:ext cx="264160" cy="158750"/>
            </a:xfrm>
            <a:custGeom>
              <a:avLst/>
              <a:gdLst/>
              <a:ahLst/>
              <a:cxnLst/>
              <a:rect l="l" t="t" r="r" b="b"/>
              <a:pathLst>
                <a:path w="264160" h="158750">
                  <a:moveTo>
                    <a:pt x="11409" y="0"/>
                  </a:moveTo>
                  <a:lnTo>
                    <a:pt x="0" y="19735"/>
                  </a:lnTo>
                  <a:lnTo>
                    <a:pt x="240895" y="158617"/>
                  </a:lnTo>
                  <a:lnTo>
                    <a:pt x="263715" y="145451"/>
                  </a:lnTo>
                  <a:lnTo>
                    <a:pt x="11409" y="0"/>
                  </a:lnTo>
                  <a:close/>
                </a:path>
              </a:pathLst>
            </a:custGeom>
            <a:solidFill>
              <a:srgbClr val="000000"/>
            </a:solidFill>
          </p:spPr>
          <p:txBody>
            <a:bodyPr wrap="square" lIns="0" tIns="0" rIns="0" bIns="0" rtlCol="0"/>
            <a:lstStyle/>
            <a:p>
              <a:endParaRPr/>
            </a:p>
          </p:txBody>
        </p:sp>
        <p:sp>
          <p:nvSpPr>
            <p:cNvPr id="247" name="object 97">
              <a:extLst>
                <a:ext uri="{FF2B5EF4-FFF2-40B4-BE49-F238E27FC236}">
                  <a16:creationId xmlns:a16="http://schemas.microsoft.com/office/drawing/2014/main" id="{B1B31C1A-8FFE-4747-A34B-C37C0A360A17}"/>
                </a:ext>
              </a:extLst>
            </p:cNvPr>
            <p:cNvSpPr/>
            <p:nvPr/>
          </p:nvSpPr>
          <p:spPr>
            <a:xfrm>
              <a:off x="4010169" y="5685560"/>
              <a:ext cx="241300" cy="137795"/>
            </a:xfrm>
            <a:custGeom>
              <a:avLst/>
              <a:gdLst/>
              <a:ahLst/>
              <a:cxnLst/>
              <a:rect l="l" t="t" r="r" b="b"/>
              <a:pathLst>
                <a:path w="241300" h="137795">
                  <a:moveTo>
                    <a:pt x="0" y="137172"/>
                  </a:moveTo>
                  <a:lnTo>
                    <a:pt x="241282" y="0"/>
                  </a:lnTo>
                </a:path>
              </a:pathLst>
            </a:custGeom>
            <a:ln w="3175">
              <a:solidFill>
                <a:srgbClr val="000000"/>
              </a:solidFill>
            </a:ln>
          </p:spPr>
          <p:txBody>
            <a:bodyPr wrap="square" lIns="0" tIns="0" rIns="0" bIns="0" rtlCol="0"/>
            <a:lstStyle/>
            <a:p>
              <a:endParaRPr/>
            </a:p>
          </p:txBody>
        </p:sp>
        <p:sp>
          <p:nvSpPr>
            <p:cNvPr id="248" name="object 98">
              <a:extLst>
                <a:ext uri="{FF2B5EF4-FFF2-40B4-BE49-F238E27FC236}">
                  <a16:creationId xmlns:a16="http://schemas.microsoft.com/office/drawing/2014/main" id="{35D1BEAE-A1FE-4A8E-8162-0001D15E62E5}"/>
                </a:ext>
              </a:extLst>
            </p:cNvPr>
            <p:cNvSpPr/>
            <p:nvPr/>
          </p:nvSpPr>
          <p:spPr>
            <a:xfrm>
              <a:off x="3996477" y="5673407"/>
              <a:ext cx="263525" cy="158750"/>
            </a:xfrm>
            <a:custGeom>
              <a:avLst/>
              <a:gdLst/>
              <a:ahLst/>
              <a:cxnLst/>
              <a:rect l="l" t="t" r="r" b="b"/>
              <a:pathLst>
                <a:path w="263525" h="158750">
                  <a:moveTo>
                    <a:pt x="251551" y="0"/>
                  </a:moveTo>
                  <a:lnTo>
                    <a:pt x="0" y="145021"/>
                  </a:lnTo>
                  <a:lnTo>
                    <a:pt x="22819" y="158186"/>
                  </a:lnTo>
                  <a:lnTo>
                    <a:pt x="262961" y="19735"/>
                  </a:lnTo>
                  <a:lnTo>
                    <a:pt x="251551" y="0"/>
                  </a:lnTo>
                  <a:close/>
                </a:path>
              </a:pathLst>
            </a:custGeom>
            <a:solidFill>
              <a:srgbClr val="000000"/>
            </a:solidFill>
          </p:spPr>
          <p:txBody>
            <a:bodyPr wrap="square" lIns="0" tIns="0" rIns="0" bIns="0" rtlCol="0"/>
            <a:lstStyle/>
            <a:p>
              <a:endParaRPr/>
            </a:p>
          </p:txBody>
        </p:sp>
        <p:sp>
          <p:nvSpPr>
            <p:cNvPr id="249" name="object 99">
              <a:extLst>
                <a:ext uri="{FF2B5EF4-FFF2-40B4-BE49-F238E27FC236}">
                  <a16:creationId xmlns:a16="http://schemas.microsoft.com/office/drawing/2014/main" id="{50824FB7-2C2C-419A-B770-195F26785D87}"/>
                </a:ext>
              </a:extLst>
            </p:cNvPr>
            <p:cNvSpPr/>
            <p:nvPr/>
          </p:nvSpPr>
          <p:spPr>
            <a:xfrm>
              <a:off x="4067217" y="5734892"/>
              <a:ext cx="213360" cy="121285"/>
            </a:xfrm>
            <a:custGeom>
              <a:avLst/>
              <a:gdLst/>
              <a:ahLst/>
              <a:cxnLst/>
              <a:rect l="l" t="t" r="r" b="b"/>
              <a:pathLst>
                <a:path w="213360" h="121285">
                  <a:moveTo>
                    <a:pt x="0" y="120728"/>
                  </a:moveTo>
                  <a:lnTo>
                    <a:pt x="212758" y="0"/>
                  </a:lnTo>
                </a:path>
              </a:pathLst>
            </a:custGeom>
            <a:ln w="3175">
              <a:solidFill>
                <a:srgbClr val="000000"/>
              </a:solidFill>
            </a:ln>
          </p:spPr>
          <p:txBody>
            <a:bodyPr wrap="square" lIns="0" tIns="0" rIns="0" bIns="0" rtlCol="0"/>
            <a:lstStyle/>
            <a:p>
              <a:endParaRPr/>
            </a:p>
          </p:txBody>
        </p:sp>
        <p:sp>
          <p:nvSpPr>
            <p:cNvPr id="250" name="object 100">
              <a:extLst>
                <a:ext uri="{FF2B5EF4-FFF2-40B4-BE49-F238E27FC236}">
                  <a16:creationId xmlns:a16="http://schemas.microsoft.com/office/drawing/2014/main" id="{74880D89-68B6-49BF-B56F-180B3EDCE504}"/>
                </a:ext>
              </a:extLst>
            </p:cNvPr>
            <p:cNvSpPr/>
            <p:nvPr/>
          </p:nvSpPr>
          <p:spPr>
            <a:xfrm>
              <a:off x="4059230" y="5722739"/>
              <a:ext cx="229235" cy="145415"/>
            </a:xfrm>
            <a:custGeom>
              <a:avLst/>
              <a:gdLst/>
              <a:ahLst/>
              <a:cxnLst/>
              <a:rect l="l" t="t" r="r" b="b"/>
              <a:pathLst>
                <a:path w="229235" h="145414">
                  <a:moveTo>
                    <a:pt x="217322" y="0"/>
                  </a:moveTo>
                  <a:lnTo>
                    <a:pt x="0" y="125298"/>
                  </a:lnTo>
                  <a:lnTo>
                    <a:pt x="11409" y="145021"/>
                  </a:lnTo>
                  <a:lnTo>
                    <a:pt x="228732" y="19735"/>
                  </a:lnTo>
                  <a:lnTo>
                    <a:pt x="217322" y="0"/>
                  </a:lnTo>
                  <a:close/>
                </a:path>
              </a:pathLst>
            </a:custGeom>
            <a:solidFill>
              <a:srgbClr val="000000"/>
            </a:solidFill>
          </p:spPr>
          <p:txBody>
            <a:bodyPr wrap="square" lIns="0" tIns="0" rIns="0" bIns="0" rtlCol="0"/>
            <a:lstStyle/>
            <a:p>
              <a:endParaRPr/>
            </a:p>
          </p:txBody>
        </p:sp>
      </p:grpSp>
      <p:pic>
        <p:nvPicPr>
          <p:cNvPr id="251" name="object 101">
            <a:extLst>
              <a:ext uri="{FF2B5EF4-FFF2-40B4-BE49-F238E27FC236}">
                <a16:creationId xmlns:a16="http://schemas.microsoft.com/office/drawing/2014/main" id="{80AF4EF9-3D74-48AA-B037-F64E291A3FD2}"/>
              </a:ext>
            </a:extLst>
          </p:cNvPr>
          <p:cNvPicPr/>
          <p:nvPr/>
        </p:nvPicPr>
        <p:blipFill>
          <a:blip r:embed="rId38" cstate="print"/>
          <a:stretch>
            <a:fillRect/>
          </a:stretch>
        </p:blipFill>
        <p:spPr>
          <a:xfrm>
            <a:off x="7791816" y="2247073"/>
            <a:ext cx="168076" cy="231140"/>
          </a:xfrm>
          <a:prstGeom prst="rect">
            <a:avLst/>
          </a:prstGeom>
        </p:spPr>
      </p:pic>
      <p:pic>
        <p:nvPicPr>
          <p:cNvPr id="252" name="object 102">
            <a:extLst>
              <a:ext uri="{FF2B5EF4-FFF2-40B4-BE49-F238E27FC236}">
                <a16:creationId xmlns:a16="http://schemas.microsoft.com/office/drawing/2014/main" id="{9F8FA003-1C06-43B0-8BA2-6E60CD524664}"/>
              </a:ext>
            </a:extLst>
          </p:cNvPr>
          <p:cNvPicPr/>
          <p:nvPr/>
        </p:nvPicPr>
        <p:blipFill>
          <a:blip r:embed="rId39" cstate="print"/>
          <a:stretch>
            <a:fillRect/>
          </a:stretch>
        </p:blipFill>
        <p:spPr>
          <a:xfrm>
            <a:off x="6820935" y="2793409"/>
            <a:ext cx="588632" cy="147189"/>
          </a:xfrm>
          <a:prstGeom prst="rect">
            <a:avLst/>
          </a:prstGeom>
        </p:spPr>
      </p:pic>
      <p:pic>
        <p:nvPicPr>
          <p:cNvPr id="253" name="object 103">
            <a:extLst>
              <a:ext uri="{FF2B5EF4-FFF2-40B4-BE49-F238E27FC236}">
                <a16:creationId xmlns:a16="http://schemas.microsoft.com/office/drawing/2014/main" id="{0C394BFA-50E4-4726-B21B-E59E7E5C57C5}"/>
              </a:ext>
            </a:extLst>
          </p:cNvPr>
          <p:cNvPicPr/>
          <p:nvPr/>
        </p:nvPicPr>
        <p:blipFill>
          <a:blip r:embed="rId40" cstate="print"/>
          <a:stretch>
            <a:fillRect/>
          </a:stretch>
        </p:blipFill>
        <p:spPr>
          <a:xfrm>
            <a:off x="8015927" y="1202732"/>
            <a:ext cx="1695120" cy="147350"/>
          </a:xfrm>
          <a:prstGeom prst="rect">
            <a:avLst/>
          </a:prstGeom>
        </p:spPr>
      </p:pic>
      <p:pic>
        <p:nvPicPr>
          <p:cNvPr id="254" name="object 104">
            <a:extLst>
              <a:ext uri="{FF2B5EF4-FFF2-40B4-BE49-F238E27FC236}">
                <a16:creationId xmlns:a16="http://schemas.microsoft.com/office/drawing/2014/main" id="{4CDB3966-D790-4C6C-A6CC-F1CF3B0D6475}"/>
              </a:ext>
            </a:extLst>
          </p:cNvPr>
          <p:cNvPicPr/>
          <p:nvPr/>
        </p:nvPicPr>
        <p:blipFill>
          <a:blip r:embed="rId41" cstate="print"/>
          <a:stretch>
            <a:fillRect/>
          </a:stretch>
        </p:blipFill>
        <p:spPr>
          <a:xfrm>
            <a:off x="10109879" y="1200707"/>
            <a:ext cx="1694968" cy="147350"/>
          </a:xfrm>
          <a:prstGeom prst="rect">
            <a:avLst/>
          </a:prstGeom>
        </p:spPr>
      </p:pic>
      <p:pic>
        <p:nvPicPr>
          <p:cNvPr id="255" name="object 105">
            <a:extLst>
              <a:ext uri="{FF2B5EF4-FFF2-40B4-BE49-F238E27FC236}">
                <a16:creationId xmlns:a16="http://schemas.microsoft.com/office/drawing/2014/main" id="{AE2F96DF-7EB9-4638-BE0C-477F2BE185E1}"/>
              </a:ext>
            </a:extLst>
          </p:cNvPr>
          <p:cNvPicPr/>
          <p:nvPr/>
        </p:nvPicPr>
        <p:blipFill>
          <a:blip r:embed="rId42" cstate="print"/>
          <a:stretch>
            <a:fillRect/>
          </a:stretch>
        </p:blipFill>
        <p:spPr>
          <a:xfrm>
            <a:off x="6793974" y="1229316"/>
            <a:ext cx="766771" cy="147350"/>
          </a:xfrm>
          <a:prstGeom prst="rect">
            <a:avLst/>
          </a:prstGeom>
        </p:spPr>
      </p:pic>
      <p:pic>
        <p:nvPicPr>
          <p:cNvPr id="256" name="object 106">
            <a:extLst>
              <a:ext uri="{FF2B5EF4-FFF2-40B4-BE49-F238E27FC236}">
                <a16:creationId xmlns:a16="http://schemas.microsoft.com/office/drawing/2014/main" id="{FFD5AAED-17F1-4302-98B3-16CECC3DA4B0}"/>
              </a:ext>
            </a:extLst>
          </p:cNvPr>
          <p:cNvPicPr/>
          <p:nvPr/>
        </p:nvPicPr>
        <p:blipFill>
          <a:blip r:embed="rId43" cstate="print"/>
          <a:stretch>
            <a:fillRect/>
          </a:stretch>
        </p:blipFill>
        <p:spPr>
          <a:xfrm>
            <a:off x="9258338" y="606874"/>
            <a:ext cx="73021" cy="110639"/>
          </a:xfrm>
          <a:prstGeom prst="rect">
            <a:avLst/>
          </a:prstGeom>
        </p:spPr>
      </p:pic>
      <p:pic>
        <p:nvPicPr>
          <p:cNvPr id="257" name="object 107">
            <a:extLst>
              <a:ext uri="{FF2B5EF4-FFF2-40B4-BE49-F238E27FC236}">
                <a16:creationId xmlns:a16="http://schemas.microsoft.com/office/drawing/2014/main" id="{6B8EDE92-0971-4B80-B75C-A667F4CC66B9}"/>
              </a:ext>
            </a:extLst>
          </p:cNvPr>
          <p:cNvPicPr/>
          <p:nvPr/>
        </p:nvPicPr>
        <p:blipFill>
          <a:blip r:embed="rId44" cstate="print"/>
          <a:stretch>
            <a:fillRect/>
          </a:stretch>
        </p:blipFill>
        <p:spPr>
          <a:xfrm>
            <a:off x="10604045" y="1624023"/>
            <a:ext cx="66936" cy="109424"/>
          </a:xfrm>
          <a:prstGeom prst="rect">
            <a:avLst/>
          </a:prstGeom>
        </p:spPr>
      </p:pic>
      <p:pic>
        <p:nvPicPr>
          <p:cNvPr id="258" name="object 108">
            <a:extLst>
              <a:ext uri="{FF2B5EF4-FFF2-40B4-BE49-F238E27FC236}">
                <a16:creationId xmlns:a16="http://schemas.microsoft.com/office/drawing/2014/main" id="{5A80E320-7FAA-4C29-8868-63ADADF12A2F}"/>
              </a:ext>
            </a:extLst>
          </p:cNvPr>
          <p:cNvPicPr/>
          <p:nvPr/>
        </p:nvPicPr>
        <p:blipFill>
          <a:blip r:embed="rId30" cstate="print"/>
          <a:stretch>
            <a:fillRect/>
          </a:stretch>
        </p:blipFill>
        <p:spPr>
          <a:xfrm>
            <a:off x="10199382" y="691689"/>
            <a:ext cx="72768" cy="112664"/>
          </a:xfrm>
          <a:prstGeom prst="rect">
            <a:avLst/>
          </a:prstGeom>
        </p:spPr>
      </p:pic>
      <p:pic>
        <p:nvPicPr>
          <p:cNvPr id="259" name="object 109">
            <a:extLst>
              <a:ext uri="{FF2B5EF4-FFF2-40B4-BE49-F238E27FC236}">
                <a16:creationId xmlns:a16="http://schemas.microsoft.com/office/drawing/2014/main" id="{19DDDDA8-C177-4117-9950-8EF2412D525F}"/>
              </a:ext>
            </a:extLst>
          </p:cNvPr>
          <p:cNvPicPr/>
          <p:nvPr/>
        </p:nvPicPr>
        <p:blipFill>
          <a:blip r:embed="rId26" cstate="print"/>
          <a:stretch>
            <a:fillRect/>
          </a:stretch>
        </p:blipFill>
        <p:spPr>
          <a:xfrm>
            <a:off x="8364581" y="1907623"/>
            <a:ext cx="73021" cy="110652"/>
          </a:xfrm>
          <a:prstGeom prst="rect">
            <a:avLst/>
          </a:prstGeom>
        </p:spPr>
      </p:pic>
      <p:pic>
        <p:nvPicPr>
          <p:cNvPr id="260" name="object 110">
            <a:extLst>
              <a:ext uri="{FF2B5EF4-FFF2-40B4-BE49-F238E27FC236}">
                <a16:creationId xmlns:a16="http://schemas.microsoft.com/office/drawing/2014/main" id="{37953389-F02A-4733-8EF2-7832F62F6666}"/>
              </a:ext>
            </a:extLst>
          </p:cNvPr>
          <p:cNvPicPr/>
          <p:nvPr/>
        </p:nvPicPr>
        <p:blipFill>
          <a:blip r:embed="rId45" cstate="print"/>
          <a:stretch>
            <a:fillRect/>
          </a:stretch>
        </p:blipFill>
        <p:spPr>
          <a:xfrm>
            <a:off x="8354820" y="2325369"/>
            <a:ext cx="72768" cy="112588"/>
          </a:xfrm>
          <a:prstGeom prst="rect">
            <a:avLst/>
          </a:prstGeom>
        </p:spPr>
      </p:pic>
      <p:pic>
        <p:nvPicPr>
          <p:cNvPr id="261" name="object 111">
            <a:extLst>
              <a:ext uri="{FF2B5EF4-FFF2-40B4-BE49-F238E27FC236}">
                <a16:creationId xmlns:a16="http://schemas.microsoft.com/office/drawing/2014/main" id="{1B82C9EC-3498-4E8E-842A-D5DB148F5F25}"/>
              </a:ext>
            </a:extLst>
          </p:cNvPr>
          <p:cNvPicPr/>
          <p:nvPr/>
        </p:nvPicPr>
        <p:blipFill>
          <a:blip r:embed="rId46" cstate="print"/>
          <a:stretch>
            <a:fillRect/>
          </a:stretch>
        </p:blipFill>
        <p:spPr>
          <a:xfrm>
            <a:off x="9258972" y="2365283"/>
            <a:ext cx="71373" cy="110652"/>
          </a:xfrm>
          <a:prstGeom prst="rect">
            <a:avLst/>
          </a:prstGeom>
        </p:spPr>
      </p:pic>
      <p:pic>
        <p:nvPicPr>
          <p:cNvPr id="262" name="object 112">
            <a:extLst>
              <a:ext uri="{FF2B5EF4-FFF2-40B4-BE49-F238E27FC236}">
                <a16:creationId xmlns:a16="http://schemas.microsoft.com/office/drawing/2014/main" id="{23EC5E00-C366-4B48-9B05-EE6709581E37}"/>
              </a:ext>
            </a:extLst>
          </p:cNvPr>
          <p:cNvPicPr/>
          <p:nvPr/>
        </p:nvPicPr>
        <p:blipFill>
          <a:blip r:embed="rId47" cstate="print"/>
          <a:stretch>
            <a:fillRect/>
          </a:stretch>
        </p:blipFill>
        <p:spPr>
          <a:xfrm>
            <a:off x="9286541" y="1926699"/>
            <a:ext cx="74991" cy="112500"/>
          </a:xfrm>
          <a:prstGeom prst="rect">
            <a:avLst/>
          </a:prstGeom>
        </p:spPr>
      </p:pic>
      <p:pic>
        <p:nvPicPr>
          <p:cNvPr id="264" name="Рисунок 263">
            <a:extLst>
              <a:ext uri="{FF2B5EF4-FFF2-40B4-BE49-F238E27FC236}">
                <a16:creationId xmlns:a16="http://schemas.microsoft.com/office/drawing/2014/main" id="{DED19FD8-A8E0-42A9-BEEB-1463CFD7CD61}"/>
              </a:ext>
            </a:extLst>
          </p:cNvPr>
          <p:cNvPicPr>
            <a:picLocks noChangeAspect="1"/>
          </p:cNvPicPr>
          <p:nvPr/>
        </p:nvPicPr>
        <p:blipFill>
          <a:blip r:embed="rId48"/>
          <a:stretch>
            <a:fillRect/>
          </a:stretch>
        </p:blipFill>
        <p:spPr>
          <a:xfrm>
            <a:off x="3472009" y="3609549"/>
            <a:ext cx="5984722" cy="2708087"/>
          </a:xfrm>
          <a:prstGeom prst="rect">
            <a:avLst/>
          </a:prstGeom>
        </p:spPr>
      </p:pic>
      <p:sp>
        <p:nvSpPr>
          <p:cNvPr id="266" name="TextBox 265">
            <a:extLst>
              <a:ext uri="{FF2B5EF4-FFF2-40B4-BE49-F238E27FC236}">
                <a16:creationId xmlns:a16="http://schemas.microsoft.com/office/drawing/2014/main" id="{86B5BEEA-1BB8-45F8-9AF9-E1C76F5AD6E2}"/>
              </a:ext>
            </a:extLst>
          </p:cNvPr>
          <p:cNvSpPr txBox="1"/>
          <p:nvPr/>
        </p:nvSpPr>
        <p:spPr>
          <a:xfrm>
            <a:off x="268566" y="97263"/>
            <a:ext cx="1797466" cy="523220"/>
          </a:xfrm>
          <a:prstGeom prst="rect">
            <a:avLst/>
          </a:prstGeom>
          <a:noFill/>
        </p:spPr>
        <p:txBody>
          <a:bodyPr wrap="square">
            <a:spAutoFit/>
          </a:bodyPr>
          <a:lstStyle/>
          <a:p>
            <a:r>
              <a:rPr lang="en-GB" sz="2800" b="1" dirty="0">
                <a:solidFill>
                  <a:srgbClr val="00AF50"/>
                </a:solidFill>
                <a:latin typeface="Times New Roman"/>
                <a:cs typeface="Times New Roman"/>
              </a:rPr>
              <a:t>E</a:t>
            </a:r>
            <a:r>
              <a:rPr lang="en-GB" sz="2800" b="1" spc="-10" dirty="0">
                <a:solidFill>
                  <a:srgbClr val="00AF50"/>
                </a:solidFill>
                <a:latin typeface="Times New Roman"/>
                <a:cs typeface="Times New Roman"/>
              </a:rPr>
              <a:t>x</a:t>
            </a:r>
            <a:r>
              <a:rPr lang="en-GB" sz="2800" b="1" dirty="0">
                <a:solidFill>
                  <a:srgbClr val="00AF50"/>
                </a:solidFill>
                <a:latin typeface="Times New Roman"/>
                <a:cs typeface="Times New Roman"/>
              </a:rPr>
              <a:t>amples</a:t>
            </a:r>
            <a:endParaRPr lang="en-GB" sz="2800" dirty="0"/>
          </a:p>
        </p:txBody>
      </p:sp>
    </p:spTree>
    <p:extLst>
      <p:ext uri="{BB962C8B-B14F-4D97-AF65-F5344CB8AC3E}">
        <p14:creationId xmlns:p14="http://schemas.microsoft.com/office/powerpoint/2010/main" val="149490165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a:extLst>
              <a:ext uri="{FF2B5EF4-FFF2-40B4-BE49-F238E27FC236}">
                <a16:creationId xmlns:a16="http://schemas.microsoft.com/office/drawing/2014/main" id="{4EA673C1-2374-4B7C-B7D0-CA42E919C999}"/>
              </a:ext>
            </a:extLst>
          </p:cNvPr>
          <p:cNvSpPr>
            <a:spLocks noGrp="1"/>
          </p:cNvSpPr>
          <p:nvPr>
            <p:ph type="sldNum" sz="quarter" idx="12"/>
          </p:nvPr>
        </p:nvSpPr>
        <p:spPr/>
        <p:txBody>
          <a:bodyPr/>
          <a:lstStyle/>
          <a:p>
            <a:fld id="{93C419CB-0CF1-4F10-90F9-42551F8968FF}" type="slidenum">
              <a:rPr lang="en-GB" smtClean="0"/>
              <a:t>26</a:t>
            </a:fld>
            <a:endParaRPr lang="en-GB"/>
          </a:p>
        </p:txBody>
      </p:sp>
      <p:sp>
        <p:nvSpPr>
          <p:cNvPr id="4" name="object 3">
            <a:extLst>
              <a:ext uri="{FF2B5EF4-FFF2-40B4-BE49-F238E27FC236}">
                <a16:creationId xmlns:a16="http://schemas.microsoft.com/office/drawing/2014/main" id="{780DA871-A0ED-4F70-8551-851D1DE96706}"/>
              </a:ext>
            </a:extLst>
          </p:cNvPr>
          <p:cNvSpPr txBox="1"/>
          <p:nvPr/>
        </p:nvSpPr>
        <p:spPr>
          <a:xfrm>
            <a:off x="189362" y="1158005"/>
            <a:ext cx="10596569" cy="5554982"/>
          </a:xfrm>
          <a:prstGeom prst="rect">
            <a:avLst/>
          </a:prstGeom>
        </p:spPr>
        <p:txBody>
          <a:bodyPr vert="horz" wrap="square" lIns="0" tIns="155575" rIns="0" bIns="0" rtlCol="0">
            <a:spAutoFit/>
          </a:bodyPr>
          <a:lstStyle/>
          <a:p>
            <a:pPr marL="546100" algn="just">
              <a:lnSpc>
                <a:spcPct val="100000"/>
              </a:lnSpc>
              <a:spcBef>
                <a:spcPts val="1225"/>
              </a:spcBef>
            </a:pPr>
            <a:r>
              <a:rPr sz="1800" b="1" spc="-5" dirty="0">
                <a:solidFill>
                  <a:srgbClr val="00AF50"/>
                </a:solidFill>
                <a:latin typeface="Times New Roman"/>
                <a:cs typeface="Times New Roman"/>
              </a:rPr>
              <a:t>Definitions:</a:t>
            </a:r>
            <a:endParaRPr sz="1800" dirty="0">
              <a:latin typeface="Times New Roman"/>
              <a:cs typeface="Times New Roman"/>
            </a:endParaRPr>
          </a:p>
          <a:p>
            <a:pPr marL="546100" marR="83820" indent="-533400" algn="just">
              <a:lnSpc>
                <a:spcPct val="150100"/>
              </a:lnSpc>
              <a:spcBef>
                <a:spcPts val="45"/>
              </a:spcBef>
              <a:buFont typeface="Arial MT"/>
              <a:buChar char="•"/>
              <a:tabLst>
                <a:tab pos="545465" algn="l"/>
                <a:tab pos="546100" algn="l"/>
              </a:tabLst>
            </a:pPr>
            <a:r>
              <a:rPr sz="1800" spc="-5" dirty="0">
                <a:solidFill>
                  <a:srgbClr val="C00000"/>
                </a:solidFill>
                <a:latin typeface="Times New Roman"/>
                <a:cs typeface="Times New Roman"/>
              </a:rPr>
              <a:t>Fusion: </a:t>
            </a:r>
            <a:r>
              <a:rPr sz="1800" dirty="0">
                <a:latin typeface="Times New Roman"/>
                <a:cs typeface="Times New Roman"/>
              </a:rPr>
              <a:t>This term is used to describe the process of joining two separate rings </a:t>
            </a:r>
            <a:r>
              <a:rPr sz="1800" spc="5" dirty="0">
                <a:latin typeface="Times New Roman"/>
                <a:cs typeface="Times New Roman"/>
              </a:rPr>
              <a:t> </a:t>
            </a:r>
            <a:r>
              <a:rPr sz="1800" spc="-5" dirty="0">
                <a:latin typeface="Times New Roman"/>
                <a:cs typeface="Times New Roman"/>
              </a:rPr>
              <a:t>with</a:t>
            </a:r>
            <a:r>
              <a:rPr sz="1800" spc="5" dirty="0">
                <a:latin typeface="Times New Roman"/>
                <a:cs typeface="Times New Roman"/>
              </a:rPr>
              <a:t> </a:t>
            </a:r>
            <a:r>
              <a:rPr sz="1800" spc="-5" dirty="0">
                <a:latin typeface="Times New Roman"/>
                <a:cs typeface="Times New Roman"/>
              </a:rPr>
              <a:t>the</a:t>
            </a:r>
            <a:r>
              <a:rPr sz="1800" spc="5" dirty="0">
                <a:latin typeface="Times New Roman"/>
                <a:cs typeface="Times New Roman"/>
              </a:rPr>
              <a:t> </a:t>
            </a:r>
            <a:r>
              <a:rPr sz="1800" spc="-5" dirty="0">
                <a:latin typeface="Times New Roman"/>
                <a:cs typeface="Times New Roman"/>
              </a:rPr>
              <a:t>maximum</a:t>
            </a:r>
            <a:r>
              <a:rPr sz="1800" spc="10" dirty="0">
                <a:latin typeface="Times New Roman"/>
                <a:cs typeface="Times New Roman"/>
              </a:rPr>
              <a:t> </a:t>
            </a:r>
            <a:r>
              <a:rPr sz="1800" spc="-5" dirty="0">
                <a:latin typeface="Times New Roman"/>
                <a:cs typeface="Times New Roman"/>
              </a:rPr>
              <a:t>number</a:t>
            </a:r>
            <a:r>
              <a:rPr sz="1800" spc="15" dirty="0">
                <a:latin typeface="Times New Roman"/>
                <a:cs typeface="Times New Roman"/>
              </a:rPr>
              <a:t> </a:t>
            </a:r>
            <a:r>
              <a:rPr sz="1800" spc="-5" dirty="0">
                <a:latin typeface="Times New Roman"/>
                <a:cs typeface="Times New Roman"/>
              </a:rPr>
              <a:t>of</a:t>
            </a:r>
            <a:r>
              <a:rPr sz="1800" spc="10" dirty="0">
                <a:latin typeface="Times New Roman"/>
                <a:cs typeface="Times New Roman"/>
              </a:rPr>
              <a:t> </a:t>
            </a:r>
            <a:r>
              <a:rPr sz="1800" dirty="0">
                <a:latin typeface="Times New Roman"/>
                <a:cs typeface="Times New Roman"/>
              </a:rPr>
              <a:t>non-cumulative</a:t>
            </a:r>
            <a:r>
              <a:rPr sz="1800" spc="-10" dirty="0">
                <a:latin typeface="Times New Roman"/>
                <a:cs typeface="Times New Roman"/>
              </a:rPr>
              <a:t> </a:t>
            </a:r>
            <a:r>
              <a:rPr sz="1800" spc="-5" dirty="0">
                <a:latin typeface="Times New Roman"/>
                <a:cs typeface="Times New Roman"/>
              </a:rPr>
              <a:t>double</a:t>
            </a:r>
            <a:r>
              <a:rPr sz="1800" spc="10" dirty="0">
                <a:latin typeface="Times New Roman"/>
                <a:cs typeface="Times New Roman"/>
              </a:rPr>
              <a:t> </a:t>
            </a:r>
            <a:r>
              <a:rPr sz="1800" spc="-5" dirty="0">
                <a:latin typeface="Times New Roman"/>
                <a:cs typeface="Times New Roman"/>
              </a:rPr>
              <a:t>bonds</a:t>
            </a:r>
            <a:r>
              <a:rPr sz="1800" spc="10" dirty="0">
                <a:latin typeface="Times New Roman"/>
                <a:cs typeface="Times New Roman"/>
              </a:rPr>
              <a:t> </a:t>
            </a:r>
            <a:r>
              <a:rPr sz="1800" i="1" dirty="0">
                <a:latin typeface="Times New Roman"/>
                <a:cs typeface="Times New Roman"/>
              </a:rPr>
              <a:t>via</a:t>
            </a:r>
            <a:r>
              <a:rPr sz="1800" i="1" spc="5" dirty="0">
                <a:latin typeface="Times New Roman"/>
                <a:cs typeface="Times New Roman"/>
              </a:rPr>
              <a:t> </a:t>
            </a:r>
            <a:r>
              <a:rPr sz="1800" spc="-5" dirty="0">
                <a:latin typeface="Times New Roman"/>
                <a:cs typeface="Times New Roman"/>
              </a:rPr>
              <a:t>two</a:t>
            </a:r>
            <a:r>
              <a:rPr sz="1800" dirty="0">
                <a:latin typeface="Times New Roman"/>
                <a:cs typeface="Times New Roman"/>
              </a:rPr>
              <a:t> </a:t>
            </a:r>
            <a:r>
              <a:rPr sz="1800" spc="-5" dirty="0">
                <a:latin typeface="Times New Roman"/>
                <a:cs typeface="Times New Roman"/>
              </a:rPr>
              <a:t>atoms</a:t>
            </a:r>
            <a:r>
              <a:rPr sz="1800" spc="5" dirty="0">
                <a:latin typeface="Times New Roman"/>
                <a:cs typeface="Times New Roman"/>
              </a:rPr>
              <a:t> </a:t>
            </a:r>
            <a:r>
              <a:rPr sz="1800" dirty="0">
                <a:latin typeface="Times New Roman"/>
                <a:cs typeface="Times New Roman"/>
              </a:rPr>
              <a:t>and </a:t>
            </a:r>
            <a:r>
              <a:rPr sz="1800" spc="-434" dirty="0">
                <a:latin typeface="Times New Roman"/>
                <a:cs typeface="Times New Roman"/>
              </a:rPr>
              <a:t> </a:t>
            </a:r>
            <a:r>
              <a:rPr sz="1800" dirty="0">
                <a:latin typeface="Times New Roman"/>
                <a:cs typeface="Times New Roman"/>
              </a:rPr>
              <a:t>one</a:t>
            </a:r>
            <a:r>
              <a:rPr sz="1800" spc="-5" dirty="0">
                <a:latin typeface="Times New Roman"/>
                <a:cs typeface="Times New Roman"/>
              </a:rPr>
              <a:t> common</a:t>
            </a:r>
            <a:r>
              <a:rPr sz="1800" spc="15" dirty="0">
                <a:latin typeface="Times New Roman"/>
                <a:cs typeface="Times New Roman"/>
              </a:rPr>
              <a:t> </a:t>
            </a:r>
            <a:r>
              <a:rPr sz="1800" dirty="0">
                <a:latin typeface="Times New Roman"/>
                <a:cs typeface="Times New Roman"/>
              </a:rPr>
              <a:t>bond.</a:t>
            </a:r>
          </a:p>
          <a:p>
            <a:pPr marL="546100" marR="5080" indent="-533400" algn="just">
              <a:lnSpc>
                <a:spcPct val="150100"/>
              </a:lnSpc>
              <a:spcBef>
                <a:spcPts val="430"/>
              </a:spcBef>
              <a:buClr>
                <a:srgbClr val="800000"/>
              </a:buClr>
              <a:buFont typeface="Arial MT"/>
              <a:buChar char="•"/>
              <a:tabLst>
                <a:tab pos="545465" algn="l"/>
                <a:tab pos="546100" algn="l"/>
              </a:tabLst>
            </a:pPr>
            <a:r>
              <a:rPr sz="1800" i="1" spc="-5" dirty="0">
                <a:solidFill>
                  <a:srgbClr val="C00000"/>
                </a:solidFill>
                <a:latin typeface="Times New Roman"/>
                <a:cs typeface="Times New Roman"/>
              </a:rPr>
              <a:t>Ortho-fused</a:t>
            </a:r>
            <a:r>
              <a:rPr sz="1800" i="1" spc="175" dirty="0">
                <a:solidFill>
                  <a:srgbClr val="C00000"/>
                </a:solidFill>
                <a:latin typeface="Times New Roman"/>
                <a:cs typeface="Times New Roman"/>
              </a:rPr>
              <a:t> </a:t>
            </a:r>
            <a:r>
              <a:rPr sz="1800" spc="-5" dirty="0">
                <a:solidFill>
                  <a:srgbClr val="C00000"/>
                </a:solidFill>
                <a:latin typeface="Times New Roman"/>
                <a:cs typeface="Times New Roman"/>
              </a:rPr>
              <a:t>rings:</a:t>
            </a:r>
            <a:r>
              <a:rPr sz="1800" spc="180" dirty="0">
                <a:solidFill>
                  <a:srgbClr val="C00000"/>
                </a:solidFill>
                <a:latin typeface="Times New Roman"/>
                <a:cs typeface="Times New Roman"/>
              </a:rPr>
              <a:t> </a:t>
            </a:r>
            <a:r>
              <a:rPr sz="1800" spc="-5" dirty="0">
                <a:latin typeface="Times New Roman"/>
                <a:cs typeface="Times New Roman"/>
              </a:rPr>
              <a:t>are</a:t>
            </a:r>
            <a:r>
              <a:rPr sz="1800" spc="170" dirty="0">
                <a:latin typeface="Times New Roman"/>
                <a:cs typeface="Times New Roman"/>
              </a:rPr>
              <a:t> </a:t>
            </a:r>
            <a:r>
              <a:rPr sz="1800" dirty="0">
                <a:latin typeface="Times New Roman"/>
                <a:cs typeface="Times New Roman"/>
              </a:rPr>
              <a:t>those</a:t>
            </a:r>
            <a:r>
              <a:rPr sz="1800" spc="170" dirty="0">
                <a:latin typeface="Times New Roman"/>
                <a:cs typeface="Times New Roman"/>
              </a:rPr>
              <a:t> </a:t>
            </a:r>
            <a:r>
              <a:rPr sz="1800" spc="-5" dirty="0">
                <a:latin typeface="Times New Roman"/>
                <a:cs typeface="Times New Roman"/>
              </a:rPr>
              <a:t>rings</a:t>
            </a:r>
            <a:r>
              <a:rPr sz="1800" spc="170" dirty="0">
                <a:latin typeface="Times New Roman"/>
                <a:cs typeface="Times New Roman"/>
              </a:rPr>
              <a:t> </a:t>
            </a:r>
            <a:r>
              <a:rPr sz="1800" dirty="0">
                <a:latin typeface="Times New Roman"/>
                <a:cs typeface="Times New Roman"/>
              </a:rPr>
              <a:t>that</a:t>
            </a:r>
            <a:r>
              <a:rPr sz="1800" spc="170" dirty="0">
                <a:latin typeface="Times New Roman"/>
                <a:cs typeface="Times New Roman"/>
              </a:rPr>
              <a:t> </a:t>
            </a:r>
            <a:r>
              <a:rPr sz="1800" spc="-5" dirty="0">
                <a:latin typeface="Times New Roman"/>
                <a:cs typeface="Times New Roman"/>
              </a:rPr>
              <a:t>have</a:t>
            </a:r>
            <a:r>
              <a:rPr sz="1800" spc="175" dirty="0">
                <a:latin typeface="Times New Roman"/>
                <a:cs typeface="Times New Roman"/>
              </a:rPr>
              <a:t> </a:t>
            </a:r>
            <a:r>
              <a:rPr sz="1800" spc="-5" dirty="0">
                <a:latin typeface="Times New Roman"/>
                <a:cs typeface="Times New Roman"/>
              </a:rPr>
              <a:t>only</a:t>
            </a:r>
            <a:r>
              <a:rPr sz="1800" spc="175" dirty="0">
                <a:latin typeface="Times New Roman"/>
                <a:cs typeface="Times New Roman"/>
              </a:rPr>
              <a:t> </a:t>
            </a:r>
            <a:r>
              <a:rPr sz="1800" spc="-5" dirty="0">
                <a:latin typeface="Times New Roman"/>
                <a:cs typeface="Times New Roman"/>
              </a:rPr>
              <a:t>two</a:t>
            </a:r>
            <a:r>
              <a:rPr sz="1800" spc="160" dirty="0">
                <a:latin typeface="Times New Roman"/>
                <a:cs typeface="Times New Roman"/>
              </a:rPr>
              <a:t> </a:t>
            </a:r>
            <a:r>
              <a:rPr sz="1800" spc="-5" dirty="0">
                <a:latin typeface="Times New Roman"/>
                <a:cs typeface="Times New Roman"/>
              </a:rPr>
              <a:t>common</a:t>
            </a:r>
            <a:r>
              <a:rPr sz="1800" spc="180" dirty="0">
                <a:latin typeface="Times New Roman"/>
                <a:cs typeface="Times New Roman"/>
              </a:rPr>
              <a:t> </a:t>
            </a:r>
            <a:r>
              <a:rPr sz="1800" spc="-5" dirty="0">
                <a:latin typeface="Times New Roman"/>
                <a:cs typeface="Times New Roman"/>
              </a:rPr>
              <a:t>atoms</a:t>
            </a:r>
            <a:r>
              <a:rPr sz="1800" spc="170" dirty="0">
                <a:latin typeface="Times New Roman"/>
                <a:cs typeface="Times New Roman"/>
              </a:rPr>
              <a:t> </a:t>
            </a:r>
            <a:r>
              <a:rPr sz="1800" dirty="0">
                <a:latin typeface="Times New Roman"/>
                <a:cs typeface="Times New Roman"/>
              </a:rPr>
              <a:t>and</a:t>
            </a:r>
            <a:r>
              <a:rPr sz="1800" spc="180" dirty="0">
                <a:latin typeface="Times New Roman"/>
                <a:cs typeface="Times New Roman"/>
              </a:rPr>
              <a:t> </a:t>
            </a:r>
            <a:r>
              <a:rPr sz="1800" spc="-5" dirty="0">
                <a:latin typeface="Times New Roman"/>
                <a:cs typeface="Times New Roman"/>
              </a:rPr>
              <a:t>one </a:t>
            </a:r>
            <a:r>
              <a:rPr sz="1800" dirty="0">
                <a:latin typeface="Times New Roman"/>
                <a:cs typeface="Times New Roman"/>
              </a:rPr>
              <a:t>bond,</a:t>
            </a:r>
            <a:r>
              <a:rPr sz="1800" spc="-5" dirty="0">
                <a:latin typeface="Times New Roman"/>
                <a:cs typeface="Times New Roman"/>
              </a:rPr>
              <a:t> </a:t>
            </a:r>
            <a:r>
              <a:rPr sz="1800" dirty="0">
                <a:latin typeface="Times New Roman"/>
                <a:cs typeface="Times New Roman"/>
              </a:rPr>
              <a:t>example;</a:t>
            </a:r>
            <a:r>
              <a:rPr sz="1800" spc="-15" dirty="0">
                <a:latin typeface="Times New Roman"/>
                <a:cs typeface="Times New Roman"/>
              </a:rPr>
              <a:t> </a:t>
            </a:r>
            <a:r>
              <a:rPr sz="1800" dirty="0">
                <a:solidFill>
                  <a:srgbClr val="C00000"/>
                </a:solidFill>
                <a:latin typeface="Times New Roman"/>
                <a:cs typeface="Times New Roman"/>
              </a:rPr>
              <a:t>Naphthalene</a:t>
            </a:r>
            <a:endParaRPr lang="uk-UA" sz="1800" dirty="0">
              <a:solidFill>
                <a:srgbClr val="C00000"/>
              </a:solidFill>
              <a:latin typeface="Times New Roman"/>
              <a:cs typeface="Times New Roman"/>
            </a:endParaRPr>
          </a:p>
          <a:p>
            <a:pPr marL="546100" marR="5080" indent="-533400" algn="just">
              <a:lnSpc>
                <a:spcPct val="150100"/>
              </a:lnSpc>
              <a:spcBef>
                <a:spcPts val="430"/>
              </a:spcBef>
              <a:buClr>
                <a:srgbClr val="800000"/>
              </a:buClr>
              <a:buFont typeface="Arial MT"/>
              <a:buChar char="•"/>
              <a:tabLst>
                <a:tab pos="545465" algn="l"/>
                <a:tab pos="546100" algn="l"/>
              </a:tabLst>
            </a:pPr>
            <a:r>
              <a:rPr lang="en-GB" dirty="0"/>
              <a:t>	</a:t>
            </a:r>
            <a:r>
              <a:rPr lang="en-GB" sz="1800" i="1" spc="-5" dirty="0">
                <a:solidFill>
                  <a:srgbClr val="C00000"/>
                </a:solidFill>
                <a:latin typeface="Times New Roman"/>
                <a:cs typeface="Times New Roman"/>
              </a:rPr>
              <a:t>Ortho-and peri-fused rings: </a:t>
            </a:r>
            <a:r>
              <a:rPr lang="en-GB" sz="1800" dirty="0">
                <a:latin typeface="Times New Roman"/>
                <a:cs typeface="Times New Roman"/>
              </a:rPr>
              <a:t>are those found in a polycyclic </a:t>
            </a:r>
            <a:r>
              <a:rPr lang="en-GB" sz="1800" spc="-5" dirty="0">
                <a:latin typeface="Times New Roman"/>
                <a:cs typeface="Times New Roman"/>
              </a:rPr>
              <a:t>compound </a:t>
            </a:r>
            <a:r>
              <a:rPr lang="en-GB" sz="1800" dirty="0">
                <a:latin typeface="Times New Roman"/>
                <a:cs typeface="Times New Roman"/>
              </a:rPr>
              <a:t>with a </a:t>
            </a:r>
            <a:r>
              <a:rPr lang="en-GB" sz="1800" spc="5" dirty="0">
                <a:latin typeface="Times New Roman"/>
                <a:cs typeface="Times New Roman"/>
              </a:rPr>
              <a:t> </a:t>
            </a:r>
            <a:r>
              <a:rPr lang="en-GB" sz="1800" dirty="0">
                <a:latin typeface="Times New Roman"/>
                <a:cs typeface="Times New Roman"/>
              </a:rPr>
              <a:t>ring that </a:t>
            </a:r>
            <a:r>
              <a:rPr lang="en-GB" sz="1800" spc="-5" dirty="0">
                <a:latin typeface="Times New Roman"/>
                <a:cs typeface="Times New Roman"/>
              </a:rPr>
              <a:t>is </a:t>
            </a:r>
            <a:r>
              <a:rPr lang="en-GB" sz="1800" i="1" spc="-5" dirty="0">
                <a:latin typeface="Times New Roman"/>
                <a:cs typeface="Times New Roman"/>
              </a:rPr>
              <a:t>ortho- </a:t>
            </a:r>
            <a:r>
              <a:rPr lang="en-GB" sz="1800" dirty="0">
                <a:latin typeface="Times New Roman"/>
                <a:cs typeface="Times New Roman"/>
              </a:rPr>
              <a:t>fused to </a:t>
            </a:r>
            <a:r>
              <a:rPr lang="en-GB" sz="1800" spc="-5" dirty="0">
                <a:latin typeface="Times New Roman"/>
                <a:cs typeface="Times New Roman"/>
              </a:rPr>
              <a:t>different sides </a:t>
            </a:r>
            <a:r>
              <a:rPr lang="en-GB" sz="1800" dirty="0">
                <a:latin typeface="Times New Roman"/>
                <a:cs typeface="Times New Roman"/>
              </a:rPr>
              <a:t>of </a:t>
            </a:r>
            <a:r>
              <a:rPr lang="en-GB" sz="1800" spc="-5" dirty="0">
                <a:latin typeface="Times New Roman"/>
                <a:cs typeface="Times New Roman"/>
              </a:rPr>
              <a:t>two other </a:t>
            </a:r>
            <a:r>
              <a:rPr lang="en-GB" sz="1800" dirty="0">
                <a:latin typeface="Times New Roman"/>
                <a:cs typeface="Times New Roman"/>
              </a:rPr>
              <a:t>rings </a:t>
            </a:r>
            <a:r>
              <a:rPr lang="en-GB" sz="1800" spc="-5" dirty="0">
                <a:latin typeface="Times New Roman"/>
                <a:cs typeface="Times New Roman"/>
              </a:rPr>
              <a:t>that are themselves </a:t>
            </a:r>
            <a:r>
              <a:rPr lang="en-GB" sz="1800" dirty="0">
                <a:latin typeface="Times New Roman"/>
                <a:cs typeface="Times New Roman"/>
              </a:rPr>
              <a:t> ortho-fused together </a:t>
            </a:r>
            <a:r>
              <a:rPr lang="en-GB" sz="1800" spc="-5" dirty="0">
                <a:latin typeface="Times New Roman"/>
                <a:cs typeface="Times New Roman"/>
              </a:rPr>
              <a:t>(i.e. </a:t>
            </a:r>
            <a:r>
              <a:rPr lang="en-GB" sz="1800" dirty="0">
                <a:latin typeface="Times New Roman"/>
                <a:cs typeface="Times New Roman"/>
              </a:rPr>
              <a:t>there </a:t>
            </a:r>
            <a:r>
              <a:rPr lang="en-GB" sz="1800" spc="-5" dirty="0">
                <a:latin typeface="Times New Roman"/>
                <a:cs typeface="Times New Roman"/>
              </a:rPr>
              <a:t>are </a:t>
            </a:r>
            <a:r>
              <a:rPr lang="en-GB" sz="1800" dirty="0">
                <a:latin typeface="Times New Roman"/>
                <a:cs typeface="Times New Roman"/>
              </a:rPr>
              <a:t>three </a:t>
            </a:r>
            <a:r>
              <a:rPr lang="en-GB" sz="1800" spc="-5" dirty="0">
                <a:latin typeface="Times New Roman"/>
                <a:cs typeface="Times New Roman"/>
              </a:rPr>
              <a:t>common atoms between the first </a:t>
            </a:r>
            <a:r>
              <a:rPr lang="en-GB" sz="1800" dirty="0">
                <a:latin typeface="Times New Roman"/>
                <a:cs typeface="Times New Roman"/>
              </a:rPr>
              <a:t>ring </a:t>
            </a:r>
            <a:r>
              <a:rPr lang="en-GB" sz="1800" spc="5" dirty="0">
                <a:latin typeface="Times New Roman"/>
                <a:cs typeface="Times New Roman"/>
              </a:rPr>
              <a:t> </a:t>
            </a:r>
            <a:r>
              <a:rPr lang="en-GB" sz="1800" dirty="0">
                <a:latin typeface="Times New Roman"/>
                <a:cs typeface="Times New Roman"/>
              </a:rPr>
              <a:t>and the </a:t>
            </a:r>
            <a:r>
              <a:rPr lang="en-GB" sz="1800" spc="-5" dirty="0">
                <a:latin typeface="Times New Roman"/>
                <a:cs typeface="Times New Roman"/>
              </a:rPr>
              <a:t>other two), example; </a:t>
            </a:r>
            <a:r>
              <a:rPr lang="en-GB" sz="1800" spc="-5" dirty="0">
                <a:solidFill>
                  <a:srgbClr val="C00000"/>
                </a:solidFill>
                <a:latin typeface="Times New Roman"/>
                <a:cs typeface="Times New Roman"/>
              </a:rPr>
              <a:t>1</a:t>
            </a:r>
            <a:r>
              <a:rPr lang="en-GB" sz="1800" i="1" spc="-5" dirty="0">
                <a:solidFill>
                  <a:srgbClr val="C00000"/>
                </a:solidFill>
                <a:latin typeface="Times New Roman"/>
                <a:cs typeface="Times New Roman"/>
              </a:rPr>
              <a:t>H</a:t>
            </a:r>
            <a:r>
              <a:rPr lang="en-GB" sz="1800" spc="-5" dirty="0">
                <a:solidFill>
                  <a:srgbClr val="C00000"/>
                </a:solidFill>
                <a:latin typeface="Times New Roman"/>
                <a:cs typeface="Times New Roman"/>
              </a:rPr>
              <a:t>-phenalene </a:t>
            </a:r>
            <a:r>
              <a:rPr lang="en-GB" sz="1800" spc="-5" dirty="0">
                <a:latin typeface="Times New Roman"/>
                <a:cs typeface="Times New Roman"/>
              </a:rPr>
              <a:t>is considered as being composed </a:t>
            </a:r>
            <a:r>
              <a:rPr lang="en-GB" sz="1800" dirty="0">
                <a:latin typeface="Times New Roman"/>
                <a:cs typeface="Times New Roman"/>
              </a:rPr>
              <a:t>of </a:t>
            </a:r>
            <a:r>
              <a:rPr lang="en-GB" sz="1800" spc="5" dirty="0">
                <a:latin typeface="Times New Roman"/>
                <a:cs typeface="Times New Roman"/>
              </a:rPr>
              <a:t> </a:t>
            </a:r>
            <a:r>
              <a:rPr lang="en-GB" sz="1800" dirty="0">
                <a:latin typeface="Times New Roman"/>
                <a:cs typeface="Times New Roman"/>
              </a:rPr>
              <a:t>three</a:t>
            </a:r>
            <a:r>
              <a:rPr lang="en-GB" sz="1800" spc="-20" dirty="0">
                <a:latin typeface="Times New Roman"/>
                <a:cs typeface="Times New Roman"/>
              </a:rPr>
              <a:t> </a:t>
            </a:r>
            <a:r>
              <a:rPr lang="en-GB" sz="1800" dirty="0">
                <a:latin typeface="Times New Roman"/>
                <a:cs typeface="Times New Roman"/>
              </a:rPr>
              <a:t>benzene</a:t>
            </a:r>
            <a:r>
              <a:rPr lang="en-GB" sz="1800" spc="5" dirty="0">
                <a:latin typeface="Times New Roman"/>
                <a:cs typeface="Times New Roman"/>
              </a:rPr>
              <a:t> </a:t>
            </a:r>
            <a:r>
              <a:rPr lang="en-GB" sz="1800" dirty="0">
                <a:latin typeface="Times New Roman"/>
                <a:cs typeface="Times New Roman"/>
              </a:rPr>
              <a:t>rings, each</a:t>
            </a:r>
            <a:r>
              <a:rPr lang="en-GB" sz="1800" spc="-25" dirty="0">
                <a:latin typeface="Times New Roman"/>
                <a:cs typeface="Times New Roman"/>
              </a:rPr>
              <a:t> </a:t>
            </a:r>
            <a:r>
              <a:rPr lang="en-GB" sz="1800" spc="-5" dirty="0">
                <a:latin typeface="Times New Roman"/>
                <a:cs typeface="Times New Roman"/>
              </a:rPr>
              <a:t>is</a:t>
            </a:r>
            <a:r>
              <a:rPr lang="en-GB" sz="1800" dirty="0">
                <a:latin typeface="Times New Roman"/>
                <a:cs typeface="Times New Roman"/>
              </a:rPr>
              <a:t> </a:t>
            </a:r>
            <a:r>
              <a:rPr lang="en-GB" sz="1800" i="1" dirty="0">
                <a:latin typeface="Times New Roman"/>
                <a:cs typeface="Times New Roman"/>
              </a:rPr>
              <a:t>ortho</a:t>
            </a:r>
            <a:r>
              <a:rPr lang="en-GB" sz="1800" dirty="0">
                <a:latin typeface="Times New Roman"/>
                <a:cs typeface="Times New Roman"/>
              </a:rPr>
              <a:t>-</a:t>
            </a:r>
            <a:r>
              <a:rPr lang="en-GB" sz="1800" i="1" dirty="0">
                <a:latin typeface="Times New Roman"/>
                <a:cs typeface="Times New Roman"/>
              </a:rPr>
              <a:t>peri</a:t>
            </a:r>
            <a:r>
              <a:rPr lang="en-GB" sz="1800" dirty="0">
                <a:latin typeface="Times New Roman"/>
                <a:cs typeface="Times New Roman"/>
              </a:rPr>
              <a:t>-fused</a:t>
            </a:r>
            <a:r>
              <a:rPr lang="en-GB" sz="1800" spc="-5" dirty="0">
                <a:latin typeface="Times New Roman"/>
                <a:cs typeface="Times New Roman"/>
              </a:rPr>
              <a:t> </a:t>
            </a:r>
            <a:r>
              <a:rPr lang="en-GB" sz="1800" dirty="0">
                <a:latin typeface="Times New Roman"/>
                <a:cs typeface="Times New Roman"/>
              </a:rPr>
              <a:t>to</a:t>
            </a:r>
            <a:r>
              <a:rPr lang="en-GB" sz="1800" spc="-10" dirty="0">
                <a:latin typeface="Times New Roman"/>
                <a:cs typeface="Times New Roman"/>
              </a:rPr>
              <a:t> </a:t>
            </a:r>
            <a:r>
              <a:rPr lang="en-GB" sz="1800" dirty="0">
                <a:latin typeface="Times New Roman"/>
                <a:cs typeface="Times New Roman"/>
              </a:rPr>
              <a:t>the</a:t>
            </a:r>
            <a:r>
              <a:rPr lang="en-GB" sz="1800" spc="-5" dirty="0">
                <a:latin typeface="Times New Roman"/>
                <a:cs typeface="Times New Roman"/>
              </a:rPr>
              <a:t> </a:t>
            </a:r>
            <a:r>
              <a:rPr lang="en-GB" sz="1800" dirty="0">
                <a:latin typeface="Times New Roman"/>
                <a:cs typeface="Times New Roman"/>
              </a:rPr>
              <a:t>other</a:t>
            </a:r>
            <a:r>
              <a:rPr lang="en-GB" sz="1800" spc="-5" dirty="0">
                <a:latin typeface="Times New Roman"/>
                <a:cs typeface="Times New Roman"/>
              </a:rPr>
              <a:t> two.</a:t>
            </a:r>
            <a:endParaRPr lang="en-GB" sz="1800" dirty="0">
              <a:latin typeface="Times New Roman"/>
              <a:cs typeface="Times New Roman"/>
            </a:endParaRPr>
          </a:p>
          <a:p>
            <a:pPr marL="299085" marR="5080" indent="-287020" algn="just">
              <a:lnSpc>
                <a:spcPct val="150000"/>
              </a:lnSpc>
              <a:spcBef>
                <a:spcPts val="240"/>
              </a:spcBef>
              <a:buFont typeface="Arial MT"/>
              <a:buChar char="•"/>
              <a:tabLst>
                <a:tab pos="299085" algn="l"/>
                <a:tab pos="299720" algn="l"/>
              </a:tabLst>
            </a:pPr>
            <a:r>
              <a:rPr lang="en-GB" sz="1800" spc="-5" dirty="0">
                <a:solidFill>
                  <a:srgbClr val="C00000"/>
                </a:solidFill>
                <a:latin typeface="Times New Roman"/>
                <a:cs typeface="Times New Roman"/>
              </a:rPr>
              <a:t>Polycyclic</a:t>
            </a:r>
            <a:r>
              <a:rPr lang="en-GB" sz="1800" spc="315" dirty="0">
                <a:solidFill>
                  <a:srgbClr val="C00000"/>
                </a:solidFill>
                <a:latin typeface="Times New Roman"/>
                <a:cs typeface="Times New Roman"/>
              </a:rPr>
              <a:t> </a:t>
            </a:r>
            <a:r>
              <a:rPr lang="en-GB" sz="1800" spc="-5" dirty="0">
                <a:solidFill>
                  <a:srgbClr val="C00000"/>
                </a:solidFill>
                <a:latin typeface="Times New Roman"/>
                <a:cs typeface="Times New Roman"/>
              </a:rPr>
              <a:t>compounds</a:t>
            </a:r>
            <a:r>
              <a:rPr lang="en-GB" sz="1800" spc="305" dirty="0">
                <a:solidFill>
                  <a:srgbClr val="C00000"/>
                </a:solidFill>
                <a:latin typeface="Times New Roman"/>
                <a:cs typeface="Times New Roman"/>
              </a:rPr>
              <a:t> </a:t>
            </a:r>
            <a:r>
              <a:rPr lang="en-GB" sz="1800" spc="-5" dirty="0">
                <a:latin typeface="Times New Roman"/>
                <a:cs typeface="Times New Roman"/>
              </a:rPr>
              <a:t>incorporating</a:t>
            </a:r>
            <a:r>
              <a:rPr lang="en-GB" sz="1800" spc="315" dirty="0">
                <a:latin typeface="Times New Roman"/>
                <a:cs typeface="Times New Roman"/>
              </a:rPr>
              <a:t> </a:t>
            </a:r>
            <a:r>
              <a:rPr lang="en-GB" sz="1800" spc="-5" dirty="0">
                <a:latin typeface="Times New Roman"/>
                <a:cs typeface="Times New Roman"/>
              </a:rPr>
              <a:t>one</a:t>
            </a:r>
            <a:r>
              <a:rPr lang="en-GB" sz="1800" spc="310" dirty="0">
                <a:latin typeface="Times New Roman"/>
                <a:cs typeface="Times New Roman"/>
              </a:rPr>
              <a:t> </a:t>
            </a:r>
            <a:r>
              <a:rPr lang="en-GB" sz="1800" spc="-5" dirty="0">
                <a:latin typeface="Times New Roman"/>
                <a:cs typeface="Times New Roman"/>
              </a:rPr>
              <a:t>heterocyclic</a:t>
            </a:r>
            <a:r>
              <a:rPr lang="en-GB" sz="1800" spc="325" dirty="0">
                <a:latin typeface="Times New Roman"/>
                <a:cs typeface="Times New Roman"/>
              </a:rPr>
              <a:t> </a:t>
            </a:r>
            <a:r>
              <a:rPr lang="en-GB" sz="1800" dirty="0">
                <a:latin typeface="Times New Roman"/>
                <a:cs typeface="Times New Roman"/>
              </a:rPr>
              <a:t>ring</a:t>
            </a:r>
            <a:r>
              <a:rPr lang="en-GB" sz="1800" spc="310" dirty="0">
                <a:latin typeface="Times New Roman"/>
                <a:cs typeface="Times New Roman"/>
              </a:rPr>
              <a:t> </a:t>
            </a:r>
            <a:r>
              <a:rPr lang="en-GB" sz="1800" dirty="0">
                <a:latin typeface="Times New Roman"/>
                <a:cs typeface="Times New Roman"/>
              </a:rPr>
              <a:t>or</a:t>
            </a:r>
            <a:r>
              <a:rPr lang="en-GB" sz="1800" spc="305" dirty="0">
                <a:latin typeface="Times New Roman"/>
                <a:cs typeface="Times New Roman"/>
              </a:rPr>
              <a:t> </a:t>
            </a:r>
            <a:r>
              <a:rPr lang="en-GB" sz="1800" spc="-5" dirty="0">
                <a:latin typeface="Times New Roman"/>
                <a:cs typeface="Times New Roman"/>
              </a:rPr>
              <a:t>fused</a:t>
            </a:r>
            <a:r>
              <a:rPr lang="en-GB" sz="1800" spc="310" dirty="0">
                <a:latin typeface="Times New Roman"/>
                <a:cs typeface="Times New Roman"/>
              </a:rPr>
              <a:t> </a:t>
            </a:r>
            <a:r>
              <a:rPr lang="en-GB" sz="1800" spc="-5" dirty="0" err="1">
                <a:latin typeface="Times New Roman"/>
                <a:cs typeface="Times New Roman"/>
              </a:rPr>
              <a:t>heterocylic</a:t>
            </a:r>
            <a:r>
              <a:rPr lang="en-GB" sz="1800" spc="-5" dirty="0">
                <a:latin typeface="Times New Roman"/>
                <a:cs typeface="Times New Roman"/>
              </a:rPr>
              <a:t> </a:t>
            </a:r>
            <a:r>
              <a:rPr lang="en-GB" sz="1800" spc="-434" dirty="0">
                <a:latin typeface="Times New Roman"/>
                <a:cs typeface="Times New Roman"/>
              </a:rPr>
              <a:t> </a:t>
            </a:r>
            <a:r>
              <a:rPr lang="en-GB" sz="1800" dirty="0">
                <a:latin typeface="Times New Roman"/>
                <a:cs typeface="Times New Roman"/>
              </a:rPr>
              <a:t>system</a:t>
            </a:r>
            <a:r>
              <a:rPr lang="en-GB" sz="1800" spc="-25" dirty="0">
                <a:latin typeface="Times New Roman"/>
                <a:cs typeface="Times New Roman"/>
              </a:rPr>
              <a:t> </a:t>
            </a:r>
            <a:r>
              <a:rPr lang="en-GB" sz="1800" dirty="0">
                <a:latin typeface="Times New Roman"/>
                <a:cs typeface="Times New Roman"/>
              </a:rPr>
              <a:t>fused</a:t>
            </a:r>
            <a:r>
              <a:rPr lang="en-GB" sz="1800" spc="5" dirty="0">
                <a:latin typeface="Times New Roman"/>
                <a:cs typeface="Times New Roman"/>
              </a:rPr>
              <a:t> </a:t>
            </a:r>
            <a:r>
              <a:rPr lang="en-GB" sz="1800" dirty="0">
                <a:latin typeface="Times New Roman"/>
                <a:cs typeface="Times New Roman"/>
              </a:rPr>
              <a:t>to</a:t>
            </a:r>
            <a:r>
              <a:rPr lang="en-GB" sz="1800" spc="-10" dirty="0">
                <a:latin typeface="Times New Roman"/>
                <a:cs typeface="Times New Roman"/>
              </a:rPr>
              <a:t> </a:t>
            </a:r>
            <a:r>
              <a:rPr lang="en-GB" sz="1800" dirty="0">
                <a:latin typeface="Times New Roman"/>
                <a:cs typeface="Times New Roman"/>
              </a:rPr>
              <a:t>benzene</a:t>
            </a:r>
            <a:r>
              <a:rPr lang="en-GB" sz="1800" spc="-10" dirty="0">
                <a:latin typeface="Times New Roman"/>
                <a:cs typeface="Times New Roman"/>
              </a:rPr>
              <a:t> </a:t>
            </a:r>
            <a:r>
              <a:rPr lang="en-GB" sz="1800" dirty="0">
                <a:latin typeface="Times New Roman"/>
                <a:cs typeface="Times New Roman"/>
              </a:rPr>
              <a:t>are</a:t>
            </a:r>
            <a:r>
              <a:rPr lang="en-GB" sz="1800" spc="-5" dirty="0">
                <a:latin typeface="Times New Roman"/>
                <a:cs typeface="Times New Roman"/>
              </a:rPr>
              <a:t> </a:t>
            </a:r>
            <a:r>
              <a:rPr lang="en-GB" sz="1800" dirty="0">
                <a:latin typeface="Times New Roman"/>
                <a:cs typeface="Times New Roman"/>
              </a:rPr>
              <a:t>known</a:t>
            </a:r>
            <a:r>
              <a:rPr lang="en-GB" sz="1800" spc="5" dirty="0">
                <a:latin typeface="Times New Roman"/>
                <a:cs typeface="Times New Roman"/>
              </a:rPr>
              <a:t> </a:t>
            </a:r>
            <a:r>
              <a:rPr lang="en-GB" sz="1800" dirty="0">
                <a:solidFill>
                  <a:srgbClr val="578034"/>
                </a:solidFill>
                <a:latin typeface="Times New Roman"/>
                <a:cs typeface="Times New Roman"/>
              </a:rPr>
              <a:t>benzoheterocycles</a:t>
            </a:r>
            <a:r>
              <a:rPr lang="en-GB" sz="1800" dirty="0">
                <a:latin typeface="Times New Roman"/>
                <a:cs typeface="Times New Roman"/>
              </a:rPr>
              <a:t>.</a:t>
            </a:r>
          </a:p>
          <a:p>
            <a:pPr marL="299085" indent="-287020" algn="just">
              <a:lnSpc>
                <a:spcPct val="100000"/>
              </a:lnSpc>
              <a:spcBef>
                <a:spcPts val="1080"/>
              </a:spcBef>
              <a:buFont typeface="Arial MT"/>
              <a:buChar char="•"/>
              <a:tabLst>
                <a:tab pos="299085" algn="l"/>
                <a:tab pos="299720" algn="l"/>
              </a:tabLst>
            </a:pPr>
            <a:r>
              <a:rPr lang="en-GB" sz="1800" spc="-5" dirty="0">
                <a:latin typeface="Times New Roman"/>
                <a:cs typeface="Times New Roman"/>
              </a:rPr>
              <a:t>Also </a:t>
            </a:r>
            <a:r>
              <a:rPr lang="en-GB" sz="1800" dirty="0">
                <a:latin typeface="Times New Roman"/>
                <a:cs typeface="Times New Roman"/>
              </a:rPr>
              <a:t>bicyclic</a:t>
            </a:r>
            <a:r>
              <a:rPr lang="en-GB" sz="1800" spc="-35" dirty="0">
                <a:latin typeface="Times New Roman"/>
                <a:cs typeface="Times New Roman"/>
              </a:rPr>
              <a:t> </a:t>
            </a:r>
            <a:r>
              <a:rPr lang="en-GB" sz="1800" dirty="0">
                <a:latin typeface="Times New Roman"/>
                <a:cs typeface="Times New Roman"/>
              </a:rPr>
              <a:t>compounds</a:t>
            </a:r>
            <a:r>
              <a:rPr lang="en-GB" sz="1800" spc="5" dirty="0">
                <a:latin typeface="Times New Roman"/>
                <a:cs typeface="Times New Roman"/>
              </a:rPr>
              <a:t> </a:t>
            </a:r>
            <a:r>
              <a:rPr lang="en-GB" sz="1800" dirty="0">
                <a:latin typeface="Times New Roman"/>
                <a:cs typeface="Times New Roman"/>
              </a:rPr>
              <a:t>with </a:t>
            </a:r>
            <a:r>
              <a:rPr lang="en-GB" sz="1800" spc="-5" dirty="0">
                <a:latin typeface="Times New Roman"/>
                <a:cs typeface="Times New Roman"/>
              </a:rPr>
              <a:t>two</a:t>
            </a:r>
            <a:r>
              <a:rPr lang="en-GB" sz="1800" spc="-10" dirty="0">
                <a:latin typeface="Times New Roman"/>
                <a:cs typeface="Times New Roman"/>
              </a:rPr>
              <a:t> </a:t>
            </a:r>
            <a:r>
              <a:rPr lang="en-GB" sz="1800" dirty="0">
                <a:latin typeface="Times New Roman"/>
                <a:cs typeface="Times New Roman"/>
              </a:rPr>
              <a:t>fused</a:t>
            </a:r>
            <a:r>
              <a:rPr lang="en-GB" sz="1800" spc="5" dirty="0">
                <a:latin typeface="Times New Roman"/>
                <a:cs typeface="Times New Roman"/>
              </a:rPr>
              <a:t> </a:t>
            </a:r>
            <a:r>
              <a:rPr lang="en-GB" sz="1800" dirty="0">
                <a:latin typeface="Times New Roman"/>
                <a:cs typeface="Times New Roman"/>
              </a:rPr>
              <a:t>heterocyclic</a:t>
            </a:r>
            <a:r>
              <a:rPr lang="en-GB" sz="1800" spc="-15" dirty="0">
                <a:latin typeface="Times New Roman"/>
                <a:cs typeface="Times New Roman"/>
              </a:rPr>
              <a:t> </a:t>
            </a:r>
            <a:r>
              <a:rPr lang="en-GB" sz="1800" dirty="0">
                <a:latin typeface="Times New Roman"/>
                <a:cs typeface="Times New Roman"/>
              </a:rPr>
              <a:t>rings  are</a:t>
            </a:r>
            <a:r>
              <a:rPr lang="en-GB" sz="1800" spc="-10" dirty="0">
                <a:latin typeface="Times New Roman"/>
                <a:cs typeface="Times New Roman"/>
              </a:rPr>
              <a:t> </a:t>
            </a:r>
            <a:r>
              <a:rPr lang="en-GB" sz="1800" dirty="0">
                <a:latin typeface="Times New Roman"/>
                <a:cs typeface="Times New Roman"/>
              </a:rPr>
              <a:t>well</a:t>
            </a:r>
            <a:r>
              <a:rPr lang="en-GB" sz="1800" spc="-5" dirty="0">
                <a:latin typeface="Times New Roman"/>
                <a:cs typeface="Times New Roman"/>
              </a:rPr>
              <a:t> known.</a:t>
            </a:r>
            <a:endParaRPr lang="en-GB" sz="1800" dirty="0">
              <a:latin typeface="Times New Roman"/>
              <a:cs typeface="Times New Roman"/>
            </a:endParaRPr>
          </a:p>
          <a:p>
            <a:pPr marL="299085" indent="-287020" algn="just">
              <a:lnSpc>
                <a:spcPct val="100000"/>
              </a:lnSpc>
              <a:spcBef>
                <a:spcPts val="1080"/>
              </a:spcBef>
              <a:buFont typeface="Arial MT"/>
              <a:buChar char="•"/>
              <a:tabLst>
                <a:tab pos="299085" algn="l"/>
                <a:tab pos="299720" algn="l"/>
              </a:tabLst>
            </a:pPr>
            <a:r>
              <a:rPr lang="en-GB" sz="1800" dirty="0">
                <a:latin typeface="Times New Roman"/>
                <a:cs typeface="Times New Roman"/>
              </a:rPr>
              <a:t>Both</a:t>
            </a:r>
            <a:r>
              <a:rPr lang="en-GB" sz="1800" spc="-15" dirty="0">
                <a:latin typeface="Times New Roman"/>
                <a:cs typeface="Times New Roman"/>
              </a:rPr>
              <a:t> </a:t>
            </a:r>
            <a:r>
              <a:rPr lang="en-GB" sz="1800" spc="5" dirty="0">
                <a:latin typeface="Times New Roman"/>
                <a:cs typeface="Times New Roman"/>
              </a:rPr>
              <a:t>types</a:t>
            </a:r>
            <a:r>
              <a:rPr lang="en-GB" sz="1800" spc="-35" dirty="0">
                <a:latin typeface="Times New Roman"/>
                <a:cs typeface="Times New Roman"/>
              </a:rPr>
              <a:t> </a:t>
            </a:r>
            <a:r>
              <a:rPr lang="en-GB" sz="1800" dirty="0">
                <a:latin typeface="Times New Roman"/>
                <a:cs typeface="Times New Roman"/>
              </a:rPr>
              <a:t>can</a:t>
            </a:r>
            <a:r>
              <a:rPr lang="en-GB" sz="1800" spc="-10" dirty="0">
                <a:latin typeface="Times New Roman"/>
                <a:cs typeface="Times New Roman"/>
              </a:rPr>
              <a:t> </a:t>
            </a:r>
            <a:r>
              <a:rPr lang="en-GB" sz="1800" spc="-5" dirty="0">
                <a:latin typeface="Times New Roman"/>
                <a:cs typeface="Times New Roman"/>
              </a:rPr>
              <a:t>be</a:t>
            </a:r>
            <a:r>
              <a:rPr lang="en-GB" sz="1800" spc="-10" dirty="0">
                <a:latin typeface="Times New Roman"/>
                <a:cs typeface="Times New Roman"/>
              </a:rPr>
              <a:t> </a:t>
            </a:r>
            <a:r>
              <a:rPr lang="en-GB" sz="1800" spc="-5" dirty="0">
                <a:latin typeface="Times New Roman"/>
                <a:cs typeface="Times New Roman"/>
              </a:rPr>
              <a:t>named</a:t>
            </a:r>
            <a:r>
              <a:rPr lang="en-GB" sz="1800" spc="5" dirty="0">
                <a:latin typeface="Times New Roman"/>
                <a:cs typeface="Times New Roman"/>
              </a:rPr>
              <a:t> </a:t>
            </a:r>
            <a:r>
              <a:rPr lang="en-GB" sz="1800" dirty="0">
                <a:latin typeface="Times New Roman"/>
                <a:cs typeface="Times New Roman"/>
              </a:rPr>
              <a:t>according</a:t>
            </a:r>
            <a:r>
              <a:rPr lang="en-GB" sz="1800" spc="-20" dirty="0">
                <a:latin typeface="Times New Roman"/>
                <a:cs typeface="Times New Roman"/>
              </a:rPr>
              <a:t> </a:t>
            </a:r>
            <a:r>
              <a:rPr lang="en-GB" sz="1800" dirty="0">
                <a:latin typeface="Times New Roman"/>
                <a:cs typeface="Times New Roman"/>
              </a:rPr>
              <a:t>to</a:t>
            </a:r>
            <a:r>
              <a:rPr lang="en-GB" sz="1800" spc="-10" dirty="0">
                <a:latin typeface="Times New Roman"/>
                <a:cs typeface="Times New Roman"/>
              </a:rPr>
              <a:t> </a:t>
            </a:r>
            <a:r>
              <a:rPr lang="en-GB" sz="1800" dirty="0">
                <a:latin typeface="Times New Roman"/>
                <a:cs typeface="Times New Roman"/>
              </a:rPr>
              <a:t>certain</a:t>
            </a:r>
            <a:r>
              <a:rPr lang="en-GB" sz="1800" spc="-20" dirty="0">
                <a:latin typeface="Times New Roman"/>
                <a:cs typeface="Times New Roman"/>
              </a:rPr>
              <a:t> </a:t>
            </a:r>
            <a:r>
              <a:rPr lang="en-GB" sz="1800" dirty="0">
                <a:latin typeface="Times New Roman"/>
                <a:cs typeface="Times New Roman"/>
              </a:rPr>
              <a:t>rules.</a:t>
            </a:r>
          </a:p>
          <a:p>
            <a:pPr marL="546100" marR="5080" indent="-533400" algn="just">
              <a:lnSpc>
                <a:spcPct val="150100"/>
              </a:lnSpc>
              <a:spcBef>
                <a:spcPts val="430"/>
              </a:spcBef>
              <a:buClr>
                <a:srgbClr val="800000"/>
              </a:buClr>
              <a:buFont typeface="Arial MT"/>
              <a:buChar char="•"/>
              <a:tabLst>
                <a:tab pos="545465" algn="l"/>
                <a:tab pos="546100" algn="l"/>
              </a:tabLst>
            </a:pPr>
            <a:endParaRPr sz="1800" dirty="0">
              <a:latin typeface="Times New Roman"/>
              <a:cs typeface="Times New Roman"/>
            </a:endParaRPr>
          </a:p>
        </p:txBody>
      </p:sp>
      <p:sp>
        <p:nvSpPr>
          <p:cNvPr id="5" name="TextBox 4">
            <a:extLst>
              <a:ext uri="{FF2B5EF4-FFF2-40B4-BE49-F238E27FC236}">
                <a16:creationId xmlns:a16="http://schemas.microsoft.com/office/drawing/2014/main" id="{E9D6EABB-7AA4-47FC-9522-42BEEEEA3D90}"/>
              </a:ext>
            </a:extLst>
          </p:cNvPr>
          <p:cNvSpPr txBox="1"/>
          <p:nvPr/>
        </p:nvSpPr>
        <p:spPr>
          <a:xfrm>
            <a:off x="189362" y="57270"/>
            <a:ext cx="11677365" cy="369332"/>
          </a:xfrm>
          <a:prstGeom prst="rect">
            <a:avLst/>
          </a:prstGeom>
        </p:spPr>
        <p:style>
          <a:lnRef idx="1">
            <a:schemeClr val="accent6"/>
          </a:lnRef>
          <a:fillRef idx="2">
            <a:schemeClr val="accent6"/>
          </a:fillRef>
          <a:effectRef idx="1">
            <a:schemeClr val="accent6"/>
          </a:effectRef>
          <a:fontRef idx="minor">
            <a:schemeClr val="dk1"/>
          </a:fontRef>
        </p:style>
        <p:txBody>
          <a:bodyPr wrap="square">
            <a:spAutoFit/>
          </a:bodyPr>
          <a:lstStyle/>
          <a:p>
            <a:pPr marL="12700" algn="ctr">
              <a:lnSpc>
                <a:spcPct val="100000"/>
              </a:lnSpc>
              <a:spcBef>
                <a:spcPts val="105"/>
              </a:spcBef>
            </a:pPr>
            <a:r>
              <a:rPr lang="en-GB" sz="1800" b="1" spc="-5" dirty="0">
                <a:latin typeface="Times New Roman"/>
                <a:cs typeface="Times New Roman"/>
              </a:rPr>
              <a:t>Nomenclature</a:t>
            </a:r>
            <a:r>
              <a:rPr lang="en-GB" sz="1800" b="1" spc="-55" dirty="0">
                <a:latin typeface="Times New Roman"/>
                <a:cs typeface="Times New Roman"/>
              </a:rPr>
              <a:t> </a:t>
            </a:r>
            <a:r>
              <a:rPr lang="en-GB" sz="1800" b="1" dirty="0">
                <a:latin typeface="Times New Roman"/>
                <a:cs typeface="Times New Roman"/>
              </a:rPr>
              <a:t>of</a:t>
            </a:r>
            <a:r>
              <a:rPr lang="en-GB" sz="1800" b="1" spc="-20" dirty="0">
                <a:latin typeface="Times New Roman"/>
                <a:cs typeface="Times New Roman"/>
              </a:rPr>
              <a:t> </a:t>
            </a:r>
            <a:r>
              <a:rPr lang="en-GB" sz="1800" b="1" dirty="0">
                <a:latin typeface="Times New Roman"/>
                <a:cs typeface="Times New Roman"/>
              </a:rPr>
              <a:t>Fused</a:t>
            </a:r>
            <a:r>
              <a:rPr lang="en-GB" sz="1800" b="1" spc="-30" dirty="0">
                <a:latin typeface="Times New Roman"/>
                <a:cs typeface="Times New Roman"/>
              </a:rPr>
              <a:t> </a:t>
            </a:r>
            <a:r>
              <a:rPr lang="en-GB" sz="1800" b="1" dirty="0">
                <a:latin typeface="Times New Roman"/>
                <a:cs typeface="Times New Roman"/>
              </a:rPr>
              <a:t>Systems</a:t>
            </a:r>
            <a:endParaRPr lang="en-GB" sz="1800" dirty="0">
              <a:latin typeface="Times New Roman"/>
              <a:cs typeface="Times New Roman"/>
            </a:endParaRPr>
          </a:p>
        </p:txBody>
      </p:sp>
      <p:pic>
        <p:nvPicPr>
          <p:cNvPr id="7" name="Рисунок 6">
            <a:extLst>
              <a:ext uri="{FF2B5EF4-FFF2-40B4-BE49-F238E27FC236}">
                <a16:creationId xmlns:a16="http://schemas.microsoft.com/office/drawing/2014/main" id="{E1C5A10F-5184-459E-B4EA-09631641339F}"/>
              </a:ext>
            </a:extLst>
          </p:cNvPr>
          <p:cNvPicPr>
            <a:picLocks noChangeAspect="1"/>
          </p:cNvPicPr>
          <p:nvPr/>
        </p:nvPicPr>
        <p:blipFill>
          <a:blip r:embed="rId3"/>
          <a:stretch>
            <a:fillRect/>
          </a:stretch>
        </p:blipFill>
        <p:spPr>
          <a:xfrm>
            <a:off x="10785931" y="1747296"/>
            <a:ext cx="1152533" cy="876306"/>
          </a:xfrm>
          <a:prstGeom prst="rect">
            <a:avLst/>
          </a:prstGeom>
        </p:spPr>
      </p:pic>
      <p:pic>
        <p:nvPicPr>
          <p:cNvPr id="9" name="Рисунок 8">
            <a:extLst>
              <a:ext uri="{FF2B5EF4-FFF2-40B4-BE49-F238E27FC236}">
                <a16:creationId xmlns:a16="http://schemas.microsoft.com/office/drawing/2014/main" id="{2A6D80B1-7D44-4C40-A466-40ECFE69F1EA}"/>
              </a:ext>
            </a:extLst>
          </p:cNvPr>
          <p:cNvPicPr>
            <a:picLocks noChangeAspect="1"/>
          </p:cNvPicPr>
          <p:nvPr/>
        </p:nvPicPr>
        <p:blipFill>
          <a:blip r:embed="rId4"/>
          <a:stretch>
            <a:fillRect/>
          </a:stretch>
        </p:blipFill>
        <p:spPr>
          <a:xfrm>
            <a:off x="8841216" y="4945200"/>
            <a:ext cx="1864346" cy="1593714"/>
          </a:xfrm>
          <a:prstGeom prst="rect">
            <a:avLst/>
          </a:prstGeom>
        </p:spPr>
      </p:pic>
      <p:sp>
        <p:nvSpPr>
          <p:cNvPr id="117" name="TextBox 116">
            <a:extLst>
              <a:ext uri="{FF2B5EF4-FFF2-40B4-BE49-F238E27FC236}">
                <a16:creationId xmlns:a16="http://schemas.microsoft.com/office/drawing/2014/main" id="{DC341992-83B0-4E05-B0EB-14755943285C}"/>
              </a:ext>
            </a:extLst>
          </p:cNvPr>
          <p:cNvSpPr txBox="1"/>
          <p:nvPr/>
        </p:nvSpPr>
        <p:spPr>
          <a:xfrm>
            <a:off x="189362" y="551821"/>
            <a:ext cx="3969834" cy="597599"/>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pPr marL="12066" marR="5080" algn="ctr">
              <a:lnSpc>
                <a:spcPct val="100000"/>
              </a:lnSpc>
              <a:spcBef>
                <a:spcPts val="105"/>
              </a:spcBef>
              <a:tabLst>
                <a:tab pos="469900" algn="l"/>
                <a:tab pos="470534" algn="l"/>
                <a:tab pos="1612900" algn="l"/>
                <a:tab pos="3614420" algn="l"/>
                <a:tab pos="4370070" algn="l"/>
                <a:tab pos="5766435" algn="l"/>
                <a:tab pos="7642859" algn="l"/>
              </a:tabLst>
            </a:pPr>
            <a:r>
              <a:rPr lang="en-GB" sz="1600" dirty="0">
                <a:solidFill>
                  <a:srgbClr val="002060"/>
                </a:solidFill>
                <a:latin typeface="Times New Roman"/>
                <a:cs typeface="Times New Roman"/>
              </a:rPr>
              <a:t>F</a:t>
            </a:r>
            <a:r>
              <a:rPr lang="en-GB" sz="1600" spc="5" dirty="0">
                <a:solidFill>
                  <a:srgbClr val="002060"/>
                </a:solidFill>
                <a:latin typeface="Times New Roman"/>
                <a:cs typeface="Times New Roman"/>
              </a:rPr>
              <a:t>u</a:t>
            </a:r>
            <a:r>
              <a:rPr lang="en-GB" sz="1600" dirty="0">
                <a:solidFill>
                  <a:srgbClr val="002060"/>
                </a:solidFill>
                <a:latin typeface="Times New Roman"/>
                <a:cs typeface="Times New Roman"/>
              </a:rPr>
              <a:t>s</a:t>
            </a:r>
            <a:r>
              <a:rPr lang="en-GB" sz="1600" spc="-15" dirty="0">
                <a:solidFill>
                  <a:srgbClr val="002060"/>
                </a:solidFill>
                <a:latin typeface="Times New Roman"/>
                <a:cs typeface="Times New Roman"/>
              </a:rPr>
              <a:t>e</a:t>
            </a:r>
            <a:r>
              <a:rPr lang="en-GB" sz="1600" dirty="0">
                <a:solidFill>
                  <a:srgbClr val="002060"/>
                </a:solidFill>
                <a:latin typeface="Times New Roman"/>
                <a:cs typeface="Times New Roman"/>
              </a:rPr>
              <a:t>d he</a:t>
            </a:r>
            <a:r>
              <a:rPr lang="en-GB" sz="1600" spc="-15" dirty="0">
                <a:solidFill>
                  <a:srgbClr val="002060"/>
                </a:solidFill>
                <a:latin typeface="Times New Roman"/>
                <a:cs typeface="Times New Roman"/>
              </a:rPr>
              <a:t>t</a:t>
            </a:r>
            <a:r>
              <a:rPr lang="en-GB" sz="1600" dirty="0">
                <a:solidFill>
                  <a:srgbClr val="002060"/>
                </a:solidFill>
                <a:latin typeface="Times New Roman"/>
                <a:cs typeface="Times New Roman"/>
              </a:rPr>
              <a:t>ero</a:t>
            </a:r>
            <a:r>
              <a:rPr lang="en-GB" sz="1600" spc="-20" dirty="0">
                <a:solidFill>
                  <a:srgbClr val="002060"/>
                </a:solidFill>
                <a:latin typeface="Times New Roman"/>
                <a:cs typeface="Times New Roman"/>
              </a:rPr>
              <a:t>c</a:t>
            </a:r>
            <a:r>
              <a:rPr lang="en-GB" sz="1600" dirty="0">
                <a:solidFill>
                  <a:srgbClr val="002060"/>
                </a:solidFill>
                <a:latin typeface="Times New Roman"/>
                <a:cs typeface="Times New Roman"/>
              </a:rPr>
              <a:t>ycles are sy</a:t>
            </a:r>
            <a:r>
              <a:rPr lang="en-GB" sz="1600" spc="-20" dirty="0">
                <a:solidFill>
                  <a:srgbClr val="002060"/>
                </a:solidFill>
                <a:latin typeface="Times New Roman"/>
                <a:cs typeface="Times New Roman"/>
              </a:rPr>
              <a:t>s</a:t>
            </a:r>
            <a:r>
              <a:rPr lang="en-GB" sz="1600" dirty="0">
                <a:solidFill>
                  <a:srgbClr val="002060"/>
                </a:solidFill>
                <a:latin typeface="Times New Roman"/>
                <a:cs typeface="Times New Roman"/>
              </a:rPr>
              <a:t>t</a:t>
            </a:r>
            <a:r>
              <a:rPr lang="en-GB" sz="1600" spc="-10" dirty="0">
                <a:solidFill>
                  <a:srgbClr val="002060"/>
                </a:solidFill>
                <a:latin typeface="Times New Roman"/>
                <a:cs typeface="Times New Roman"/>
              </a:rPr>
              <a:t>e</a:t>
            </a:r>
            <a:r>
              <a:rPr lang="en-GB" sz="1600" spc="-15" dirty="0">
                <a:solidFill>
                  <a:srgbClr val="002060"/>
                </a:solidFill>
                <a:latin typeface="Times New Roman"/>
                <a:cs typeface="Times New Roman"/>
              </a:rPr>
              <a:t>m</a:t>
            </a:r>
            <a:r>
              <a:rPr lang="en-GB" sz="1600" dirty="0">
                <a:solidFill>
                  <a:srgbClr val="002060"/>
                </a:solidFill>
                <a:latin typeface="Times New Roman"/>
                <a:cs typeface="Times New Roman"/>
              </a:rPr>
              <a:t>s co</a:t>
            </a:r>
            <a:r>
              <a:rPr lang="en-GB" sz="1600" spc="5" dirty="0">
                <a:solidFill>
                  <a:srgbClr val="002060"/>
                </a:solidFill>
                <a:latin typeface="Times New Roman"/>
                <a:cs typeface="Times New Roman"/>
              </a:rPr>
              <a:t>n</a:t>
            </a:r>
            <a:r>
              <a:rPr lang="en-GB" sz="1600" dirty="0">
                <a:solidFill>
                  <a:srgbClr val="002060"/>
                </a:solidFill>
                <a:latin typeface="Times New Roman"/>
                <a:cs typeface="Times New Roman"/>
              </a:rPr>
              <a:t>s</a:t>
            </a:r>
            <a:r>
              <a:rPr lang="en-GB" sz="1600" spc="-10" dirty="0">
                <a:solidFill>
                  <a:srgbClr val="002060"/>
                </a:solidFill>
                <a:latin typeface="Times New Roman"/>
                <a:cs typeface="Times New Roman"/>
              </a:rPr>
              <a:t>t</a:t>
            </a:r>
            <a:r>
              <a:rPr lang="en-GB" sz="1600" dirty="0">
                <a:solidFill>
                  <a:srgbClr val="002060"/>
                </a:solidFill>
                <a:latin typeface="Times New Roman"/>
                <a:cs typeface="Times New Roman"/>
              </a:rPr>
              <a:t>ruct</a:t>
            </a:r>
            <a:r>
              <a:rPr lang="en-GB" sz="1600" spc="-15" dirty="0">
                <a:solidFill>
                  <a:srgbClr val="002060"/>
                </a:solidFill>
                <a:latin typeface="Times New Roman"/>
                <a:cs typeface="Times New Roman"/>
              </a:rPr>
              <a:t>e</a:t>
            </a:r>
            <a:r>
              <a:rPr lang="en-GB" sz="1600" dirty="0">
                <a:solidFill>
                  <a:srgbClr val="002060"/>
                </a:solidFill>
                <a:latin typeface="Times New Roman"/>
                <a:cs typeface="Times New Roman"/>
              </a:rPr>
              <a:t>d</a:t>
            </a:r>
          </a:p>
          <a:p>
            <a:pPr marL="12066" marR="5080" algn="ctr">
              <a:lnSpc>
                <a:spcPct val="100000"/>
              </a:lnSpc>
              <a:spcBef>
                <a:spcPts val="105"/>
              </a:spcBef>
              <a:tabLst>
                <a:tab pos="469900" algn="l"/>
                <a:tab pos="470534" algn="l"/>
                <a:tab pos="1612900" algn="l"/>
                <a:tab pos="3614420" algn="l"/>
                <a:tab pos="4370070" algn="l"/>
                <a:tab pos="5766435" algn="l"/>
                <a:tab pos="7642859" algn="l"/>
              </a:tabLst>
            </a:pPr>
            <a:r>
              <a:rPr lang="en-GB" sz="1600" dirty="0">
                <a:solidFill>
                  <a:srgbClr val="002060"/>
                </a:solidFill>
                <a:latin typeface="Times New Roman"/>
                <a:cs typeface="Times New Roman"/>
              </a:rPr>
              <a:t> </a:t>
            </a:r>
            <a:r>
              <a:rPr lang="en-GB" sz="1600" spc="5" dirty="0">
                <a:solidFill>
                  <a:srgbClr val="002060"/>
                </a:solidFill>
                <a:latin typeface="Times New Roman"/>
                <a:cs typeface="Times New Roman"/>
              </a:rPr>
              <a:t>by </a:t>
            </a:r>
            <a:r>
              <a:rPr lang="en-GB" sz="1600" dirty="0">
                <a:solidFill>
                  <a:srgbClr val="002060"/>
                </a:solidFill>
                <a:latin typeface="Times New Roman"/>
                <a:cs typeface="Times New Roman"/>
              </a:rPr>
              <a:t>combining</a:t>
            </a:r>
            <a:r>
              <a:rPr lang="en-GB" sz="1600" spc="-20" dirty="0">
                <a:solidFill>
                  <a:srgbClr val="002060"/>
                </a:solidFill>
                <a:latin typeface="Times New Roman"/>
                <a:cs typeface="Times New Roman"/>
              </a:rPr>
              <a:t> </a:t>
            </a:r>
            <a:r>
              <a:rPr lang="en-GB" sz="1600" dirty="0">
                <a:solidFill>
                  <a:srgbClr val="002060"/>
                </a:solidFill>
                <a:latin typeface="Times New Roman"/>
                <a:cs typeface="Times New Roman"/>
              </a:rPr>
              <a:t>two</a:t>
            </a:r>
            <a:r>
              <a:rPr lang="en-GB" sz="1600" spc="-10" dirty="0">
                <a:solidFill>
                  <a:srgbClr val="002060"/>
                </a:solidFill>
                <a:latin typeface="Times New Roman"/>
                <a:cs typeface="Times New Roman"/>
              </a:rPr>
              <a:t> </a:t>
            </a:r>
            <a:r>
              <a:rPr lang="en-GB" sz="1600" dirty="0">
                <a:solidFill>
                  <a:srgbClr val="002060"/>
                </a:solidFill>
                <a:latin typeface="Times New Roman"/>
                <a:cs typeface="Times New Roman"/>
              </a:rPr>
              <a:t>or</a:t>
            </a:r>
            <a:r>
              <a:rPr lang="en-GB" sz="1600" spc="-10" dirty="0">
                <a:solidFill>
                  <a:srgbClr val="002060"/>
                </a:solidFill>
                <a:latin typeface="Times New Roman"/>
                <a:cs typeface="Times New Roman"/>
              </a:rPr>
              <a:t> </a:t>
            </a:r>
            <a:r>
              <a:rPr lang="en-GB" sz="1600" spc="-5" dirty="0">
                <a:solidFill>
                  <a:srgbClr val="002060"/>
                </a:solidFill>
                <a:latin typeface="Times New Roman"/>
                <a:cs typeface="Times New Roman"/>
              </a:rPr>
              <a:t>more </a:t>
            </a:r>
            <a:r>
              <a:rPr lang="en-GB" sz="1600" dirty="0">
                <a:solidFill>
                  <a:srgbClr val="002060"/>
                </a:solidFill>
                <a:latin typeface="Times New Roman"/>
                <a:cs typeface="Times New Roman"/>
              </a:rPr>
              <a:t>cyclic</a:t>
            </a:r>
            <a:r>
              <a:rPr lang="en-GB" sz="1600" spc="-20" dirty="0">
                <a:solidFill>
                  <a:srgbClr val="002060"/>
                </a:solidFill>
                <a:latin typeface="Times New Roman"/>
                <a:cs typeface="Times New Roman"/>
              </a:rPr>
              <a:t> </a:t>
            </a:r>
            <a:r>
              <a:rPr lang="en-GB" sz="1600" spc="-5" dirty="0">
                <a:solidFill>
                  <a:srgbClr val="002060"/>
                </a:solidFill>
                <a:latin typeface="Times New Roman"/>
                <a:cs typeface="Times New Roman"/>
              </a:rPr>
              <a:t>systems.</a:t>
            </a:r>
            <a:endParaRPr lang="en-GB" sz="1600" dirty="0">
              <a:solidFill>
                <a:srgbClr val="002060"/>
              </a:solidFill>
              <a:latin typeface="Times New Roman"/>
              <a:cs typeface="Times New Roman"/>
            </a:endParaRPr>
          </a:p>
        </p:txBody>
      </p:sp>
      <p:pic>
        <p:nvPicPr>
          <p:cNvPr id="118" name="Рисунок 117">
            <a:extLst>
              <a:ext uri="{FF2B5EF4-FFF2-40B4-BE49-F238E27FC236}">
                <a16:creationId xmlns:a16="http://schemas.microsoft.com/office/drawing/2014/main" id="{0A8580A3-5A09-401C-9558-B4B896664A74}"/>
              </a:ext>
            </a:extLst>
          </p:cNvPr>
          <p:cNvPicPr>
            <a:picLocks noChangeAspect="1"/>
          </p:cNvPicPr>
          <p:nvPr/>
        </p:nvPicPr>
        <p:blipFill>
          <a:blip r:embed="rId5"/>
          <a:stretch>
            <a:fillRect/>
          </a:stretch>
        </p:blipFill>
        <p:spPr>
          <a:xfrm>
            <a:off x="4612969" y="551821"/>
            <a:ext cx="3593906" cy="869700"/>
          </a:xfrm>
          <a:prstGeom prst="rect">
            <a:avLst/>
          </a:prstGeom>
        </p:spPr>
        <p:style>
          <a:lnRef idx="2">
            <a:schemeClr val="accent5"/>
          </a:lnRef>
          <a:fillRef idx="1">
            <a:schemeClr val="lt1"/>
          </a:fillRef>
          <a:effectRef idx="0">
            <a:schemeClr val="accent5"/>
          </a:effectRef>
          <a:fontRef idx="minor">
            <a:schemeClr val="dk1"/>
          </a:fontRef>
        </p:style>
      </p:pic>
      <p:pic>
        <p:nvPicPr>
          <p:cNvPr id="120" name="Рисунок 119">
            <a:extLst>
              <a:ext uri="{FF2B5EF4-FFF2-40B4-BE49-F238E27FC236}">
                <a16:creationId xmlns:a16="http://schemas.microsoft.com/office/drawing/2014/main" id="{CBC4512D-2D6E-443A-84F9-AC04908C314F}"/>
              </a:ext>
            </a:extLst>
          </p:cNvPr>
          <p:cNvPicPr>
            <a:picLocks noChangeAspect="1"/>
          </p:cNvPicPr>
          <p:nvPr/>
        </p:nvPicPr>
        <p:blipFill>
          <a:blip r:embed="rId6"/>
          <a:stretch>
            <a:fillRect/>
          </a:stretch>
        </p:blipFill>
        <p:spPr>
          <a:xfrm>
            <a:off x="8660649" y="551821"/>
            <a:ext cx="3114824" cy="902225"/>
          </a:xfrm>
          <a:prstGeom prst="rect">
            <a:avLst/>
          </a:prstGeom>
        </p:spPr>
        <p:style>
          <a:lnRef idx="2">
            <a:schemeClr val="accent1"/>
          </a:lnRef>
          <a:fillRef idx="1">
            <a:schemeClr val="lt1"/>
          </a:fillRef>
          <a:effectRef idx="0">
            <a:schemeClr val="accent1"/>
          </a:effectRef>
          <a:fontRef idx="minor">
            <a:schemeClr val="dk1"/>
          </a:fontRef>
        </p:style>
      </p:pic>
    </p:spTree>
    <p:extLst>
      <p:ext uri="{BB962C8B-B14F-4D97-AF65-F5344CB8AC3E}">
        <p14:creationId xmlns:p14="http://schemas.microsoft.com/office/powerpoint/2010/main" val="337739563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a:extLst>
              <a:ext uri="{FF2B5EF4-FFF2-40B4-BE49-F238E27FC236}">
                <a16:creationId xmlns:a16="http://schemas.microsoft.com/office/drawing/2014/main" id="{E8546043-73D2-4F19-8671-F58421A9ED0D}"/>
              </a:ext>
            </a:extLst>
          </p:cNvPr>
          <p:cNvSpPr>
            <a:spLocks noGrp="1"/>
          </p:cNvSpPr>
          <p:nvPr>
            <p:ph type="sldNum" sz="quarter" idx="12"/>
          </p:nvPr>
        </p:nvSpPr>
        <p:spPr/>
        <p:txBody>
          <a:bodyPr/>
          <a:lstStyle/>
          <a:p>
            <a:fld id="{93C419CB-0CF1-4F10-90F9-42551F8968FF}" type="slidenum">
              <a:rPr lang="en-GB" smtClean="0"/>
              <a:t>27</a:t>
            </a:fld>
            <a:endParaRPr lang="en-GB"/>
          </a:p>
        </p:txBody>
      </p:sp>
      <p:sp>
        <p:nvSpPr>
          <p:cNvPr id="3" name="TextBox 2">
            <a:extLst>
              <a:ext uri="{FF2B5EF4-FFF2-40B4-BE49-F238E27FC236}">
                <a16:creationId xmlns:a16="http://schemas.microsoft.com/office/drawing/2014/main" id="{A14B7B25-13FB-477E-91F9-BBEA62B5851E}"/>
              </a:ext>
            </a:extLst>
          </p:cNvPr>
          <p:cNvSpPr txBox="1"/>
          <p:nvPr/>
        </p:nvSpPr>
        <p:spPr>
          <a:xfrm>
            <a:off x="189362" y="57270"/>
            <a:ext cx="11677365" cy="369332"/>
          </a:xfrm>
          <a:prstGeom prst="rect">
            <a:avLst/>
          </a:prstGeom>
        </p:spPr>
        <p:style>
          <a:lnRef idx="1">
            <a:schemeClr val="accent6"/>
          </a:lnRef>
          <a:fillRef idx="2">
            <a:schemeClr val="accent6"/>
          </a:fillRef>
          <a:effectRef idx="1">
            <a:schemeClr val="accent6"/>
          </a:effectRef>
          <a:fontRef idx="minor">
            <a:schemeClr val="dk1"/>
          </a:fontRef>
        </p:style>
        <p:txBody>
          <a:bodyPr wrap="square">
            <a:spAutoFit/>
          </a:bodyPr>
          <a:lstStyle/>
          <a:p>
            <a:pPr marL="12700" algn="ctr">
              <a:lnSpc>
                <a:spcPct val="100000"/>
              </a:lnSpc>
              <a:spcBef>
                <a:spcPts val="105"/>
              </a:spcBef>
            </a:pPr>
            <a:r>
              <a:rPr lang="en-GB" sz="1800" b="1" spc="-5" dirty="0">
                <a:latin typeface="Times New Roman"/>
                <a:cs typeface="Times New Roman"/>
              </a:rPr>
              <a:t>Nomenclature</a:t>
            </a:r>
            <a:r>
              <a:rPr lang="en-GB" sz="1800" b="1" spc="-55" dirty="0">
                <a:latin typeface="Times New Roman"/>
                <a:cs typeface="Times New Roman"/>
              </a:rPr>
              <a:t> </a:t>
            </a:r>
            <a:r>
              <a:rPr lang="en-GB" sz="1800" b="1" dirty="0">
                <a:latin typeface="Times New Roman"/>
                <a:cs typeface="Times New Roman"/>
              </a:rPr>
              <a:t>of</a:t>
            </a:r>
            <a:r>
              <a:rPr lang="en-GB" sz="1800" b="1" spc="-20" dirty="0">
                <a:latin typeface="Times New Roman"/>
                <a:cs typeface="Times New Roman"/>
              </a:rPr>
              <a:t> </a:t>
            </a:r>
            <a:r>
              <a:rPr lang="en-GB" sz="1800" b="1" dirty="0">
                <a:latin typeface="Times New Roman"/>
                <a:cs typeface="Times New Roman"/>
              </a:rPr>
              <a:t>Fused</a:t>
            </a:r>
            <a:r>
              <a:rPr lang="en-GB" sz="1800" b="1" spc="-30" dirty="0">
                <a:latin typeface="Times New Roman"/>
                <a:cs typeface="Times New Roman"/>
              </a:rPr>
              <a:t> </a:t>
            </a:r>
            <a:r>
              <a:rPr lang="en-GB" sz="1800" b="1" dirty="0">
                <a:latin typeface="Times New Roman"/>
                <a:cs typeface="Times New Roman"/>
              </a:rPr>
              <a:t>Systems</a:t>
            </a:r>
            <a:endParaRPr lang="en-GB" sz="1800" dirty="0">
              <a:latin typeface="Times New Roman"/>
              <a:cs typeface="Times New Roman"/>
            </a:endParaRPr>
          </a:p>
        </p:txBody>
      </p:sp>
      <p:sp>
        <p:nvSpPr>
          <p:cNvPr id="5" name="TextBox 4">
            <a:extLst>
              <a:ext uri="{FF2B5EF4-FFF2-40B4-BE49-F238E27FC236}">
                <a16:creationId xmlns:a16="http://schemas.microsoft.com/office/drawing/2014/main" id="{8664B810-86B7-4D10-9CBA-84FD28C39357}"/>
              </a:ext>
            </a:extLst>
          </p:cNvPr>
          <p:cNvSpPr txBox="1"/>
          <p:nvPr/>
        </p:nvSpPr>
        <p:spPr>
          <a:xfrm>
            <a:off x="189362" y="590078"/>
            <a:ext cx="11996382" cy="1277273"/>
          </a:xfrm>
          <a:prstGeom prst="rect">
            <a:avLst/>
          </a:prstGeom>
          <a:noFill/>
        </p:spPr>
        <p:txBody>
          <a:bodyPr wrap="square">
            <a:spAutoFit/>
          </a:bodyPr>
          <a:lstStyle/>
          <a:p>
            <a:pPr marL="12700" algn="just">
              <a:spcBef>
                <a:spcPts val="600"/>
              </a:spcBef>
            </a:pPr>
            <a:r>
              <a:rPr lang="en-GB" sz="1800" spc="-5" dirty="0">
                <a:solidFill>
                  <a:srgbClr val="00AF50"/>
                </a:solidFill>
                <a:latin typeface="Times New Roman"/>
                <a:cs typeface="Times New Roman"/>
              </a:rPr>
              <a:t>A.</a:t>
            </a:r>
            <a:r>
              <a:rPr lang="en-GB" sz="1800" spc="550" dirty="0">
                <a:solidFill>
                  <a:srgbClr val="00AF50"/>
                </a:solidFill>
                <a:latin typeface="Times New Roman"/>
                <a:cs typeface="Times New Roman"/>
              </a:rPr>
              <a:t> </a:t>
            </a:r>
            <a:r>
              <a:rPr lang="en-GB" sz="1800" spc="560" dirty="0">
                <a:solidFill>
                  <a:srgbClr val="00AF50"/>
                </a:solidFill>
                <a:latin typeface="Times New Roman"/>
                <a:cs typeface="Times New Roman"/>
              </a:rPr>
              <a:t> </a:t>
            </a:r>
            <a:r>
              <a:rPr lang="en-GB" sz="1800" spc="-5" dirty="0">
                <a:solidFill>
                  <a:srgbClr val="00AF50"/>
                </a:solidFill>
                <a:latin typeface="Times New Roman"/>
                <a:cs typeface="Times New Roman"/>
              </a:rPr>
              <a:t>Nomenclature</a:t>
            </a:r>
            <a:r>
              <a:rPr lang="en-GB" sz="1800" spc="-15" dirty="0">
                <a:solidFill>
                  <a:srgbClr val="00AF50"/>
                </a:solidFill>
                <a:latin typeface="Times New Roman"/>
                <a:cs typeface="Times New Roman"/>
              </a:rPr>
              <a:t> </a:t>
            </a:r>
            <a:r>
              <a:rPr lang="en-GB" sz="1800" dirty="0">
                <a:solidFill>
                  <a:srgbClr val="00AF50"/>
                </a:solidFill>
                <a:latin typeface="Times New Roman"/>
                <a:cs typeface="Times New Roman"/>
              </a:rPr>
              <a:t>of</a:t>
            </a:r>
            <a:r>
              <a:rPr lang="en-GB" sz="1800" spc="15" dirty="0">
                <a:solidFill>
                  <a:srgbClr val="00AF50"/>
                </a:solidFill>
                <a:latin typeface="Times New Roman"/>
                <a:cs typeface="Times New Roman"/>
              </a:rPr>
              <a:t> </a:t>
            </a:r>
            <a:r>
              <a:rPr lang="en-GB" sz="1800" dirty="0" err="1">
                <a:solidFill>
                  <a:srgbClr val="00AF50"/>
                </a:solidFill>
                <a:latin typeface="Times New Roman"/>
                <a:cs typeface="Times New Roman"/>
              </a:rPr>
              <a:t>benzofused</a:t>
            </a:r>
            <a:r>
              <a:rPr lang="en-GB" sz="1800" dirty="0">
                <a:solidFill>
                  <a:srgbClr val="00AF50"/>
                </a:solidFill>
                <a:latin typeface="Times New Roman"/>
                <a:cs typeface="Times New Roman"/>
              </a:rPr>
              <a:t> </a:t>
            </a:r>
            <a:r>
              <a:rPr lang="en-GB" sz="1800" spc="-5" dirty="0">
                <a:solidFill>
                  <a:srgbClr val="00AF50"/>
                </a:solidFill>
                <a:latin typeface="Times New Roman"/>
                <a:cs typeface="Times New Roman"/>
              </a:rPr>
              <a:t>compounds:</a:t>
            </a:r>
            <a:endParaRPr lang="en-GB" sz="1800" dirty="0">
              <a:latin typeface="Times New Roman"/>
              <a:cs typeface="Times New Roman"/>
            </a:endParaRPr>
          </a:p>
          <a:p>
            <a:pPr marL="355600" marR="6350" indent="-342900" algn="just">
              <a:spcBef>
                <a:spcPts val="600"/>
              </a:spcBef>
              <a:buFont typeface="Arial MT"/>
              <a:buChar char="•"/>
              <a:tabLst>
                <a:tab pos="355600" algn="l"/>
              </a:tabLst>
            </a:pPr>
            <a:r>
              <a:rPr lang="en-GB" sz="1800" dirty="0">
                <a:latin typeface="Times New Roman"/>
                <a:cs typeface="Times New Roman"/>
              </a:rPr>
              <a:t>Unless</a:t>
            </a:r>
            <a:r>
              <a:rPr lang="en-GB" sz="1800" spc="95" dirty="0">
                <a:latin typeface="Times New Roman"/>
                <a:cs typeface="Times New Roman"/>
              </a:rPr>
              <a:t> </a:t>
            </a:r>
            <a:r>
              <a:rPr lang="en-GB" sz="1800" dirty="0">
                <a:latin typeface="Times New Roman"/>
                <a:cs typeface="Times New Roman"/>
              </a:rPr>
              <a:t>listed</a:t>
            </a:r>
            <a:r>
              <a:rPr lang="en-GB" sz="1800" spc="110" dirty="0">
                <a:latin typeface="Times New Roman"/>
                <a:cs typeface="Times New Roman"/>
              </a:rPr>
              <a:t> </a:t>
            </a:r>
            <a:r>
              <a:rPr lang="en-GB" sz="1800" dirty="0">
                <a:latin typeface="Times New Roman"/>
                <a:cs typeface="Times New Roman"/>
              </a:rPr>
              <a:t>as</a:t>
            </a:r>
            <a:r>
              <a:rPr lang="en-GB" sz="1800" spc="90" dirty="0">
                <a:latin typeface="Times New Roman"/>
                <a:cs typeface="Times New Roman"/>
              </a:rPr>
              <a:t> </a:t>
            </a:r>
            <a:r>
              <a:rPr lang="en-GB" sz="1800" dirty="0">
                <a:latin typeface="Times New Roman"/>
                <a:cs typeface="Times New Roman"/>
              </a:rPr>
              <a:t>a</a:t>
            </a:r>
            <a:r>
              <a:rPr lang="en-GB" sz="1800" spc="110" dirty="0">
                <a:latin typeface="Times New Roman"/>
                <a:cs typeface="Times New Roman"/>
              </a:rPr>
              <a:t> </a:t>
            </a:r>
            <a:r>
              <a:rPr lang="en-GB" sz="1800" spc="-5" dirty="0">
                <a:latin typeface="Times New Roman"/>
                <a:cs typeface="Times New Roman"/>
              </a:rPr>
              <a:t>trivially</a:t>
            </a:r>
            <a:r>
              <a:rPr lang="en-GB" sz="1800" spc="120" dirty="0">
                <a:latin typeface="Times New Roman"/>
                <a:cs typeface="Times New Roman"/>
              </a:rPr>
              <a:t> </a:t>
            </a:r>
            <a:r>
              <a:rPr lang="en-GB" sz="1800" spc="-5" dirty="0">
                <a:latin typeface="Times New Roman"/>
                <a:cs typeface="Times New Roman"/>
              </a:rPr>
              <a:t>named</a:t>
            </a:r>
            <a:r>
              <a:rPr lang="en-GB" sz="1800" spc="105" dirty="0">
                <a:latin typeface="Times New Roman"/>
                <a:cs typeface="Times New Roman"/>
              </a:rPr>
              <a:t> </a:t>
            </a:r>
            <a:r>
              <a:rPr lang="en-GB" sz="1800" spc="-5" dirty="0">
                <a:latin typeface="Times New Roman"/>
                <a:cs typeface="Times New Roman"/>
              </a:rPr>
              <a:t>heterobicycle</a:t>
            </a:r>
            <a:r>
              <a:rPr lang="en-GB" sz="1800" spc="105" dirty="0">
                <a:latin typeface="Times New Roman"/>
                <a:cs typeface="Times New Roman"/>
              </a:rPr>
              <a:t> </a:t>
            </a:r>
            <a:r>
              <a:rPr lang="en-GB" sz="1800" dirty="0">
                <a:latin typeface="Times New Roman"/>
                <a:cs typeface="Times New Roman"/>
              </a:rPr>
              <a:t>(see</a:t>
            </a:r>
            <a:r>
              <a:rPr lang="en-GB" sz="1800" spc="105" dirty="0">
                <a:latin typeface="Times New Roman"/>
                <a:cs typeface="Times New Roman"/>
              </a:rPr>
              <a:t> </a:t>
            </a:r>
            <a:r>
              <a:rPr lang="en-GB" sz="1800" dirty="0">
                <a:latin typeface="Times New Roman"/>
                <a:cs typeface="Times New Roman"/>
              </a:rPr>
              <a:t>slide</a:t>
            </a:r>
            <a:r>
              <a:rPr lang="en-GB" sz="1800" spc="110" dirty="0">
                <a:latin typeface="Times New Roman"/>
                <a:cs typeface="Times New Roman"/>
              </a:rPr>
              <a:t> </a:t>
            </a:r>
            <a:r>
              <a:rPr lang="en-GB" sz="1800" spc="-10" dirty="0">
                <a:latin typeface="Times New Roman"/>
                <a:cs typeface="Times New Roman"/>
              </a:rPr>
              <a:t>14, 15),</a:t>
            </a:r>
            <a:r>
              <a:rPr lang="en-GB" sz="1800" spc="110" dirty="0">
                <a:latin typeface="Times New Roman"/>
                <a:cs typeface="Times New Roman"/>
              </a:rPr>
              <a:t> </a:t>
            </a:r>
            <a:r>
              <a:rPr lang="en-GB" sz="1800" dirty="0">
                <a:latin typeface="Times New Roman"/>
                <a:cs typeface="Times New Roman"/>
              </a:rPr>
              <a:t>a</a:t>
            </a:r>
            <a:r>
              <a:rPr lang="en-GB" sz="1800" spc="95" dirty="0">
                <a:latin typeface="Times New Roman"/>
                <a:cs typeface="Times New Roman"/>
              </a:rPr>
              <a:t> </a:t>
            </a:r>
            <a:r>
              <a:rPr lang="en-GB" sz="1800" spc="-5" dirty="0">
                <a:latin typeface="Times New Roman"/>
                <a:cs typeface="Times New Roman"/>
              </a:rPr>
              <a:t>benzene</a:t>
            </a:r>
            <a:r>
              <a:rPr lang="en-GB" sz="1800" spc="95" dirty="0">
                <a:latin typeface="Times New Roman"/>
                <a:cs typeface="Times New Roman"/>
              </a:rPr>
              <a:t> </a:t>
            </a:r>
            <a:r>
              <a:rPr lang="en-GB" sz="1800" dirty="0">
                <a:latin typeface="Times New Roman"/>
                <a:cs typeface="Times New Roman"/>
              </a:rPr>
              <a:t>ring</a:t>
            </a:r>
            <a:r>
              <a:rPr lang="en-GB" sz="1800" spc="105" dirty="0">
                <a:latin typeface="Times New Roman"/>
                <a:cs typeface="Times New Roman"/>
              </a:rPr>
              <a:t> </a:t>
            </a:r>
            <a:r>
              <a:rPr lang="en-GB" sz="1800" spc="-5" dirty="0">
                <a:latin typeface="Times New Roman"/>
                <a:cs typeface="Times New Roman"/>
              </a:rPr>
              <a:t>fused </a:t>
            </a:r>
            <a:r>
              <a:rPr lang="en-GB" sz="1800" spc="-440" dirty="0">
                <a:latin typeface="Times New Roman"/>
                <a:cs typeface="Times New Roman"/>
              </a:rPr>
              <a:t> </a:t>
            </a:r>
            <a:r>
              <a:rPr lang="en-GB" sz="1800" dirty="0">
                <a:latin typeface="Times New Roman"/>
                <a:cs typeface="Times New Roman"/>
              </a:rPr>
              <a:t>to a </a:t>
            </a:r>
            <a:r>
              <a:rPr lang="en-GB" sz="1800" spc="-5" dirty="0">
                <a:latin typeface="Times New Roman"/>
                <a:cs typeface="Times New Roman"/>
              </a:rPr>
              <a:t>heteromonocycle </a:t>
            </a:r>
            <a:r>
              <a:rPr lang="en-GB" sz="1800" dirty="0">
                <a:latin typeface="Times New Roman"/>
                <a:cs typeface="Times New Roman"/>
              </a:rPr>
              <a:t>of </a:t>
            </a:r>
            <a:r>
              <a:rPr lang="en-GB" sz="1800" spc="-5" dirty="0">
                <a:latin typeface="Times New Roman"/>
                <a:cs typeface="Times New Roman"/>
              </a:rPr>
              <a:t>five </a:t>
            </a:r>
            <a:r>
              <a:rPr lang="en-GB" sz="1800" dirty="0">
                <a:latin typeface="Times New Roman"/>
                <a:cs typeface="Times New Roman"/>
              </a:rPr>
              <a:t>or </a:t>
            </a:r>
            <a:r>
              <a:rPr lang="en-GB" sz="1800" spc="-5" dirty="0">
                <a:latin typeface="Times New Roman"/>
                <a:cs typeface="Times New Roman"/>
              </a:rPr>
              <a:t>more members </a:t>
            </a:r>
            <a:r>
              <a:rPr lang="en-GB" sz="1800" dirty="0">
                <a:latin typeface="Times New Roman"/>
                <a:cs typeface="Times New Roman"/>
              </a:rPr>
              <a:t>or a </a:t>
            </a:r>
            <a:r>
              <a:rPr lang="en-GB" sz="1800" spc="-5" dirty="0" err="1">
                <a:latin typeface="Times New Roman"/>
                <a:cs typeface="Times New Roman"/>
              </a:rPr>
              <a:t>heterobicylcle</a:t>
            </a:r>
            <a:r>
              <a:rPr lang="en-GB" sz="1800" spc="-5" dirty="0">
                <a:latin typeface="Times New Roman"/>
                <a:cs typeface="Times New Roman"/>
              </a:rPr>
              <a:t> is </a:t>
            </a:r>
            <a:r>
              <a:rPr lang="en-GB" sz="1800" dirty="0">
                <a:latin typeface="Times New Roman"/>
                <a:cs typeface="Times New Roman"/>
              </a:rPr>
              <a:t>named </a:t>
            </a:r>
            <a:r>
              <a:rPr lang="en-GB" sz="1800" spc="-15" dirty="0">
                <a:latin typeface="Times New Roman"/>
                <a:cs typeface="Times New Roman"/>
              </a:rPr>
              <a:t>by </a:t>
            </a:r>
            <a:r>
              <a:rPr lang="en-GB" sz="1800" spc="-10" dirty="0">
                <a:latin typeface="Times New Roman"/>
                <a:cs typeface="Times New Roman"/>
              </a:rPr>
              <a:t> </a:t>
            </a:r>
            <a:r>
              <a:rPr lang="en-GB" sz="1800" dirty="0">
                <a:latin typeface="Times New Roman"/>
                <a:cs typeface="Times New Roman"/>
              </a:rPr>
              <a:t>prefixing the </a:t>
            </a:r>
            <a:r>
              <a:rPr lang="en-GB" sz="1800" spc="-10" dirty="0">
                <a:latin typeface="Times New Roman"/>
                <a:cs typeface="Times New Roman"/>
              </a:rPr>
              <a:t>word </a:t>
            </a:r>
            <a:r>
              <a:rPr lang="en-GB" sz="1800" dirty="0">
                <a:solidFill>
                  <a:srgbClr val="C00000"/>
                </a:solidFill>
                <a:latin typeface="Times New Roman"/>
                <a:cs typeface="Times New Roman"/>
              </a:rPr>
              <a:t>benzo </a:t>
            </a:r>
            <a:r>
              <a:rPr lang="en-GB" sz="1800" dirty="0">
                <a:latin typeface="Times New Roman"/>
                <a:cs typeface="Times New Roman"/>
              </a:rPr>
              <a:t>to a letter indicating the </a:t>
            </a:r>
            <a:r>
              <a:rPr lang="en-GB" sz="1800" spc="-5" dirty="0">
                <a:latin typeface="Times New Roman"/>
                <a:cs typeface="Times New Roman"/>
              </a:rPr>
              <a:t>position </a:t>
            </a:r>
            <a:r>
              <a:rPr lang="en-GB" sz="1800" dirty="0">
                <a:latin typeface="Times New Roman"/>
                <a:cs typeface="Times New Roman"/>
              </a:rPr>
              <a:t>of fusion in </a:t>
            </a:r>
            <a:r>
              <a:rPr lang="en-GB" sz="1800" spc="-5" dirty="0">
                <a:latin typeface="Times New Roman"/>
                <a:cs typeface="Times New Roman"/>
              </a:rPr>
              <a:t>square </a:t>
            </a:r>
            <a:r>
              <a:rPr lang="en-GB" sz="1800" dirty="0">
                <a:latin typeface="Times New Roman"/>
                <a:cs typeface="Times New Roman"/>
              </a:rPr>
              <a:t> brackets</a:t>
            </a:r>
            <a:r>
              <a:rPr lang="en-GB" sz="1800" spc="5" dirty="0">
                <a:latin typeface="Times New Roman"/>
                <a:cs typeface="Times New Roman"/>
              </a:rPr>
              <a:t> </a:t>
            </a:r>
            <a:r>
              <a:rPr lang="en-GB" sz="1800" spc="-10" dirty="0">
                <a:latin typeface="Times New Roman"/>
                <a:cs typeface="Times New Roman"/>
              </a:rPr>
              <a:t>by</a:t>
            </a:r>
            <a:r>
              <a:rPr lang="en-GB" sz="1800" spc="-5" dirty="0">
                <a:latin typeface="Times New Roman"/>
                <a:cs typeface="Times New Roman"/>
              </a:rPr>
              <a:t> </a:t>
            </a:r>
            <a:r>
              <a:rPr lang="en-GB" sz="1800" dirty="0">
                <a:latin typeface="Times New Roman"/>
                <a:cs typeface="Times New Roman"/>
              </a:rPr>
              <a:t>the</a:t>
            </a:r>
            <a:r>
              <a:rPr lang="en-GB" sz="1800" spc="5" dirty="0">
                <a:latin typeface="Times New Roman"/>
                <a:cs typeface="Times New Roman"/>
              </a:rPr>
              <a:t> </a:t>
            </a:r>
            <a:r>
              <a:rPr lang="en-GB" sz="1800" dirty="0">
                <a:latin typeface="Times New Roman"/>
                <a:cs typeface="Times New Roman"/>
              </a:rPr>
              <a:t>name</a:t>
            </a:r>
            <a:r>
              <a:rPr lang="en-GB" sz="1800" spc="5" dirty="0">
                <a:latin typeface="Times New Roman"/>
                <a:cs typeface="Times New Roman"/>
              </a:rPr>
              <a:t> </a:t>
            </a:r>
            <a:r>
              <a:rPr lang="en-GB" sz="1800" dirty="0">
                <a:latin typeface="Times New Roman"/>
                <a:cs typeface="Times New Roman"/>
              </a:rPr>
              <a:t>of</a:t>
            </a:r>
            <a:r>
              <a:rPr lang="en-GB" sz="1800" spc="5" dirty="0">
                <a:latin typeface="Times New Roman"/>
                <a:cs typeface="Times New Roman"/>
              </a:rPr>
              <a:t> </a:t>
            </a:r>
            <a:r>
              <a:rPr lang="en-GB" sz="1800" spc="-5" dirty="0">
                <a:latin typeface="Times New Roman"/>
                <a:cs typeface="Times New Roman"/>
              </a:rPr>
              <a:t>heterocyclic</a:t>
            </a:r>
            <a:r>
              <a:rPr lang="en-GB" sz="1800" dirty="0">
                <a:latin typeface="Times New Roman"/>
                <a:cs typeface="Times New Roman"/>
              </a:rPr>
              <a:t> ring</a:t>
            </a:r>
            <a:r>
              <a:rPr lang="en-GB" sz="1800" spc="5" dirty="0">
                <a:latin typeface="Times New Roman"/>
                <a:cs typeface="Times New Roman"/>
              </a:rPr>
              <a:t> </a:t>
            </a:r>
            <a:r>
              <a:rPr lang="en-GB" sz="1800" spc="-5" dirty="0">
                <a:latin typeface="Times New Roman"/>
                <a:cs typeface="Times New Roman"/>
              </a:rPr>
              <a:t>(common</a:t>
            </a:r>
            <a:r>
              <a:rPr lang="en-GB" sz="1800" dirty="0">
                <a:latin typeface="Times New Roman"/>
                <a:cs typeface="Times New Roman"/>
              </a:rPr>
              <a:t> or</a:t>
            </a:r>
            <a:r>
              <a:rPr lang="en-GB" sz="1800" spc="5" dirty="0">
                <a:latin typeface="Times New Roman"/>
                <a:cs typeface="Times New Roman"/>
              </a:rPr>
              <a:t> </a:t>
            </a:r>
            <a:r>
              <a:rPr lang="en-GB" sz="1800" spc="-5" dirty="0">
                <a:latin typeface="Times New Roman"/>
                <a:cs typeface="Times New Roman"/>
              </a:rPr>
              <a:t>IUPAC</a:t>
            </a:r>
            <a:r>
              <a:rPr lang="en-GB" sz="1800" dirty="0">
                <a:latin typeface="Times New Roman"/>
                <a:cs typeface="Times New Roman"/>
              </a:rPr>
              <a:t> or</a:t>
            </a:r>
            <a:r>
              <a:rPr lang="en-GB" sz="1800" spc="5" dirty="0">
                <a:latin typeface="Times New Roman"/>
                <a:cs typeface="Times New Roman"/>
              </a:rPr>
              <a:t> </a:t>
            </a:r>
            <a:r>
              <a:rPr lang="en-GB" sz="1800" spc="-5" dirty="0">
                <a:latin typeface="Times New Roman"/>
                <a:cs typeface="Times New Roman"/>
              </a:rPr>
              <a:t>modified </a:t>
            </a:r>
            <a:r>
              <a:rPr lang="en-GB" sz="1800" dirty="0">
                <a:latin typeface="Times New Roman"/>
                <a:cs typeface="Times New Roman"/>
              </a:rPr>
              <a:t> replacement</a:t>
            </a:r>
            <a:r>
              <a:rPr lang="en-GB" sz="1800" spc="-10" dirty="0">
                <a:latin typeface="Times New Roman"/>
                <a:cs typeface="Times New Roman"/>
              </a:rPr>
              <a:t> </a:t>
            </a:r>
            <a:r>
              <a:rPr lang="en-GB" sz="1800" dirty="0">
                <a:latin typeface="Times New Roman"/>
                <a:cs typeface="Times New Roman"/>
              </a:rPr>
              <a:t>name).</a:t>
            </a:r>
          </a:p>
        </p:txBody>
      </p:sp>
      <p:pic>
        <p:nvPicPr>
          <p:cNvPr id="7" name="Рисунок 6">
            <a:extLst>
              <a:ext uri="{FF2B5EF4-FFF2-40B4-BE49-F238E27FC236}">
                <a16:creationId xmlns:a16="http://schemas.microsoft.com/office/drawing/2014/main" id="{B8EC34D5-65B5-4911-AFD2-35D2FA996722}"/>
              </a:ext>
            </a:extLst>
          </p:cNvPr>
          <p:cNvPicPr>
            <a:picLocks noChangeAspect="1"/>
          </p:cNvPicPr>
          <p:nvPr/>
        </p:nvPicPr>
        <p:blipFill>
          <a:blip r:embed="rId2"/>
          <a:stretch>
            <a:fillRect/>
          </a:stretch>
        </p:blipFill>
        <p:spPr>
          <a:xfrm>
            <a:off x="6439469" y="2640885"/>
            <a:ext cx="5591216" cy="3552851"/>
          </a:xfrm>
          <a:prstGeom prst="rect">
            <a:avLst/>
          </a:prstGeom>
        </p:spPr>
      </p:pic>
      <p:sp>
        <p:nvSpPr>
          <p:cNvPr id="9" name="TextBox 8">
            <a:extLst>
              <a:ext uri="{FF2B5EF4-FFF2-40B4-BE49-F238E27FC236}">
                <a16:creationId xmlns:a16="http://schemas.microsoft.com/office/drawing/2014/main" id="{53227FC3-9DEA-4413-A54A-26BCE25C1722}"/>
              </a:ext>
            </a:extLst>
          </p:cNvPr>
          <p:cNvSpPr txBox="1"/>
          <p:nvPr/>
        </p:nvSpPr>
        <p:spPr>
          <a:xfrm>
            <a:off x="161315" y="2685501"/>
            <a:ext cx="6114196" cy="1477328"/>
          </a:xfrm>
          <a:prstGeom prst="rect">
            <a:avLst/>
          </a:prstGeom>
          <a:noFill/>
        </p:spPr>
        <p:txBody>
          <a:bodyPr wrap="square">
            <a:spAutoFit/>
          </a:bodyPr>
          <a:lstStyle/>
          <a:p>
            <a:pPr marL="355600" marR="5080" indent="-342900" algn="just">
              <a:spcBef>
                <a:spcPts val="1425"/>
              </a:spcBef>
              <a:buFont typeface="Arial MT"/>
              <a:buChar char="•"/>
              <a:tabLst>
                <a:tab pos="355600" algn="l"/>
              </a:tabLst>
            </a:pPr>
            <a:r>
              <a:rPr lang="en-GB" sz="1800" spc="-5" dirty="0">
                <a:latin typeface="Times New Roman"/>
                <a:cs typeface="Times New Roman"/>
              </a:rPr>
              <a:t>For </a:t>
            </a:r>
            <a:r>
              <a:rPr lang="en-GB" sz="1800" dirty="0">
                <a:latin typeface="Times New Roman"/>
                <a:cs typeface="Times New Roman"/>
              </a:rPr>
              <a:t>designating </a:t>
            </a:r>
            <a:r>
              <a:rPr lang="en-GB" sz="1800" spc="-5" dirty="0">
                <a:latin typeface="Times New Roman"/>
                <a:cs typeface="Times New Roman"/>
              </a:rPr>
              <a:t>the </a:t>
            </a:r>
            <a:r>
              <a:rPr lang="en-GB" sz="1800" dirty="0">
                <a:latin typeface="Times New Roman"/>
                <a:cs typeface="Times New Roman"/>
              </a:rPr>
              <a:t>position of </a:t>
            </a:r>
            <a:r>
              <a:rPr lang="en-GB" sz="1800" spc="-5" dirty="0">
                <a:latin typeface="Times New Roman"/>
                <a:cs typeface="Times New Roman"/>
              </a:rPr>
              <a:t>fusion, </a:t>
            </a:r>
            <a:r>
              <a:rPr lang="en-GB" sz="1800" dirty="0">
                <a:latin typeface="Times New Roman"/>
                <a:cs typeface="Times New Roman"/>
              </a:rPr>
              <a:t>the </a:t>
            </a:r>
            <a:r>
              <a:rPr lang="en-GB" sz="1800" spc="-5" dirty="0">
                <a:latin typeface="Times New Roman"/>
                <a:cs typeface="Times New Roman"/>
              </a:rPr>
              <a:t>peripheral </a:t>
            </a:r>
            <a:r>
              <a:rPr lang="en-GB" sz="1800" dirty="0">
                <a:latin typeface="Times New Roman"/>
                <a:cs typeface="Times New Roman"/>
              </a:rPr>
              <a:t>bonds of the </a:t>
            </a:r>
            <a:r>
              <a:rPr lang="en-GB" sz="1800" spc="-5" dirty="0">
                <a:latin typeface="Times New Roman"/>
                <a:cs typeface="Times New Roman"/>
              </a:rPr>
              <a:t>heterocyclic </a:t>
            </a:r>
            <a:r>
              <a:rPr lang="en-GB" sz="1800" dirty="0">
                <a:latin typeface="Times New Roman"/>
                <a:cs typeface="Times New Roman"/>
              </a:rPr>
              <a:t>ring </a:t>
            </a:r>
            <a:r>
              <a:rPr lang="en-GB" sz="1800" spc="5" dirty="0">
                <a:latin typeface="Times New Roman"/>
                <a:cs typeface="Times New Roman"/>
              </a:rPr>
              <a:t> </a:t>
            </a:r>
            <a:r>
              <a:rPr lang="en-GB" sz="1800" dirty="0">
                <a:latin typeface="Times New Roman"/>
                <a:cs typeface="Times New Roman"/>
              </a:rPr>
              <a:t>are </a:t>
            </a:r>
            <a:r>
              <a:rPr lang="en-GB" sz="1800" spc="-5" dirty="0">
                <a:latin typeface="Times New Roman"/>
                <a:cs typeface="Times New Roman"/>
              </a:rPr>
              <a:t>consecutively </a:t>
            </a:r>
            <a:r>
              <a:rPr lang="en-GB" sz="1800" dirty="0">
                <a:latin typeface="Times New Roman"/>
                <a:cs typeface="Times New Roman"/>
              </a:rPr>
              <a:t>assigned </a:t>
            </a:r>
            <a:r>
              <a:rPr lang="en-GB" sz="1800" spc="-5" dirty="0">
                <a:latin typeface="Times New Roman"/>
                <a:cs typeface="Times New Roman"/>
              </a:rPr>
              <a:t>alphabetical letters staring </a:t>
            </a:r>
            <a:r>
              <a:rPr lang="en-GB" sz="1800" dirty="0">
                <a:latin typeface="Times New Roman"/>
                <a:cs typeface="Times New Roman"/>
              </a:rPr>
              <a:t>with the </a:t>
            </a:r>
            <a:r>
              <a:rPr lang="en-GB" sz="1800" spc="-5" dirty="0">
                <a:latin typeface="Times New Roman"/>
                <a:cs typeface="Times New Roman"/>
              </a:rPr>
              <a:t>1,2-bond as </a:t>
            </a:r>
            <a:r>
              <a:rPr lang="en-GB" sz="1800" dirty="0">
                <a:latin typeface="Times New Roman"/>
                <a:cs typeface="Times New Roman"/>
              </a:rPr>
              <a:t>a </a:t>
            </a:r>
            <a:r>
              <a:rPr lang="en-GB" sz="1800" spc="-5" dirty="0">
                <a:latin typeface="Times New Roman"/>
                <a:cs typeface="Times New Roman"/>
              </a:rPr>
              <a:t>side </a:t>
            </a:r>
            <a:r>
              <a:rPr lang="en-GB" sz="1800" dirty="0">
                <a:latin typeface="Times New Roman"/>
                <a:cs typeface="Times New Roman"/>
              </a:rPr>
              <a:t> and the </a:t>
            </a:r>
            <a:r>
              <a:rPr lang="en-GB" sz="1800" dirty="0" err="1">
                <a:latin typeface="Times New Roman"/>
                <a:cs typeface="Times New Roman"/>
              </a:rPr>
              <a:t>labeling</a:t>
            </a:r>
            <a:r>
              <a:rPr lang="en-GB" sz="1800" dirty="0">
                <a:latin typeface="Times New Roman"/>
                <a:cs typeface="Times New Roman"/>
              </a:rPr>
              <a:t> </a:t>
            </a:r>
            <a:r>
              <a:rPr lang="en-GB" sz="1800" spc="-5" dirty="0">
                <a:latin typeface="Times New Roman"/>
                <a:cs typeface="Times New Roman"/>
              </a:rPr>
              <a:t>is continued around </a:t>
            </a:r>
            <a:r>
              <a:rPr lang="en-GB" sz="1800" dirty="0">
                <a:latin typeface="Times New Roman"/>
                <a:cs typeface="Times New Roman"/>
              </a:rPr>
              <a:t>the ring to give </a:t>
            </a:r>
            <a:r>
              <a:rPr lang="en-GB" sz="1800" spc="-5" dirty="0">
                <a:latin typeface="Times New Roman"/>
                <a:cs typeface="Times New Roman"/>
              </a:rPr>
              <a:t>the common </a:t>
            </a:r>
            <a:r>
              <a:rPr lang="en-GB" sz="1800" dirty="0">
                <a:latin typeface="Times New Roman"/>
                <a:cs typeface="Times New Roman"/>
              </a:rPr>
              <a:t>bond the </a:t>
            </a:r>
            <a:r>
              <a:rPr lang="en-GB" sz="1800" spc="-5" dirty="0">
                <a:latin typeface="Times New Roman"/>
                <a:cs typeface="Times New Roman"/>
              </a:rPr>
              <a:t>lowest </a:t>
            </a:r>
            <a:r>
              <a:rPr lang="en-GB" sz="1800" dirty="0">
                <a:latin typeface="Times New Roman"/>
                <a:cs typeface="Times New Roman"/>
              </a:rPr>
              <a:t> order</a:t>
            </a:r>
            <a:r>
              <a:rPr lang="en-GB" sz="1800" dirty="0">
                <a:solidFill>
                  <a:srgbClr val="000099"/>
                </a:solidFill>
                <a:latin typeface="Times New Roman"/>
                <a:cs typeface="Times New Roman"/>
              </a:rPr>
              <a:t>.</a:t>
            </a:r>
            <a:endParaRPr lang="en-GB" sz="1800" dirty="0">
              <a:latin typeface="Times New Roman"/>
              <a:cs typeface="Times New Roman"/>
            </a:endParaRPr>
          </a:p>
        </p:txBody>
      </p:sp>
      <p:sp>
        <p:nvSpPr>
          <p:cNvPr id="8" name="Rectangle 5">
            <a:extLst>
              <a:ext uri="{FF2B5EF4-FFF2-40B4-BE49-F238E27FC236}">
                <a16:creationId xmlns:a16="http://schemas.microsoft.com/office/drawing/2014/main" id="{BF0235F7-E044-42D6-95EF-2A03D85363C0}"/>
              </a:ext>
            </a:extLst>
          </p:cNvPr>
          <p:cNvSpPr txBox="1">
            <a:spLocks noChangeArrowheads="1"/>
          </p:cNvSpPr>
          <p:nvPr/>
        </p:nvSpPr>
        <p:spPr>
          <a:xfrm>
            <a:off x="161315" y="4231344"/>
            <a:ext cx="5998191" cy="1371600"/>
          </a:xfrm>
          <a:prstGeom prst="rect">
            <a:avLst/>
          </a:prstGeom>
          <a:noFill/>
          <a:ln/>
        </p:spPr>
        <p:txBody>
          <a:bodyPr/>
          <a:lst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5600" marR="5080" indent="-342900" algn="just" defTabSz="914400">
              <a:lnSpc>
                <a:spcPct val="100000"/>
              </a:lnSpc>
              <a:spcBef>
                <a:spcPts val="1425"/>
              </a:spcBef>
              <a:buFont typeface="Arial MT"/>
              <a:buChar char="•"/>
              <a:tabLst>
                <a:tab pos="355600" algn="l"/>
              </a:tabLst>
            </a:pPr>
            <a:r>
              <a:rPr lang="en-US" altLang="en-US" sz="1800" spc="-5" dirty="0">
                <a:latin typeface="Times New Roman"/>
                <a:cs typeface="Times New Roman"/>
              </a:rPr>
              <a:t>If two benzene rings are ortho-fused to a six membered 1,4-dihetero monocyclic ring containing different atoms, then it is named by adding the prefix ‘</a:t>
            </a:r>
            <a:r>
              <a:rPr lang="en-US" altLang="en-US" sz="1800" spc="-5" dirty="0" err="1">
                <a:latin typeface="Times New Roman"/>
                <a:cs typeface="Times New Roman"/>
              </a:rPr>
              <a:t>pheno</a:t>
            </a:r>
            <a:r>
              <a:rPr lang="en-US" altLang="en-US" sz="1800" spc="-5" dirty="0">
                <a:latin typeface="Times New Roman"/>
                <a:cs typeface="Times New Roman"/>
              </a:rPr>
              <a:t>-’ to the H-W name of heterocycle.</a:t>
            </a:r>
          </a:p>
        </p:txBody>
      </p:sp>
      <p:pic>
        <p:nvPicPr>
          <p:cNvPr id="10" name="Picture 6">
            <a:extLst>
              <a:ext uri="{FF2B5EF4-FFF2-40B4-BE49-F238E27FC236}">
                <a16:creationId xmlns:a16="http://schemas.microsoft.com/office/drawing/2014/main" id="{1884F144-9C57-4163-AA21-DC06382405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2119566" y="5269036"/>
            <a:ext cx="3725192" cy="1350963"/>
          </a:xfrm>
          <a:prstGeom prst="rect">
            <a:avLst/>
          </a:prstGeom>
          <a:noFill/>
          <a:ln/>
        </p:spPr>
      </p:pic>
      <p:sp>
        <p:nvSpPr>
          <p:cNvPr id="11" name="TextBox 10">
            <a:extLst>
              <a:ext uri="{FF2B5EF4-FFF2-40B4-BE49-F238E27FC236}">
                <a16:creationId xmlns:a16="http://schemas.microsoft.com/office/drawing/2014/main" id="{551268E7-B615-4BDD-8A29-8E405B29B8FA}"/>
              </a:ext>
            </a:extLst>
          </p:cNvPr>
          <p:cNvSpPr txBox="1"/>
          <p:nvPr/>
        </p:nvSpPr>
        <p:spPr>
          <a:xfrm>
            <a:off x="2760364" y="1996311"/>
            <a:ext cx="6168788" cy="369332"/>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pPr algn="ctr">
              <a:spcBef>
                <a:spcPts val="600"/>
              </a:spcBef>
            </a:pPr>
            <a:r>
              <a:rPr lang="en-GB" sz="1800" b="1" spc="-5" dirty="0">
                <a:solidFill>
                  <a:srgbClr val="CC0000"/>
                </a:solidFill>
                <a:latin typeface="Times New Roman"/>
                <a:cs typeface="Times New Roman"/>
              </a:rPr>
              <a:t>Name</a:t>
            </a:r>
            <a:r>
              <a:rPr lang="en-GB" sz="1800" b="1" spc="5" dirty="0">
                <a:solidFill>
                  <a:srgbClr val="CC0000"/>
                </a:solidFill>
                <a:latin typeface="Times New Roman"/>
                <a:cs typeface="Times New Roman"/>
              </a:rPr>
              <a:t> </a:t>
            </a:r>
            <a:r>
              <a:rPr lang="en-GB" sz="1800" b="1" spc="-5" dirty="0">
                <a:solidFill>
                  <a:srgbClr val="CC0000"/>
                </a:solidFill>
                <a:latin typeface="Times New Roman"/>
                <a:cs typeface="Times New Roman"/>
              </a:rPr>
              <a:t>=</a:t>
            </a:r>
            <a:r>
              <a:rPr lang="en-GB" sz="1800" b="1" dirty="0">
                <a:solidFill>
                  <a:srgbClr val="CC0000"/>
                </a:solidFill>
                <a:latin typeface="Times New Roman"/>
                <a:cs typeface="Times New Roman"/>
              </a:rPr>
              <a:t> Benzo</a:t>
            </a:r>
            <a:r>
              <a:rPr lang="en-GB" sz="1800" b="1" spc="-10" dirty="0">
                <a:solidFill>
                  <a:srgbClr val="CC0000"/>
                </a:solidFill>
                <a:latin typeface="Times New Roman"/>
                <a:cs typeface="Times New Roman"/>
              </a:rPr>
              <a:t> </a:t>
            </a:r>
            <a:r>
              <a:rPr lang="en-GB" sz="1800" b="1" dirty="0">
                <a:solidFill>
                  <a:srgbClr val="CC0000"/>
                </a:solidFill>
                <a:latin typeface="Times New Roman"/>
                <a:cs typeface="Times New Roman"/>
              </a:rPr>
              <a:t>[letter]</a:t>
            </a:r>
            <a:r>
              <a:rPr lang="en-GB" sz="1800" b="1" spc="-25" dirty="0">
                <a:solidFill>
                  <a:srgbClr val="CC0000"/>
                </a:solidFill>
                <a:latin typeface="Times New Roman"/>
                <a:cs typeface="Times New Roman"/>
              </a:rPr>
              <a:t> </a:t>
            </a:r>
            <a:r>
              <a:rPr lang="en-GB" sz="1800" b="1" spc="-5" dirty="0">
                <a:solidFill>
                  <a:srgbClr val="CC0000"/>
                </a:solidFill>
                <a:latin typeface="Times New Roman"/>
                <a:cs typeface="Times New Roman"/>
              </a:rPr>
              <a:t>name</a:t>
            </a:r>
            <a:r>
              <a:rPr lang="en-GB" sz="1800" b="1" spc="5" dirty="0">
                <a:solidFill>
                  <a:srgbClr val="CC0000"/>
                </a:solidFill>
                <a:latin typeface="Times New Roman"/>
                <a:cs typeface="Times New Roman"/>
              </a:rPr>
              <a:t> </a:t>
            </a:r>
            <a:r>
              <a:rPr lang="en-GB" sz="1800" b="1" spc="-5" dirty="0">
                <a:solidFill>
                  <a:srgbClr val="CC0000"/>
                </a:solidFill>
                <a:latin typeface="Times New Roman"/>
                <a:cs typeface="Times New Roman"/>
              </a:rPr>
              <a:t>of</a:t>
            </a:r>
            <a:r>
              <a:rPr lang="en-GB" sz="1800" b="1" dirty="0">
                <a:solidFill>
                  <a:srgbClr val="CC0000"/>
                </a:solidFill>
                <a:latin typeface="Times New Roman"/>
                <a:cs typeface="Times New Roman"/>
              </a:rPr>
              <a:t> heterocyclic</a:t>
            </a:r>
            <a:r>
              <a:rPr lang="en-GB" sz="1800" b="1" spc="-35" dirty="0">
                <a:solidFill>
                  <a:srgbClr val="CC0000"/>
                </a:solidFill>
                <a:latin typeface="Times New Roman"/>
                <a:cs typeface="Times New Roman"/>
              </a:rPr>
              <a:t> </a:t>
            </a:r>
            <a:r>
              <a:rPr lang="en-GB" sz="1800" b="1" spc="-5" dirty="0">
                <a:solidFill>
                  <a:srgbClr val="CC0000"/>
                </a:solidFill>
                <a:latin typeface="Times New Roman"/>
                <a:cs typeface="Times New Roman"/>
              </a:rPr>
              <a:t>ring</a:t>
            </a:r>
            <a:endParaRPr lang="en-GB" sz="1800" b="1" dirty="0">
              <a:latin typeface="Times New Roman"/>
              <a:cs typeface="Times New Roman"/>
            </a:endParaRPr>
          </a:p>
        </p:txBody>
      </p:sp>
    </p:spTree>
    <p:extLst>
      <p:ext uri="{BB962C8B-B14F-4D97-AF65-F5344CB8AC3E}">
        <p14:creationId xmlns:p14="http://schemas.microsoft.com/office/powerpoint/2010/main" val="186667654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a:extLst>
              <a:ext uri="{FF2B5EF4-FFF2-40B4-BE49-F238E27FC236}">
                <a16:creationId xmlns:a16="http://schemas.microsoft.com/office/drawing/2014/main" id="{1DC5011E-C25B-4630-BFD6-ED7A285B8343}"/>
              </a:ext>
            </a:extLst>
          </p:cNvPr>
          <p:cNvSpPr>
            <a:spLocks noGrp="1"/>
          </p:cNvSpPr>
          <p:nvPr>
            <p:ph type="sldNum" sz="quarter" idx="12"/>
          </p:nvPr>
        </p:nvSpPr>
        <p:spPr/>
        <p:txBody>
          <a:bodyPr/>
          <a:lstStyle/>
          <a:p>
            <a:fld id="{93C419CB-0CF1-4F10-90F9-42551F8968FF}" type="slidenum">
              <a:rPr lang="en-GB" smtClean="0"/>
              <a:t>28</a:t>
            </a:fld>
            <a:endParaRPr lang="en-GB"/>
          </a:p>
        </p:txBody>
      </p:sp>
      <p:sp>
        <p:nvSpPr>
          <p:cNvPr id="4" name="TextBox 3">
            <a:extLst>
              <a:ext uri="{FF2B5EF4-FFF2-40B4-BE49-F238E27FC236}">
                <a16:creationId xmlns:a16="http://schemas.microsoft.com/office/drawing/2014/main" id="{664C6752-D80E-49BB-B12A-D0228B703FBA}"/>
              </a:ext>
            </a:extLst>
          </p:cNvPr>
          <p:cNvSpPr txBox="1"/>
          <p:nvPr/>
        </p:nvSpPr>
        <p:spPr>
          <a:xfrm>
            <a:off x="189362" y="623937"/>
            <a:ext cx="9410267" cy="1862048"/>
          </a:xfrm>
          <a:prstGeom prst="rect">
            <a:avLst/>
          </a:prstGeom>
          <a:noFill/>
        </p:spPr>
        <p:txBody>
          <a:bodyPr wrap="square">
            <a:spAutoFit/>
          </a:bodyPr>
          <a:lstStyle/>
          <a:p>
            <a:pPr marL="355600" marR="5080" indent="-342900" algn="just">
              <a:spcBef>
                <a:spcPts val="95"/>
              </a:spcBef>
              <a:buFont typeface="Arial MT"/>
              <a:buChar char="•"/>
              <a:tabLst>
                <a:tab pos="354965" algn="l"/>
                <a:tab pos="355600" algn="l"/>
              </a:tabLst>
            </a:pPr>
            <a:r>
              <a:rPr lang="en-GB" sz="1800" dirty="0">
                <a:latin typeface="Times New Roman"/>
                <a:cs typeface="Times New Roman"/>
              </a:rPr>
              <a:t>There </a:t>
            </a:r>
            <a:r>
              <a:rPr lang="en-GB" sz="1800" spc="-5" dirty="0">
                <a:latin typeface="Times New Roman"/>
                <a:cs typeface="Times New Roman"/>
              </a:rPr>
              <a:t>is </a:t>
            </a:r>
            <a:r>
              <a:rPr lang="en-GB" spc="-5" dirty="0">
                <a:latin typeface="Times New Roman"/>
                <a:cs typeface="Times New Roman"/>
              </a:rPr>
              <a:t>a</a:t>
            </a:r>
            <a:r>
              <a:rPr lang="en-GB" sz="1800" spc="-5" dirty="0">
                <a:latin typeface="Times New Roman"/>
                <a:cs typeface="Times New Roman"/>
              </a:rPr>
              <a:t>n </a:t>
            </a:r>
            <a:r>
              <a:rPr lang="en-GB" sz="1800" dirty="0">
                <a:latin typeface="Times New Roman"/>
                <a:cs typeface="Times New Roman"/>
              </a:rPr>
              <a:t>exception to the</a:t>
            </a:r>
            <a:r>
              <a:rPr lang="en-GB" sz="1800" spc="5" dirty="0">
                <a:latin typeface="Times New Roman"/>
                <a:cs typeface="Times New Roman"/>
              </a:rPr>
              <a:t> </a:t>
            </a:r>
            <a:r>
              <a:rPr lang="en-GB" sz="1800" spc="-5" dirty="0">
                <a:latin typeface="Times New Roman"/>
                <a:cs typeface="Times New Roman"/>
              </a:rPr>
              <a:t>two </a:t>
            </a:r>
            <a:r>
              <a:rPr lang="en-GB" sz="1800" dirty="0">
                <a:latin typeface="Times New Roman"/>
                <a:cs typeface="Times New Roman"/>
              </a:rPr>
              <a:t>ring systems in which</a:t>
            </a:r>
            <a:r>
              <a:rPr lang="en-GB" sz="1800" spc="5" dirty="0">
                <a:latin typeface="Times New Roman"/>
                <a:cs typeface="Times New Roman"/>
              </a:rPr>
              <a:t> </a:t>
            </a:r>
            <a:r>
              <a:rPr lang="en-GB" sz="1800" dirty="0">
                <a:latin typeface="Times New Roman"/>
                <a:cs typeface="Times New Roman"/>
              </a:rPr>
              <a:t>a benzene</a:t>
            </a:r>
            <a:r>
              <a:rPr lang="en-GB" sz="1800" spc="5" dirty="0">
                <a:latin typeface="Times New Roman"/>
                <a:cs typeface="Times New Roman"/>
              </a:rPr>
              <a:t> </a:t>
            </a:r>
            <a:r>
              <a:rPr lang="en-GB" sz="1800" dirty="0">
                <a:latin typeface="Times New Roman"/>
                <a:cs typeface="Times New Roman"/>
              </a:rPr>
              <a:t>ring </a:t>
            </a:r>
            <a:r>
              <a:rPr lang="en-GB" sz="1800" spc="-5" dirty="0">
                <a:latin typeface="Times New Roman"/>
                <a:cs typeface="Times New Roman"/>
              </a:rPr>
              <a:t>is </a:t>
            </a:r>
            <a:r>
              <a:rPr lang="en-GB" sz="1800" dirty="0">
                <a:latin typeface="Times New Roman"/>
                <a:cs typeface="Times New Roman"/>
              </a:rPr>
              <a:t> </a:t>
            </a:r>
            <a:r>
              <a:rPr lang="en-GB" sz="1800" spc="-5" dirty="0">
                <a:latin typeface="Times New Roman"/>
                <a:cs typeface="Times New Roman"/>
              </a:rPr>
              <a:t>fused </a:t>
            </a:r>
            <a:r>
              <a:rPr lang="en-GB" sz="1800" dirty="0">
                <a:latin typeface="Times New Roman"/>
                <a:cs typeface="Times New Roman"/>
              </a:rPr>
              <a:t>to a hetero ring</a:t>
            </a:r>
            <a:r>
              <a:rPr lang="en-GB" sz="1800" spc="5" dirty="0">
                <a:latin typeface="Times New Roman"/>
                <a:cs typeface="Times New Roman"/>
              </a:rPr>
              <a:t> </a:t>
            </a:r>
            <a:r>
              <a:rPr lang="en-GB" sz="1800" spc="-5" dirty="0">
                <a:latin typeface="Times New Roman"/>
                <a:cs typeface="Times New Roman"/>
              </a:rPr>
              <a:t>(which </a:t>
            </a:r>
            <a:r>
              <a:rPr lang="en-GB" sz="1800" dirty="0">
                <a:latin typeface="Times New Roman"/>
                <a:cs typeface="Times New Roman"/>
              </a:rPr>
              <a:t>doesn't have a </a:t>
            </a:r>
            <a:r>
              <a:rPr lang="en-GB" sz="1800" spc="-5" dirty="0">
                <a:latin typeface="Times New Roman"/>
                <a:cs typeface="Times New Roman"/>
              </a:rPr>
              <a:t>known common </a:t>
            </a:r>
            <a:r>
              <a:rPr lang="en-GB" sz="1800" dirty="0">
                <a:latin typeface="Times New Roman"/>
                <a:cs typeface="Times New Roman"/>
              </a:rPr>
              <a:t>name) </a:t>
            </a:r>
            <a:r>
              <a:rPr lang="en-GB" sz="1800" spc="-5" dirty="0">
                <a:latin typeface="Times New Roman"/>
                <a:cs typeface="Times New Roman"/>
              </a:rPr>
              <a:t>may </a:t>
            </a:r>
            <a:r>
              <a:rPr lang="en-GB" sz="1800" dirty="0">
                <a:latin typeface="Times New Roman"/>
                <a:cs typeface="Times New Roman"/>
              </a:rPr>
              <a:t>be </a:t>
            </a:r>
            <a:r>
              <a:rPr lang="en-GB" sz="1800" spc="-434" dirty="0">
                <a:latin typeface="Times New Roman"/>
                <a:cs typeface="Times New Roman"/>
              </a:rPr>
              <a:t> </a:t>
            </a:r>
            <a:r>
              <a:rPr lang="en-GB" sz="1800" dirty="0">
                <a:latin typeface="Times New Roman"/>
                <a:cs typeface="Times New Roman"/>
              </a:rPr>
              <a:t>named by prefixing </a:t>
            </a:r>
            <a:r>
              <a:rPr lang="en-GB" sz="1800" spc="-5" dirty="0">
                <a:latin typeface="Times New Roman"/>
                <a:cs typeface="Times New Roman"/>
              </a:rPr>
              <a:t>numbers </a:t>
            </a:r>
            <a:r>
              <a:rPr lang="en-GB" sz="1800" dirty="0">
                <a:latin typeface="Times New Roman"/>
                <a:cs typeface="Times New Roman"/>
              </a:rPr>
              <a:t>indicating the positions of the hetero </a:t>
            </a:r>
            <a:r>
              <a:rPr lang="en-GB" sz="1800" spc="-5" dirty="0">
                <a:latin typeface="Times New Roman"/>
                <a:cs typeface="Times New Roman"/>
              </a:rPr>
              <a:t>atoms </a:t>
            </a:r>
            <a:r>
              <a:rPr lang="en-GB" sz="1800" dirty="0">
                <a:latin typeface="Times New Roman"/>
                <a:cs typeface="Times New Roman"/>
              </a:rPr>
              <a:t>to </a:t>
            </a:r>
            <a:r>
              <a:rPr lang="en-GB" sz="1800" spc="-434" dirty="0">
                <a:latin typeface="Times New Roman"/>
                <a:cs typeface="Times New Roman"/>
              </a:rPr>
              <a:t> </a:t>
            </a:r>
            <a:r>
              <a:rPr lang="en-GB" sz="1800" dirty="0">
                <a:latin typeface="Times New Roman"/>
                <a:cs typeface="Times New Roman"/>
              </a:rPr>
              <a:t>benzo</a:t>
            </a:r>
            <a:r>
              <a:rPr lang="en-GB" sz="1800" spc="-10" dirty="0">
                <a:latin typeface="Times New Roman"/>
                <a:cs typeface="Times New Roman"/>
              </a:rPr>
              <a:t> </a:t>
            </a:r>
            <a:r>
              <a:rPr lang="en-GB" sz="1800" dirty="0">
                <a:latin typeface="Times New Roman"/>
                <a:cs typeface="Times New Roman"/>
              </a:rPr>
              <a:t>followed by</a:t>
            </a:r>
            <a:r>
              <a:rPr lang="en-GB" sz="1800" spc="-15" dirty="0">
                <a:latin typeface="Times New Roman"/>
                <a:cs typeface="Times New Roman"/>
              </a:rPr>
              <a:t> </a:t>
            </a:r>
            <a:r>
              <a:rPr lang="en-GB" sz="1800" dirty="0">
                <a:latin typeface="Times New Roman"/>
                <a:cs typeface="Times New Roman"/>
              </a:rPr>
              <a:t>the</a:t>
            </a:r>
            <a:r>
              <a:rPr lang="en-GB" sz="1800" spc="-5" dirty="0">
                <a:latin typeface="Times New Roman"/>
                <a:cs typeface="Times New Roman"/>
              </a:rPr>
              <a:t> </a:t>
            </a:r>
            <a:r>
              <a:rPr lang="en-GB" sz="1800" dirty="0">
                <a:latin typeface="Times New Roman"/>
                <a:cs typeface="Times New Roman"/>
              </a:rPr>
              <a:t>name</a:t>
            </a:r>
            <a:r>
              <a:rPr lang="en-GB" sz="1800" spc="5" dirty="0">
                <a:latin typeface="Times New Roman"/>
                <a:cs typeface="Times New Roman"/>
              </a:rPr>
              <a:t> </a:t>
            </a:r>
            <a:r>
              <a:rPr lang="en-GB" sz="1800" dirty="0">
                <a:latin typeface="Times New Roman"/>
                <a:cs typeface="Times New Roman"/>
              </a:rPr>
              <a:t>of the heterocyclic</a:t>
            </a:r>
            <a:r>
              <a:rPr lang="en-GB" sz="1800" spc="-45" dirty="0">
                <a:latin typeface="Times New Roman"/>
                <a:cs typeface="Times New Roman"/>
              </a:rPr>
              <a:t> </a:t>
            </a:r>
            <a:r>
              <a:rPr lang="en-GB" sz="1800" dirty="0">
                <a:latin typeface="Times New Roman"/>
                <a:cs typeface="Times New Roman"/>
              </a:rPr>
              <a:t>component.</a:t>
            </a:r>
          </a:p>
          <a:p>
            <a:pPr marL="355600" indent="-342900" algn="just">
              <a:spcBef>
                <a:spcPts val="1510"/>
              </a:spcBef>
              <a:buFont typeface="Arial MT"/>
              <a:buChar char="•"/>
              <a:tabLst>
                <a:tab pos="354965" algn="l"/>
                <a:tab pos="355600" algn="l"/>
              </a:tabLst>
            </a:pPr>
            <a:r>
              <a:rPr lang="en-GB" sz="1800" spc="-5" dirty="0">
                <a:latin typeface="Times New Roman"/>
                <a:cs typeface="Times New Roman"/>
              </a:rPr>
              <a:t>Numbering</a:t>
            </a:r>
            <a:r>
              <a:rPr lang="en-GB" sz="1800" spc="5" dirty="0">
                <a:latin typeface="Times New Roman"/>
                <a:cs typeface="Times New Roman"/>
              </a:rPr>
              <a:t> </a:t>
            </a:r>
            <a:r>
              <a:rPr lang="en-GB" sz="1800" dirty="0">
                <a:latin typeface="Times New Roman"/>
                <a:cs typeface="Times New Roman"/>
              </a:rPr>
              <a:t>is</a:t>
            </a:r>
            <a:r>
              <a:rPr lang="en-GB" sz="1800" spc="-10" dirty="0">
                <a:latin typeface="Times New Roman"/>
                <a:cs typeface="Times New Roman"/>
              </a:rPr>
              <a:t> </a:t>
            </a:r>
            <a:r>
              <a:rPr lang="en-GB" sz="1800" spc="-5" dirty="0">
                <a:latin typeface="Times New Roman"/>
                <a:cs typeface="Times New Roman"/>
              </a:rPr>
              <a:t>assigned</a:t>
            </a:r>
            <a:r>
              <a:rPr lang="en-GB" sz="1800" spc="5" dirty="0">
                <a:latin typeface="Times New Roman"/>
                <a:cs typeface="Times New Roman"/>
              </a:rPr>
              <a:t> </a:t>
            </a:r>
            <a:r>
              <a:rPr lang="en-GB" sz="1800" dirty="0">
                <a:latin typeface="Times New Roman"/>
                <a:cs typeface="Times New Roman"/>
              </a:rPr>
              <a:t>according</a:t>
            </a:r>
            <a:r>
              <a:rPr lang="en-GB" sz="1800" spc="-15" dirty="0">
                <a:latin typeface="Times New Roman"/>
                <a:cs typeface="Times New Roman"/>
              </a:rPr>
              <a:t> </a:t>
            </a:r>
            <a:r>
              <a:rPr lang="en-GB" sz="1800" dirty="0">
                <a:latin typeface="Times New Roman"/>
                <a:cs typeface="Times New Roman"/>
              </a:rPr>
              <a:t>to priority</a:t>
            </a:r>
            <a:r>
              <a:rPr lang="en-GB" sz="1800" spc="-25" dirty="0">
                <a:latin typeface="Times New Roman"/>
                <a:cs typeface="Times New Roman"/>
              </a:rPr>
              <a:t> </a:t>
            </a:r>
            <a:r>
              <a:rPr lang="en-GB" sz="1800" dirty="0">
                <a:latin typeface="Times New Roman"/>
                <a:cs typeface="Times New Roman"/>
              </a:rPr>
              <a:t>order</a:t>
            </a:r>
            <a:r>
              <a:rPr lang="en-GB" sz="1800" spc="5" dirty="0">
                <a:latin typeface="Times New Roman"/>
                <a:cs typeface="Times New Roman"/>
              </a:rPr>
              <a:t> </a:t>
            </a:r>
            <a:r>
              <a:rPr lang="en-GB" sz="1800" dirty="0">
                <a:latin typeface="Times New Roman"/>
                <a:cs typeface="Times New Roman"/>
              </a:rPr>
              <a:t>of</a:t>
            </a:r>
            <a:r>
              <a:rPr lang="en-GB" sz="1800" spc="-5" dirty="0">
                <a:latin typeface="Times New Roman"/>
                <a:cs typeface="Times New Roman"/>
              </a:rPr>
              <a:t> </a:t>
            </a:r>
            <a:r>
              <a:rPr lang="en-GB" sz="1800" dirty="0">
                <a:latin typeface="Times New Roman"/>
                <a:cs typeface="Times New Roman"/>
              </a:rPr>
              <a:t>the</a:t>
            </a:r>
            <a:r>
              <a:rPr lang="en-GB" sz="1800" spc="-5" dirty="0">
                <a:latin typeface="Times New Roman"/>
                <a:cs typeface="Times New Roman"/>
              </a:rPr>
              <a:t> </a:t>
            </a:r>
            <a:r>
              <a:rPr lang="en-GB" sz="1800" dirty="0">
                <a:latin typeface="Times New Roman"/>
                <a:cs typeface="Times New Roman"/>
              </a:rPr>
              <a:t>hetero</a:t>
            </a:r>
            <a:r>
              <a:rPr lang="en-GB" sz="1800" spc="-20" dirty="0">
                <a:latin typeface="Times New Roman"/>
                <a:cs typeface="Times New Roman"/>
              </a:rPr>
              <a:t> </a:t>
            </a:r>
            <a:r>
              <a:rPr lang="en-GB" sz="1800" dirty="0">
                <a:latin typeface="Times New Roman"/>
                <a:cs typeface="Times New Roman"/>
              </a:rPr>
              <a:t>atoms</a:t>
            </a:r>
            <a:r>
              <a:rPr lang="en-GB" sz="1800" spc="5" dirty="0">
                <a:latin typeface="Times New Roman"/>
                <a:cs typeface="Times New Roman"/>
              </a:rPr>
              <a:t> i.e.</a:t>
            </a:r>
            <a:endParaRPr lang="en-GB" sz="1800" dirty="0">
              <a:latin typeface="Times New Roman"/>
              <a:cs typeface="Times New Roman"/>
            </a:endParaRPr>
          </a:p>
          <a:p>
            <a:pPr marL="411480" algn="just">
              <a:spcBef>
                <a:spcPts val="1515"/>
              </a:spcBef>
            </a:pPr>
            <a:r>
              <a:rPr lang="en-GB" sz="1800" spc="-5" dirty="0">
                <a:latin typeface="Times New Roman"/>
                <a:cs typeface="Times New Roman"/>
              </a:rPr>
              <a:t>O</a:t>
            </a:r>
            <a:r>
              <a:rPr lang="en-GB" sz="1800" spc="-25" dirty="0">
                <a:latin typeface="Times New Roman"/>
                <a:cs typeface="Times New Roman"/>
              </a:rPr>
              <a:t> </a:t>
            </a:r>
            <a:r>
              <a:rPr lang="en-GB" sz="1800" dirty="0">
                <a:latin typeface="Times New Roman"/>
                <a:cs typeface="Times New Roman"/>
              </a:rPr>
              <a:t>&lt;</a:t>
            </a:r>
            <a:r>
              <a:rPr lang="en-GB" sz="1800" spc="445" dirty="0">
                <a:latin typeface="Times New Roman"/>
                <a:cs typeface="Times New Roman"/>
              </a:rPr>
              <a:t> </a:t>
            </a:r>
            <a:r>
              <a:rPr lang="en-GB" sz="1800" spc="-5" dirty="0">
                <a:latin typeface="Times New Roman"/>
                <a:cs typeface="Times New Roman"/>
              </a:rPr>
              <a:t>S</a:t>
            </a:r>
            <a:r>
              <a:rPr lang="en-GB" sz="1800" spc="400" dirty="0">
                <a:latin typeface="Times New Roman"/>
                <a:cs typeface="Times New Roman"/>
              </a:rPr>
              <a:t> </a:t>
            </a:r>
            <a:r>
              <a:rPr lang="en-GB" sz="1800" dirty="0">
                <a:latin typeface="Times New Roman"/>
                <a:cs typeface="Times New Roman"/>
              </a:rPr>
              <a:t>&lt;</a:t>
            </a:r>
            <a:r>
              <a:rPr lang="en-GB" sz="1800" spc="445" dirty="0">
                <a:latin typeface="Times New Roman"/>
                <a:cs typeface="Times New Roman"/>
              </a:rPr>
              <a:t> </a:t>
            </a:r>
            <a:r>
              <a:rPr lang="en-GB" sz="1800" spc="-5" dirty="0">
                <a:latin typeface="Times New Roman"/>
                <a:cs typeface="Times New Roman"/>
              </a:rPr>
              <a:t>N</a:t>
            </a:r>
            <a:endParaRPr lang="uk-UA" sz="1800" spc="-5" dirty="0">
              <a:latin typeface="Times New Roman"/>
              <a:cs typeface="Times New Roman"/>
            </a:endParaRPr>
          </a:p>
        </p:txBody>
      </p:sp>
      <p:sp>
        <p:nvSpPr>
          <p:cNvPr id="5" name="TextBox 4">
            <a:extLst>
              <a:ext uri="{FF2B5EF4-FFF2-40B4-BE49-F238E27FC236}">
                <a16:creationId xmlns:a16="http://schemas.microsoft.com/office/drawing/2014/main" id="{79C94CCE-CC7C-4097-8019-32B6588A580B}"/>
              </a:ext>
            </a:extLst>
          </p:cNvPr>
          <p:cNvSpPr txBox="1"/>
          <p:nvPr/>
        </p:nvSpPr>
        <p:spPr>
          <a:xfrm>
            <a:off x="189362" y="57270"/>
            <a:ext cx="11677365" cy="369332"/>
          </a:xfrm>
          <a:prstGeom prst="rect">
            <a:avLst/>
          </a:prstGeom>
        </p:spPr>
        <p:style>
          <a:lnRef idx="1">
            <a:schemeClr val="accent6"/>
          </a:lnRef>
          <a:fillRef idx="2">
            <a:schemeClr val="accent6"/>
          </a:fillRef>
          <a:effectRef idx="1">
            <a:schemeClr val="accent6"/>
          </a:effectRef>
          <a:fontRef idx="minor">
            <a:schemeClr val="dk1"/>
          </a:fontRef>
        </p:style>
        <p:txBody>
          <a:bodyPr wrap="square">
            <a:spAutoFit/>
          </a:bodyPr>
          <a:lstStyle/>
          <a:p>
            <a:pPr marL="12700" algn="ctr">
              <a:lnSpc>
                <a:spcPct val="100000"/>
              </a:lnSpc>
              <a:spcBef>
                <a:spcPts val="105"/>
              </a:spcBef>
            </a:pPr>
            <a:r>
              <a:rPr lang="en-GB" sz="1800" b="1" spc="-5" dirty="0">
                <a:latin typeface="Times New Roman"/>
                <a:cs typeface="Times New Roman"/>
              </a:rPr>
              <a:t>Nomenclature</a:t>
            </a:r>
            <a:r>
              <a:rPr lang="en-GB" sz="1800" b="1" spc="-55" dirty="0">
                <a:latin typeface="Times New Roman"/>
                <a:cs typeface="Times New Roman"/>
              </a:rPr>
              <a:t> </a:t>
            </a:r>
            <a:r>
              <a:rPr lang="en-GB" sz="1800" b="1" dirty="0">
                <a:latin typeface="Times New Roman"/>
                <a:cs typeface="Times New Roman"/>
              </a:rPr>
              <a:t>of</a:t>
            </a:r>
            <a:r>
              <a:rPr lang="en-GB" sz="1800" b="1" spc="-20" dirty="0">
                <a:latin typeface="Times New Roman"/>
                <a:cs typeface="Times New Roman"/>
              </a:rPr>
              <a:t> </a:t>
            </a:r>
            <a:r>
              <a:rPr lang="en-GB" sz="1800" b="1" dirty="0">
                <a:latin typeface="Times New Roman"/>
                <a:cs typeface="Times New Roman"/>
              </a:rPr>
              <a:t>Fused</a:t>
            </a:r>
            <a:r>
              <a:rPr lang="en-GB" sz="1800" b="1" spc="-30" dirty="0">
                <a:latin typeface="Times New Roman"/>
                <a:cs typeface="Times New Roman"/>
              </a:rPr>
              <a:t> </a:t>
            </a:r>
            <a:r>
              <a:rPr lang="en-GB" sz="1800" b="1" dirty="0">
                <a:latin typeface="Times New Roman"/>
                <a:cs typeface="Times New Roman"/>
              </a:rPr>
              <a:t>Systems</a:t>
            </a:r>
            <a:endParaRPr lang="en-GB" sz="1800" dirty="0">
              <a:latin typeface="Times New Roman"/>
              <a:cs typeface="Times New Roman"/>
            </a:endParaRPr>
          </a:p>
        </p:txBody>
      </p:sp>
      <p:pic>
        <p:nvPicPr>
          <p:cNvPr id="7" name="Рисунок 6">
            <a:extLst>
              <a:ext uri="{FF2B5EF4-FFF2-40B4-BE49-F238E27FC236}">
                <a16:creationId xmlns:a16="http://schemas.microsoft.com/office/drawing/2014/main" id="{85BBCC0C-74CB-4FAA-83A7-97EB8F5B42FB}"/>
              </a:ext>
            </a:extLst>
          </p:cNvPr>
          <p:cNvPicPr>
            <a:picLocks noChangeAspect="1"/>
          </p:cNvPicPr>
          <p:nvPr/>
        </p:nvPicPr>
        <p:blipFill>
          <a:blip r:embed="rId3"/>
          <a:stretch>
            <a:fillRect/>
          </a:stretch>
        </p:blipFill>
        <p:spPr>
          <a:xfrm>
            <a:off x="9794501" y="734791"/>
            <a:ext cx="2000265" cy="1457336"/>
          </a:xfrm>
          <a:prstGeom prst="rect">
            <a:avLst/>
          </a:prstGeom>
        </p:spPr>
      </p:pic>
      <p:sp>
        <p:nvSpPr>
          <p:cNvPr id="9" name="TextBox 8">
            <a:extLst>
              <a:ext uri="{FF2B5EF4-FFF2-40B4-BE49-F238E27FC236}">
                <a16:creationId xmlns:a16="http://schemas.microsoft.com/office/drawing/2014/main" id="{4C797668-0F76-4535-9849-AAB34EF238E4}"/>
              </a:ext>
            </a:extLst>
          </p:cNvPr>
          <p:cNvSpPr txBox="1"/>
          <p:nvPr/>
        </p:nvSpPr>
        <p:spPr>
          <a:xfrm>
            <a:off x="251258" y="2485985"/>
            <a:ext cx="7506269" cy="3877985"/>
          </a:xfrm>
          <a:prstGeom prst="rect">
            <a:avLst/>
          </a:prstGeom>
          <a:noFill/>
        </p:spPr>
        <p:txBody>
          <a:bodyPr wrap="square">
            <a:spAutoFit/>
          </a:bodyPr>
          <a:lstStyle/>
          <a:p>
            <a:pPr indent="180000" algn="just">
              <a:spcBef>
                <a:spcPts val="600"/>
              </a:spcBef>
              <a:tabLst>
                <a:tab pos="354965" algn="l"/>
                <a:tab pos="355600" algn="l"/>
              </a:tabLst>
            </a:pPr>
            <a:r>
              <a:rPr lang="en-GB" b="1" dirty="0">
                <a:solidFill>
                  <a:srgbClr val="00B050"/>
                </a:solidFill>
                <a:latin typeface="Calibri" panose="020F0502020204030204" pitchFamily="34" charset="0"/>
                <a:ea typeface="Calibri" panose="020F0502020204030204" pitchFamily="34" charset="0"/>
                <a:cs typeface="Times New Roman" panose="02020603050405020304" pitchFamily="18" charset="0"/>
              </a:rPr>
              <a:t>B.</a:t>
            </a:r>
            <a:r>
              <a:rPr lang="en-GB" b="1" dirty="0">
                <a:solidFill>
                  <a:srgbClr val="00B050"/>
                </a:solidFill>
                <a:latin typeface="Times New Roman"/>
                <a:cs typeface="Times New Roman"/>
              </a:rPr>
              <a:t>	Nomenclature of fused </a:t>
            </a:r>
            <a:r>
              <a:rPr lang="en-GB" b="1" dirty="0" err="1">
                <a:solidFill>
                  <a:srgbClr val="00B050"/>
                </a:solidFill>
                <a:latin typeface="Times New Roman"/>
                <a:cs typeface="Times New Roman"/>
              </a:rPr>
              <a:t>heterocylic</a:t>
            </a:r>
            <a:r>
              <a:rPr lang="en-GB" b="1" dirty="0">
                <a:solidFill>
                  <a:srgbClr val="00B050"/>
                </a:solidFill>
                <a:latin typeface="Times New Roman"/>
                <a:cs typeface="Times New Roman"/>
              </a:rPr>
              <a:t> compounds:</a:t>
            </a:r>
          </a:p>
          <a:p>
            <a:pPr lvl="0" indent="180000" algn="just">
              <a:spcBef>
                <a:spcPts val="600"/>
              </a:spcBef>
              <a:buFont typeface="Arial MT"/>
              <a:buChar char="•"/>
              <a:tabLst>
                <a:tab pos="354965" algn="l"/>
                <a:tab pos="355600" algn="l"/>
              </a:tabLst>
            </a:pPr>
            <a:r>
              <a:rPr lang="en-GB" dirty="0">
                <a:latin typeface="Times New Roman"/>
                <a:cs typeface="Times New Roman"/>
              </a:rPr>
              <a:t>Naming a fused heterocyclic systems composed of two </a:t>
            </a:r>
            <a:r>
              <a:rPr lang="en-GB" dirty="0" err="1">
                <a:latin typeface="Times New Roman"/>
                <a:cs typeface="Times New Roman"/>
              </a:rPr>
              <a:t>monoheterocyclic</a:t>
            </a:r>
            <a:r>
              <a:rPr lang="en-GB" dirty="0">
                <a:latin typeface="Times New Roman"/>
                <a:cs typeface="Times New Roman"/>
              </a:rPr>
              <a:t> units or  benzoheterocycles  (e.g.  </a:t>
            </a:r>
            <a:r>
              <a:rPr lang="en-GB" dirty="0" err="1">
                <a:latin typeface="Times New Roman"/>
                <a:cs typeface="Times New Roman"/>
              </a:rPr>
              <a:t>chromene</a:t>
            </a:r>
            <a:r>
              <a:rPr lang="en-GB" dirty="0">
                <a:latin typeface="Times New Roman"/>
                <a:cs typeface="Times New Roman"/>
              </a:rPr>
              <a:t>) fused  with  another  </a:t>
            </a:r>
            <a:r>
              <a:rPr lang="en-GB" dirty="0" err="1">
                <a:latin typeface="Times New Roman"/>
                <a:cs typeface="Times New Roman"/>
              </a:rPr>
              <a:t>hetrocycle</a:t>
            </a:r>
            <a:r>
              <a:rPr lang="en-GB" dirty="0">
                <a:latin typeface="Times New Roman"/>
                <a:cs typeface="Times New Roman"/>
              </a:rPr>
              <a:t>  ring is based upon considering one system as the parent (base) and the second is  considered as substituent.</a:t>
            </a:r>
          </a:p>
          <a:p>
            <a:pPr indent="180000" algn="just">
              <a:spcBef>
                <a:spcPts val="600"/>
              </a:spcBef>
              <a:buFont typeface="Arial MT"/>
              <a:buChar char="•"/>
              <a:tabLst>
                <a:tab pos="354965" algn="l"/>
                <a:tab pos="355600" algn="l"/>
              </a:tabLst>
            </a:pPr>
            <a:r>
              <a:rPr lang="en-GB" sz="1800" b="1" spc="-5" dirty="0">
                <a:solidFill>
                  <a:srgbClr val="C00000"/>
                </a:solidFill>
                <a:latin typeface="Times New Roman"/>
                <a:cs typeface="Times New Roman"/>
              </a:rPr>
              <a:t>Name</a:t>
            </a:r>
            <a:r>
              <a:rPr lang="en-GB" sz="1800" b="1" dirty="0">
                <a:solidFill>
                  <a:srgbClr val="C00000"/>
                </a:solidFill>
                <a:latin typeface="Times New Roman"/>
                <a:cs typeface="Times New Roman"/>
              </a:rPr>
              <a:t> : </a:t>
            </a:r>
            <a:r>
              <a:rPr lang="en-GB" sz="1800" b="1" spc="-5" dirty="0">
                <a:solidFill>
                  <a:srgbClr val="C00000"/>
                </a:solidFill>
                <a:latin typeface="Times New Roman"/>
                <a:cs typeface="Times New Roman"/>
              </a:rPr>
              <a:t>name</a:t>
            </a:r>
            <a:r>
              <a:rPr lang="en-GB" sz="1800" b="1" spc="5" dirty="0">
                <a:solidFill>
                  <a:srgbClr val="C00000"/>
                </a:solidFill>
                <a:latin typeface="Times New Roman"/>
                <a:cs typeface="Times New Roman"/>
              </a:rPr>
              <a:t> </a:t>
            </a:r>
            <a:r>
              <a:rPr lang="en-GB" sz="1800" b="1" spc="-5" dirty="0">
                <a:solidFill>
                  <a:srgbClr val="C00000"/>
                </a:solidFill>
                <a:latin typeface="Times New Roman"/>
                <a:cs typeface="Times New Roman"/>
              </a:rPr>
              <a:t>of</a:t>
            </a:r>
            <a:r>
              <a:rPr lang="en-GB" sz="1800" b="1" dirty="0">
                <a:solidFill>
                  <a:srgbClr val="C00000"/>
                </a:solidFill>
                <a:latin typeface="Times New Roman"/>
                <a:cs typeface="Times New Roman"/>
              </a:rPr>
              <a:t> </a:t>
            </a:r>
            <a:r>
              <a:rPr lang="en-GB" sz="1800" b="1" spc="-5" dirty="0">
                <a:solidFill>
                  <a:srgbClr val="C00000"/>
                </a:solidFill>
                <a:latin typeface="Times New Roman"/>
                <a:cs typeface="Times New Roman"/>
              </a:rPr>
              <a:t>minor</a:t>
            </a:r>
            <a:r>
              <a:rPr lang="en-GB" sz="1800" b="1" spc="-40" dirty="0">
                <a:solidFill>
                  <a:srgbClr val="C00000"/>
                </a:solidFill>
                <a:latin typeface="Times New Roman"/>
                <a:cs typeface="Times New Roman"/>
              </a:rPr>
              <a:t> </a:t>
            </a:r>
            <a:r>
              <a:rPr lang="en-GB" sz="1800" b="1" dirty="0">
                <a:solidFill>
                  <a:srgbClr val="C00000"/>
                </a:solidFill>
                <a:latin typeface="Times New Roman"/>
                <a:cs typeface="Times New Roman"/>
              </a:rPr>
              <a:t>ring</a:t>
            </a:r>
            <a:r>
              <a:rPr lang="en-GB" sz="1800" b="1" spc="5" dirty="0">
                <a:solidFill>
                  <a:srgbClr val="C00000"/>
                </a:solidFill>
                <a:latin typeface="Times New Roman"/>
                <a:cs typeface="Times New Roman"/>
              </a:rPr>
              <a:t> </a:t>
            </a:r>
            <a:r>
              <a:rPr lang="en-GB" sz="1800" b="1" spc="-25" dirty="0">
                <a:solidFill>
                  <a:srgbClr val="C00000"/>
                </a:solidFill>
                <a:latin typeface="Times New Roman"/>
                <a:cs typeface="Times New Roman"/>
              </a:rPr>
              <a:t>[number,</a:t>
            </a:r>
            <a:r>
              <a:rPr lang="en-GB" sz="1800" b="1" spc="-5" dirty="0">
                <a:solidFill>
                  <a:srgbClr val="C00000"/>
                </a:solidFill>
                <a:latin typeface="Times New Roman"/>
                <a:cs typeface="Times New Roman"/>
              </a:rPr>
              <a:t> number-letter]</a:t>
            </a:r>
            <a:r>
              <a:rPr lang="en-GB" sz="1800" b="1" dirty="0">
                <a:solidFill>
                  <a:srgbClr val="C00000"/>
                </a:solidFill>
                <a:latin typeface="Times New Roman"/>
                <a:cs typeface="Times New Roman"/>
              </a:rPr>
              <a:t> </a:t>
            </a:r>
            <a:r>
              <a:rPr lang="en-GB" sz="1800" b="1" spc="-5" dirty="0">
                <a:solidFill>
                  <a:srgbClr val="C00000"/>
                </a:solidFill>
                <a:latin typeface="Times New Roman"/>
                <a:cs typeface="Times New Roman"/>
              </a:rPr>
              <a:t>name</a:t>
            </a:r>
            <a:r>
              <a:rPr lang="en-GB" sz="1800" b="1" spc="5" dirty="0">
                <a:solidFill>
                  <a:srgbClr val="C00000"/>
                </a:solidFill>
                <a:latin typeface="Times New Roman"/>
                <a:cs typeface="Times New Roman"/>
              </a:rPr>
              <a:t> </a:t>
            </a:r>
            <a:r>
              <a:rPr lang="en-GB" sz="1800" b="1" dirty="0">
                <a:solidFill>
                  <a:srgbClr val="C00000"/>
                </a:solidFill>
                <a:latin typeface="Times New Roman"/>
                <a:cs typeface="Times New Roman"/>
              </a:rPr>
              <a:t>of major</a:t>
            </a:r>
            <a:r>
              <a:rPr lang="en-GB" sz="1800" b="1" spc="-30" dirty="0">
                <a:solidFill>
                  <a:srgbClr val="C00000"/>
                </a:solidFill>
                <a:latin typeface="Times New Roman"/>
                <a:cs typeface="Times New Roman"/>
              </a:rPr>
              <a:t> </a:t>
            </a:r>
            <a:r>
              <a:rPr lang="en-GB" sz="1800" b="1" dirty="0">
                <a:solidFill>
                  <a:srgbClr val="C00000"/>
                </a:solidFill>
                <a:latin typeface="Times New Roman"/>
                <a:cs typeface="Times New Roman"/>
              </a:rPr>
              <a:t>ring</a:t>
            </a:r>
          </a:p>
          <a:p>
            <a:pPr indent="180000" algn="just">
              <a:spcBef>
                <a:spcPts val="600"/>
              </a:spcBef>
              <a:buFont typeface="Arial MT"/>
              <a:buChar char="•"/>
              <a:tabLst>
                <a:tab pos="354965" algn="l"/>
                <a:tab pos="355600" algn="l"/>
              </a:tabLst>
            </a:pPr>
            <a:endParaRPr lang="en-GB" sz="1800" dirty="0">
              <a:latin typeface="Times New Roman"/>
              <a:cs typeface="Times New Roman"/>
            </a:endParaRPr>
          </a:p>
          <a:p>
            <a:pPr lvl="0" indent="180000" algn="just">
              <a:spcBef>
                <a:spcPts val="600"/>
              </a:spcBef>
              <a:buFont typeface="Arial MT"/>
              <a:buChar char="•"/>
              <a:tabLst>
                <a:tab pos="354965" algn="l"/>
                <a:tab pos="355600" algn="l"/>
              </a:tabLst>
            </a:pPr>
            <a:endParaRPr lang="en-GB" dirty="0">
              <a:latin typeface="Times New Roman"/>
              <a:cs typeface="Times New Roman"/>
            </a:endParaRPr>
          </a:p>
          <a:p>
            <a:pPr lvl="0" indent="180000" algn="just">
              <a:spcBef>
                <a:spcPts val="600"/>
              </a:spcBef>
              <a:buFont typeface="Arial MT"/>
              <a:buChar char="•"/>
              <a:tabLst>
                <a:tab pos="354965" algn="l"/>
                <a:tab pos="355600" algn="l"/>
              </a:tabLst>
            </a:pPr>
            <a:endParaRPr lang="en-GB" dirty="0">
              <a:latin typeface="Times New Roman"/>
              <a:cs typeface="Times New Roman"/>
            </a:endParaRPr>
          </a:p>
          <a:p>
            <a:pPr lvl="0" indent="180000" algn="just">
              <a:spcBef>
                <a:spcPts val="600"/>
              </a:spcBef>
              <a:buFont typeface="Arial MT"/>
              <a:buChar char="•"/>
              <a:tabLst>
                <a:tab pos="354965" algn="l"/>
                <a:tab pos="355600" algn="l"/>
              </a:tabLst>
            </a:pPr>
            <a:r>
              <a:rPr lang="en-GB" dirty="0">
                <a:latin typeface="Times New Roman"/>
                <a:cs typeface="Times New Roman"/>
              </a:rPr>
              <a:t>The name of the minor ring is derived by writing a contracted prefix for the  substituent ring present. In an attached component prefix the terminal ‘</a:t>
            </a:r>
            <a:r>
              <a:rPr lang="en-GB" b="1" dirty="0">
                <a:solidFill>
                  <a:srgbClr val="FF0000"/>
                </a:solidFill>
                <a:latin typeface="Times New Roman"/>
                <a:cs typeface="Times New Roman"/>
              </a:rPr>
              <a:t>e</a:t>
            </a:r>
            <a:r>
              <a:rPr lang="en-GB" dirty="0">
                <a:latin typeface="Times New Roman"/>
                <a:cs typeface="Times New Roman"/>
              </a:rPr>
              <a:t>’ is  changed to ‘</a:t>
            </a:r>
            <a:r>
              <a:rPr lang="en-GB" b="1" dirty="0">
                <a:solidFill>
                  <a:srgbClr val="00B050"/>
                </a:solidFill>
                <a:latin typeface="Times New Roman"/>
                <a:cs typeface="Times New Roman"/>
              </a:rPr>
              <a:t>o</a:t>
            </a:r>
            <a:r>
              <a:rPr lang="en-GB" dirty="0">
                <a:latin typeface="Times New Roman"/>
                <a:cs typeface="Times New Roman"/>
              </a:rPr>
              <a:t>’ with exception of:</a:t>
            </a:r>
          </a:p>
        </p:txBody>
      </p:sp>
      <p:pic>
        <p:nvPicPr>
          <p:cNvPr id="11" name="Рисунок 10">
            <a:extLst>
              <a:ext uri="{FF2B5EF4-FFF2-40B4-BE49-F238E27FC236}">
                <a16:creationId xmlns:a16="http://schemas.microsoft.com/office/drawing/2014/main" id="{B870FBA7-798C-4DB3-B6C3-B3CE9E21D883}"/>
              </a:ext>
            </a:extLst>
          </p:cNvPr>
          <p:cNvPicPr>
            <a:picLocks noChangeAspect="1"/>
          </p:cNvPicPr>
          <p:nvPr/>
        </p:nvPicPr>
        <p:blipFill>
          <a:blip r:embed="rId4"/>
          <a:stretch>
            <a:fillRect/>
          </a:stretch>
        </p:blipFill>
        <p:spPr>
          <a:xfrm>
            <a:off x="7735164" y="2192127"/>
            <a:ext cx="4059602" cy="3168008"/>
          </a:xfrm>
          <a:prstGeom prst="rect">
            <a:avLst/>
          </a:prstGeom>
        </p:spPr>
      </p:pic>
      <p:sp>
        <p:nvSpPr>
          <p:cNvPr id="10" name="TextBox 9">
            <a:extLst>
              <a:ext uri="{FF2B5EF4-FFF2-40B4-BE49-F238E27FC236}">
                <a16:creationId xmlns:a16="http://schemas.microsoft.com/office/drawing/2014/main" id="{A520E6FE-BECF-4B95-BAE5-161D08D21868}"/>
              </a:ext>
            </a:extLst>
          </p:cNvPr>
          <p:cNvSpPr txBox="1"/>
          <p:nvPr/>
        </p:nvSpPr>
        <p:spPr>
          <a:xfrm>
            <a:off x="7819423" y="5428629"/>
            <a:ext cx="3975343" cy="1107996"/>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12700" marR="5080" algn="just">
              <a:lnSpc>
                <a:spcPct val="100000"/>
              </a:lnSpc>
              <a:spcBef>
                <a:spcPts val="600"/>
              </a:spcBef>
              <a:spcAft>
                <a:spcPts val="600"/>
              </a:spcAft>
              <a:tabLst>
                <a:tab pos="469900" algn="l"/>
              </a:tabLst>
            </a:pPr>
            <a:r>
              <a:rPr lang="en-GB" sz="1400" dirty="0">
                <a:latin typeface="Times New Roman"/>
                <a:cs typeface="Times New Roman"/>
              </a:rPr>
              <a:t>The base </a:t>
            </a:r>
            <a:r>
              <a:rPr lang="en-GB" sz="1400" spc="-5" dirty="0">
                <a:latin typeface="Times New Roman"/>
                <a:cs typeface="Times New Roman"/>
              </a:rPr>
              <a:t>component </a:t>
            </a:r>
            <a:r>
              <a:rPr lang="en-GB" sz="1400" dirty="0">
                <a:latin typeface="Times New Roman"/>
                <a:cs typeface="Times New Roman"/>
              </a:rPr>
              <a:t>should </a:t>
            </a:r>
            <a:r>
              <a:rPr lang="en-GB" sz="1400" spc="-5" dirty="0">
                <a:latin typeface="Times New Roman"/>
                <a:cs typeface="Times New Roman"/>
              </a:rPr>
              <a:t>always </a:t>
            </a:r>
            <a:r>
              <a:rPr lang="en-GB" sz="1400" dirty="0">
                <a:latin typeface="Times New Roman"/>
                <a:cs typeface="Times New Roman"/>
              </a:rPr>
              <a:t>be a </a:t>
            </a:r>
            <a:r>
              <a:rPr lang="en-GB" sz="1400" spc="-5" dirty="0">
                <a:latin typeface="Times New Roman"/>
                <a:cs typeface="Times New Roman"/>
              </a:rPr>
              <a:t>heterocyclic </a:t>
            </a:r>
            <a:r>
              <a:rPr lang="en-GB" sz="1400" dirty="0">
                <a:latin typeface="Times New Roman"/>
                <a:cs typeface="Times New Roman"/>
              </a:rPr>
              <a:t> </a:t>
            </a:r>
            <a:r>
              <a:rPr lang="en-GB" sz="1400" spc="-5" dirty="0">
                <a:latin typeface="Times New Roman"/>
                <a:cs typeface="Times New Roman"/>
              </a:rPr>
              <a:t>system.</a:t>
            </a:r>
          </a:p>
          <a:p>
            <a:pPr marL="12700" marR="5080" algn="just">
              <a:lnSpc>
                <a:spcPct val="100000"/>
              </a:lnSpc>
              <a:spcBef>
                <a:spcPts val="600"/>
              </a:spcBef>
              <a:spcAft>
                <a:spcPts val="600"/>
              </a:spcAft>
              <a:tabLst>
                <a:tab pos="469900" algn="l"/>
              </a:tabLst>
            </a:pPr>
            <a:r>
              <a:rPr lang="en-GB" sz="1400" spc="5" dirty="0">
                <a:latin typeface="Times New Roman"/>
                <a:cs typeface="Times New Roman"/>
              </a:rPr>
              <a:t>The</a:t>
            </a:r>
            <a:r>
              <a:rPr lang="en-GB" sz="1400" spc="10" dirty="0">
                <a:latin typeface="Times New Roman"/>
                <a:cs typeface="Times New Roman"/>
              </a:rPr>
              <a:t> </a:t>
            </a:r>
            <a:r>
              <a:rPr lang="en-GB" sz="1400" spc="-5" dirty="0">
                <a:latin typeface="Times New Roman"/>
                <a:cs typeface="Times New Roman"/>
              </a:rPr>
              <a:t>components</a:t>
            </a:r>
            <a:r>
              <a:rPr lang="en-GB" sz="1400" dirty="0">
                <a:latin typeface="Times New Roman"/>
                <a:cs typeface="Times New Roman"/>
              </a:rPr>
              <a:t> are</a:t>
            </a:r>
            <a:r>
              <a:rPr lang="en-GB" sz="1400" spc="5" dirty="0">
                <a:latin typeface="Times New Roman"/>
                <a:cs typeface="Times New Roman"/>
              </a:rPr>
              <a:t> </a:t>
            </a:r>
            <a:r>
              <a:rPr lang="en-GB" sz="1400" spc="-5" dirty="0">
                <a:latin typeface="Times New Roman"/>
                <a:cs typeface="Times New Roman"/>
              </a:rPr>
              <a:t>given</a:t>
            </a:r>
            <a:r>
              <a:rPr lang="en-GB" sz="1400" dirty="0">
                <a:latin typeface="Times New Roman"/>
                <a:cs typeface="Times New Roman"/>
              </a:rPr>
              <a:t> their</a:t>
            </a:r>
            <a:r>
              <a:rPr lang="en-GB" sz="1400" spc="5" dirty="0">
                <a:latin typeface="Times New Roman"/>
                <a:cs typeface="Times New Roman"/>
              </a:rPr>
              <a:t> </a:t>
            </a:r>
            <a:r>
              <a:rPr lang="en-GB" sz="1400" spc="-5" dirty="0">
                <a:latin typeface="Times New Roman"/>
                <a:cs typeface="Times New Roman"/>
              </a:rPr>
              <a:t>recognized </a:t>
            </a:r>
            <a:r>
              <a:rPr lang="en-GB" sz="1400" dirty="0">
                <a:latin typeface="Times New Roman"/>
                <a:cs typeface="Times New Roman"/>
              </a:rPr>
              <a:t> </a:t>
            </a:r>
            <a:r>
              <a:rPr lang="en-GB" sz="1400" spc="-5" dirty="0">
                <a:latin typeface="Times New Roman"/>
                <a:cs typeface="Times New Roman"/>
              </a:rPr>
              <a:t>trivial</a:t>
            </a:r>
            <a:r>
              <a:rPr lang="en-GB" sz="1400" dirty="0">
                <a:latin typeface="Times New Roman"/>
                <a:cs typeface="Times New Roman"/>
              </a:rPr>
              <a:t> names</a:t>
            </a:r>
            <a:r>
              <a:rPr lang="en-GB" sz="1400" spc="-5" dirty="0">
                <a:latin typeface="Times New Roman"/>
                <a:cs typeface="Times New Roman"/>
              </a:rPr>
              <a:t> (if</a:t>
            </a:r>
            <a:r>
              <a:rPr lang="en-GB" sz="1400" spc="5" dirty="0">
                <a:latin typeface="Times New Roman"/>
                <a:cs typeface="Times New Roman"/>
              </a:rPr>
              <a:t> </a:t>
            </a:r>
            <a:r>
              <a:rPr lang="en-GB" sz="1400" dirty="0">
                <a:latin typeface="Times New Roman"/>
                <a:cs typeface="Times New Roman"/>
              </a:rPr>
              <a:t>possible)</a:t>
            </a:r>
            <a:r>
              <a:rPr lang="en-GB" sz="1400" spc="-20" dirty="0">
                <a:latin typeface="Times New Roman"/>
                <a:cs typeface="Times New Roman"/>
              </a:rPr>
              <a:t> </a:t>
            </a:r>
            <a:r>
              <a:rPr lang="en-GB" sz="1400" spc="-5" dirty="0">
                <a:latin typeface="Times New Roman"/>
                <a:cs typeface="Times New Roman"/>
              </a:rPr>
              <a:t>else,</a:t>
            </a:r>
            <a:r>
              <a:rPr lang="en-GB" sz="1400" spc="5" dirty="0">
                <a:latin typeface="Times New Roman"/>
                <a:cs typeface="Times New Roman"/>
              </a:rPr>
              <a:t> </a:t>
            </a:r>
            <a:r>
              <a:rPr lang="en-GB" sz="1400" spc="-5" dirty="0">
                <a:latin typeface="Times New Roman"/>
                <a:cs typeface="Times New Roman"/>
              </a:rPr>
              <a:t>systematic</a:t>
            </a:r>
            <a:r>
              <a:rPr lang="en-GB" sz="1400" spc="15" dirty="0">
                <a:latin typeface="Times New Roman"/>
                <a:cs typeface="Times New Roman"/>
              </a:rPr>
              <a:t> </a:t>
            </a:r>
            <a:r>
              <a:rPr lang="en-GB" sz="1400" spc="-5" dirty="0">
                <a:latin typeface="Times New Roman"/>
                <a:cs typeface="Times New Roman"/>
              </a:rPr>
              <a:t>name</a:t>
            </a:r>
            <a:r>
              <a:rPr lang="en-GB" sz="1400" spc="-15" dirty="0">
                <a:latin typeface="Times New Roman"/>
                <a:cs typeface="Times New Roman"/>
              </a:rPr>
              <a:t> </a:t>
            </a:r>
            <a:r>
              <a:rPr lang="en-GB" sz="1400" spc="-5" dirty="0">
                <a:latin typeface="Times New Roman"/>
                <a:cs typeface="Times New Roman"/>
              </a:rPr>
              <a:t>is</a:t>
            </a:r>
            <a:r>
              <a:rPr lang="en-GB" sz="1400" spc="10" dirty="0">
                <a:latin typeface="Times New Roman"/>
                <a:cs typeface="Times New Roman"/>
              </a:rPr>
              <a:t> </a:t>
            </a:r>
            <a:r>
              <a:rPr lang="en-GB" sz="1400" dirty="0">
                <a:latin typeface="Times New Roman"/>
                <a:cs typeface="Times New Roman"/>
              </a:rPr>
              <a:t>used.</a:t>
            </a:r>
          </a:p>
        </p:txBody>
      </p:sp>
      <p:pic>
        <p:nvPicPr>
          <p:cNvPr id="8" name="Рисунок 7">
            <a:extLst>
              <a:ext uri="{FF2B5EF4-FFF2-40B4-BE49-F238E27FC236}">
                <a16:creationId xmlns:a16="http://schemas.microsoft.com/office/drawing/2014/main" id="{FDB188A4-C35D-4F0D-88D1-805A427EEA1F}"/>
              </a:ext>
            </a:extLst>
          </p:cNvPr>
          <p:cNvPicPr>
            <a:picLocks noChangeAspect="1"/>
          </p:cNvPicPr>
          <p:nvPr/>
        </p:nvPicPr>
        <p:blipFill>
          <a:blip r:embed="rId5"/>
          <a:stretch>
            <a:fillRect/>
          </a:stretch>
        </p:blipFill>
        <p:spPr>
          <a:xfrm>
            <a:off x="1346209" y="4458400"/>
            <a:ext cx="5334261" cy="818138"/>
          </a:xfrm>
          <a:prstGeom prst="rect">
            <a:avLst/>
          </a:prstGeom>
        </p:spPr>
        <p:style>
          <a:lnRef idx="2">
            <a:schemeClr val="accent3"/>
          </a:lnRef>
          <a:fillRef idx="1">
            <a:schemeClr val="lt1"/>
          </a:fillRef>
          <a:effectRef idx="0">
            <a:schemeClr val="accent3"/>
          </a:effectRef>
          <a:fontRef idx="minor">
            <a:schemeClr val="dk1"/>
          </a:fontRef>
        </p:style>
      </p:pic>
    </p:spTree>
    <p:extLst>
      <p:ext uri="{BB962C8B-B14F-4D97-AF65-F5344CB8AC3E}">
        <p14:creationId xmlns:p14="http://schemas.microsoft.com/office/powerpoint/2010/main" val="263110083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a:extLst>
              <a:ext uri="{FF2B5EF4-FFF2-40B4-BE49-F238E27FC236}">
                <a16:creationId xmlns:a16="http://schemas.microsoft.com/office/drawing/2014/main" id="{3EF05433-DBCE-4376-ABC9-CA9DB1027BF3}"/>
              </a:ext>
            </a:extLst>
          </p:cNvPr>
          <p:cNvSpPr>
            <a:spLocks noGrp="1"/>
          </p:cNvSpPr>
          <p:nvPr>
            <p:ph type="sldNum" sz="quarter" idx="12"/>
          </p:nvPr>
        </p:nvSpPr>
        <p:spPr/>
        <p:txBody>
          <a:bodyPr/>
          <a:lstStyle/>
          <a:p>
            <a:fld id="{93C419CB-0CF1-4F10-90F9-42551F8968FF}" type="slidenum">
              <a:rPr lang="en-GB" smtClean="0"/>
              <a:t>29</a:t>
            </a:fld>
            <a:endParaRPr lang="en-GB"/>
          </a:p>
        </p:txBody>
      </p:sp>
      <p:sp>
        <p:nvSpPr>
          <p:cNvPr id="3" name="TextBox 2">
            <a:extLst>
              <a:ext uri="{FF2B5EF4-FFF2-40B4-BE49-F238E27FC236}">
                <a16:creationId xmlns:a16="http://schemas.microsoft.com/office/drawing/2014/main" id="{0B131732-B827-4362-B793-130D714871B4}"/>
              </a:ext>
            </a:extLst>
          </p:cNvPr>
          <p:cNvSpPr txBox="1"/>
          <p:nvPr/>
        </p:nvSpPr>
        <p:spPr>
          <a:xfrm>
            <a:off x="189362" y="57270"/>
            <a:ext cx="11677365" cy="369332"/>
          </a:xfrm>
          <a:prstGeom prst="rect">
            <a:avLst/>
          </a:prstGeom>
        </p:spPr>
        <p:style>
          <a:lnRef idx="1">
            <a:schemeClr val="accent6"/>
          </a:lnRef>
          <a:fillRef idx="2">
            <a:schemeClr val="accent6"/>
          </a:fillRef>
          <a:effectRef idx="1">
            <a:schemeClr val="accent6"/>
          </a:effectRef>
          <a:fontRef idx="minor">
            <a:schemeClr val="dk1"/>
          </a:fontRef>
        </p:style>
        <p:txBody>
          <a:bodyPr wrap="square">
            <a:spAutoFit/>
          </a:bodyPr>
          <a:lstStyle/>
          <a:p>
            <a:pPr marL="12700" algn="ctr">
              <a:lnSpc>
                <a:spcPct val="100000"/>
              </a:lnSpc>
              <a:spcBef>
                <a:spcPts val="105"/>
              </a:spcBef>
            </a:pPr>
            <a:r>
              <a:rPr lang="en-GB" sz="1800" b="1" spc="-5" dirty="0">
                <a:latin typeface="Times New Roman"/>
                <a:cs typeface="Times New Roman"/>
              </a:rPr>
              <a:t>Nomenclature</a:t>
            </a:r>
            <a:r>
              <a:rPr lang="en-GB" sz="1800" b="1" spc="-55" dirty="0">
                <a:latin typeface="Times New Roman"/>
                <a:cs typeface="Times New Roman"/>
              </a:rPr>
              <a:t> </a:t>
            </a:r>
            <a:r>
              <a:rPr lang="en-GB" sz="1800" b="1" dirty="0">
                <a:latin typeface="Times New Roman"/>
                <a:cs typeface="Times New Roman"/>
              </a:rPr>
              <a:t>of</a:t>
            </a:r>
            <a:r>
              <a:rPr lang="en-GB" sz="1800" b="1" spc="-20" dirty="0">
                <a:latin typeface="Times New Roman"/>
                <a:cs typeface="Times New Roman"/>
              </a:rPr>
              <a:t> </a:t>
            </a:r>
            <a:r>
              <a:rPr lang="en-GB" sz="1800" b="1" dirty="0">
                <a:latin typeface="Times New Roman"/>
                <a:cs typeface="Times New Roman"/>
              </a:rPr>
              <a:t>Fused</a:t>
            </a:r>
            <a:r>
              <a:rPr lang="en-GB" sz="1800" b="1" spc="-30" dirty="0">
                <a:latin typeface="Times New Roman"/>
                <a:cs typeface="Times New Roman"/>
              </a:rPr>
              <a:t> </a:t>
            </a:r>
            <a:r>
              <a:rPr lang="en-GB" sz="1800" b="1" dirty="0">
                <a:latin typeface="Times New Roman"/>
                <a:cs typeface="Times New Roman"/>
              </a:rPr>
              <a:t>Systems</a:t>
            </a:r>
            <a:endParaRPr lang="en-GB" sz="1800" dirty="0">
              <a:latin typeface="Times New Roman"/>
              <a:cs typeface="Times New Roman"/>
            </a:endParaRPr>
          </a:p>
        </p:txBody>
      </p:sp>
      <p:sp>
        <p:nvSpPr>
          <p:cNvPr id="5" name="TextBox 4">
            <a:extLst>
              <a:ext uri="{FF2B5EF4-FFF2-40B4-BE49-F238E27FC236}">
                <a16:creationId xmlns:a16="http://schemas.microsoft.com/office/drawing/2014/main" id="{984E7182-B331-4BF9-A28E-B18DA08C7EDF}"/>
              </a:ext>
            </a:extLst>
          </p:cNvPr>
          <p:cNvSpPr txBox="1"/>
          <p:nvPr/>
        </p:nvSpPr>
        <p:spPr>
          <a:xfrm>
            <a:off x="-43218" y="591332"/>
            <a:ext cx="11998657" cy="3311163"/>
          </a:xfrm>
          <a:prstGeom prst="rect">
            <a:avLst/>
          </a:prstGeom>
          <a:noFill/>
        </p:spPr>
        <p:txBody>
          <a:bodyPr wrap="square">
            <a:spAutoFit/>
          </a:bodyPr>
          <a:lstStyle/>
          <a:p>
            <a:pPr marL="546100" indent="-533400" algn="just">
              <a:spcBef>
                <a:spcPts val="1185"/>
              </a:spcBef>
              <a:buFont typeface="Arial MT"/>
              <a:buChar char="•"/>
              <a:tabLst>
                <a:tab pos="546100" algn="l"/>
              </a:tabLst>
            </a:pPr>
            <a:r>
              <a:rPr lang="en-GB" sz="1800" dirty="0">
                <a:latin typeface="Times New Roman"/>
                <a:cs typeface="Times New Roman"/>
              </a:rPr>
              <a:t>The</a:t>
            </a:r>
            <a:r>
              <a:rPr lang="en-GB" sz="1800" spc="85" dirty="0">
                <a:latin typeface="Times New Roman"/>
                <a:cs typeface="Times New Roman"/>
              </a:rPr>
              <a:t> </a:t>
            </a:r>
            <a:r>
              <a:rPr lang="en-GB" sz="1800" spc="-5" dirty="0">
                <a:solidFill>
                  <a:srgbClr val="C00000"/>
                </a:solidFill>
                <a:latin typeface="Times New Roman"/>
                <a:cs typeface="Times New Roman"/>
              </a:rPr>
              <a:t>numbers</a:t>
            </a:r>
            <a:r>
              <a:rPr lang="en-GB" sz="1800" spc="80" dirty="0">
                <a:solidFill>
                  <a:srgbClr val="C00000"/>
                </a:solidFill>
                <a:latin typeface="Times New Roman"/>
                <a:cs typeface="Times New Roman"/>
              </a:rPr>
              <a:t> </a:t>
            </a:r>
            <a:r>
              <a:rPr lang="en-GB" sz="1800" spc="-5" dirty="0">
                <a:latin typeface="Times New Roman"/>
                <a:cs typeface="Times New Roman"/>
              </a:rPr>
              <a:t>indicate</a:t>
            </a:r>
            <a:r>
              <a:rPr lang="en-GB" sz="1800" spc="85" dirty="0">
                <a:latin typeface="Times New Roman"/>
                <a:cs typeface="Times New Roman"/>
              </a:rPr>
              <a:t> </a:t>
            </a:r>
            <a:r>
              <a:rPr lang="en-GB" sz="1800" spc="-5" dirty="0">
                <a:latin typeface="Times New Roman"/>
                <a:cs typeface="Times New Roman"/>
              </a:rPr>
              <a:t>which</a:t>
            </a:r>
            <a:r>
              <a:rPr lang="en-GB" sz="1800" spc="80" dirty="0">
                <a:latin typeface="Times New Roman"/>
                <a:cs typeface="Times New Roman"/>
              </a:rPr>
              <a:t> </a:t>
            </a:r>
            <a:r>
              <a:rPr lang="en-GB" sz="1800" spc="-10" dirty="0">
                <a:latin typeface="Times New Roman"/>
                <a:cs typeface="Times New Roman"/>
              </a:rPr>
              <a:t>atoms</a:t>
            </a:r>
            <a:r>
              <a:rPr lang="en-GB" sz="1800" spc="80" dirty="0">
                <a:latin typeface="Times New Roman"/>
                <a:cs typeface="Times New Roman"/>
              </a:rPr>
              <a:t> </a:t>
            </a:r>
            <a:r>
              <a:rPr lang="en-GB" sz="1800" dirty="0">
                <a:latin typeface="Times New Roman"/>
                <a:cs typeface="Times New Roman"/>
              </a:rPr>
              <a:t>in</a:t>
            </a:r>
            <a:r>
              <a:rPr lang="en-GB" sz="1800" spc="80" dirty="0">
                <a:latin typeface="Times New Roman"/>
                <a:cs typeface="Times New Roman"/>
              </a:rPr>
              <a:t> </a:t>
            </a:r>
            <a:r>
              <a:rPr lang="en-GB" sz="1800" dirty="0">
                <a:latin typeface="Times New Roman"/>
                <a:cs typeface="Times New Roman"/>
              </a:rPr>
              <a:t>the</a:t>
            </a:r>
            <a:r>
              <a:rPr lang="en-GB" sz="1800" spc="70" dirty="0">
                <a:latin typeface="Times New Roman"/>
                <a:cs typeface="Times New Roman"/>
              </a:rPr>
              <a:t> </a:t>
            </a:r>
            <a:r>
              <a:rPr lang="en-GB" sz="1800" dirty="0">
                <a:latin typeface="Times New Roman"/>
                <a:cs typeface="Times New Roman"/>
              </a:rPr>
              <a:t>minor</a:t>
            </a:r>
            <a:r>
              <a:rPr lang="en-GB" sz="1800" spc="65" dirty="0">
                <a:latin typeface="Times New Roman"/>
                <a:cs typeface="Times New Roman"/>
              </a:rPr>
              <a:t> </a:t>
            </a:r>
            <a:r>
              <a:rPr lang="en-GB" sz="1800" dirty="0">
                <a:latin typeface="Times New Roman"/>
                <a:cs typeface="Times New Roman"/>
              </a:rPr>
              <a:t>ring</a:t>
            </a:r>
            <a:r>
              <a:rPr lang="en-GB" sz="1800" spc="80" dirty="0">
                <a:latin typeface="Times New Roman"/>
                <a:cs typeface="Times New Roman"/>
              </a:rPr>
              <a:t> </a:t>
            </a:r>
            <a:r>
              <a:rPr lang="en-GB" sz="1800" spc="-5" dirty="0">
                <a:latin typeface="Times New Roman"/>
                <a:cs typeface="Times New Roman"/>
              </a:rPr>
              <a:t>are</a:t>
            </a:r>
            <a:r>
              <a:rPr lang="en-GB" sz="1800" spc="80" dirty="0">
                <a:latin typeface="Times New Roman"/>
                <a:cs typeface="Times New Roman"/>
              </a:rPr>
              <a:t> </a:t>
            </a:r>
            <a:r>
              <a:rPr lang="en-GB" sz="1800" spc="-5" dirty="0">
                <a:latin typeface="Times New Roman"/>
                <a:cs typeface="Times New Roman"/>
              </a:rPr>
              <a:t>common</a:t>
            </a:r>
            <a:r>
              <a:rPr lang="en-GB" sz="1800" spc="80" dirty="0">
                <a:latin typeface="Times New Roman"/>
                <a:cs typeface="Times New Roman"/>
              </a:rPr>
              <a:t> </a:t>
            </a:r>
            <a:r>
              <a:rPr lang="en-GB" sz="1800" dirty="0">
                <a:latin typeface="Times New Roman"/>
                <a:cs typeface="Times New Roman"/>
              </a:rPr>
              <a:t>to</a:t>
            </a:r>
            <a:r>
              <a:rPr lang="en-GB" sz="1800" spc="70" dirty="0">
                <a:latin typeface="Times New Roman"/>
                <a:cs typeface="Times New Roman"/>
              </a:rPr>
              <a:t> </a:t>
            </a:r>
            <a:r>
              <a:rPr lang="en-GB" sz="1800" dirty="0">
                <a:latin typeface="Times New Roman"/>
                <a:cs typeface="Times New Roman"/>
              </a:rPr>
              <a:t>the</a:t>
            </a:r>
            <a:r>
              <a:rPr lang="en-GB" sz="1800" spc="85" dirty="0">
                <a:latin typeface="Times New Roman"/>
                <a:cs typeface="Times New Roman"/>
              </a:rPr>
              <a:t> </a:t>
            </a:r>
            <a:r>
              <a:rPr lang="en-GB" sz="1800" spc="-5" dirty="0">
                <a:latin typeface="Times New Roman"/>
                <a:cs typeface="Times New Roman"/>
              </a:rPr>
              <a:t>major </a:t>
            </a:r>
            <a:r>
              <a:rPr lang="en-GB" sz="1800" dirty="0">
                <a:latin typeface="Times New Roman"/>
                <a:cs typeface="Times New Roman"/>
              </a:rPr>
              <a:t>ring</a:t>
            </a:r>
            <a:r>
              <a:rPr lang="en-GB" sz="1800" spc="-15" dirty="0">
                <a:latin typeface="Times New Roman"/>
                <a:cs typeface="Times New Roman"/>
              </a:rPr>
              <a:t> </a:t>
            </a:r>
            <a:r>
              <a:rPr lang="en-GB" sz="1800" dirty="0">
                <a:latin typeface="Times New Roman"/>
                <a:cs typeface="Times New Roman"/>
              </a:rPr>
              <a:t>(fusion</a:t>
            </a:r>
            <a:r>
              <a:rPr lang="en-GB" sz="1800" spc="-5" dirty="0">
                <a:latin typeface="Times New Roman"/>
                <a:cs typeface="Times New Roman"/>
              </a:rPr>
              <a:t> </a:t>
            </a:r>
            <a:r>
              <a:rPr lang="en-GB" sz="1800" dirty="0">
                <a:latin typeface="Times New Roman"/>
                <a:cs typeface="Times New Roman"/>
              </a:rPr>
              <a:t>sites</a:t>
            </a:r>
            <a:r>
              <a:rPr lang="en-GB" sz="1800" spc="-25" dirty="0">
                <a:latin typeface="Times New Roman"/>
                <a:cs typeface="Times New Roman"/>
              </a:rPr>
              <a:t> </a:t>
            </a:r>
            <a:r>
              <a:rPr lang="en-GB" sz="1800" dirty="0">
                <a:latin typeface="Times New Roman"/>
                <a:cs typeface="Times New Roman"/>
              </a:rPr>
              <a:t>in</a:t>
            </a:r>
            <a:r>
              <a:rPr lang="en-GB" sz="1800" spc="-20" dirty="0">
                <a:latin typeface="Times New Roman"/>
                <a:cs typeface="Times New Roman"/>
              </a:rPr>
              <a:t> </a:t>
            </a:r>
            <a:r>
              <a:rPr lang="en-GB" sz="1800" spc="-5" dirty="0">
                <a:latin typeface="Times New Roman"/>
                <a:cs typeface="Times New Roman"/>
              </a:rPr>
              <a:t>minor</a:t>
            </a:r>
            <a:r>
              <a:rPr lang="en-GB" sz="1800" dirty="0">
                <a:latin typeface="Times New Roman"/>
                <a:cs typeface="Times New Roman"/>
              </a:rPr>
              <a:t> ring).</a:t>
            </a:r>
          </a:p>
          <a:p>
            <a:pPr marL="546100" marR="5080" indent="-533400" algn="just">
              <a:spcBef>
                <a:spcPts val="430"/>
              </a:spcBef>
              <a:buFont typeface="Arial MT"/>
              <a:buChar char="•"/>
              <a:tabLst>
                <a:tab pos="546100" algn="l"/>
              </a:tabLst>
            </a:pPr>
            <a:r>
              <a:rPr lang="en-GB" sz="1800" dirty="0">
                <a:latin typeface="Times New Roman"/>
                <a:cs typeface="Times New Roman"/>
              </a:rPr>
              <a:t>The</a:t>
            </a:r>
            <a:r>
              <a:rPr lang="en-GB" sz="1800" spc="5" dirty="0">
                <a:latin typeface="Times New Roman"/>
                <a:cs typeface="Times New Roman"/>
              </a:rPr>
              <a:t> </a:t>
            </a:r>
            <a:r>
              <a:rPr lang="en-GB" sz="1800" spc="-5" dirty="0">
                <a:latin typeface="Times New Roman"/>
                <a:cs typeface="Times New Roman"/>
              </a:rPr>
              <a:t>order</a:t>
            </a:r>
            <a:r>
              <a:rPr lang="en-GB" sz="1800" dirty="0">
                <a:latin typeface="Times New Roman"/>
                <a:cs typeface="Times New Roman"/>
              </a:rPr>
              <a:t> of</a:t>
            </a:r>
            <a:r>
              <a:rPr lang="en-GB" sz="1800" spc="5" dirty="0">
                <a:latin typeface="Times New Roman"/>
                <a:cs typeface="Times New Roman"/>
              </a:rPr>
              <a:t> </a:t>
            </a:r>
            <a:r>
              <a:rPr lang="en-GB" sz="1800" spc="-5" dirty="0">
                <a:latin typeface="Times New Roman"/>
                <a:cs typeface="Times New Roman"/>
              </a:rPr>
              <a:t>the</a:t>
            </a:r>
            <a:r>
              <a:rPr lang="en-GB" sz="1800" dirty="0">
                <a:latin typeface="Times New Roman"/>
                <a:cs typeface="Times New Roman"/>
              </a:rPr>
              <a:t> </a:t>
            </a:r>
            <a:r>
              <a:rPr lang="en-GB" sz="1800" spc="-5" dirty="0">
                <a:latin typeface="Times New Roman"/>
                <a:cs typeface="Times New Roman"/>
              </a:rPr>
              <a:t>numbers</a:t>
            </a:r>
            <a:r>
              <a:rPr lang="en-GB" sz="1800" dirty="0">
                <a:latin typeface="Times New Roman"/>
                <a:cs typeface="Times New Roman"/>
              </a:rPr>
              <a:t> </a:t>
            </a:r>
            <a:r>
              <a:rPr lang="en-GB" sz="1800" spc="-5" dirty="0">
                <a:latin typeface="Times New Roman"/>
                <a:cs typeface="Times New Roman"/>
              </a:rPr>
              <a:t>indicates</a:t>
            </a:r>
            <a:r>
              <a:rPr lang="en-GB" sz="1800" dirty="0">
                <a:latin typeface="Times New Roman"/>
                <a:cs typeface="Times New Roman"/>
              </a:rPr>
              <a:t> which</a:t>
            </a:r>
            <a:r>
              <a:rPr lang="en-GB" sz="1800" spc="5" dirty="0">
                <a:latin typeface="Times New Roman"/>
                <a:cs typeface="Times New Roman"/>
              </a:rPr>
              <a:t> </a:t>
            </a:r>
            <a:r>
              <a:rPr lang="en-GB" sz="1800" dirty="0">
                <a:latin typeface="Times New Roman"/>
                <a:cs typeface="Times New Roman"/>
              </a:rPr>
              <a:t>atom</a:t>
            </a:r>
            <a:r>
              <a:rPr lang="en-GB" sz="1800" spc="5" dirty="0">
                <a:latin typeface="Times New Roman"/>
                <a:cs typeface="Times New Roman"/>
              </a:rPr>
              <a:t> </a:t>
            </a:r>
            <a:r>
              <a:rPr lang="en-GB" sz="1800" dirty="0">
                <a:latin typeface="Times New Roman"/>
                <a:cs typeface="Times New Roman"/>
              </a:rPr>
              <a:t>of</a:t>
            </a:r>
            <a:r>
              <a:rPr lang="en-GB" sz="1800" spc="5" dirty="0">
                <a:latin typeface="Times New Roman"/>
                <a:cs typeface="Times New Roman"/>
              </a:rPr>
              <a:t> </a:t>
            </a:r>
            <a:r>
              <a:rPr lang="en-GB" sz="1800" dirty="0">
                <a:latin typeface="Times New Roman"/>
                <a:cs typeface="Times New Roman"/>
              </a:rPr>
              <a:t>the</a:t>
            </a:r>
            <a:r>
              <a:rPr lang="en-GB" sz="1800" spc="5" dirty="0">
                <a:latin typeface="Times New Roman"/>
                <a:cs typeface="Times New Roman"/>
              </a:rPr>
              <a:t> </a:t>
            </a:r>
            <a:r>
              <a:rPr lang="en-GB" sz="1800" spc="-5" dirty="0">
                <a:latin typeface="Times New Roman"/>
                <a:cs typeface="Times New Roman"/>
              </a:rPr>
              <a:t>minor</a:t>
            </a:r>
            <a:r>
              <a:rPr lang="en-GB" sz="1800" dirty="0">
                <a:latin typeface="Times New Roman"/>
                <a:cs typeface="Times New Roman"/>
              </a:rPr>
              <a:t> ring</a:t>
            </a:r>
            <a:r>
              <a:rPr lang="en-GB" sz="1800" spc="450" dirty="0">
                <a:latin typeface="Times New Roman"/>
                <a:cs typeface="Times New Roman"/>
              </a:rPr>
              <a:t> </a:t>
            </a:r>
            <a:r>
              <a:rPr lang="en-GB" sz="1800" spc="-5" dirty="0">
                <a:latin typeface="Times New Roman"/>
                <a:cs typeface="Times New Roman"/>
              </a:rPr>
              <a:t>is </a:t>
            </a:r>
            <a:r>
              <a:rPr lang="en-GB" sz="1800" dirty="0">
                <a:latin typeface="Times New Roman"/>
                <a:cs typeface="Times New Roman"/>
              </a:rPr>
              <a:t> </a:t>
            </a:r>
            <a:r>
              <a:rPr lang="en-GB" sz="1800" spc="-5" dirty="0">
                <a:latin typeface="Times New Roman"/>
                <a:cs typeface="Times New Roman"/>
              </a:rPr>
              <a:t>encountered</a:t>
            </a:r>
            <a:r>
              <a:rPr lang="en-GB" sz="1800" dirty="0">
                <a:latin typeface="Times New Roman"/>
                <a:cs typeface="Times New Roman"/>
              </a:rPr>
              <a:t> </a:t>
            </a:r>
            <a:r>
              <a:rPr lang="en-GB" sz="1800" spc="-5" dirty="0">
                <a:latin typeface="Times New Roman"/>
                <a:cs typeface="Times New Roman"/>
              </a:rPr>
              <a:t>closest</a:t>
            </a:r>
            <a:r>
              <a:rPr lang="en-GB" sz="1800" dirty="0">
                <a:latin typeface="Times New Roman"/>
                <a:cs typeface="Times New Roman"/>
              </a:rPr>
              <a:t> to</a:t>
            </a:r>
            <a:r>
              <a:rPr lang="en-GB" sz="1800" spc="5" dirty="0">
                <a:latin typeface="Times New Roman"/>
                <a:cs typeface="Times New Roman"/>
              </a:rPr>
              <a:t> </a:t>
            </a:r>
            <a:r>
              <a:rPr lang="en-GB" sz="1800" spc="-5" dirty="0">
                <a:latin typeface="Times New Roman"/>
                <a:cs typeface="Times New Roman"/>
              </a:rPr>
              <a:t>atom</a:t>
            </a:r>
            <a:r>
              <a:rPr lang="en-GB" sz="1800" dirty="0">
                <a:latin typeface="Times New Roman"/>
                <a:cs typeface="Times New Roman"/>
              </a:rPr>
              <a:t> </a:t>
            </a:r>
            <a:r>
              <a:rPr lang="en-GB" sz="1800" dirty="0">
                <a:solidFill>
                  <a:srgbClr val="C00000"/>
                </a:solidFill>
                <a:latin typeface="Times New Roman"/>
                <a:cs typeface="Times New Roman"/>
              </a:rPr>
              <a:t>1</a:t>
            </a:r>
            <a:r>
              <a:rPr lang="en-GB" sz="1800" spc="5" dirty="0">
                <a:solidFill>
                  <a:srgbClr val="C00000"/>
                </a:solidFill>
                <a:latin typeface="Times New Roman"/>
                <a:cs typeface="Times New Roman"/>
              </a:rPr>
              <a:t> </a:t>
            </a:r>
            <a:r>
              <a:rPr lang="en-GB" sz="1800" dirty="0">
                <a:latin typeface="Times New Roman"/>
                <a:cs typeface="Times New Roman"/>
              </a:rPr>
              <a:t>in</a:t>
            </a:r>
            <a:r>
              <a:rPr lang="en-GB" sz="1800" spc="5" dirty="0">
                <a:latin typeface="Times New Roman"/>
                <a:cs typeface="Times New Roman"/>
              </a:rPr>
              <a:t> </a:t>
            </a:r>
            <a:r>
              <a:rPr lang="en-GB" sz="1800" spc="-5" dirty="0">
                <a:latin typeface="Times New Roman"/>
                <a:cs typeface="Times New Roman"/>
              </a:rPr>
              <a:t>the</a:t>
            </a:r>
            <a:r>
              <a:rPr lang="en-GB" sz="1800" dirty="0">
                <a:latin typeface="Times New Roman"/>
                <a:cs typeface="Times New Roman"/>
              </a:rPr>
              <a:t> </a:t>
            </a:r>
            <a:r>
              <a:rPr lang="en-GB" sz="1800" spc="-5" dirty="0">
                <a:latin typeface="Times New Roman"/>
                <a:cs typeface="Times New Roman"/>
              </a:rPr>
              <a:t>major</a:t>
            </a:r>
            <a:r>
              <a:rPr lang="en-GB" sz="1800" dirty="0">
                <a:latin typeface="Times New Roman"/>
                <a:cs typeface="Times New Roman"/>
              </a:rPr>
              <a:t> </a:t>
            </a:r>
            <a:r>
              <a:rPr lang="en-GB" sz="1800" spc="-5" dirty="0">
                <a:latin typeface="Times New Roman"/>
                <a:cs typeface="Times New Roman"/>
              </a:rPr>
              <a:t>numbering</a:t>
            </a:r>
            <a:r>
              <a:rPr lang="en-GB" sz="1800" dirty="0">
                <a:latin typeface="Times New Roman"/>
                <a:cs typeface="Times New Roman"/>
              </a:rPr>
              <a:t> </a:t>
            </a:r>
            <a:r>
              <a:rPr lang="en-GB" sz="1800" spc="-5" dirty="0">
                <a:latin typeface="Times New Roman"/>
                <a:cs typeface="Times New Roman"/>
              </a:rPr>
              <a:t>system</a:t>
            </a:r>
            <a:r>
              <a:rPr lang="en-GB" sz="1800" dirty="0">
                <a:latin typeface="Times New Roman"/>
                <a:cs typeface="Times New Roman"/>
              </a:rPr>
              <a:t> </a:t>
            </a:r>
            <a:r>
              <a:rPr lang="en-GB" sz="1800" spc="-5" dirty="0">
                <a:latin typeface="Times New Roman"/>
                <a:cs typeface="Times New Roman"/>
              </a:rPr>
              <a:t>(i.e.</a:t>
            </a:r>
            <a:r>
              <a:rPr lang="en-GB" sz="1800" dirty="0">
                <a:latin typeface="Times New Roman"/>
                <a:cs typeface="Times New Roman"/>
              </a:rPr>
              <a:t> </a:t>
            </a:r>
            <a:r>
              <a:rPr lang="en-GB" sz="1800" spc="-5" dirty="0">
                <a:latin typeface="Times New Roman"/>
                <a:cs typeface="Times New Roman"/>
              </a:rPr>
              <a:t>these </a:t>
            </a:r>
            <a:r>
              <a:rPr lang="en-GB" sz="1800" dirty="0">
                <a:latin typeface="Times New Roman"/>
                <a:cs typeface="Times New Roman"/>
              </a:rPr>
              <a:t> </a:t>
            </a:r>
            <a:r>
              <a:rPr lang="en-GB" sz="1800" spc="-5" dirty="0">
                <a:latin typeface="Times New Roman"/>
                <a:cs typeface="Times New Roman"/>
              </a:rPr>
              <a:t>numbers</a:t>
            </a:r>
            <a:r>
              <a:rPr lang="en-GB" sz="1800" dirty="0">
                <a:latin typeface="Times New Roman"/>
                <a:cs typeface="Times New Roman"/>
              </a:rPr>
              <a:t> </a:t>
            </a:r>
            <a:r>
              <a:rPr lang="en-GB" sz="1800" spc="-5" dirty="0">
                <a:latin typeface="Times New Roman"/>
                <a:cs typeface="Times New Roman"/>
              </a:rPr>
              <a:t>may</a:t>
            </a:r>
            <a:r>
              <a:rPr lang="en-GB" sz="1800" spc="10" dirty="0">
                <a:latin typeface="Times New Roman"/>
                <a:cs typeface="Times New Roman"/>
              </a:rPr>
              <a:t> </a:t>
            </a:r>
            <a:r>
              <a:rPr lang="en-GB" sz="1800" dirty="0">
                <a:latin typeface="Times New Roman"/>
                <a:cs typeface="Times New Roman"/>
              </a:rPr>
              <a:t>be</a:t>
            </a:r>
            <a:r>
              <a:rPr lang="en-GB" sz="1800" spc="-5" dirty="0">
                <a:latin typeface="Times New Roman"/>
                <a:cs typeface="Times New Roman"/>
              </a:rPr>
              <a:t> </a:t>
            </a:r>
            <a:r>
              <a:rPr lang="en-GB" sz="1800" dirty="0">
                <a:latin typeface="Times New Roman"/>
                <a:cs typeface="Times New Roman"/>
              </a:rPr>
              <a:t>written in</a:t>
            </a:r>
            <a:r>
              <a:rPr lang="en-GB" sz="1800" spc="-10" dirty="0">
                <a:latin typeface="Times New Roman"/>
                <a:cs typeface="Times New Roman"/>
              </a:rPr>
              <a:t> </a:t>
            </a:r>
            <a:r>
              <a:rPr lang="en-GB" sz="1800" dirty="0">
                <a:latin typeface="Times New Roman"/>
                <a:cs typeface="Times New Roman"/>
              </a:rPr>
              <a:t>ascending</a:t>
            </a:r>
            <a:r>
              <a:rPr lang="en-GB" sz="1800" spc="-15" dirty="0">
                <a:latin typeface="Times New Roman"/>
                <a:cs typeface="Times New Roman"/>
              </a:rPr>
              <a:t> </a:t>
            </a:r>
            <a:r>
              <a:rPr lang="en-GB" sz="1800" dirty="0">
                <a:latin typeface="Times New Roman"/>
                <a:cs typeface="Times New Roman"/>
              </a:rPr>
              <a:t>or</a:t>
            </a:r>
            <a:r>
              <a:rPr lang="en-GB" sz="1800" spc="5" dirty="0">
                <a:latin typeface="Times New Roman"/>
                <a:cs typeface="Times New Roman"/>
              </a:rPr>
              <a:t> </a:t>
            </a:r>
            <a:r>
              <a:rPr lang="en-GB" sz="1800" dirty="0">
                <a:latin typeface="Times New Roman"/>
                <a:cs typeface="Times New Roman"/>
              </a:rPr>
              <a:t>descending</a:t>
            </a:r>
            <a:r>
              <a:rPr lang="en-GB" sz="1800" spc="-20" dirty="0">
                <a:latin typeface="Times New Roman"/>
                <a:cs typeface="Times New Roman"/>
              </a:rPr>
              <a:t> </a:t>
            </a:r>
            <a:r>
              <a:rPr lang="en-GB" sz="1800" dirty="0">
                <a:latin typeface="Times New Roman"/>
                <a:cs typeface="Times New Roman"/>
              </a:rPr>
              <a:t>order</a:t>
            </a:r>
            <a:r>
              <a:rPr lang="en-GB" sz="1800" spc="5" dirty="0">
                <a:latin typeface="Times New Roman"/>
                <a:cs typeface="Times New Roman"/>
              </a:rPr>
              <a:t> </a:t>
            </a:r>
            <a:r>
              <a:rPr lang="en-GB" sz="1800" dirty="0">
                <a:latin typeface="Times New Roman"/>
                <a:cs typeface="Times New Roman"/>
              </a:rPr>
              <a:t>e.g.2,3</a:t>
            </a:r>
            <a:r>
              <a:rPr lang="en-GB" sz="1800" spc="-30" dirty="0">
                <a:latin typeface="Times New Roman"/>
                <a:cs typeface="Times New Roman"/>
              </a:rPr>
              <a:t> </a:t>
            </a:r>
            <a:r>
              <a:rPr lang="en-GB" sz="1800" dirty="0">
                <a:latin typeface="Times New Roman"/>
                <a:cs typeface="Times New Roman"/>
              </a:rPr>
              <a:t>or</a:t>
            </a:r>
            <a:r>
              <a:rPr lang="en-GB" sz="1800" spc="5" dirty="0">
                <a:latin typeface="Times New Roman"/>
                <a:cs typeface="Times New Roman"/>
              </a:rPr>
              <a:t> </a:t>
            </a:r>
            <a:r>
              <a:rPr lang="en-GB" sz="1800" dirty="0">
                <a:latin typeface="Times New Roman"/>
                <a:cs typeface="Times New Roman"/>
              </a:rPr>
              <a:t>3,2</a:t>
            </a:r>
            <a:r>
              <a:rPr lang="en-GB" sz="1800" spc="-15" dirty="0">
                <a:latin typeface="Times New Roman"/>
                <a:cs typeface="Times New Roman"/>
              </a:rPr>
              <a:t> </a:t>
            </a:r>
            <a:r>
              <a:rPr lang="en-GB" sz="1800" dirty="0">
                <a:latin typeface="Times New Roman"/>
                <a:cs typeface="Times New Roman"/>
              </a:rPr>
              <a:t>)</a:t>
            </a:r>
          </a:p>
          <a:p>
            <a:pPr marL="546100" marR="5715" indent="-533400" algn="just">
              <a:spcBef>
                <a:spcPts val="434"/>
              </a:spcBef>
              <a:buFont typeface="Arial MT"/>
              <a:buChar char="•"/>
              <a:tabLst>
                <a:tab pos="546100" algn="l"/>
              </a:tabLst>
            </a:pPr>
            <a:r>
              <a:rPr lang="en-GB" sz="1800" dirty="0">
                <a:latin typeface="Times New Roman"/>
                <a:cs typeface="Times New Roman"/>
              </a:rPr>
              <a:t>The </a:t>
            </a:r>
            <a:r>
              <a:rPr lang="en-GB" sz="1800" dirty="0">
                <a:solidFill>
                  <a:srgbClr val="C00000"/>
                </a:solidFill>
                <a:latin typeface="Times New Roman"/>
                <a:cs typeface="Times New Roman"/>
              </a:rPr>
              <a:t>letter </a:t>
            </a:r>
            <a:r>
              <a:rPr lang="en-GB" sz="1800" spc="-5" dirty="0">
                <a:latin typeface="Times New Roman"/>
                <a:cs typeface="Times New Roman"/>
              </a:rPr>
              <a:t>defines </a:t>
            </a:r>
            <a:r>
              <a:rPr lang="en-GB" sz="1800" dirty="0">
                <a:latin typeface="Times New Roman"/>
                <a:cs typeface="Times New Roman"/>
              </a:rPr>
              <a:t>the </a:t>
            </a:r>
            <a:r>
              <a:rPr lang="en-GB" sz="1800" spc="-5" dirty="0">
                <a:latin typeface="Times New Roman"/>
                <a:cs typeface="Times New Roman"/>
              </a:rPr>
              <a:t>position </a:t>
            </a:r>
            <a:r>
              <a:rPr lang="en-GB" sz="1800" dirty="0">
                <a:latin typeface="Times New Roman"/>
                <a:cs typeface="Times New Roman"/>
              </a:rPr>
              <a:t>of </a:t>
            </a:r>
            <a:r>
              <a:rPr lang="en-GB" sz="1800" spc="-5" dirty="0">
                <a:latin typeface="Times New Roman"/>
                <a:cs typeface="Times New Roman"/>
              </a:rPr>
              <a:t>attachment </a:t>
            </a:r>
            <a:r>
              <a:rPr lang="en-GB" sz="1800" dirty="0">
                <a:latin typeface="Times New Roman"/>
                <a:cs typeface="Times New Roman"/>
              </a:rPr>
              <a:t>of </a:t>
            </a:r>
            <a:r>
              <a:rPr lang="en-GB" sz="1800" spc="-5" dirty="0">
                <a:latin typeface="Times New Roman"/>
                <a:cs typeface="Times New Roman"/>
              </a:rPr>
              <a:t>the minor </a:t>
            </a:r>
            <a:r>
              <a:rPr lang="en-GB" sz="1800" dirty="0">
                <a:latin typeface="Times New Roman"/>
                <a:cs typeface="Times New Roman"/>
              </a:rPr>
              <a:t>ring to </a:t>
            </a:r>
            <a:r>
              <a:rPr lang="en-GB" sz="1800" spc="-5" dirty="0">
                <a:latin typeface="Times New Roman"/>
                <a:cs typeface="Times New Roman"/>
              </a:rPr>
              <a:t>the major </a:t>
            </a:r>
            <a:r>
              <a:rPr lang="en-GB" sz="1800" dirty="0">
                <a:latin typeface="Times New Roman"/>
                <a:cs typeface="Times New Roman"/>
              </a:rPr>
              <a:t>ring </a:t>
            </a:r>
            <a:r>
              <a:rPr lang="en-GB" sz="1800" spc="5" dirty="0">
                <a:latin typeface="Times New Roman"/>
                <a:cs typeface="Times New Roman"/>
              </a:rPr>
              <a:t> </a:t>
            </a:r>
            <a:r>
              <a:rPr lang="en-GB" sz="1800" dirty="0">
                <a:latin typeface="Times New Roman"/>
                <a:cs typeface="Times New Roman"/>
              </a:rPr>
              <a:t>(fusion</a:t>
            </a:r>
            <a:r>
              <a:rPr lang="en-GB" sz="1800" spc="-10" dirty="0">
                <a:latin typeface="Times New Roman"/>
                <a:cs typeface="Times New Roman"/>
              </a:rPr>
              <a:t> </a:t>
            </a:r>
            <a:r>
              <a:rPr lang="en-GB" sz="1800" dirty="0">
                <a:latin typeface="Times New Roman"/>
                <a:cs typeface="Times New Roman"/>
              </a:rPr>
              <a:t>sites</a:t>
            </a:r>
            <a:r>
              <a:rPr lang="en-GB" sz="1800" spc="5" dirty="0">
                <a:latin typeface="Times New Roman"/>
                <a:cs typeface="Times New Roman"/>
              </a:rPr>
              <a:t> </a:t>
            </a:r>
            <a:r>
              <a:rPr lang="en-GB" sz="1800" dirty="0">
                <a:latin typeface="Times New Roman"/>
                <a:cs typeface="Times New Roman"/>
              </a:rPr>
              <a:t>in</a:t>
            </a:r>
            <a:r>
              <a:rPr lang="en-GB" sz="1800" spc="-10" dirty="0">
                <a:latin typeface="Times New Roman"/>
                <a:cs typeface="Times New Roman"/>
              </a:rPr>
              <a:t> </a:t>
            </a:r>
            <a:r>
              <a:rPr lang="en-GB" sz="1800" dirty="0">
                <a:latin typeface="Times New Roman"/>
                <a:cs typeface="Times New Roman"/>
              </a:rPr>
              <a:t>base</a:t>
            </a:r>
            <a:r>
              <a:rPr lang="en-GB" sz="1800" spc="-5" dirty="0">
                <a:latin typeface="Times New Roman"/>
                <a:cs typeface="Times New Roman"/>
              </a:rPr>
              <a:t> </a:t>
            </a:r>
            <a:r>
              <a:rPr lang="en-GB" sz="1800" dirty="0">
                <a:latin typeface="Times New Roman"/>
                <a:cs typeface="Times New Roman"/>
              </a:rPr>
              <a:t>component).</a:t>
            </a:r>
          </a:p>
          <a:p>
            <a:pPr marL="546100" indent="-533400" algn="just">
              <a:spcBef>
                <a:spcPts val="1510"/>
              </a:spcBef>
              <a:buFont typeface="Arial MT"/>
              <a:buChar char="•"/>
              <a:tabLst>
                <a:tab pos="546100" algn="l"/>
              </a:tabLst>
            </a:pPr>
            <a:r>
              <a:rPr lang="en-GB" sz="1800" spc="-5" dirty="0">
                <a:latin typeface="Times New Roman"/>
                <a:cs typeface="Times New Roman"/>
              </a:rPr>
              <a:t>Finally</a:t>
            </a:r>
            <a:r>
              <a:rPr lang="en-GB" sz="1800" spc="-15" dirty="0">
                <a:latin typeface="Times New Roman"/>
                <a:cs typeface="Times New Roman"/>
              </a:rPr>
              <a:t> </a:t>
            </a:r>
            <a:r>
              <a:rPr lang="en-GB" sz="1800" dirty="0">
                <a:latin typeface="Times New Roman"/>
                <a:cs typeface="Times New Roman"/>
              </a:rPr>
              <a:t>a</a:t>
            </a:r>
            <a:r>
              <a:rPr lang="en-GB" sz="1800" spc="10" dirty="0">
                <a:latin typeface="Times New Roman"/>
                <a:cs typeface="Times New Roman"/>
              </a:rPr>
              <a:t> </a:t>
            </a:r>
            <a:r>
              <a:rPr lang="en-GB" sz="1800" spc="-10" dirty="0">
                <a:latin typeface="Times New Roman"/>
                <a:cs typeface="Times New Roman"/>
              </a:rPr>
              <a:t>suffix</a:t>
            </a:r>
            <a:r>
              <a:rPr lang="en-GB" sz="1800" spc="-5" dirty="0">
                <a:latin typeface="Times New Roman"/>
                <a:cs typeface="Times New Roman"/>
              </a:rPr>
              <a:t> </a:t>
            </a:r>
            <a:r>
              <a:rPr lang="en-GB" sz="1800" dirty="0">
                <a:latin typeface="Times New Roman"/>
                <a:cs typeface="Times New Roman"/>
              </a:rPr>
              <a:t>indicate</a:t>
            </a:r>
            <a:r>
              <a:rPr lang="en-GB" sz="1800" spc="-10" dirty="0">
                <a:latin typeface="Times New Roman"/>
                <a:cs typeface="Times New Roman"/>
              </a:rPr>
              <a:t> </a:t>
            </a:r>
            <a:r>
              <a:rPr lang="en-GB" sz="1800" dirty="0">
                <a:latin typeface="Times New Roman"/>
                <a:cs typeface="Times New Roman"/>
              </a:rPr>
              <a:t>the</a:t>
            </a:r>
            <a:r>
              <a:rPr lang="en-GB" sz="1800" spc="-5" dirty="0">
                <a:latin typeface="Times New Roman"/>
                <a:cs typeface="Times New Roman"/>
              </a:rPr>
              <a:t> name of</a:t>
            </a:r>
            <a:r>
              <a:rPr lang="en-GB" sz="1800" spc="5" dirty="0">
                <a:latin typeface="Times New Roman"/>
                <a:cs typeface="Times New Roman"/>
              </a:rPr>
              <a:t> </a:t>
            </a:r>
            <a:r>
              <a:rPr lang="en-GB" sz="1800" dirty="0">
                <a:latin typeface="Times New Roman"/>
                <a:cs typeface="Times New Roman"/>
              </a:rPr>
              <a:t>the</a:t>
            </a:r>
            <a:r>
              <a:rPr lang="en-GB" sz="1800" spc="-5" dirty="0">
                <a:latin typeface="Times New Roman"/>
                <a:cs typeface="Times New Roman"/>
              </a:rPr>
              <a:t> </a:t>
            </a:r>
            <a:r>
              <a:rPr lang="en-GB" sz="1800" dirty="0">
                <a:latin typeface="Times New Roman"/>
                <a:cs typeface="Times New Roman"/>
              </a:rPr>
              <a:t>base</a:t>
            </a:r>
            <a:r>
              <a:rPr lang="en-GB" sz="1800" spc="-5" dirty="0">
                <a:latin typeface="Times New Roman"/>
                <a:cs typeface="Times New Roman"/>
              </a:rPr>
              <a:t> </a:t>
            </a:r>
            <a:r>
              <a:rPr lang="en-GB" sz="1800" dirty="0">
                <a:latin typeface="Times New Roman"/>
                <a:cs typeface="Times New Roman"/>
              </a:rPr>
              <a:t>ring</a:t>
            </a:r>
            <a:r>
              <a:rPr lang="en-GB" sz="1800" spc="-10" dirty="0">
                <a:latin typeface="Times New Roman"/>
                <a:cs typeface="Times New Roman"/>
              </a:rPr>
              <a:t> </a:t>
            </a:r>
            <a:r>
              <a:rPr lang="en-GB" sz="1800" dirty="0">
                <a:latin typeface="Times New Roman"/>
                <a:cs typeface="Times New Roman"/>
              </a:rPr>
              <a:t>is</a:t>
            </a:r>
            <a:r>
              <a:rPr lang="en-GB" sz="1800" spc="-15" dirty="0">
                <a:latin typeface="Times New Roman"/>
                <a:cs typeface="Times New Roman"/>
              </a:rPr>
              <a:t> </a:t>
            </a:r>
            <a:r>
              <a:rPr lang="en-GB" sz="1800" dirty="0">
                <a:latin typeface="Times New Roman"/>
                <a:cs typeface="Times New Roman"/>
              </a:rPr>
              <a:t>written.</a:t>
            </a:r>
          </a:p>
          <a:p>
            <a:pPr marL="546100" marR="5080" indent="-533400" algn="just">
              <a:spcBef>
                <a:spcPts val="434"/>
              </a:spcBef>
              <a:buFont typeface="Arial MT"/>
              <a:buChar char="•"/>
              <a:tabLst>
                <a:tab pos="546100" algn="l"/>
              </a:tabLst>
            </a:pPr>
            <a:r>
              <a:rPr lang="en-GB" sz="1800" dirty="0">
                <a:latin typeface="Times New Roman"/>
                <a:cs typeface="Times New Roman"/>
              </a:rPr>
              <a:t>The </a:t>
            </a:r>
            <a:r>
              <a:rPr lang="en-GB" sz="1800" spc="-5" dirty="0">
                <a:latin typeface="Times New Roman"/>
                <a:cs typeface="Times New Roman"/>
              </a:rPr>
              <a:t>numbering system </a:t>
            </a:r>
            <a:r>
              <a:rPr lang="en-GB" sz="1800" dirty="0">
                <a:latin typeface="Times New Roman"/>
                <a:cs typeface="Times New Roman"/>
              </a:rPr>
              <a:t>for </a:t>
            </a:r>
            <a:r>
              <a:rPr lang="en-GB" sz="1800" spc="-5" dirty="0">
                <a:latin typeface="Times New Roman"/>
                <a:cs typeface="Times New Roman"/>
              </a:rPr>
              <a:t>the </a:t>
            </a:r>
            <a:r>
              <a:rPr lang="en-GB" sz="1800" dirty="0">
                <a:latin typeface="Times New Roman"/>
                <a:cs typeface="Times New Roman"/>
              </a:rPr>
              <a:t>whole fused </a:t>
            </a:r>
            <a:r>
              <a:rPr lang="en-GB" sz="1800" spc="-5" dirty="0">
                <a:latin typeface="Times New Roman"/>
                <a:cs typeface="Times New Roman"/>
              </a:rPr>
              <a:t>system is </a:t>
            </a:r>
            <a:r>
              <a:rPr lang="en-GB" sz="1800" dirty="0">
                <a:latin typeface="Times New Roman"/>
                <a:cs typeface="Times New Roman"/>
              </a:rPr>
              <a:t>not </a:t>
            </a:r>
            <a:r>
              <a:rPr lang="en-GB" sz="1800" spc="-5" dirty="0">
                <a:latin typeface="Times New Roman"/>
                <a:cs typeface="Times New Roman"/>
              </a:rPr>
              <a:t>the same as </a:t>
            </a:r>
            <a:r>
              <a:rPr lang="en-GB" sz="1800" dirty="0">
                <a:latin typeface="Times New Roman"/>
                <a:cs typeface="Times New Roman"/>
              </a:rPr>
              <a:t>the </a:t>
            </a:r>
            <a:r>
              <a:rPr lang="en-GB" sz="1800" spc="5" dirty="0">
                <a:latin typeface="Times New Roman"/>
                <a:cs typeface="Times New Roman"/>
              </a:rPr>
              <a:t> </a:t>
            </a:r>
            <a:r>
              <a:rPr lang="en-GB" sz="1800" spc="-5" dirty="0">
                <a:latin typeface="Times New Roman"/>
                <a:cs typeface="Times New Roman"/>
              </a:rPr>
              <a:t>numbers </a:t>
            </a:r>
            <a:r>
              <a:rPr lang="en-GB" sz="1800" dirty="0">
                <a:latin typeface="Times New Roman"/>
                <a:cs typeface="Times New Roman"/>
              </a:rPr>
              <a:t>in the square </a:t>
            </a:r>
            <a:r>
              <a:rPr lang="en-GB" sz="1800" spc="-5" dirty="0">
                <a:latin typeface="Times New Roman"/>
                <a:cs typeface="Times New Roman"/>
              </a:rPr>
              <a:t>brackets </a:t>
            </a:r>
            <a:r>
              <a:rPr lang="en-GB" sz="1800" dirty="0">
                <a:latin typeface="Times New Roman"/>
                <a:cs typeface="Times New Roman"/>
              </a:rPr>
              <a:t>(i.e. there are three </a:t>
            </a:r>
            <a:r>
              <a:rPr lang="en-GB" sz="1800" spc="-5" dirty="0">
                <a:latin typeface="Times New Roman"/>
                <a:cs typeface="Times New Roman"/>
              </a:rPr>
              <a:t>numbering systems; </a:t>
            </a:r>
            <a:r>
              <a:rPr lang="en-GB" sz="1800" dirty="0">
                <a:latin typeface="Times New Roman"/>
                <a:cs typeface="Times New Roman"/>
              </a:rPr>
              <a:t>one for </a:t>
            </a:r>
            <a:r>
              <a:rPr lang="en-GB" sz="1800" spc="5" dirty="0">
                <a:latin typeface="Times New Roman"/>
                <a:cs typeface="Times New Roman"/>
              </a:rPr>
              <a:t> </a:t>
            </a:r>
            <a:r>
              <a:rPr lang="en-GB" sz="1800" spc="-5" dirty="0">
                <a:latin typeface="Times New Roman"/>
                <a:cs typeface="Times New Roman"/>
              </a:rPr>
              <a:t>minor</a:t>
            </a:r>
            <a:r>
              <a:rPr lang="en-GB" sz="1800" spc="5" dirty="0">
                <a:latin typeface="Times New Roman"/>
                <a:cs typeface="Times New Roman"/>
              </a:rPr>
              <a:t> </a:t>
            </a:r>
            <a:r>
              <a:rPr lang="en-GB" sz="1800" dirty="0">
                <a:latin typeface="Times New Roman"/>
                <a:cs typeface="Times New Roman"/>
              </a:rPr>
              <a:t>ring,</a:t>
            </a:r>
            <a:r>
              <a:rPr lang="en-GB" sz="1800" spc="-15" dirty="0">
                <a:latin typeface="Times New Roman"/>
                <a:cs typeface="Times New Roman"/>
              </a:rPr>
              <a:t> </a:t>
            </a:r>
            <a:r>
              <a:rPr lang="en-GB" sz="1800" spc="-5" dirty="0">
                <a:latin typeface="Times New Roman"/>
                <a:cs typeface="Times New Roman"/>
              </a:rPr>
              <a:t>one</a:t>
            </a:r>
            <a:r>
              <a:rPr lang="en-GB" sz="1800" spc="10" dirty="0">
                <a:latin typeface="Times New Roman"/>
                <a:cs typeface="Times New Roman"/>
              </a:rPr>
              <a:t> </a:t>
            </a:r>
            <a:r>
              <a:rPr lang="en-GB" sz="1800" dirty="0">
                <a:latin typeface="Times New Roman"/>
                <a:cs typeface="Times New Roman"/>
              </a:rPr>
              <a:t>for</a:t>
            </a:r>
            <a:r>
              <a:rPr lang="en-GB" sz="1800" spc="-10" dirty="0">
                <a:latin typeface="Times New Roman"/>
                <a:cs typeface="Times New Roman"/>
              </a:rPr>
              <a:t> </a:t>
            </a:r>
            <a:r>
              <a:rPr lang="en-GB" sz="1800" spc="-5" dirty="0">
                <a:latin typeface="Times New Roman"/>
                <a:cs typeface="Times New Roman"/>
              </a:rPr>
              <a:t>major</a:t>
            </a:r>
            <a:r>
              <a:rPr lang="en-GB" sz="1800" spc="10" dirty="0">
                <a:latin typeface="Times New Roman"/>
                <a:cs typeface="Times New Roman"/>
              </a:rPr>
              <a:t> </a:t>
            </a:r>
            <a:r>
              <a:rPr lang="en-GB" sz="1800" dirty="0">
                <a:latin typeface="Times New Roman"/>
                <a:cs typeface="Times New Roman"/>
              </a:rPr>
              <a:t>ring</a:t>
            </a:r>
            <a:r>
              <a:rPr lang="en-GB" sz="1800" spc="-10" dirty="0">
                <a:latin typeface="Times New Roman"/>
                <a:cs typeface="Times New Roman"/>
              </a:rPr>
              <a:t> </a:t>
            </a:r>
            <a:r>
              <a:rPr lang="en-GB" sz="1800" dirty="0">
                <a:latin typeface="Times New Roman"/>
                <a:cs typeface="Times New Roman"/>
              </a:rPr>
              <a:t>and</a:t>
            </a:r>
            <a:r>
              <a:rPr lang="en-GB" sz="1800" spc="-5" dirty="0">
                <a:latin typeface="Times New Roman"/>
                <a:cs typeface="Times New Roman"/>
              </a:rPr>
              <a:t> </a:t>
            </a:r>
            <a:r>
              <a:rPr lang="en-GB" sz="1800" dirty="0">
                <a:latin typeface="Times New Roman"/>
                <a:cs typeface="Times New Roman"/>
              </a:rPr>
              <a:t>the</a:t>
            </a:r>
            <a:r>
              <a:rPr lang="en-GB" sz="1800" spc="-5" dirty="0">
                <a:latin typeface="Times New Roman"/>
                <a:cs typeface="Times New Roman"/>
              </a:rPr>
              <a:t> </a:t>
            </a:r>
            <a:r>
              <a:rPr lang="en-GB" sz="1800" dirty="0">
                <a:latin typeface="Times New Roman"/>
                <a:cs typeface="Times New Roman"/>
              </a:rPr>
              <a:t>third is</a:t>
            </a:r>
            <a:r>
              <a:rPr lang="en-GB" sz="1800" spc="-15" dirty="0">
                <a:latin typeface="Times New Roman"/>
                <a:cs typeface="Times New Roman"/>
              </a:rPr>
              <a:t> </a:t>
            </a:r>
            <a:r>
              <a:rPr lang="en-GB" sz="1800" dirty="0">
                <a:latin typeface="Times New Roman"/>
                <a:cs typeface="Times New Roman"/>
              </a:rPr>
              <a:t>for the</a:t>
            </a:r>
            <a:r>
              <a:rPr lang="en-GB" sz="1800" spc="-5" dirty="0">
                <a:latin typeface="Times New Roman"/>
                <a:cs typeface="Times New Roman"/>
              </a:rPr>
              <a:t> </a:t>
            </a:r>
            <a:r>
              <a:rPr lang="en-GB" sz="1800" dirty="0">
                <a:latin typeface="Times New Roman"/>
                <a:cs typeface="Times New Roman"/>
              </a:rPr>
              <a:t>system</a:t>
            </a:r>
            <a:r>
              <a:rPr lang="en-GB" sz="1800" spc="-25" dirty="0">
                <a:latin typeface="Times New Roman"/>
                <a:cs typeface="Times New Roman"/>
              </a:rPr>
              <a:t> </a:t>
            </a:r>
            <a:r>
              <a:rPr lang="en-GB" sz="1800" dirty="0">
                <a:latin typeface="Times New Roman"/>
                <a:cs typeface="Times New Roman"/>
              </a:rPr>
              <a:t>as</a:t>
            </a:r>
            <a:r>
              <a:rPr lang="en-GB" sz="1800" spc="-5" dirty="0">
                <a:latin typeface="Times New Roman"/>
                <a:cs typeface="Times New Roman"/>
              </a:rPr>
              <a:t> </a:t>
            </a:r>
            <a:r>
              <a:rPr lang="en-GB" sz="1800" dirty="0">
                <a:latin typeface="Times New Roman"/>
                <a:cs typeface="Times New Roman"/>
              </a:rPr>
              <a:t>a</a:t>
            </a:r>
            <a:r>
              <a:rPr lang="en-GB" sz="1800" spc="-5" dirty="0">
                <a:latin typeface="Times New Roman"/>
                <a:cs typeface="Times New Roman"/>
              </a:rPr>
              <a:t> whole).</a:t>
            </a:r>
          </a:p>
          <a:p>
            <a:pPr marL="12700" marR="5080" algn="just">
              <a:spcBef>
                <a:spcPts val="434"/>
              </a:spcBef>
              <a:tabLst>
                <a:tab pos="546100" algn="l"/>
              </a:tabLst>
            </a:pPr>
            <a:endParaRPr lang="en-GB" sz="1800" dirty="0">
              <a:latin typeface="Times New Roman"/>
              <a:cs typeface="Times New Roman"/>
            </a:endParaRPr>
          </a:p>
          <a:p>
            <a:pPr marL="12700" marR="5080" algn="just">
              <a:spcBef>
                <a:spcPts val="434"/>
              </a:spcBef>
              <a:buClr>
                <a:srgbClr val="990000"/>
              </a:buClr>
              <a:tabLst>
                <a:tab pos="546100" algn="l"/>
              </a:tabLst>
            </a:pPr>
            <a:r>
              <a:rPr lang="en-GB" sz="1800" dirty="0">
                <a:solidFill>
                  <a:srgbClr val="C00000"/>
                </a:solidFill>
                <a:latin typeface="Times New Roman"/>
                <a:cs typeface="Times New Roman"/>
              </a:rPr>
              <a:t>	Priority </a:t>
            </a:r>
            <a:r>
              <a:rPr lang="en-GB" sz="1800" spc="-5" dirty="0">
                <a:solidFill>
                  <a:srgbClr val="C00000"/>
                </a:solidFill>
                <a:latin typeface="Times New Roman"/>
                <a:cs typeface="Times New Roman"/>
              </a:rPr>
              <a:t>order </a:t>
            </a:r>
            <a:r>
              <a:rPr lang="en-GB" sz="1800" dirty="0">
                <a:solidFill>
                  <a:srgbClr val="C00000"/>
                </a:solidFill>
                <a:latin typeface="Times New Roman"/>
                <a:cs typeface="Times New Roman"/>
              </a:rPr>
              <a:t>of component ring </a:t>
            </a:r>
            <a:r>
              <a:rPr lang="en-GB" sz="1800" spc="-5" dirty="0">
                <a:solidFill>
                  <a:srgbClr val="C00000"/>
                </a:solidFill>
                <a:latin typeface="Times New Roman"/>
                <a:cs typeface="Times New Roman"/>
              </a:rPr>
              <a:t>systems: </a:t>
            </a:r>
            <a:r>
              <a:rPr lang="en-GB" sz="1800" dirty="0">
                <a:latin typeface="Times New Roman"/>
                <a:cs typeface="Times New Roman"/>
              </a:rPr>
              <a:t>Selection of a </a:t>
            </a:r>
            <a:r>
              <a:rPr lang="en-GB" sz="1800" spc="-5" dirty="0">
                <a:latin typeface="Times New Roman"/>
                <a:cs typeface="Times New Roman"/>
              </a:rPr>
              <a:t>parent component </a:t>
            </a:r>
            <a:r>
              <a:rPr lang="en-GB" sz="1800" dirty="0">
                <a:latin typeface="Times New Roman"/>
                <a:cs typeface="Times New Roman"/>
              </a:rPr>
              <a:t>or </a:t>
            </a:r>
            <a:r>
              <a:rPr lang="en-GB" sz="1800" spc="5" dirty="0">
                <a:latin typeface="Times New Roman"/>
                <a:cs typeface="Times New Roman"/>
              </a:rPr>
              <a:t> </a:t>
            </a:r>
            <a:r>
              <a:rPr lang="en-GB" sz="1800" dirty="0">
                <a:latin typeface="Times New Roman"/>
                <a:cs typeface="Times New Roman"/>
              </a:rPr>
              <a:t>attached</a:t>
            </a:r>
            <a:r>
              <a:rPr lang="en-GB" sz="1800" spc="-30" dirty="0">
                <a:latin typeface="Times New Roman"/>
                <a:cs typeface="Times New Roman"/>
              </a:rPr>
              <a:t> </a:t>
            </a:r>
            <a:r>
              <a:rPr lang="en-GB" sz="1800" dirty="0">
                <a:latin typeface="Times New Roman"/>
                <a:cs typeface="Times New Roman"/>
              </a:rPr>
              <a:t>component</a:t>
            </a:r>
            <a:r>
              <a:rPr lang="en-GB" sz="1800" spc="5" dirty="0">
                <a:latin typeface="Times New Roman"/>
                <a:cs typeface="Times New Roman"/>
              </a:rPr>
              <a:t> </a:t>
            </a:r>
            <a:r>
              <a:rPr lang="en-GB" sz="1800" spc="-5" dirty="0">
                <a:latin typeface="Times New Roman"/>
                <a:cs typeface="Times New Roman"/>
              </a:rPr>
              <a:t>is</a:t>
            </a:r>
            <a:r>
              <a:rPr lang="en-GB" sz="1800" spc="-15" dirty="0">
                <a:latin typeface="Times New Roman"/>
                <a:cs typeface="Times New Roman"/>
              </a:rPr>
              <a:t> </a:t>
            </a:r>
            <a:r>
              <a:rPr lang="en-GB" sz="1800" dirty="0">
                <a:latin typeface="Times New Roman"/>
                <a:cs typeface="Times New Roman"/>
              </a:rPr>
              <a:t>based</a:t>
            </a:r>
            <a:r>
              <a:rPr lang="en-GB" sz="1800" spc="-10" dirty="0">
                <a:latin typeface="Times New Roman"/>
                <a:cs typeface="Times New Roman"/>
              </a:rPr>
              <a:t> </a:t>
            </a:r>
            <a:r>
              <a:rPr lang="en-GB" sz="1800" dirty="0">
                <a:latin typeface="Times New Roman"/>
                <a:cs typeface="Times New Roman"/>
              </a:rPr>
              <a:t>on</a:t>
            </a:r>
            <a:r>
              <a:rPr lang="en-GB" sz="1800" spc="5" dirty="0">
                <a:latin typeface="Times New Roman"/>
                <a:cs typeface="Times New Roman"/>
              </a:rPr>
              <a:t> </a:t>
            </a:r>
            <a:r>
              <a:rPr lang="en-GB" sz="1800" dirty="0">
                <a:latin typeface="Times New Roman"/>
                <a:cs typeface="Times New Roman"/>
              </a:rPr>
              <a:t>the</a:t>
            </a:r>
            <a:r>
              <a:rPr lang="en-GB" sz="1800" spc="-5" dirty="0">
                <a:latin typeface="Times New Roman"/>
                <a:cs typeface="Times New Roman"/>
              </a:rPr>
              <a:t> </a:t>
            </a:r>
            <a:r>
              <a:rPr lang="en-GB" sz="1800" dirty="0">
                <a:latin typeface="Times New Roman"/>
                <a:cs typeface="Times New Roman"/>
              </a:rPr>
              <a:t>following</a:t>
            </a:r>
            <a:r>
              <a:rPr lang="en-GB" sz="1800" spc="-10" dirty="0">
                <a:latin typeface="Times New Roman"/>
                <a:cs typeface="Times New Roman"/>
              </a:rPr>
              <a:t> </a:t>
            </a:r>
            <a:r>
              <a:rPr lang="en-GB" sz="1800" dirty="0">
                <a:latin typeface="Times New Roman"/>
                <a:cs typeface="Times New Roman"/>
              </a:rPr>
              <a:t>rules</a:t>
            </a:r>
            <a:r>
              <a:rPr lang="en-GB" sz="1800" spc="-15" dirty="0">
                <a:latin typeface="Times New Roman"/>
                <a:cs typeface="Times New Roman"/>
              </a:rPr>
              <a:t> </a:t>
            </a:r>
            <a:r>
              <a:rPr lang="en-GB" sz="1800" dirty="0">
                <a:latin typeface="Times New Roman"/>
                <a:cs typeface="Times New Roman"/>
              </a:rPr>
              <a:t>which</a:t>
            </a:r>
            <a:r>
              <a:rPr lang="en-GB" sz="1800" spc="-5" dirty="0">
                <a:latin typeface="Times New Roman"/>
                <a:cs typeface="Times New Roman"/>
              </a:rPr>
              <a:t> </a:t>
            </a:r>
            <a:r>
              <a:rPr lang="en-GB" sz="1800" dirty="0">
                <a:latin typeface="Times New Roman"/>
                <a:cs typeface="Times New Roman"/>
              </a:rPr>
              <a:t>are</a:t>
            </a:r>
            <a:r>
              <a:rPr lang="en-GB" sz="1800" spc="-5" dirty="0">
                <a:latin typeface="Times New Roman"/>
                <a:cs typeface="Times New Roman"/>
              </a:rPr>
              <a:t> </a:t>
            </a:r>
            <a:r>
              <a:rPr lang="en-GB" sz="1800" dirty="0">
                <a:latin typeface="Times New Roman"/>
                <a:cs typeface="Times New Roman"/>
              </a:rPr>
              <a:t>applied</a:t>
            </a:r>
            <a:r>
              <a:rPr lang="en-GB" sz="1800" spc="-30" dirty="0">
                <a:latin typeface="Times New Roman"/>
                <a:cs typeface="Times New Roman"/>
              </a:rPr>
              <a:t> </a:t>
            </a:r>
            <a:r>
              <a:rPr lang="en-GB" sz="1800" dirty="0">
                <a:latin typeface="Times New Roman"/>
                <a:cs typeface="Times New Roman"/>
              </a:rPr>
              <a:t>in</a:t>
            </a:r>
            <a:r>
              <a:rPr lang="en-GB" sz="1800" spc="-15" dirty="0">
                <a:latin typeface="Times New Roman"/>
                <a:cs typeface="Times New Roman"/>
              </a:rPr>
              <a:t> </a:t>
            </a:r>
            <a:r>
              <a:rPr lang="en-GB" sz="1800" dirty="0">
                <a:latin typeface="Times New Roman"/>
                <a:cs typeface="Times New Roman"/>
              </a:rPr>
              <a:t>order:</a:t>
            </a:r>
          </a:p>
        </p:txBody>
      </p:sp>
      <p:sp>
        <p:nvSpPr>
          <p:cNvPr id="7" name="TextBox 6">
            <a:extLst>
              <a:ext uri="{FF2B5EF4-FFF2-40B4-BE49-F238E27FC236}">
                <a16:creationId xmlns:a16="http://schemas.microsoft.com/office/drawing/2014/main" id="{0B369175-0423-42C4-AE46-B874B5F87E32}"/>
              </a:ext>
            </a:extLst>
          </p:cNvPr>
          <p:cNvSpPr txBox="1"/>
          <p:nvPr/>
        </p:nvSpPr>
        <p:spPr>
          <a:xfrm>
            <a:off x="397491" y="4280300"/>
            <a:ext cx="6131256" cy="1200329"/>
          </a:xfrm>
          <a:prstGeom prst="rect">
            <a:avLst/>
          </a:prstGeom>
          <a:noFill/>
        </p:spPr>
        <p:txBody>
          <a:bodyPr wrap="square">
            <a:spAutoFit/>
          </a:bodyPr>
          <a:lstStyle/>
          <a:p>
            <a:pPr marL="12700" marR="5080" algn="just">
              <a:lnSpc>
                <a:spcPct val="100000"/>
              </a:lnSpc>
              <a:spcBef>
                <a:spcPts val="100"/>
              </a:spcBef>
            </a:pPr>
            <a:r>
              <a:rPr lang="en-GB" sz="1800" dirty="0">
                <a:solidFill>
                  <a:srgbClr val="C00000"/>
                </a:solidFill>
                <a:latin typeface="Times New Roman"/>
                <a:cs typeface="Times New Roman"/>
              </a:rPr>
              <a:t>Rule</a:t>
            </a:r>
            <a:r>
              <a:rPr lang="en-GB" sz="1800" spc="360" dirty="0">
                <a:solidFill>
                  <a:srgbClr val="C00000"/>
                </a:solidFill>
                <a:latin typeface="Times New Roman"/>
                <a:cs typeface="Times New Roman"/>
              </a:rPr>
              <a:t> </a:t>
            </a:r>
            <a:r>
              <a:rPr lang="en-GB" sz="1800" spc="-5" dirty="0">
                <a:solidFill>
                  <a:srgbClr val="C00000"/>
                </a:solidFill>
                <a:latin typeface="Times New Roman"/>
                <a:cs typeface="Times New Roman"/>
              </a:rPr>
              <a:t>1</a:t>
            </a:r>
            <a:r>
              <a:rPr lang="en-GB" sz="1800" spc="-5" dirty="0">
                <a:latin typeface="Times New Roman"/>
                <a:cs typeface="Times New Roman"/>
              </a:rPr>
              <a:t>:</a:t>
            </a:r>
            <a:r>
              <a:rPr lang="en-GB" sz="1800" spc="350" dirty="0">
                <a:latin typeface="Times New Roman"/>
                <a:cs typeface="Times New Roman"/>
              </a:rPr>
              <a:t> </a:t>
            </a:r>
            <a:r>
              <a:rPr lang="en-GB" sz="1800" spc="-5" dirty="0">
                <a:latin typeface="Times New Roman"/>
                <a:cs typeface="Times New Roman"/>
              </a:rPr>
              <a:t>A</a:t>
            </a:r>
            <a:r>
              <a:rPr lang="en-GB" sz="1800" spc="254" dirty="0">
                <a:latin typeface="Times New Roman"/>
                <a:cs typeface="Times New Roman"/>
              </a:rPr>
              <a:t> </a:t>
            </a:r>
            <a:r>
              <a:rPr lang="en-GB" sz="1800" spc="-5" dirty="0">
                <a:latin typeface="Times New Roman"/>
                <a:cs typeface="Times New Roman"/>
              </a:rPr>
              <a:t>heterocyclic</a:t>
            </a:r>
            <a:r>
              <a:rPr lang="en-GB" sz="1800" spc="370" dirty="0">
                <a:latin typeface="Times New Roman"/>
                <a:cs typeface="Times New Roman"/>
              </a:rPr>
              <a:t> </a:t>
            </a:r>
            <a:r>
              <a:rPr lang="en-GB" sz="1800" spc="-5" dirty="0">
                <a:latin typeface="Times New Roman"/>
                <a:cs typeface="Times New Roman"/>
              </a:rPr>
              <a:t>ring</a:t>
            </a:r>
            <a:r>
              <a:rPr lang="en-GB" sz="1800" spc="345" dirty="0">
                <a:latin typeface="Times New Roman"/>
                <a:cs typeface="Times New Roman"/>
              </a:rPr>
              <a:t> </a:t>
            </a:r>
            <a:r>
              <a:rPr lang="en-GB" sz="1800" dirty="0">
                <a:latin typeface="Times New Roman"/>
                <a:cs typeface="Times New Roman"/>
              </a:rPr>
              <a:t>containing</a:t>
            </a:r>
            <a:r>
              <a:rPr lang="en-GB" sz="1800" spc="350" dirty="0">
                <a:latin typeface="Times New Roman"/>
                <a:cs typeface="Times New Roman"/>
              </a:rPr>
              <a:t> </a:t>
            </a:r>
            <a:r>
              <a:rPr lang="en-GB" sz="1800" spc="-5" dirty="0">
                <a:latin typeface="Times New Roman"/>
                <a:cs typeface="Times New Roman"/>
              </a:rPr>
              <a:t>the</a:t>
            </a:r>
            <a:r>
              <a:rPr lang="en-GB" sz="1800" spc="360" dirty="0">
                <a:latin typeface="Times New Roman"/>
                <a:cs typeface="Times New Roman"/>
              </a:rPr>
              <a:t> </a:t>
            </a:r>
            <a:r>
              <a:rPr lang="en-GB" sz="1800" spc="-5" dirty="0">
                <a:latin typeface="Times New Roman"/>
                <a:cs typeface="Times New Roman"/>
              </a:rPr>
              <a:t>heteroatom</a:t>
            </a:r>
            <a:r>
              <a:rPr lang="en-GB" sz="1800" spc="340" dirty="0">
                <a:latin typeface="Times New Roman"/>
                <a:cs typeface="Times New Roman"/>
              </a:rPr>
              <a:t> </a:t>
            </a:r>
            <a:r>
              <a:rPr lang="en-GB" sz="1800" spc="-5" dirty="0" err="1">
                <a:latin typeface="Times New Roman"/>
                <a:cs typeface="Times New Roman"/>
              </a:rPr>
              <a:t>occuring</a:t>
            </a:r>
            <a:r>
              <a:rPr lang="en-GB" sz="1800" spc="360" dirty="0">
                <a:latin typeface="Times New Roman"/>
                <a:cs typeface="Times New Roman"/>
              </a:rPr>
              <a:t> </a:t>
            </a:r>
            <a:r>
              <a:rPr lang="en-GB" sz="1800" spc="-5" dirty="0" err="1">
                <a:latin typeface="Times New Roman"/>
                <a:cs typeface="Times New Roman"/>
              </a:rPr>
              <a:t>earlist</a:t>
            </a:r>
            <a:r>
              <a:rPr lang="en-GB" sz="1800" spc="345" dirty="0">
                <a:latin typeface="Times New Roman"/>
                <a:cs typeface="Times New Roman"/>
              </a:rPr>
              <a:t> </a:t>
            </a:r>
            <a:r>
              <a:rPr lang="en-GB" sz="1800" dirty="0">
                <a:latin typeface="Times New Roman"/>
                <a:cs typeface="Times New Roman"/>
              </a:rPr>
              <a:t>in</a:t>
            </a:r>
            <a:r>
              <a:rPr lang="en-GB" sz="1800" spc="345" dirty="0">
                <a:latin typeface="Times New Roman"/>
                <a:cs typeface="Times New Roman"/>
              </a:rPr>
              <a:t> </a:t>
            </a:r>
            <a:r>
              <a:rPr lang="en-GB" sz="1800" dirty="0">
                <a:latin typeface="Times New Roman"/>
                <a:cs typeface="Times New Roman"/>
              </a:rPr>
              <a:t>the </a:t>
            </a:r>
            <a:r>
              <a:rPr lang="en-GB" sz="1800" spc="-434" dirty="0">
                <a:latin typeface="Times New Roman"/>
                <a:cs typeface="Times New Roman"/>
              </a:rPr>
              <a:t> </a:t>
            </a:r>
            <a:r>
              <a:rPr lang="en-GB" sz="1800" dirty="0">
                <a:latin typeface="Times New Roman"/>
                <a:cs typeface="Times New Roman"/>
              </a:rPr>
              <a:t>order</a:t>
            </a:r>
            <a:r>
              <a:rPr lang="en-GB" sz="1800" spc="-10" dirty="0">
                <a:latin typeface="Times New Roman"/>
                <a:cs typeface="Times New Roman"/>
              </a:rPr>
              <a:t> </a:t>
            </a:r>
            <a:r>
              <a:rPr lang="en-GB" sz="1800" spc="-5" dirty="0">
                <a:solidFill>
                  <a:srgbClr val="C00000"/>
                </a:solidFill>
                <a:latin typeface="Times New Roman"/>
                <a:cs typeface="Times New Roman"/>
              </a:rPr>
              <a:t>N</a:t>
            </a:r>
            <a:r>
              <a:rPr lang="en-GB" sz="1800" spc="-5" dirty="0">
                <a:latin typeface="Times New Roman"/>
                <a:cs typeface="Times New Roman"/>
              </a:rPr>
              <a:t>, </a:t>
            </a:r>
            <a:r>
              <a:rPr lang="en-GB" sz="1800" spc="-80" dirty="0">
                <a:latin typeface="Times New Roman"/>
                <a:cs typeface="Times New Roman"/>
              </a:rPr>
              <a:t>F,</a:t>
            </a:r>
            <a:r>
              <a:rPr lang="en-GB" sz="1800" spc="10" dirty="0">
                <a:latin typeface="Times New Roman"/>
                <a:cs typeface="Times New Roman"/>
              </a:rPr>
              <a:t> </a:t>
            </a:r>
            <a:r>
              <a:rPr lang="en-GB" sz="1800" dirty="0">
                <a:latin typeface="Times New Roman"/>
                <a:cs typeface="Times New Roman"/>
              </a:rPr>
              <a:t>Cl,</a:t>
            </a:r>
            <a:r>
              <a:rPr lang="en-GB" sz="1800" spc="-10" dirty="0">
                <a:latin typeface="Times New Roman"/>
                <a:cs typeface="Times New Roman"/>
              </a:rPr>
              <a:t> </a:t>
            </a:r>
            <a:r>
              <a:rPr lang="en-GB" sz="1800" spc="-25" dirty="0">
                <a:latin typeface="Times New Roman"/>
                <a:cs typeface="Times New Roman"/>
              </a:rPr>
              <a:t>Br,</a:t>
            </a:r>
            <a:r>
              <a:rPr lang="en-GB" sz="1800" spc="10" dirty="0">
                <a:latin typeface="Times New Roman"/>
                <a:cs typeface="Times New Roman"/>
              </a:rPr>
              <a:t> </a:t>
            </a:r>
            <a:r>
              <a:rPr lang="en-GB" sz="1800" dirty="0">
                <a:latin typeface="Times New Roman"/>
                <a:cs typeface="Times New Roman"/>
              </a:rPr>
              <a:t>I, </a:t>
            </a:r>
            <a:r>
              <a:rPr lang="en-GB" sz="1800" spc="-5" dirty="0">
                <a:solidFill>
                  <a:srgbClr val="C00000"/>
                </a:solidFill>
                <a:latin typeface="Times New Roman"/>
                <a:cs typeface="Times New Roman"/>
              </a:rPr>
              <a:t>O</a:t>
            </a:r>
            <a:r>
              <a:rPr lang="en-GB" sz="1800" spc="-5" dirty="0">
                <a:latin typeface="Times New Roman"/>
                <a:cs typeface="Times New Roman"/>
              </a:rPr>
              <a:t>,</a:t>
            </a:r>
            <a:r>
              <a:rPr lang="en-GB" sz="1800" dirty="0">
                <a:latin typeface="Times New Roman"/>
                <a:cs typeface="Times New Roman"/>
              </a:rPr>
              <a:t> </a:t>
            </a:r>
            <a:r>
              <a:rPr lang="en-GB" sz="1800" spc="-5" dirty="0">
                <a:solidFill>
                  <a:srgbClr val="C00000"/>
                </a:solidFill>
                <a:latin typeface="Times New Roman"/>
                <a:cs typeface="Times New Roman"/>
              </a:rPr>
              <a:t>S</a:t>
            </a:r>
            <a:r>
              <a:rPr lang="en-GB" sz="1800" spc="-5" dirty="0">
                <a:latin typeface="Times New Roman"/>
                <a:cs typeface="Times New Roman"/>
              </a:rPr>
              <a:t>, </a:t>
            </a:r>
            <a:r>
              <a:rPr lang="en-GB" sz="1800" dirty="0">
                <a:latin typeface="Times New Roman"/>
                <a:cs typeface="Times New Roman"/>
              </a:rPr>
              <a:t>Se,.. </a:t>
            </a:r>
            <a:r>
              <a:rPr lang="en-GB" sz="1800" spc="-5" dirty="0">
                <a:latin typeface="Times New Roman"/>
                <a:cs typeface="Times New Roman"/>
              </a:rPr>
              <a:t>(i.e.</a:t>
            </a:r>
            <a:r>
              <a:rPr lang="en-GB" sz="1800" spc="70" dirty="0">
                <a:latin typeface="Times New Roman"/>
                <a:cs typeface="Times New Roman"/>
              </a:rPr>
              <a:t> </a:t>
            </a:r>
            <a:r>
              <a:rPr lang="en-GB" sz="1800" dirty="0">
                <a:latin typeface="Times New Roman"/>
                <a:cs typeface="Times New Roman"/>
              </a:rPr>
              <a:t>ring</a:t>
            </a:r>
            <a:r>
              <a:rPr lang="en-GB" sz="1800" spc="55" dirty="0">
                <a:latin typeface="Times New Roman"/>
                <a:cs typeface="Times New Roman"/>
              </a:rPr>
              <a:t> </a:t>
            </a:r>
            <a:r>
              <a:rPr lang="en-GB" sz="1800" spc="-5" dirty="0">
                <a:latin typeface="Times New Roman"/>
                <a:cs typeface="Times New Roman"/>
              </a:rPr>
              <a:t>containing</a:t>
            </a:r>
            <a:r>
              <a:rPr lang="en-GB" sz="1800" spc="65" dirty="0">
                <a:latin typeface="Times New Roman"/>
                <a:cs typeface="Times New Roman"/>
              </a:rPr>
              <a:t> </a:t>
            </a:r>
            <a:r>
              <a:rPr lang="en-GB" sz="1800" dirty="0">
                <a:latin typeface="Times New Roman"/>
                <a:cs typeface="Times New Roman"/>
              </a:rPr>
              <a:t>N</a:t>
            </a:r>
            <a:r>
              <a:rPr lang="en-GB" sz="1800" spc="60" dirty="0">
                <a:latin typeface="Times New Roman"/>
                <a:cs typeface="Times New Roman"/>
              </a:rPr>
              <a:t> </a:t>
            </a:r>
            <a:r>
              <a:rPr lang="en-GB" sz="1800" dirty="0">
                <a:latin typeface="Times New Roman"/>
                <a:cs typeface="Times New Roman"/>
              </a:rPr>
              <a:t>preferred</a:t>
            </a:r>
            <a:r>
              <a:rPr lang="en-GB" sz="1800" spc="65" dirty="0">
                <a:latin typeface="Times New Roman"/>
                <a:cs typeface="Times New Roman"/>
              </a:rPr>
              <a:t> </a:t>
            </a:r>
            <a:r>
              <a:rPr lang="en-GB" sz="1800" spc="-5" dirty="0">
                <a:latin typeface="Times New Roman"/>
                <a:cs typeface="Times New Roman"/>
              </a:rPr>
              <a:t>to</a:t>
            </a:r>
            <a:r>
              <a:rPr lang="en-GB" sz="1800" spc="65" dirty="0">
                <a:latin typeface="Times New Roman"/>
                <a:cs typeface="Times New Roman"/>
              </a:rPr>
              <a:t> </a:t>
            </a:r>
            <a:r>
              <a:rPr lang="en-GB" sz="1800" dirty="0">
                <a:latin typeface="Times New Roman"/>
                <a:cs typeface="Times New Roman"/>
              </a:rPr>
              <a:t>the</a:t>
            </a:r>
            <a:r>
              <a:rPr lang="en-GB" sz="1800" spc="70" dirty="0">
                <a:latin typeface="Times New Roman"/>
                <a:cs typeface="Times New Roman"/>
              </a:rPr>
              <a:t> </a:t>
            </a:r>
            <a:r>
              <a:rPr lang="en-GB" sz="1800" dirty="0">
                <a:latin typeface="Times New Roman"/>
                <a:cs typeface="Times New Roman"/>
              </a:rPr>
              <a:t>rings</a:t>
            </a:r>
            <a:r>
              <a:rPr lang="en-GB" sz="1800" spc="60" dirty="0">
                <a:latin typeface="Times New Roman"/>
                <a:cs typeface="Times New Roman"/>
              </a:rPr>
              <a:t> </a:t>
            </a:r>
            <a:r>
              <a:rPr lang="en-GB" sz="1800" dirty="0">
                <a:latin typeface="Times New Roman"/>
                <a:cs typeface="Times New Roman"/>
              </a:rPr>
              <a:t>does</a:t>
            </a:r>
            <a:r>
              <a:rPr lang="en-GB" sz="1800" spc="55" dirty="0">
                <a:latin typeface="Times New Roman"/>
                <a:cs typeface="Times New Roman"/>
              </a:rPr>
              <a:t> </a:t>
            </a:r>
            <a:r>
              <a:rPr lang="en-GB" sz="1800" spc="-5" dirty="0">
                <a:latin typeface="Times New Roman"/>
                <a:cs typeface="Times New Roman"/>
              </a:rPr>
              <a:t>not</a:t>
            </a:r>
            <a:r>
              <a:rPr lang="en-GB" sz="1800" spc="65" dirty="0">
                <a:latin typeface="Times New Roman"/>
                <a:cs typeface="Times New Roman"/>
              </a:rPr>
              <a:t> </a:t>
            </a:r>
            <a:r>
              <a:rPr lang="en-GB" sz="1800" dirty="0">
                <a:latin typeface="Times New Roman"/>
                <a:cs typeface="Times New Roman"/>
              </a:rPr>
              <a:t>contain</a:t>
            </a:r>
            <a:r>
              <a:rPr lang="en-GB" sz="1800" spc="60" dirty="0">
                <a:latin typeface="Times New Roman"/>
                <a:cs typeface="Times New Roman"/>
              </a:rPr>
              <a:t> </a:t>
            </a:r>
            <a:r>
              <a:rPr lang="en-GB" sz="1800" dirty="0">
                <a:latin typeface="Times New Roman"/>
                <a:cs typeface="Times New Roman"/>
              </a:rPr>
              <a:t>N</a:t>
            </a:r>
            <a:r>
              <a:rPr lang="en-GB" sz="1800" spc="60" dirty="0">
                <a:latin typeface="Times New Roman"/>
                <a:cs typeface="Times New Roman"/>
              </a:rPr>
              <a:t> </a:t>
            </a:r>
            <a:r>
              <a:rPr lang="en-GB" sz="1800" spc="-5" dirty="0">
                <a:latin typeface="Times New Roman"/>
                <a:cs typeface="Times New Roman"/>
              </a:rPr>
              <a:t>or</a:t>
            </a:r>
            <a:r>
              <a:rPr lang="en-GB" sz="1800" spc="60" dirty="0">
                <a:latin typeface="Times New Roman"/>
                <a:cs typeface="Times New Roman"/>
              </a:rPr>
              <a:t> </a:t>
            </a:r>
            <a:r>
              <a:rPr lang="en-GB" sz="1800" dirty="0">
                <a:latin typeface="Times New Roman"/>
                <a:cs typeface="Times New Roman"/>
              </a:rPr>
              <a:t>containing</a:t>
            </a:r>
            <a:r>
              <a:rPr lang="en-GB" sz="1800" spc="65" dirty="0">
                <a:latin typeface="Times New Roman"/>
                <a:cs typeface="Times New Roman"/>
              </a:rPr>
              <a:t> </a:t>
            </a:r>
            <a:r>
              <a:rPr lang="en-GB" sz="1800" spc="-10" dirty="0">
                <a:latin typeface="Times New Roman"/>
                <a:cs typeface="Times New Roman"/>
              </a:rPr>
              <a:t>O, </a:t>
            </a:r>
            <a:r>
              <a:rPr lang="en-GB" sz="1800" dirty="0">
                <a:latin typeface="Times New Roman"/>
                <a:cs typeface="Times New Roman"/>
              </a:rPr>
              <a:t>or</a:t>
            </a:r>
            <a:r>
              <a:rPr lang="en-GB" sz="1800" spc="-50" dirty="0">
                <a:latin typeface="Times New Roman"/>
                <a:cs typeface="Times New Roman"/>
              </a:rPr>
              <a:t> </a:t>
            </a:r>
            <a:r>
              <a:rPr lang="en-GB" sz="1800" spc="-10" dirty="0">
                <a:latin typeface="Times New Roman"/>
                <a:cs typeface="Times New Roman"/>
              </a:rPr>
              <a:t>S)</a:t>
            </a:r>
            <a:endParaRPr lang="en-GB" sz="1800" dirty="0">
              <a:latin typeface="Times New Roman"/>
              <a:cs typeface="Times New Roman"/>
            </a:endParaRPr>
          </a:p>
        </p:txBody>
      </p:sp>
      <p:pic>
        <p:nvPicPr>
          <p:cNvPr id="9" name="Рисунок 8">
            <a:extLst>
              <a:ext uri="{FF2B5EF4-FFF2-40B4-BE49-F238E27FC236}">
                <a16:creationId xmlns:a16="http://schemas.microsoft.com/office/drawing/2014/main" id="{ACA23450-A4EB-4792-9E73-920C09CD1066}"/>
              </a:ext>
            </a:extLst>
          </p:cNvPr>
          <p:cNvPicPr>
            <a:picLocks noChangeAspect="1"/>
          </p:cNvPicPr>
          <p:nvPr/>
        </p:nvPicPr>
        <p:blipFill>
          <a:blip r:embed="rId2"/>
          <a:stretch>
            <a:fillRect/>
          </a:stretch>
        </p:blipFill>
        <p:spPr>
          <a:xfrm>
            <a:off x="7033969" y="3714704"/>
            <a:ext cx="3430500" cy="3143296"/>
          </a:xfrm>
          <a:prstGeom prst="rect">
            <a:avLst/>
          </a:prstGeom>
        </p:spPr>
      </p:pic>
    </p:spTree>
    <p:extLst>
      <p:ext uri="{BB962C8B-B14F-4D97-AF65-F5344CB8AC3E}">
        <p14:creationId xmlns:p14="http://schemas.microsoft.com/office/powerpoint/2010/main" val="156496123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a:extLst>
              <a:ext uri="{FF2B5EF4-FFF2-40B4-BE49-F238E27FC236}">
                <a16:creationId xmlns:a16="http://schemas.microsoft.com/office/drawing/2014/main" id="{BDD98D12-CB9D-476D-BE54-F7FEB73D6DA5}"/>
              </a:ext>
            </a:extLst>
          </p:cNvPr>
          <p:cNvSpPr>
            <a:spLocks noGrp="1"/>
          </p:cNvSpPr>
          <p:nvPr>
            <p:ph type="sldNum" sz="quarter" idx="12"/>
          </p:nvPr>
        </p:nvSpPr>
        <p:spPr/>
        <p:txBody>
          <a:bodyPr/>
          <a:lstStyle/>
          <a:p>
            <a:fld id="{93C419CB-0CF1-4F10-90F9-42551F8968FF}" type="slidenum">
              <a:rPr lang="en-GB" smtClean="0"/>
              <a:t>30</a:t>
            </a:fld>
            <a:endParaRPr lang="en-GB"/>
          </a:p>
        </p:txBody>
      </p:sp>
      <p:pic>
        <p:nvPicPr>
          <p:cNvPr id="4" name="Рисунок 3">
            <a:extLst>
              <a:ext uri="{FF2B5EF4-FFF2-40B4-BE49-F238E27FC236}">
                <a16:creationId xmlns:a16="http://schemas.microsoft.com/office/drawing/2014/main" id="{7BAE00A1-D064-4C14-8AC0-81FD9F7BADAC}"/>
              </a:ext>
            </a:extLst>
          </p:cNvPr>
          <p:cNvPicPr>
            <a:picLocks noChangeAspect="1"/>
          </p:cNvPicPr>
          <p:nvPr/>
        </p:nvPicPr>
        <p:blipFill>
          <a:blip r:embed="rId3"/>
          <a:stretch>
            <a:fillRect/>
          </a:stretch>
        </p:blipFill>
        <p:spPr>
          <a:xfrm>
            <a:off x="3159457" y="503577"/>
            <a:ext cx="6748818" cy="5165517"/>
          </a:xfrm>
          <a:prstGeom prst="rect">
            <a:avLst/>
          </a:prstGeom>
        </p:spPr>
      </p:pic>
      <p:graphicFrame>
        <p:nvGraphicFramePr>
          <p:cNvPr id="5" name="Object 2">
            <a:extLst>
              <a:ext uri="{FF2B5EF4-FFF2-40B4-BE49-F238E27FC236}">
                <a16:creationId xmlns:a16="http://schemas.microsoft.com/office/drawing/2014/main" id="{60EA6296-4202-4E59-A2DA-FF0123885363}"/>
              </a:ext>
            </a:extLst>
          </p:cNvPr>
          <p:cNvGraphicFramePr>
            <a:graphicFrameLocks noChangeAspect="1"/>
          </p:cNvGraphicFramePr>
          <p:nvPr>
            <p:extLst>
              <p:ext uri="{D42A27DB-BD31-4B8C-83A1-F6EECF244321}">
                <p14:modId xmlns:p14="http://schemas.microsoft.com/office/powerpoint/2010/main" val="3126903529"/>
              </p:ext>
            </p:extLst>
          </p:nvPr>
        </p:nvGraphicFramePr>
        <p:xfrm>
          <a:off x="9017770" y="136523"/>
          <a:ext cx="2813582" cy="1939305"/>
        </p:xfrm>
        <a:graphic>
          <a:graphicData uri="http://schemas.openxmlformats.org/presentationml/2006/ole">
            <mc:AlternateContent xmlns:mc="http://schemas.openxmlformats.org/markup-compatibility/2006">
              <mc:Choice xmlns:v="urn:schemas-microsoft-com:vml" Requires="v">
                <p:oleObj spid="_x0000_s26628" name="CS ChemDraw Drawing" r:id="rId4" imgW="1685260" imgH="1162678" progId="ChemDraw.Document.6.0">
                  <p:embed/>
                </p:oleObj>
              </mc:Choice>
              <mc:Fallback>
                <p:oleObj name="CS ChemDraw Drawing" r:id="rId4" imgW="1685260" imgH="1162678" progId="ChemDraw.Document.6.0">
                  <p:embed/>
                  <p:pic>
                    <p:nvPicPr>
                      <p:cNvPr id="3" name="Object 2">
                        <a:extLst>
                          <a:ext uri="{FF2B5EF4-FFF2-40B4-BE49-F238E27FC236}">
                            <a16:creationId xmlns:a16="http://schemas.microsoft.com/office/drawing/2014/main" id="{56C25563-F335-4E4D-9BF2-8B77E10B6E3C}"/>
                          </a:ext>
                        </a:extLst>
                      </p:cNvPr>
                      <p:cNvPicPr/>
                      <p:nvPr/>
                    </p:nvPicPr>
                    <p:blipFill>
                      <a:blip r:embed="rId5"/>
                      <a:stretch>
                        <a:fillRect/>
                      </a:stretch>
                    </p:blipFill>
                    <p:spPr>
                      <a:xfrm>
                        <a:off x="9017770" y="136523"/>
                        <a:ext cx="2813582" cy="1939305"/>
                      </a:xfrm>
                      <a:prstGeom prst="rect">
                        <a:avLst/>
                      </a:prstGeom>
                    </p:spPr>
                  </p:pic>
                </p:oleObj>
              </mc:Fallback>
            </mc:AlternateContent>
          </a:graphicData>
        </a:graphic>
      </p:graphicFrame>
    </p:spTree>
    <p:extLst>
      <p:ext uri="{BB962C8B-B14F-4D97-AF65-F5344CB8AC3E}">
        <p14:creationId xmlns:p14="http://schemas.microsoft.com/office/powerpoint/2010/main" val="100403272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a:extLst>
              <a:ext uri="{FF2B5EF4-FFF2-40B4-BE49-F238E27FC236}">
                <a16:creationId xmlns:a16="http://schemas.microsoft.com/office/drawing/2014/main" id="{0E2DAF2C-F48E-4200-B189-938F489319C7}"/>
              </a:ext>
            </a:extLst>
          </p:cNvPr>
          <p:cNvSpPr>
            <a:spLocks noGrp="1"/>
          </p:cNvSpPr>
          <p:nvPr>
            <p:ph type="sldNum" sz="quarter" idx="12"/>
          </p:nvPr>
        </p:nvSpPr>
        <p:spPr/>
        <p:txBody>
          <a:bodyPr/>
          <a:lstStyle/>
          <a:p>
            <a:fld id="{93C419CB-0CF1-4F10-90F9-42551F8968FF}" type="slidenum">
              <a:rPr lang="en-GB" smtClean="0"/>
              <a:t>31</a:t>
            </a:fld>
            <a:endParaRPr lang="en-GB"/>
          </a:p>
        </p:txBody>
      </p:sp>
      <p:sp>
        <p:nvSpPr>
          <p:cNvPr id="4" name="TextBox 3">
            <a:extLst>
              <a:ext uri="{FF2B5EF4-FFF2-40B4-BE49-F238E27FC236}">
                <a16:creationId xmlns:a16="http://schemas.microsoft.com/office/drawing/2014/main" id="{3E63FA47-45FA-45E4-89EF-F6DDAD3035B4}"/>
              </a:ext>
            </a:extLst>
          </p:cNvPr>
          <p:cNvSpPr txBox="1"/>
          <p:nvPr/>
        </p:nvSpPr>
        <p:spPr>
          <a:xfrm>
            <a:off x="264426" y="314868"/>
            <a:ext cx="4416756" cy="646331"/>
          </a:xfrm>
          <a:prstGeom prst="rect">
            <a:avLst/>
          </a:prstGeom>
          <a:noFill/>
        </p:spPr>
        <p:txBody>
          <a:bodyPr wrap="square">
            <a:spAutoFit/>
          </a:bodyPr>
          <a:lstStyle/>
          <a:p>
            <a:pPr marL="12700" algn="just">
              <a:lnSpc>
                <a:spcPct val="100000"/>
              </a:lnSpc>
              <a:spcBef>
                <a:spcPts val="100"/>
              </a:spcBef>
            </a:pPr>
            <a:r>
              <a:rPr lang="en-GB" sz="1800" dirty="0">
                <a:solidFill>
                  <a:srgbClr val="C00000"/>
                </a:solidFill>
                <a:latin typeface="Times New Roman"/>
                <a:cs typeface="Times New Roman"/>
              </a:rPr>
              <a:t>Rule</a:t>
            </a:r>
            <a:r>
              <a:rPr lang="en-GB" sz="1800" spc="-5" dirty="0">
                <a:solidFill>
                  <a:srgbClr val="C00000"/>
                </a:solidFill>
                <a:latin typeface="Times New Roman"/>
                <a:cs typeface="Times New Roman"/>
              </a:rPr>
              <a:t> </a:t>
            </a:r>
            <a:r>
              <a:rPr lang="en-GB" sz="1800" dirty="0">
                <a:solidFill>
                  <a:srgbClr val="C00000"/>
                </a:solidFill>
                <a:latin typeface="Times New Roman"/>
                <a:cs typeface="Times New Roman"/>
              </a:rPr>
              <a:t>2</a:t>
            </a:r>
            <a:r>
              <a:rPr lang="en-GB" sz="1800" dirty="0">
                <a:latin typeface="Times New Roman"/>
                <a:cs typeface="Times New Roman"/>
              </a:rPr>
              <a:t>:</a:t>
            </a:r>
            <a:r>
              <a:rPr lang="en-GB" sz="1800" spc="-5" dirty="0">
                <a:latin typeface="Times New Roman"/>
                <a:cs typeface="Times New Roman"/>
              </a:rPr>
              <a:t> A</a:t>
            </a:r>
            <a:r>
              <a:rPr lang="en-GB" sz="1800" dirty="0">
                <a:latin typeface="Times New Roman"/>
                <a:cs typeface="Times New Roman"/>
              </a:rPr>
              <a:t> heterocyclic</a:t>
            </a:r>
            <a:r>
              <a:rPr lang="en-GB" sz="1800" spc="-30" dirty="0">
                <a:latin typeface="Times New Roman"/>
                <a:cs typeface="Times New Roman"/>
              </a:rPr>
              <a:t> </a:t>
            </a:r>
            <a:r>
              <a:rPr lang="en-GB" sz="1800" dirty="0">
                <a:latin typeface="Times New Roman"/>
                <a:cs typeface="Times New Roman"/>
              </a:rPr>
              <a:t>component</a:t>
            </a:r>
            <a:r>
              <a:rPr lang="en-GB" sz="1800" spc="-5" dirty="0">
                <a:latin typeface="Times New Roman"/>
                <a:cs typeface="Times New Roman"/>
              </a:rPr>
              <a:t> </a:t>
            </a:r>
            <a:r>
              <a:rPr lang="en-GB" sz="1800" dirty="0">
                <a:latin typeface="Times New Roman"/>
                <a:cs typeface="Times New Roman"/>
              </a:rPr>
              <a:t>containing</a:t>
            </a:r>
            <a:r>
              <a:rPr lang="en-GB" sz="1800" spc="-30" dirty="0">
                <a:latin typeface="Times New Roman"/>
                <a:cs typeface="Times New Roman"/>
              </a:rPr>
              <a:t> </a:t>
            </a:r>
            <a:r>
              <a:rPr lang="en-GB" sz="1800" dirty="0">
                <a:latin typeface="Times New Roman"/>
                <a:cs typeface="Times New Roman"/>
              </a:rPr>
              <a:t>the largest</a:t>
            </a:r>
            <a:r>
              <a:rPr lang="en-GB" sz="1800" spc="-15" dirty="0">
                <a:latin typeface="Times New Roman"/>
                <a:cs typeface="Times New Roman"/>
              </a:rPr>
              <a:t> </a:t>
            </a:r>
            <a:r>
              <a:rPr lang="en-GB" sz="1800" spc="-5" dirty="0">
                <a:latin typeface="Times New Roman"/>
                <a:cs typeface="Times New Roman"/>
              </a:rPr>
              <a:t>possible</a:t>
            </a:r>
            <a:r>
              <a:rPr lang="en-GB" sz="1800" dirty="0">
                <a:latin typeface="Times New Roman"/>
                <a:cs typeface="Times New Roman"/>
              </a:rPr>
              <a:t> individual</a:t>
            </a:r>
            <a:r>
              <a:rPr lang="en-GB" sz="1800" spc="-10" dirty="0">
                <a:latin typeface="Times New Roman"/>
                <a:cs typeface="Times New Roman"/>
              </a:rPr>
              <a:t> </a:t>
            </a:r>
            <a:r>
              <a:rPr lang="en-GB" sz="1800" dirty="0">
                <a:latin typeface="Times New Roman"/>
                <a:cs typeface="Times New Roman"/>
              </a:rPr>
              <a:t>ring</a:t>
            </a:r>
          </a:p>
        </p:txBody>
      </p:sp>
      <p:pic>
        <p:nvPicPr>
          <p:cNvPr id="6" name="Рисунок 5">
            <a:extLst>
              <a:ext uri="{FF2B5EF4-FFF2-40B4-BE49-F238E27FC236}">
                <a16:creationId xmlns:a16="http://schemas.microsoft.com/office/drawing/2014/main" id="{95EE8B10-5ED1-40C0-A7FC-5D176635C21F}"/>
              </a:ext>
            </a:extLst>
          </p:cNvPr>
          <p:cNvPicPr>
            <a:picLocks noChangeAspect="1"/>
          </p:cNvPicPr>
          <p:nvPr/>
        </p:nvPicPr>
        <p:blipFill>
          <a:blip r:embed="rId2"/>
          <a:stretch>
            <a:fillRect/>
          </a:stretch>
        </p:blipFill>
        <p:spPr>
          <a:xfrm>
            <a:off x="264426" y="1594791"/>
            <a:ext cx="5121618" cy="2884590"/>
          </a:xfrm>
          <a:prstGeom prst="rect">
            <a:avLst/>
          </a:prstGeom>
        </p:spPr>
      </p:pic>
      <p:cxnSp>
        <p:nvCxnSpPr>
          <p:cNvPr id="7" name="Прямая соединительная линия 6">
            <a:extLst>
              <a:ext uri="{FF2B5EF4-FFF2-40B4-BE49-F238E27FC236}">
                <a16:creationId xmlns:a16="http://schemas.microsoft.com/office/drawing/2014/main" id="{1B8ADB2C-0B89-46FC-AB28-900AF72A93AD}"/>
              </a:ext>
            </a:extLst>
          </p:cNvPr>
          <p:cNvCxnSpPr>
            <a:cxnSpLocks/>
          </p:cNvCxnSpPr>
          <p:nvPr/>
        </p:nvCxnSpPr>
        <p:spPr>
          <a:xfrm>
            <a:off x="5434480" y="223522"/>
            <a:ext cx="0" cy="4905955"/>
          </a:xfrm>
          <a:prstGeom prst="line">
            <a:avLst/>
          </a:prstGeom>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8299B501-355C-48E6-A606-AB2042CD9FFB}"/>
              </a:ext>
            </a:extLst>
          </p:cNvPr>
          <p:cNvSpPr txBox="1"/>
          <p:nvPr/>
        </p:nvSpPr>
        <p:spPr>
          <a:xfrm>
            <a:off x="5434480" y="314868"/>
            <a:ext cx="6097136" cy="646331"/>
          </a:xfrm>
          <a:prstGeom prst="rect">
            <a:avLst/>
          </a:prstGeom>
          <a:noFill/>
        </p:spPr>
        <p:txBody>
          <a:bodyPr wrap="square">
            <a:spAutoFit/>
          </a:bodyPr>
          <a:lstStyle/>
          <a:p>
            <a:pPr marL="546100" marR="5080" indent="-533400">
              <a:lnSpc>
                <a:spcPct val="100000"/>
              </a:lnSpc>
              <a:spcBef>
                <a:spcPts val="100"/>
              </a:spcBef>
            </a:pPr>
            <a:r>
              <a:rPr lang="en-GB" sz="1800" dirty="0">
                <a:solidFill>
                  <a:srgbClr val="C00000"/>
                </a:solidFill>
                <a:latin typeface="Times New Roman"/>
                <a:cs typeface="Times New Roman"/>
              </a:rPr>
              <a:t>Rule</a:t>
            </a:r>
            <a:r>
              <a:rPr lang="en-GB" sz="1800" spc="75" dirty="0">
                <a:solidFill>
                  <a:srgbClr val="C00000"/>
                </a:solidFill>
                <a:latin typeface="Times New Roman"/>
                <a:cs typeface="Times New Roman"/>
              </a:rPr>
              <a:t> </a:t>
            </a:r>
            <a:r>
              <a:rPr lang="en-GB" sz="1800" spc="-10" dirty="0">
                <a:solidFill>
                  <a:srgbClr val="C00000"/>
                </a:solidFill>
                <a:latin typeface="Times New Roman"/>
                <a:cs typeface="Times New Roman"/>
              </a:rPr>
              <a:t>3</a:t>
            </a:r>
            <a:r>
              <a:rPr lang="en-GB" sz="1800" spc="-10" dirty="0">
                <a:latin typeface="Times New Roman"/>
                <a:cs typeface="Times New Roman"/>
              </a:rPr>
              <a:t>:</a:t>
            </a:r>
            <a:r>
              <a:rPr lang="en-GB" sz="1800" spc="70" dirty="0">
                <a:latin typeface="Times New Roman"/>
                <a:cs typeface="Times New Roman"/>
              </a:rPr>
              <a:t> </a:t>
            </a:r>
            <a:r>
              <a:rPr lang="en-GB" sz="1800" spc="-5" dirty="0">
                <a:latin typeface="Times New Roman"/>
                <a:cs typeface="Times New Roman"/>
              </a:rPr>
              <a:t>A</a:t>
            </a:r>
            <a:r>
              <a:rPr lang="en-GB" sz="1800" spc="55" dirty="0">
                <a:latin typeface="Times New Roman"/>
                <a:cs typeface="Times New Roman"/>
              </a:rPr>
              <a:t> </a:t>
            </a:r>
            <a:r>
              <a:rPr lang="en-GB" sz="1800" spc="-5" dirty="0">
                <a:latin typeface="Times New Roman"/>
                <a:cs typeface="Times New Roman"/>
              </a:rPr>
              <a:t>heterocyclic</a:t>
            </a:r>
            <a:r>
              <a:rPr lang="en-GB" sz="1800" spc="65" dirty="0">
                <a:latin typeface="Times New Roman"/>
                <a:cs typeface="Times New Roman"/>
              </a:rPr>
              <a:t> </a:t>
            </a:r>
            <a:r>
              <a:rPr lang="en-GB" sz="1800" dirty="0">
                <a:latin typeface="Times New Roman"/>
                <a:cs typeface="Times New Roman"/>
              </a:rPr>
              <a:t>component</a:t>
            </a:r>
            <a:r>
              <a:rPr lang="en-GB" sz="1800" spc="80" dirty="0">
                <a:latin typeface="Times New Roman"/>
                <a:cs typeface="Times New Roman"/>
              </a:rPr>
              <a:t> </a:t>
            </a:r>
            <a:r>
              <a:rPr lang="en-GB" sz="1800" spc="-5" dirty="0">
                <a:latin typeface="Times New Roman"/>
                <a:cs typeface="Times New Roman"/>
              </a:rPr>
              <a:t>containing</a:t>
            </a:r>
            <a:r>
              <a:rPr lang="en-GB" sz="1800" spc="60" dirty="0">
                <a:latin typeface="Times New Roman"/>
                <a:cs typeface="Times New Roman"/>
              </a:rPr>
              <a:t> </a:t>
            </a:r>
            <a:r>
              <a:rPr lang="en-GB" sz="1800" dirty="0">
                <a:latin typeface="Times New Roman"/>
                <a:cs typeface="Times New Roman"/>
              </a:rPr>
              <a:t>the</a:t>
            </a:r>
            <a:r>
              <a:rPr lang="en-GB" sz="1800" spc="65" dirty="0">
                <a:latin typeface="Times New Roman"/>
                <a:cs typeface="Times New Roman"/>
              </a:rPr>
              <a:t> </a:t>
            </a:r>
            <a:r>
              <a:rPr lang="en-GB" sz="1800" spc="-5" dirty="0">
                <a:latin typeface="Times New Roman"/>
                <a:cs typeface="Times New Roman"/>
              </a:rPr>
              <a:t>greater</a:t>
            </a:r>
            <a:r>
              <a:rPr lang="en-GB" sz="1800" spc="60" dirty="0">
                <a:latin typeface="Times New Roman"/>
                <a:cs typeface="Times New Roman"/>
              </a:rPr>
              <a:t> </a:t>
            </a:r>
            <a:r>
              <a:rPr lang="en-GB" sz="1800" spc="-5" dirty="0">
                <a:latin typeface="Times New Roman"/>
                <a:cs typeface="Times New Roman"/>
              </a:rPr>
              <a:t>number</a:t>
            </a:r>
            <a:r>
              <a:rPr lang="en-GB" sz="1800" spc="65" dirty="0">
                <a:latin typeface="Times New Roman"/>
                <a:cs typeface="Times New Roman"/>
              </a:rPr>
              <a:t> </a:t>
            </a:r>
            <a:r>
              <a:rPr lang="en-GB" sz="1800" dirty="0">
                <a:latin typeface="Times New Roman"/>
                <a:cs typeface="Times New Roman"/>
              </a:rPr>
              <a:t>of</a:t>
            </a:r>
            <a:r>
              <a:rPr lang="en-GB" sz="1800" spc="75" dirty="0">
                <a:latin typeface="Times New Roman"/>
                <a:cs typeface="Times New Roman"/>
              </a:rPr>
              <a:t> </a:t>
            </a:r>
            <a:r>
              <a:rPr lang="en-GB" sz="1800" spc="-5" dirty="0" err="1">
                <a:latin typeface="Times New Roman"/>
                <a:cs typeface="Times New Roman"/>
              </a:rPr>
              <a:t>hetroatoms</a:t>
            </a:r>
            <a:r>
              <a:rPr lang="en-GB" sz="1800" spc="70" dirty="0">
                <a:latin typeface="Times New Roman"/>
                <a:cs typeface="Times New Roman"/>
              </a:rPr>
              <a:t> </a:t>
            </a:r>
            <a:r>
              <a:rPr lang="en-GB" sz="1800" dirty="0">
                <a:latin typeface="Times New Roman"/>
                <a:cs typeface="Times New Roman"/>
              </a:rPr>
              <a:t>of</a:t>
            </a:r>
            <a:r>
              <a:rPr lang="en-GB" sz="1800" spc="55" dirty="0">
                <a:latin typeface="Times New Roman"/>
                <a:cs typeface="Times New Roman"/>
              </a:rPr>
              <a:t> </a:t>
            </a:r>
            <a:r>
              <a:rPr lang="en-GB" sz="1800" spc="-5" dirty="0">
                <a:latin typeface="Times New Roman"/>
                <a:cs typeface="Times New Roman"/>
              </a:rPr>
              <a:t>any </a:t>
            </a:r>
            <a:r>
              <a:rPr lang="en-GB" sz="1800" spc="-434" dirty="0">
                <a:latin typeface="Times New Roman"/>
                <a:cs typeface="Times New Roman"/>
              </a:rPr>
              <a:t> </a:t>
            </a:r>
            <a:r>
              <a:rPr lang="en-GB" sz="1800" dirty="0">
                <a:latin typeface="Times New Roman"/>
                <a:cs typeface="Times New Roman"/>
              </a:rPr>
              <a:t>kind</a:t>
            </a:r>
          </a:p>
        </p:txBody>
      </p:sp>
      <p:pic>
        <p:nvPicPr>
          <p:cNvPr id="11" name="Рисунок 10">
            <a:extLst>
              <a:ext uri="{FF2B5EF4-FFF2-40B4-BE49-F238E27FC236}">
                <a16:creationId xmlns:a16="http://schemas.microsoft.com/office/drawing/2014/main" id="{C5FFD6E0-750E-4C23-BC68-46B6C870F260}"/>
              </a:ext>
            </a:extLst>
          </p:cNvPr>
          <p:cNvPicPr>
            <a:picLocks noChangeAspect="1"/>
          </p:cNvPicPr>
          <p:nvPr/>
        </p:nvPicPr>
        <p:blipFill>
          <a:blip r:embed="rId3"/>
          <a:stretch>
            <a:fillRect/>
          </a:stretch>
        </p:blipFill>
        <p:spPr>
          <a:xfrm>
            <a:off x="6757521" y="1246388"/>
            <a:ext cx="3208626" cy="2540841"/>
          </a:xfrm>
          <a:prstGeom prst="rect">
            <a:avLst/>
          </a:prstGeom>
        </p:spPr>
      </p:pic>
      <p:sp>
        <p:nvSpPr>
          <p:cNvPr id="14" name="object 3">
            <a:extLst>
              <a:ext uri="{FF2B5EF4-FFF2-40B4-BE49-F238E27FC236}">
                <a16:creationId xmlns:a16="http://schemas.microsoft.com/office/drawing/2014/main" id="{DF27A15D-8BAB-4EC6-BEBD-7C0DB0D2439B}"/>
              </a:ext>
            </a:extLst>
          </p:cNvPr>
          <p:cNvSpPr txBox="1"/>
          <p:nvPr/>
        </p:nvSpPr>
        <p:spPr>
          <a:xfrm>
            <a:off x="5581935" y="4063205"/>
            <a:ext cx="5771866" cy="1076577"/>
          </a:xfrm>
          <a:prstGeom prst="rect">
            <a:avLst/>
          </a:prstGeom>
        </p:spPr>
        <p:txBody>
          <a:bodyPr vert="horz" wrap="square" lIns="0" tIns="12700" rIns="0" bIns="0" rtlCol="0">
            <a:spAutoFit/>
          </a:bodyPr>
          <a:lstStyle/>
          <a:p>
            <a:pPr marL="12700" marR="5080" algn="just">
              <a:lnSpc>
                <a:spcPct val="150000"/>
              </a:lnSpc>
              <a:spcBef>
                <a:spcPts val="100"/>
              </a:spcBef>
            </a:pPr>
            <a:r>
              <a:rPr sz="1600" spc="-5" dirty="0">
                <a:solidFill>
                  <a:srgbClr val="C00000"/>
                </a:solidFill>
                <a:latin typeface="Times New Roman"/>
                <a:cs typeface="Times New Roman"/>
              </a:rPr>
              <a:t>N.B. </a:t>
            </a:r>
            <a:r>
              <a:rPr sz="1600" spc="-5" dirty="0">
                <a:latin typeface="Times New Roman"/>
                <a:cs typeface="Times New Roman"/>
              </a:rPr>
              <a:t>The </a:t>
            </a:r>
            <a:r>
              <a:rPr sz="1600" dirty="0">
                <a:latin typeface="Times New Roman"/>
                <a:cs typeface="Times New Roman"/>
              </a:rPr>
              <a:t>whole molecule is </a:t>
            </a:r>
            <a:r>
              <a:rPr sz="1600" spc="-5" dirty="0">
                <a:latin typeface="Times New Roman"/>
                <a:cs typeface="Times New Roman"/>
              </a:rPr>
              <a:t>numbered </a:t>
            </a:r>
            <a:r>
              <a:rPr sz="1600" dirty="0">
                <a:latin typeface="Times New Roman"/>
                <a:cs typeface="Times New Roman"/>
              </a:rPr>
              <a:t>starting from </a:t>
            </a:r>
            <a:r>
              <a:rPr sz="1600" spc="-5" dirty="0">
                <a:latin typeface="Times New Roman"/>
                <a:cs typeface="Times New Roman"/>
              </a:rPr>
              <a:t>pyridine ring </a:t>
            </a:r>
            <a:r>
              <a:rPr sz="1600" dirty="0">
                <a:latin typeface="Times New Roman"/>
                <a:cs typeface="Times New Roman"/>
              </a:rPr>
              <a:t>to </a:t>
            </a:r>
            <a:r>
              <a:rPr sz="1600" spc="-5" dirty="0">
                <a:latin typeface="Times New Roman"/>
                <a:cs typeface="Times New Roman"/>
              </a:rPr>
              <a:t>give the three </a:t>
            </a:r>
            <a:r>
              <a:rPr sz="1600" dirty="0">
                <a:latin typeface="Times New Roman"/>
                <a:cs typeface="Times New Roman"/>
              </a:rPr>
              <a:t> </a:t>
            </a:r>
            <a:r>
              <a:rPr sz="1600" spc="-5" dirty="0">
                <a:latin typeface="Times New Roman"/>
                <a:cs typeface="Times New Roman"/>
              </a:rPr>
              <a:t>heteratoms </a:t>
            </a:r>
            <a:r>
              <a:rPr sz="1600" dirty="0">
                <a:latin typeface="Times New Roman"/>
                <a:cs typeface="Times New Roman"/>
              </a:rPr>
              <a:t>the </a:t>
            </a:r>
            <a:r>
              <a:rPr sz="1600" spc="-5" dirty="0">
                <a:latin typeface="Times New Roman"/>
                <a:cs typeface="Times New Roman"/>
              </a:rPr>
              <a:t>lowest locants (1,6,7), </a:t>
            </a:r>
            <a:r>
              <a:rPr sz="1600" spc="-15" dirty="0">
                <a:latin typeface="Times New Roman"/>
                <a:cs typeface="Times New Roman"/>
              </a:rPr>
              <a:t>however, </a:t>
            </a:r>
            <a:r>
              <a:rPr sz="1600" dirty="0">
                <a:latin typeface="Times New Roman"/>
                <a:cs typeface="Times New Roman"/>
              </a:rPr>
              <a:t>stating from </a:t>
            </a:r>
            <a:r>
              <a:rPr sz="1600" spc="-5" dirty="0">
                <a:latin typeface="Times New Roman"/>
                <a:cs typeface="Times New Roman"/>
              </a:rPr>
              <a:t>oxazine ring will </a:t>
            </a:r>
            <a:r>
              <a:rPr sz="1600" spc="-10" dirty="0">
                <a:latin typeface="Times New Roman"/>
                <a:cs typeface="Times New Roman"/>
              </a:rPr>
              <a:t>give </a:t>
            </a:r>
            <a:r>
              <a:rPr sz="1600" spc="-5" dirty="0">
                <a:latin typeface="Times New Roman"/>
                <a:cs typeface="Times New Roman"/>
              </a:rPr>
              <a:t> </a:t>
            </a:r>
            <a:r>
              <a:rPr sz="1600" dirty="0">
                <a:latin typeface="Times New Roman"/>
                <a:cs typeface="Times New Roman"/>
              </a:rPr>
              <a:t>them</a:t>
            </a:r>
            <a:r>
              <a:rPr sz="1600" spc="-20" dirty="0">
                <a:latin typeface="Times New Roman"/>
                <a:cs typeface="Times New Roman"/>
              </a:rPr>
              <a:t> </a:t>
            </a:r>
            <a:r>
              <a:rPr sz="1600" dirty="0">
                <a:latin typeface="Times New Roman"/>
                <a:cs typeface="Times New Roman"/>
              </a:rPr>
              <a:t>locants</a:t>
            </a:r>
            <a:r>
              <a:rPr sz="1600" spc="-10" dirty="0">
                <a:latin typeface="Times New Roman"/>
                <a:cs typeface="Times New Roman"/>
              </a:rPr>
              <a:t> </a:t>
            </a:r>
            <a:r>
              <a:rPr sz="1600" dirty="0">
                <a:latin typeface="Times New Roman"/>
                <a:cs typeface="Times New Roman"/>
              </a:rPr>
              <a:t>(2,3,5)</a:t>
            </a:r>
            <a:r>
              <a:rPr sz="1600" spc="-10" dirty="0">
                <a:latin typeface="Times New Roman"/>
                <a:cs typeface="Times New Roman"/>
              </a:rPr>
              <a:t> </a:t>
            </a:r>
            <a:r>
              <a:rPr sz="1600" dirty="0">
                <a:latin typeface="Times New Roman"/>
                <a:cs typeface="Times New Roman"/>
              </a:rPr>
              <a:t>or</a:t>
            </a:r>
            <a:r>
              <a:rPr sz="1600" spc="-10" dirty="0">
                <a:latin typeface="Times New Roman"/>
                <a:cs typeface="Times New Roman"/>
              </a:rPr>
              <a:t> </a:t>
            </a:r>
            <a:r>
              <a:rPr sz="1600" dirty="0">
                <a:latin typeface="Times New Roman"/>
                <a:cs typeface="Times New Roman"/>
              </a:rPr>
              <a:t>(2,3,8).</a:t>
            </a:r>
          </a:p>
        </p:txBody>
      </p:sp>
    </p:spTree>
    <p:extLst>
      <p:ext uri="{BB962C8B-B14F-4D97-AF65-F5344CB8AC3E}">
        <p14:creationId xmlns:p14="http://schemas.microsoft.com/office/powerpoint/2010/main" val="342941185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a:extLst>
              <a:ext uri="{FF2B5EF4-FFF2-40B4-BE49-F238E27FC236}">
                <a16:creationId xmlns:a16="http://schemas.microsoft.com/office/drawing/2014/main" id="{E6C923C1-F12D-4E33-B4B7-6850822B3F58}"/>
              </a:ext>
            </a:extLst>
          </p:cNvPr>
          <p:cNvSpPr>
            <a:spLocks noGrp="1"/>
          </p:cNvSpPr>
          <p:nvPr>
            <p:ph type="sldNum" sz="quarter" idx="12"/>
          </p:nvPr>
        </p:nvSpPr>
        <p:spPr/>
        <p:txBody>
          <a:bodyPr/>
          <a:lstStyle/>
          <a:p>
            <a:fld id="{93C419CB-0CF1-4F10-90F9-42551F8968FF}" type="slidenum">
              <a:rPr lang="en-GB" smtClean="0"/>
              <a:t>32</a:t>
            </a:fld>
            <a:endParaRPr lang="en-GB"/>
          </a:p>
        </p:txBody>
      </p:sp>
      <p:sp>
        <p:nvSpPr>
          <p:cNvPr id="4" name="TextBox 3">
            <a:extLst>
              <a:ext uri="{FF2B5EF4-FFF2-40B4-BE49-F238E27FC236}">
                <a16:creationId xmlns:a16="http://schemas.microsoft.com/office/drawing/2014/main" id="{FD736E13-79B5-47DB-B1C9-377CA52EF5B8}"/>
              </a:ext>
            </a:extLst>
          </p:cNvPr>
          <p:cNvSpPr txBox="1"/>
          <p:nvPr/>
        </p:nvSpPr>
        <p:spPr>
          <a:xfrm>
            <a:off x="257602" y="505936"/>
            <a:ext cx="5672349" cy="646331"/>
          </a:xfrm>
          <a:prstGeom prst="rect">
            <a:avLst/>
          </a:prstGeom>
          <a:noFill/>
        </p:spPr>
        <p:txBody>
          <a:bodyPr wrap="square">
            <a:spAutoFit/>
          </a:bodyPr>
          <a:lstStyle/>
          <a:p>
            <a:pPr marL="12700" algn="just">
              <a:lnSpc>
                <a:spcPct val="100000"/>
              </a:lnSpc>
              <a:spcBef>
                <a:spcPts val="100"/>
              </a:spcBef>
            </a:pPr>
            <a:r>
              <a:rPr lang="en-GB" sz="1800" dirty="0">
                <a:solidFill>
                  <a:srgbClr val="C00000"/>
                </a:solidFill>
                <a:latin typeface="Times New Roman"/>
                <a:cs typeface="Times New Roman"/>
              </a:rPr>
              <a:t>Rule 4</a:t>
            </a:r>
            <a:r>
              <a:rPr lang="en-GB" sz="1800" dirty="0">
                <a:solidFill>
                  <a:srgbClr val="006600"/>
                </a:solidFill>
                <a:latin typeface="Times New Roman"/>
                <a:cs typeface="Times New Roman"/>
              </a:rPr>
              <a:t>:</a:t>
            </a:r>
            <a:r>
              <a:rPr lang="en-GB" sz="1800" spc="-100" dirty="0">
                <a:solidFill>
                  <a:srgbClr val="006600"/>
                </a:solidFill>
                <a:latin typeface="Times New Roman"/>
                <a:cs typeface="Times New Roman"/>
              </a:rPr>
              <a:t> </a:t>
            </a:r>
            <a:r>
              <a:rPr lang="en-GB" sz="1800" spc="-5" dirty="0">
                <a:latin typeface="Times New Roman"/>
                <a:cs typeface="Times New Roman"/>
              </a:rPr>
              <a:t>A</a:t>
            </a:r>
            <a:r>
              <a:rPr lang="en-GB" sz="1800" spc="-105" dirty="0">
                <a:latin typeface="Times New Roman"/>
                <a:cs typeface="Times New Roman"/>
              </a:rPr>
              <a:t> </a:t>
            </a:r>
            <a:r>
              <a:rPr lang="en-GB" sz="1800" dirty="0">
                <a:latin typeface="Times New Roman"/>
                <a:cs typeface="Times New Roman"/>
              </a:rPr>
              <a:t>heterocyclic</a:t>
            </a:r>
            <a:r>
              <a:rPr lang="en-GB" sz="1800" spc="-40" dirty="0">
                <a:latin typeface="Times New Roman"/>
                <a:cs typeface="Times New Roman"/>
              </a:rPr>
              <a:t> </a:t>
            </a:r>
            <a:r>
              <a:rPr lang="en-GB" sz="1800" dirty="0">
                <a:latin typeface="Times New Roman"/>
                <a:cs typeface="Times New Roman"/>
              </a:rPr>
              <a:t>component containing</a:t>
            </a:r>
            <a:r>
              <a:rPr lang="en-GB" sz="1800" spc="-10" dirty="0">
                <a:latin typeface="Times New Roman"/>
                <a:cs typeface="Times New Roman"/>
              </a:rPr>
              <a:t> </a:t>
            </a:r>
            <a:r>
              <a:rPr lang="en-GB" sz="1800" dirty="0">
                <a:latin typeface="Times New Roman"/>
                <a:cs typeface="Times New Roman"/>
              </a:rPr>
              <a:t>the greater</a:t>
            </a:r>
            <a:r>
              <a:rPr lang="en-GB" sz="1800" spc="-15" dirty="0">
                <a:latin typeface="Times New Roman"/>
                <a:cs typeface="Times New Roman"/>
              </a:rPr>
              <a:t> </a:t>
            </a:r>
            <a:r>
              <a:rPr lang="en-GB" sz="1800" dirty="0">
                <a:latin typeface="Times New Roman"/>
                <a:cs typeface="Times New Roman"/>
              </a:rPr>
              <a:t>variety</a:t>
            </a:r>
            <a:r>
              <a:rPr lang="en-GB" sz="1800" spc="-20" dirty="0">
                <a:latin typeface="Times New Roman"/>
                <a:cs typeface="Times New Roman"/>
              </a:rPr>
              <a:t> </a:t>
            </a:r>
            <a:r>
              <a:rPr lang="en-GB" sz="1800" dirty="0">
                <a:latin typeface="Times New Roman"/>
                <a:cs typeface="Times New Roman"/>
              </a:rPr>
              <a:t>of</a:t>
            </a:r>
            <a:r>
              <a:rPr lang="en-GB" sz="1800" spc="10" dirty="0">
                <a:latin typeface="Times New Roman"/>
                <a:cs typeface="Times New Roman"/>
              </a:rPr>
              <a:t> </a:t>
            </a:r>
            <a:r>
              <a:rPr lang="en-GB" sz="1800" dirty="0" err="1">
                <a:latin typeface="Times New Roman"/>
                <a:cs typeface="Times New Roman"/>
              </a:rPr>
              <a:t>hetroatoms</a:t>
            </a:r>
            <a:endParaRPr lang="en-GB" sz="1800" dirty="0">
              <a:latin typeface="Times New Roman"/>
              <a:cs typeface="Times New Roman"/>
            </a:endParaRPr>
          </a:p>
        </p:txBody>
      </p:sp>
      <p:sp>
        <p:nvSpPr>
          <p:cNvPr id="6" name="TextBox 5">
            <a:extLst>
              <a:ext uri="{FF2B5EF4-FFF2-40B4-BE49-F238E27FC236}">
                <a16:creationId xmlns:a16="http://schemas.microsoft.com/office/drawing/2014/main" id="{F755BDA8-A0BE-4722-B650-1033591A68E2}"/>
              </a:ext>
            </a:extLst>
          </p:cNvPr>
          <p:cNvSpPr txBox="1"/>
          <p:nvPr/>
        </p:nvSpPr>
        <p:spPr>
          <a:xfrm>
            <a:off x="257602" y="3511588"/>
            <a:ext cx="5590463" cy="1704569"/>
          </a:xfrm>
          <a:prstGeom prst="rect">
            <a:avLst/>
          </a:prstGeom>
          <a:noFill/>
        </p:spPr>
        <p:txBody>
          <a:bodyPr wrap="square">
            <a:spAutoFit/>
          </a:bodyPr>
          <a:lstStyle/>
          <a:p>
            <a:pPr marL="12700" marR="5080" algn="just">
              <a:lnSpc>
                <a:spcPct val="150000"/>
              </a:lnSpc>
              <a:spcBef>
                <a:spcPts val="100"/>
              </a:spcBef>
            </a:pPr>
            <a:r>
              <a:rPr lang="en-GB" sz="1800" spc="-5" dirty="0">
                <a:solidFill>
                  <a:srgbClr val="990000"/>
                </a:solidFill>
                <a:latin typeface="Times New Roman"/>
                <a:cs typeface="Times New Roman"/>
              </a:rPr>
              <a:t>N.B. </a:t>
            </a:r>
            <a:r>
              <a:rPr lang="en-GB" sz="1800" dirty="0">
                <a:latin typeface="Times New Roman"/>
                <a:cs typeface="Times New Roman"/>
              </a:rPr>
              <a:t>The whole molecule </a:t>
            </a:r>
            <a:r>
              <a:rPr lang="en-GB" sz="1800" spc="-5" dirty="0">
                <a:latin typeface="Times New Roman"/>
                <a:cs typeface="Times New Roman"/>
              </a:rPr>
              <a:t>is numbered starting from </a:t>
            </a:r>
            <a:r>
              <a:rPr lang="en-GB" sz="1800" dirty="0">
                <a:latin typeface="Times New Roman"/>
                <a:cs typeface="Times New Roman"/>
              </a:rPr>
              <a:t>pyrazole </a:t>
            </a:r>
            <a:r>
              <a:rPr lang="en-GB" sz="1800" spc="-5" dirty="0">
                <a:latin typeface="Times New Roman"/>
                <a:cs typeface="Times New Roman"/>
              </a:rPr>
              <a:t>ring </a:t>
            </a:r>
            <a:r>
              <a:rPr lang="en-GB" sz="1800" dirty="0">
                <a:latin typeface="Times New Roman"/>
                <a:cs typeface="Times New Roman"/>
              </a:rPr>
              <a:t>to </a:t>
            </a:r>
            <a:r>
              <a:rPr lang="en-GB" sz="1800" spc="-5" dirty="0">
                <a:latin typeface="Times New Roman"/>
                <a:cs typeface="Times New Roman"/>
              </a:rPr>
              <a:t>give </a:t>
            </a:r>
            <a:r>
              <a:rPr lang="en-GB" sz="1800" dirty="0">
                <a:latin typeface="Times New Roman"/>
                <a:cs typeface="Times New Roman"/>
              </a:rPr>
              <a:t>the </a:t>
            </a:r>
            <a:r>
              <a:rPr lang="en-GB" sz="1800" spc="-5" dirty="0">
                <a:latin typeface="Times New Roman"/>
                <a:cs typeface="Times New Roman"/>
              </a:rPr>
              <a:t>four </a:t>
            </a:r>
            <a:r>
              <a:rPr lang="en-GB" sz="1800" dirty="0">
                <a:latin typeface="Times New Roman"/>
                <a:cs typeface="Times New Roman"/>
              </a:rPr>
              <a:t> </a:t>
            </a:r>
            <a:r>
              <a:rPr lang="en-GB" sz="1800" spc="-5" dirty="0" err="1">
                <a:latin typeface="Times New Roman"/>
                <a:cs typeface="Times New Roman"/>
              </a:rPr>
              <a:t>heteratoms</a:t>
            </a:r>
            <a:r>
              <a:rPr lang="en-GB" sz="1800" spc="-5" dirty="0">
                <a:latin typeface="Times New Roman"/>
                <a:cs typeface="Times New Roman"/>
              </a:rPr>
              <a:t> </a:t>
            </a:r>
            <a:r>
              <a:rPr lang="en-GB" sz="1800" dirty="0">
                <a:latin typeface="Times New Roman"/>
                <a:cs typeface="Times New Roman"/>
              </a:rPr>
              <a:t>the </a:t>
            </a:r>
            <a:r>
              <a:rPr lang="en-GB" sz="1800" spc="-5" dirty="0">
                <a:latin typeface="Times New Roman"/>
                <a:cs typeface="Times New Roman"/>
              </a:rPr>
              <a:t>lowest </a:t>
            </a:r>
            <a:r>
              <a:rPr lang="en-GB" sz="1800" dirty="0">
                <a:latin typeface="Times New Roman"/>
                <a:cs typeface="Times New Roman"/>
              </a:rPr>
              <a:t>locants </a:t>
            </a:r>
            <a:r>
              <a:rPr lang="en-GB" sz="1800" spc="-5" dirty="0">
                <a:latin typeface="Times New Roman"/>
                <a:cs typeface="Times New Roman"/>
              </a:rPr>
              <a:t>(1,2,4,6). While starting </a:t>
            </a:r>
            <a:r>
              <a:rPr lang="en-GB" sz="1800" dirty="0">
                <a:latin typeface="Times New Roman"/>
                <a:cs typeface="Times New Roman"/>
              </a:rPr>
              <a:t>from </a:t>
            </a:r>
            <a:r>
              <a:rPr lang="en-GB" sz="1800" spc="-5" dirty="0">
                <a:latin typeface="Times New Roman"/>
                <a:cs typeface="Times New Roman"/>
              </a:rPr>
              <a:t>oxazole </a:t>
            </a:r>
            <a:r>
              <a:rPr lang="en-GB" sz="1800" dirty="0">
                <a:latin typeface="Times New Roman"/>
                <a:cs typeface="Times New Roman"/>
              </a:rPr>
              <a:t>ring </a:t>
            </a:r>
            <a:r>
              <a:rPr lang="en-GB" sz="1800" spc="-5" dirty="0">
                <a:latin typeface="Times New Roman"/>
                <a:cs typeface="Times New Roman"/>
              </a:rPr>
              <a:t>give them </a:t>
            </a:r>
            <a:r>
              <a:rPr lang="en-GB" sz="1800" dirty="0">
                <a:latin typeface="Times New Roman"/>
                <a:cs typeface="Times New Roman"/>
              </a:rPr>
              <a:t> locants</a:t>
            </a:r>
            <a:r>
              <a:rPr lang="en-GB" sz="1800" spc="-25" dirty="0">
                <a:latin typeface="Times New Roman"/>
                <a:cs typeface="Times New Roman"/>
              </a:rPr>
              <a:t> </a:t>
            </a:r>
            <a:r>
              <a:rPr lang="en-GB" sz="1800" dirty="0">
                <a:latin typeface="Times New Roman"/>
                <a:cs typeface="Times New Roman"/>
              </a:rPr>
              <a:t>(1,3,4,5)</a:t>
            </a:r>
            <a:r>
              <a:rPr lang="en-GB" sz="1800" spc="-20" dirty="0">
                <a:latin typeface="Times New Roman"/>
                <a:cs typeface="Times New Roman"/>
              </a:rPr>
              <a:t> </a:t>
            </a:r>
            <a:r>
              <a:rPr lang="en-GB" sz="1800" dirty="0">
                <a:latin typeface="Times New Roman"/>
                <a:cs typeface="Times New Roman"/>
              </a:rPr>
              <a:t>or</a:t>
            </a:r>
            <a:r>
              <a:rPr lang="en-GB" sz="1800" spc="5" dirty="0">
                <a:latin typeface="Times New Roman"/>
                <a:cs typeface="Times New Roman"/>
              </a:rPr>
              <a:t> </a:t>
            </a:r>
            <a:r>
              <a:rPr lang="en-GB" sz="1800" dirty="0">
                <a:latin typeface="Times New Roman"/>
                <a:cs typeface="Times New Roman"/>
              </a:rPr>
              <a:t>(1,3,5,6).</a:t>
            </a:r>
          </a:p>
        </p:txBody>
      </p:sp>
      <p:pic>
        <p:nvPicPr>
          <p:cNvPr id="8" name="Рисунок 7">
            <a:extLst>
              <a:ext uri="{FF2B5EF4-FFF2-40B4-BE49-F238E27FC236}">
                <a16:creationId xmlns:a16="http://schemas.microsoft.com/office/drawing/2014/main" id="{01BE5C6B-D161-494B-A3E0-17C5A07840C0}"/>
              </a:ext>
            </a:extLst>
          </p:cNvPr>
          <p:cNvPicPr>
            <a:picLocks noChangeAspect="1"/>
          </p:cNvPicPr>
          <p:nvPr/>
        </p:nvPicPr>
        <p:blipFill>
          <a:blip r:embed="rId2"/>
          <a:stretch>
            <a:fillRect/>
          </a:stretch>
        </p:blipFill>
        <p:spPr>
          <a:xfrm>
            <a:off x="305369" y="1233489"/>
            <a:ext cx="5747056" cy="2035149"/>
          </a:xfrm>
          <a:prstGeom prst="rect">
            <a:avLst/>
          </a:prstGeom>
        </p:spPr>
      </p:pic>
      <p:cxnSp>
        <p:nvCxnSpPr>
          <p:cNvPr id="9" name="Прямая соединительная линия 8">
            <a:extLst>
              <a:ext uri="{FF2B5EF4-FFF2-40B4-BE49-F238E27FC236}">
                <a16:creationId xmlns:a16="http://schemas.microsoft.com/office/drawing/2014/main" id="{8C23F77F-6CDE-4E1E-9E1A-2772133D0D4C}"/>
              </a:ext>
            </a:extLst>
          </p:cNvPr>
          <p:cNvCxnSpPr>
            <a:cxnSpLocks/>
          </p:cNvCxnSpPr>
          <p:nvPr/>
        </p:nvCxnSpPr>
        <p:spPr>
          <a:xfrm>
            <a:off x="6052425" y="310202"/>
            <a:ext cx="0" cy="4905955"/>
          </a:xfrm>
          <a:prstGeom prst="line">
            <a:avLst/>
          </a:prstGeom>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BC7B92CF-B076-4A5C-AB18-D143B84AB3A0}"/>
              </a:ext>
            </a:extLst>
          </p:cNvPr>
          <p:cNvSpPr txBox="1"/>
          <p:nvPr/>
        </p:nvSpPr>
        <p:spPr>
          <a:xfrm>
            <a:off x="6052425" y="381204"/>
            <a:ext cx="6097136" cy="1289071"/>
          </a:xfrm>
          <a:prstGeom prst="rect">
            <a:avLst/>
          </a:prstGeom>
          <a:noFill/>
        </p:spPr>
        <p:txBody>
          <a:bodyPr wrap="square">
            <a:spAutoFit/>
          </a:bodyPr>
          <a:lstStyle/>
          <a:p>
            <a:pPr marR="5080" indent="-533400" algn="just">
              <a:lnSpc>
                <a:spcPct val="150000"/>
              </a:lnSpc>
            </a:pPr>
            <a:r>
              <a:rPr lang="en-GB" sz="1800" dirty="0">
                <a:solidFill>
                  <a:srgbClr val="C00000"/>
                </a:solidFill>
                <a:latin typeface="Times New Roman"/>
                <a:cs typeface="Times New Roman"/>
              </a:rPr>
              <a:t>Rule </a:t>
            </a:r>
            <a:r>
              <a:rPr lang="en-GB" sz="1800" spc="-5" dirty="0">
                <a:solidFill>
                  <a:srgbClr val="C00000"/>
                </a:solidFill>
                <a:latin typeface="Times New Roman"/>
                <a:cs typeface="Times New Roman"/>
              </a:rPr>
              <a:t>5</a:t>
            </a:r>
            <a:r>
              <a:rPr lang="en-GB" sz="1800" spc="-5" dirty="0">
                <a:latin typeface="Times New Roman"/>
                <a:cs typeface="Times New Roman"/>
              </a:rPr>
              <a:t>: </a:t>
            </a:r>
            <a:r>
              <a:rPr lang="en-GB" sz="1800" dirty="0">
                <a:latin typeface="Times New Roman"/>
                <a:cs typeface="Times New Roman"/>
              </a:rPr>
              <a:t>A heterocyclic component containing the greater </a:t>
            </a:r>
            <a:r>
              <a:rPr lang="en-GB" sz="1800" spc="-5" dirty="0">
                <a:latin typeface="Times New Roman"/>
                <a:cs typeface="Times New Roman"/>
              </a:rPr>
              <a:t>number </a:t>
            </a:r>
            <a:r>
              <a:rPr lang="en-GB" sz="1800" dirty="0">
                <a:latin typeface="Times New Roman"/>
                <a:cs typeface="Times New Roman"/>
              </a:rPr>
              <a:t>of heteroatoms </a:t>
            </a:r>
            <a:r>
              <a:rPr lang="en-GB" sz="1800" spc="-434" dirty="0">
                <a:latin typeface="Times New Roman"/>
                <a:cs typeface="Times New Roman"/>
              </a:rPr>
              <a:t> </a:t>
            </a:r>
            <a:r>
              <a:rPr lang="en-GB" sz="1800" spc="-10" dirty="0">
                <a:latin typeface="Times New Roman"/>
                <a:cs typeface="Times New Roman"/>
              </a:rPr>
              <a:t>m</a:t>
            </a:r>
            <a:r>
              <a:rPr lang="en-GB" sz="1800" spc="-5" dirty="0">
                <a:latin typeface="Times New Roman"/>
                <a:cs typeface="Times New Roman"/>
              </a:rPr>
              <a:t>ost</a:t>
            </a:r>
            <a:r>
              <a:rPr lang="en-GB" sz="1800" dirty="0">
                <a:latin typeface="Times New Roman"/>
                <a:cs typeface="Times New Roman"/>
              </a:rPr>
              <a:t> pref</a:t>
            </a:r>
            <a:r>
              <a:rPr lang="en-GB" sz="1800" spc="5" dirty="0">
                <a:latin typeface="Times New Roman"/>
                <a:cs typeface="Times New Roman"/>
              </a:rPr>
              <a:t>e</a:t>
            </a:r>
            <a:r>
              <a:rPr lang="en-GB" sz="1800" dirty="0">
                <a:latin typeface="Times New Roman"/>
                <a:cs typeface="Times New Roman"/>
              </a:rPr>
              <a:t>rred</a:t>
            </a:r>
            <a:r>
              <a:rPr lang="en-GB" sz="1800" spc="-10" dirty="0">
                <a:latin typeface="Times New Roman"/>
                <a:cs typeface="Times New Roman"/>
              </a:rPr>
              <a:t> </a:t>
            </a:r>
            <a:r>
              <a:rPr lang="en-GB" sz="1800" dirty="0">
                <a:latin typeface="Times New Roman"/>
                <a:cs typeface="Times New Roman"/>
              </a:rPr>
              <a:t>when consider</a:t>
            </a:r>
            <a:r>
              <a:rPr lang="en-GB" sz="1800" spc="5" dirty="0">
                <a:latin typeface="Times New Roman"/>
                <a:cs typeface="Times New Roman"/>
              </a:rPr>
              <a:t>e</a:t>
            </a:r>
            <a:r>
              <a:rPr lang="en-GB" sz="1800" dirty="0">
                <a:latin typeface="Times New Roman"/>
                <a:cs typeface="Times New Roman"/>
              </a:rPr>
              <a:t>d</a:t>
            </a:r>
            <a:r>
              <a:rPr lang="en-GB" sz="1800" spc="-10" dirty="0">
                <a:latin typeface="Times New Roman"/>
                <a:cs typeface="Times New Roman"/>
              </a:rPr>
              <a:t> </a:t>
            </a:r>
            <a:r>
              <a:rPr lang="en-GB" sz="1800" dirty="0">
                <a:latin typeface="Times New Roman"/>
                <a:cs typeface="Times New Roman"/>
              </a:rPr>
              <a:t>in order </a:t>
            </a:r>
            <a:r>
              <a:rPr lang="en-GB" sz="1800" spc="-160" dirty="0">
                <a:latin typeface="Times New Roman"/>
                <a:cs typeface="Times New Roman"/>
              </a:rPr>
              <a:t>F</a:t>
            </a:r>
            <a:r>
              <a:rPr lang="en-GB" sz="1800" dirty="0">
                <a:latin typeface="Times New Roman"/>
                <a:cs typeface="Times New Roman"/>
              </a:rPr>
              <a:t>,</a:t>
            </a:r>
            <a:r>
              <a:rPr lang="en-GB" sz="1800" spc="-5" dirty="0">
                <a:latin typeface="Times New Roman"/>
                <a:cs typeface="Times New Roman"/>
              </a:rPr>
              <a:t> </a:t>
            </a:r>
            <a:r>
              <a:rPr lang="en-GB" sz="1800" dirty="0">
                <a:latin typeface="Times New Roman"/>
                <a:cs typeface="Times New Roman"/>
              </a:rPr>
              <a:t>Cl, B</a:t>
            </a:r>
            <a:r>
              <a:rPr lang="en-GB" sz="1800" spc="-75" dirty="0">
                <a:latin typeface="Times New Roman"/>
                <a:cs typeface="Times New Roman"/>
              </a:rPr>
              <a:t>r</a:t>
            </a:r>
            <a:r>
              <a:rPr lang="en-GB" sz="1800" dirty="0">
                <a:latin typeface="Times New Roman"/>
                <a:cs typeface="Times New Roman"/>
              </a:rPr>
              <a:t>,</a:t>
            </a:r>
            <a:r>
              <a:rPr lang="en-GB" sz="1800" spc="-5" dirty="0">
                <a:latin typeface="Times New Roman"/>
                <a:cs typeface="Times New Roman"/>
              </a:rPr>
              <a:t> </a:t>
            </a:r>
            <a:r>
              <a:rPr lang="en-GB" sz="1800" dirty="0">
                <a:latin typeface="Times New Roman"/>
                <a:cs typeface="Times New Roman"/>
              </a:rPr>
              <a:t>I,</a:t>
            </a:r>
            <a:r>
              <a:rPr lang="en-GB" sz="1800" spc="20" dirty="0">
                <a:latin typeface="Times New Roman"/>
                <a:cs typeface="Times New Roman"/>
              </a:rPr>
              <a:t> </a:t>
            </a:r>
            <a:r>
              <a:rPr lang="en-GB" sz="1800" spc="-10" dirty="0">
                <a:solidFill>
                  <a:srgbClr val="C00000"/>
                </a:solidFill>
                <a:latin typeface="Times New Roman"/>
                <a:cs typeface="Times New Roman"/>
              </a:rPr>
              <a:t>O</a:t>
            </a:r>
            <a:r>
              <a:rPr lang="en-GB" sz="1800" dirty="0">
                <a:latin typeface="Times New Roman"/>
                <a:cs typeface="Times New Roman"/>
              </a:rPr>
              <a:t>, </a:t>
            </a:r>
            <a:r>
              <a:rPr lang="en-GB" sz="1800" spc="-10" dirty="0">
                <a:solidFill>
                  <a:srgbClr val="C00000"/>
                </a:solidFill>
                <a:latin typeface="Times New Roman"/>
                <a:cs typeface="Times New Roman"/>
              </a:rPr>
              <a:t>S</a:t>
            </a:r>
            <a:r>
              <a:rPr lang="en-GB" sz="1800" dirty="0">
                <a:latin typeface="Times New Roman"/>
                <a:cs typeface="Times New Roman"/>
              </a:rPr>
              <a:t>,</a:t>
            </a:r>
            <a:r>
              <a:rPr lang="en-GB" sz="1800" spc="5" dirty="0">
                <a:latin typeface="Times New Roman"/>
                <a:cs typeface="Times New Roman"/>
              </a:rPr>
              <a:t> </a:t>
            </a:r>
            <a:r>
              <a:rPr lang="en-GB" sz="1800" spc="-5" dirty="0">
                <a:latin typeface="Times New Roman"/>
                <a:cs typeface="Times New Roman"/>
              </a:rPr>
              <a:t>Se,</a:t>
            </a:r>
            <a:r>
              <a:rPr lang="en-GB" sz="1800" spc="-40" dirty="0">
                <a:latin typeface="Times New Roman"/>
                <a:cs typeface="Times New Roman"/>
              </a:rPr>
              <a:t> </a:t>
            </a:r>
            <a:r>
              <a:rPr lang="en-GB" sz="1800" spc="-120" dirty="0" err="1">
                <a:latin typeface="Times New Roman"/>
                <a:cs typeface="Times New Roman"/>
              </a:rPr>
              <a:t>T</a:t>
            </a:r>
            <a:r>
              <a:rPr lang="en-GB" sz="1800" dirty="0" err="1">
                <a:latin typeface="Times New Roman"/>
                <a:cs typeface="Times New Roman"/>
              </a:rPr>
              <a:t>e</a:t>
            </a:r>
            <a:r>
              <a:rPr lang="en-GB" sz="1800" dirty="0">
                <a:latin typeface="Times New Roman"/>
                <a:cs typeface="Times New Roman"/>
              </a:rPr>
              <a:t>, </a:t>
            </a:r>
            <a:r>
              <a:rPr lang="en-GB" sz="1800" spc="-10" dirty="0">
                <a:solidFill>
                  <a:srgbClr val="C00000"/>
                </a:solidFill>
                <a:latin typeface="Times New Roman"/>
                <a:cs typeface="Times New Roman"/>
              </a:rPr>
              <a:t>N</a:t>
            </a:r>
            <a:r>
              <a:rPr lang="en-GB" sz="1800" dirty="0">
                <a:latin typeface="Times New Roman"/>
                <a:cs typeface="Times New Roman"/>
              </a:rPr>
              <a:t>,</a:t>
            </a:r>
            <a:r>
              <a:rPr lang="en-GB" sz="1800" spc="-5" dirty="0">
                <a:latin typeface="Times New Roman"/>
                <a:cs typeface="Times New Roman"/>
              </a:rPr>
              <a:t> </a:t>
            </a:r>
            <a:r>
              <a:rPr lang="en-GB" sz="1800" spc="-215" dirty="0">
                <a:latin typeface="Times New Roman"/>
                <a:cs typeface="Times New Roman"/>
              </a:rPr>
              <a:t>P</a:t>
            </a:r>
            <a:r>
              <a:rPr lang="en-GB" sz="1800" dirty="0">
                <a:latin typeface="Times New Roman"/>
                <a:cs typeface="Times New Roman"/>
              </a:rPr>
              <a:t>,</a:t>
            </a:r>
            <a:r>
              <a:rPr lang="en-GB" sz="1800" spc="-90" dirty="0">
                <a:latin typeface="Times New Roman"/>
                <a:cs typeface="Times New Roman"/>
              </a:rPr>
              <a:t> </a:t>
            </a:r>
            <a:r>
              <a:rPr lang="en-GB" sz="1800" spc="-5" dirty="0">
                <a:latin typeface="Times New Roman"/>
                <a:cs typeface="Times New Roman"/>
              </a:rPr>
              <a:t>A</a:t>
            </a:r>
            <a:r>
              <a:rPr lang="en-GB" sz="1800" spc="-15" dirty="0">
                <a:latin typeface="Times New Roman"/>
                <a:cs typeface="Times New Roman"/>
              </a:rPr>
              <a:t>s</a:t>
            </a:r>
            <a:r>
              <a:rPr lang="en-GB" sz="1800" dirty="0">
                <a:latin typeface="Times New Roman"/>
                <a:cs typeface="Times New Roman"/>
              </a:rPr>
              <a:t>,  </a:t>
            </a:r>
            <a:r>
              <a:rPr lang="en-GB" sz="1800" spc="-5" dirty="0">
                <a:latin typeface="Times New Roman"/>
                <a:cs typeface="Times New Roman"/>
              </a:rPr>
              <a:t>Sb, Bi,</a:t>
            </a:r>
            <a:r>
              <a:rPr lang="en-GB" sz="1800" dirty="0">
                <a:latin typeface="Times New Roman"/>
                <a:cs typeface="Times New Roman"/>
              </a:rPr>
              <a:t> </a:t>
            </a:r>
            <a:r>
              <a:rPr lang="en-GB" sz="1800" spc="-5" dirty="0">
                <a:latin typeface="Times New Roman"/>
                <a:cs typeface="Times New Roman"/>
              </a:rPr>
              <a:t>Si,</a:t>
            </a:r>
            <a:r>
              <a:rPr lang="en-GB" sz="1800" dirty="0">
                <a:latin typeface="Times New Roman"/>
                <a:cs typeface="Times New Roman"/>
              </a:rPr>
              <a:t> </a:t>
            </a:r>
            <a:r>
              <a:rPr lang="en-GB" sz="1800" spc="-5" dirty="0">
                <a:latin typeface="Times New Roman"/>
                <a:cs typeface="Times New Roman"/>
              </a:rPr>
              <a:t>Ge, Sn</a:t>
            </a:r>
            <a:r>
              <a:rPr lang="en-GB" sz="1800" dirty="0">
                <a:latin typeface="Times New Roman"/>
                <a:cs typeface="Times New Roman"/>
              </a:rPr>
              <a:t> </a:t>
            </a:r>
            <a:r>
              <a:rPr lang="en-GB" sz="1800" spc="-5" dirty="0">
                <a:latin typeface="Times New Roman"/>
                <a:cs typeface="Times New Roman"/>
              </a:rPr>
              <a:t>Pb,</a:t>
            </a:r>
            <a:r>
              <a:rPr lang="en-GB" sz="1800" dirty="0">
                <a:latin typeface="Times New Roman"/>
                <a:cs typeface="Times New Roman"/>
              </a:rPr>
              <a:t> B, </a:t>
            </a:r>
            <a:r>
              <a:rPr lang="en-GB" sz="1800" spc="-10" dirty="0">
                <a:latin typeface="Times New Roman"/>
                <a:cs typeface="Times New Roman"/>
              </a:rPr>
              <a:t>Hg</a:t>
            </a:r>
            <a:endParaRPr lang="en-GB" sz="1800" dirty="0">
              <a:latin typeface="Times New Roman"/>
              <a:cs typeface="Times New Roman"/>
            </a:endParaRPr>
          </a:p>
        </p:txBody>
      </p:sp>
      <p:pic>
        <p:nvPicPr>
          <p:cNvPr id="13" name="Рисунок 12">
            <a:extLst>
              <a:ext uri="{FF2B5EF4-FFF2-40B4-BE49-F238E27FC236}">
                <a16:creationId xmlns:a16="http://schemas.microsoft.com/office/drawing/2014/main" id="{41D71B56-AF7C-4898-B9ED-ED1154CFAE1B}"/>
              </a:ext>
            </a:extLst>
          </p:cNvPr>
          <p:cNvPicPr>
            <a:picLocks noChangeAspect="1"/>
          </p:cNvPicPr>
          <p:nvPr/>
        </p:nvPicPr>
        <p:blipFill>
          <a:blip r:embed="rId3"/>
          <a:stretch>
            <a:fillRect/>
          </a:stretch>
        </p:blipFill>
        <p:spPr>
          <a:xfrm>
            <a:off x="6986152" y="1795378"/>
            <a:ext cx="4150420" cy="2730124"/>
          </a:xfrm>
          <a:prstGeom prst="rect">
            <a:avLst/>
          </a:prstGeom>
        </p:spPr>
      </p:pic>
    </p:spTree>
    <p:extLst>
      <p:ext uri="{BB962C8B-B14F-4D97-AF65-F5344CB8AC3E}">
        <p14:creationId xmlns:p14="http://schemas.microsoft.com/office/powerpoint/2010/main" val="155781026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a:extLst>
              <a:ext uri="{FF2B5EF4-FFF2-40B4-BE49-F238E27FC236}">
                <a16:creationId xmlns:a16="http://schemas.microsoft.com/office/drawing/2014/main" id="{889EBE89-6DA0-4732-A8FF-82D7AB95A909}"/>
              </a:ext>
            </a:extLst>
          </p:cNvPr>
          <p:cNvSpPr>
            <a:spLocks noGrp="1"/>
          </p:cNvSpPr>
          <p:nvPr>
            <p:ph type="sldNum" sz="quarter" idx="12"/>
          </p:nvPr>
        </p:nvSpPr>
        <p:spPr/>
        <p:txBody>
          <a:bodyPr/>
          <a:lstStyle/>
          <a:p>
            <a:fld id="{93C419CB-0CF1-4F10-90F9-42551F8968FF}" type="slidenum">
              <a:rPr lang="en-GB" smtClean="0"/>
              <a:t>33</a:t>
            </a:fld>
            <a:endParaRPr lang="en-GB"/>
          </a:p>
        </p:txBody>
      </p:sp>
      <p:sp>
        <p:nvSpPr>
          <p:cNvPr id="4" name="TextBox 3">
            <a:extLst>
              <a:ext uri="{FF2B5EF4-FFF2-40B4-BE49-F238E27FC236}">
                <a16:creationId xmlns:a16="http://schemas.microsoft.com/office/drawing/2014/main" id="{D9B889C8-49BA-4880-BE99-FD16AF5A5216}"/>
              </a:ext>
            </a:extLst>
          </p:cNvPr>
          <p:cNvSpPr txBox="1"/>
          <p:nvPr/>
        </p:nvSpPr>
        <p:spPr>
          <a:xfrm>
            <a:off x="141596" y="396755"/>
            <a:ext cx="6097136" cy="646331"/>
          </a:xfrm>
          <a:prstGeom prst="rect">
            <a:avLst/>
          </a:prstGeom>
          <a:noFill/>
        </p:spPr>
        <p:txBody>
          <a:bodyPr wrap="square">
            <a:spAutoFit/>
          </a:bodyPr>
          <a:lstStyle/>
          <a:p>
            <a:pPr marL="12700">
              <a:lnSpc>
                <a:spcPct val="100000"/>
              </a:lnSpc>
              <a:spcBef>
                <a:spcPts val="100"/>
              </a:spcBef>
            </a:pPr>
            <a:r>
              <a:rPr lang="en-GB" sz="1800" dirty="0">
                <a:solidFill>
                  <a:srgbClr val="C00000"/>
                </a:solidFill>
                <a:latin typeface="Times New Roman"/>
                <a:cs typeface="Times New Roman"/>
              </a:rPr>
              <a:t>Rule 6</a:t>
            </a:r>
            <a:r>
              <a:rPr lang="en-GB" sz="1800" dirty="0">
                <a:latin typeface="Times New Roman"/>
                <a:cs typeface="Times New Roman"/>
              </a:rPr>
              <a:t>:</a:t>
            </a:r>
            <a:r>
              <a:rPr lang="en-GB" sz="1800" spc="-100" dirty="0">
                <a:latin typeface="Times New Roman"/>
                <a:cs typeface="Times New Roman"/>
              </a:rPr>
              <a:t> </a:t>
            </a:r>
            <a:r>
              <a:rPr lang="en-GB" sz="1800" spc="-5" dirty="0">
                <a:latin typeface="Times New Roman"/>
                <a:cs typeface="Times New Roman"/>
              </a:rPr>
              <a:t>A</a:t>
            </a:r>
            <a:r>
              <a:rPr lang="en-GB" sz="1800" spc="-105" dirty="0">
                <a:latin typeface="Times New Roman"/>
                <a:cs typeface="Times New Roman"/>
              </a:rPr>
              <a:t> </a:t>
            </a:r>
            <a:r>
              <a:rPr lang="en-GB" sz="1800" dirty="0">
                <a:latin typeface="Times New Roman"/>
                <a:cs typeface="Times New Roman"/>
              </a:rPr>
              <a:t>he</a:t>
            </a:r>
            <a:r>
              <a:rPr lang="en-GB" sz="1800" spc="5" dirty="0">
                <a:latin typeface="Times New Roman"/>
                <a:cs typeface="Times New Roman"/>
              </a:rPr>
              <a:t>t</a:t>
            </a:r>
            <a:r>
              <a:rPr lang="en-GB" sz="1800" dirty="0">
                <a:latin typeface="Times New Roman"/>
                <a:cs typeface="Times New Roman"/>
              </a:rPr>
              <a:t>eroc</a:t>
            </a:r>
            <a:r>
              <a:rPr lang="en-GB" sz="1800" spc="25" dirty="0">
                <a:latin typeface="Times New Roman"/>
                <a:cs typeface="Times New Roman"/>
              </a:rPr>
              <a:t>y</a:t>
            </a:r>
            <a:r>
              <a:rPr lang="en-GB" sz="1800" dirty="0">
                <a:latin typeface="Times New Roman"/>
                <a:cs typeface="Times New Roman"/>
              </a:rPr>
              <a:t>clic</a:t>
            </a:r>
            <a:r>
              <a:rPr lang="en-GB" sz="1800" spc="-40" dirty="0">
                <a:latin typeface="Times New Roman"/>
                <a:cs typeface="Times New Roman"/>
              </a:rPr>
              <a:t> </a:t>
            </a:r>
            <a:r>
              <a:rPr lang="en-GB" sz="1800" dirty="0">
                <a:latin typeface="Times New Roman"/>
                <a:cs typeface="Times New Roman"/>
              </a:rPr>
              <a:t>component with the lower lo</a:t>
            </a:r>
            <a:r>
              <a:rPr lang="en-GB" sz="1800" spc="5" dirty="0">
                <a:latin typeface="Times New Roman"/>
                <a:cs typeface="Times New Roman"/>
              </a:rPr>
              <a:t>c</a:t>
            </a:r>
            <a:r>
              <a:rPr lang="en-GB" sz="1800" dirty="0">
                <a:latin typeface="Times New Roman"/>
                <a:cs typeface="Times New Roman"/>
              </a:rPr>
              <a:t>an</a:t>
            </a:r>
            <a:r>
              <a:rPr lang="en-GB" sz="1800" spc="5" dirty="0">
                <a:latin typeface="Times New Roman"/>
                <a:cs typeface="Times New Roman"/>
              </a:rPr>
              <a:t>t</a:t>
            </a:r>
            <a:r>
              <a:rPr lang="en-GB" sz="1800" spc="-5" dirty="0">
                <a:latin typeface="Times New Roman"/>
                <a:cs typeface="Times New Roman"/>
              </a:rPr>
              <a:t>s</a:t>
            </a:r>
            <a:r>
              <a:rPr lang="en-GB" sz="1800" spc="-15" dirty="0">
                <a:latin typeface="Times New Roman"/>
                <a:cs typeface="Times New Roman"/>
              </a:rPr>
              <a:t> </a:t>
            </a:r>
            <a:r>
              <a:rPr lang="en-GB" sz="1800" dirty="0">
                <a:latin typeface="Times New Roman"/>
                <a:cs typeface="Times New Roman"/>
              </a:rPr>
              <a:t>for het</a:t>
            </a:r>
            <a:r>
              <a:rPr lang="en-GB" sz="1800" spc="5" dirty="0">
                <a:latin typeface="Times New Roman"/>
                <a:cs typeface="Times New Roman"/>
              </a:rPr>
              <a:t>e</a:t>
            </a:r>
            <a:r>
              <a:rPr lang="en-GB" sz="1800" dirty="0">
                <a:latin typeface="Times New Roman"/>
                <a:cs typeface="Times New Roman"/>
              </a:rPr>
              <a:t>roatoms</a:t>
            </a:r>
          </a:p>
        </p:txBody>
      </p:sp>
      <p:pic>
        <p:nvPicPr>
          <p:cNvPr id="6" name="Рисунок 5">
            <a:extLst>
              <a:ext uri="{FF2B5EF4-FFF2-40B4-BE49-F238E27FC236}">
                <a16:creationId xmlns:a16="http://schemas.microsoft.com/office/drawing/2014/main" id="{A5972A06-2EEC-43B3-A016-F0C50FE7F0E4}"/>
              </a:ext>
            </a:extLst>
          </p:cNvPr>
          <p:cNvPicPr>
            <a:picLocks noChangeAspect="1"/>
          </p:cNvPicPr>
          <p:nvPr/>
        </p:nvPicPr>
        <p:blipFill>
          <a:blip r:embed="rId2"/>
          <a:stretch>
            <a:fillRect/>
          </a:stretch>
        </p:blipFill>
        <p:spPr>
          <a:xfrm>
            <a:off x="239748" y="1342376"/>
            <a:ext cx="5406579" cy="2566922"/>
          </a:xfrm>
          <a:prstGeom prst="rect">
            <a:avLst/>
          </a:prstGeom>
        </p:spPr>
      </p:pic>
      <p:sp>
        <p:nvSpPr>
          <p:cNvPr id="8" name="TextBox 7">
            <a:extLst>
              <a:ext uri="{FF2B5EF4-FFF2-40B4-BE49-F238E27FC236}">
                <a16:creationId xmlns:a16="http://schemas.microsoft.com/office/drawing/2014/main" id="{48848878-5859-4029-8B0A-EA4B2230C376}"/>
              </a:ext>
            </a:extLst>
          </p:cNvPr>
          <p:cNvSpPr txBox="1"/>
          <p:nvPr/>
        </p:nvSpPr>
        <p:spPr>
          <a:xfrm>
            <a:off x="6094864" y="442921"/>
            <a:ext cx="5857388" cy="923330"/>
          </a:xfrm>
          <a:prstGeom prst="rect">
            <a:avLst/>
          </a:prstGeom>
          <a:noFill/>
        </p:spPr>
        <p:txBody>
          <a:bodyPr wrap="square">
            <a:spAutoFit/>
          </a:bodyPr>
          <a:lstStyle/>
          <a:p>
            <a:pPr marL="12700">
              <a:lnSpc>
                <a:spcPct val="100000"/>
              </a:lnSpc>
              <a:spcBef>
                <a:spcPts val="100"/>
              </a:spcBef>
            </a:pPr>
            <a:r>
              <a:rPr lang="en-GB" sz="1800" dirty="0">
                <a:solidFill>
                  <a:srgbClr val="C00000"/>
                </a:solidFill>
                <a:latin typeface="Times New Roman"/>
                <a:cs typeface="Times New Roman"/>
              </a:rPr>
              <a:t>Rule</a:t>
            </a:r>
            <a:r>
              <a:rPr lang="en-GB" sz="1800" spc="-5" dirty="0">
                <a:solidFill>
                  <a:srgbClr val="C00000"/>
                </a:solidFill>
                <a:latin typeface="Times New Roman"/>
                <a:cs typeface="Times New Roman"/>
              </a:rPr>
              <a:t> </a:t>
            </a:r>
            <a:r>
              <a:rPr lang="en-GB" sz="1800" dirty="0">
                <a:solidFill>
                  <a:srgbClr val="C00000"/>
                </a:solidFill>
                <a:latin typeface="Times New Roman"/>
                <a:cs typeface="Times New Roman"/>
              </a:rPr>
              <a:t>7</a:t>
            </a:r>
            <a:r>
              <a:rPr lang="en-GB" sz="1800" dirty="0">
                <a:latin typeface="Times New Roman"/>
                <a:cs typeface="Times New Roman"/>
              </a:rPr>
              <a:t>:</a:t>
            </a:r>
            <a:r>
              <a:rPr lang="en-GB" sz="1800" spc="-5" dirty="0">
                <a:latin typeface="Times New Roman"/>
                <a:cs typeface="Times New Roman"/>
              </a:rPr>
              <a:t> </a:t>
            </a:r>
            <a:r>
              <a:rPr lang="en-GB" sz="1800" dirty="0">
                <a:latin typeface="Times New Roman"/>
                <a:cs typeface="Times New Roman"/>
              </a:rPr>
              <a:t>If</a:t>
            </a:r>
            <a:r>
              <a:rPr lang="en-GB" sz="1800" spc="-10" dirty="0">
                <a:latin typeface="Times New Roman"/>
                <a:cs typeface="Times New Roman"/>
              </a:rPr>
              <a:t> </a:t>
            </a:r>
            <a:r>
              <a:rPr lang="en-GB" sz="1800" dirty="0">
                <a:latin typeface="Times New Roman"/>
                <a:cs typeface="Times New Roman"/>
              </a:rPr>
              <a:t>a position</a:t>
            </a:r>
            <a:r>
              <a:rPr lang="en-GB" sz="1800" spc="-10" dirty="0">
                <a:latin typeface="Times New Roman"/>
                <a:cs typeface="Times New Roman"/>
              </a:rPr>
              <a:t> </a:t>
            </a:r>
            <a:r>
              <a:rPr lang="en-GB" sz="1800" dirty="0">
                <a:latin typeface="Times New Roman"/>
                <a:cs typeface="Times New Roman"/>
              </a:rPr>
              <a:t>of</a:t>
            </a:r>
            <a:r>
              <a:rPr lang="en-GB" sz="1800" spc="-5" dirty="0">
                <a:latin typeface="Times New Roman"/>
                <a:cs typeface="Times New Roman"/>
              </a:rPr>
              <a:t> fusion</a:t>
            </a:r>
            <a:r>
              <a:rPr lang="en-GB" sz="1800" spc="5" dirty="0">
                <a:latin typeface="Times New Roman"/>
                <a:cs typeface="Times New Roman"/>
              </a:rPr>
              <a:t> </a:t>
            </a:r>
            <a:r>
              <a:rPr lang="en-GB" sz="1800" spc="-5" dirty="0">
                <a:latin typeface="Times New Roman"/>
                <a:cs typeface="Times New Roman"/>
              </a:rPr>
              <a:t>is</a:t>
            </a:r>
            <a:r>
              <a:rPr lang="en-GB" sz="1800" spc="-15" dirty="0">
                <a:latin typeface="Times New Roman"/>
                <a:cs typeface="Times New Roman"/>
              </a:rPr>
              <a:t> </a:t>
            </a:r>
            <a:r>
              <a:rPr lang="en-GB" sz="1800" dirty="0">
                <a:latin typeface="Times New Roman"/>
                <a:cs typeface="Times New Roman"/>
              </a:rPr>
              <a:t>occupied</a:t>
            </a:r>
            <a:r>
              <a:rPr lang="en-GB" sz="1800" spc="-25" dirty="0">
                <a:latin typeface="Times New Roman"/>
                <a:cs typeface="Times New Roman"/>
              </a:rPr>
              <a:t> </a:t>
            </a:r>
            <a:r>
              <a:rPr lang="en-GB" sz="1800" dirty="0">
                <a:latin typeface="Times New Roman"/>
                <a:cs typeface="Times New Roman"/>
              </a:rPr>
              <a:t>by a</a:t>
            </a:r>
            <a:r>
              <a:rPr lang="en-GB" sz="1800" spc="-5" dirty="0">
                <a:latin typeface="Times New Roman"/>
                <a:cs typeface="Times New Roman"/>
              </a:rPr>
              <a:t> </a:t>
            </a:r>
            <a:r>
              <a:rPr lang="en-GB" sz="1800" dirty="0">
                <a:latin typeface="Times New Roman"/>
                <a:cs typeface="Times New Roman"/>
              </a:rPr>
              <a:t>heteroatom</a:t>
            </a:r>
            <a:r>
              <a:rPr lang="en-GB" sz="1800" spc="-25" dirty="0">
                <a:latin typeface="Times New Roman"/>
                <a:cs typeface="Times New Roman"/>
              </a:rPr>
              <a:t> </a:t>
            </a:r>
            <a:r>
              <a:rPr lang="en-GB" sz="1800" dirty="0">
                <a:latin typeface="Times New Roman"/>
                <a:cs typeface="Times New Roman"/>
              </a:rPr>
              <a:t>the</a:t>
            </a:r>
            <a:r>
              <a:rPr lang="en-GB" sz="1800" spc="-5" dirty="0">
                <a:latin typeface="Times New Roman"/>
                <a:cs typeface="Times New Roman"/>
              </a:rPr>
              <a:t> </a:t>
            </a:r>
            <a:r>
              <a:rPr lang="en-GB" sz="1800" dirty="0">
                <a:latin typeface="Times New Roman"/>
                <a:cs typeface="Times New Roman"/>
              </a:rPr>
              <a:t>name</a:t>
            </a:r>
            <a:r>
              <a:rPr lang="en-GB" sz="1800" spc="5" dirty="0">
                <a:latin typeface="Times New Roman"/>
                <a:cs typeface="Times New Roman"/>
              </a:rPr>
              <a:t> </a:t>
            </a:r>
            <a:r>
              <a:rPr lang="en-GB" sz="1800" dirty="0">
                <a:latin typeface="Times New Roman"/>
                <a:cs typeface="Times New Roman"/>
              </a:rPr>
              <a:t>of</a:t>
            </a:r>
            <a:r>
              <a:rPr lang="en-GB" sz="1800" spc="-5" dirty="0">
                <a:latin typeface="Times New Roman"/>
                <a:cs typeface="Times New Roman"/>
              </a:rPr>
              <a:t> </a:t>
            </a:r>
            <a:r>
              <a:rPr lang="en-GB" sz="1800" dirty="0">
                <a:latin typeface="Times New Roman"/>
                <a:cs typeface="Times New Roman"/>
              </a:rPr>
              <a:t>the component</a:t>
            </a:r>
            <a:r>
              <a:rPr lang="en-GB" sz="1800" spc="-5" dirty="0">
                <a:latin typeface="Times New Roman"/>
                <a:cs typeface="Times New Roman"/>
              </a:rPr>
              <a:t> </a:t>
            </a:r>
            <a:r>
              <a:rPr lang="en-GB" sz="1800" dirty="0">
                <a:latin typeface="Times New Roman"/>
                <a:cs typeface="Times New Roman"/>
              </a:rPr>
              <a:t>rings</a:t>
            </a:r>
            <a:r>
              <a:rPr lang="en-GB" sz="1800" spc="-15" dirty="0">
                <a:latin typeface="Times New Roman"/>
                <a:cs typeface="Times New Roman"/>
              </a:rPr>
              <a:t> </a:t>
            </a:r>
            <a:r>
              <a:rPr lang="en-GB" sz="1800" dirty="0">
                <a:latin typeface="Times New Roman"/>
                <a:cs typeface="Times New Roman"/>
              </a:rPr>
              <a:t>to</a:t>
            </a:r>
            <a:r>
              <a:rPr lang="en-GB" sz="1800" spc="-15" dirty="0">
                <a:latin typeface="Times New Roman"/>
                <a:cs typeface="Times New Roman"/>
              </a:rPr>
              <a:t> </a:t>
            </a:r>
            <a:r>
              <a:rPr lang="en-GB" sz="1800" dirty="0">
                <a:latin typeface="Times New Roman"/>
                <a:cs typeface="Times New Roman"/>
              </a:rPr>
              <a:t>be</a:t>
            </a:r>
            <a:r>
              <a:rPr lang="en-GB" sz="1800" spc="-5" dirty="0">
                <a:latin typeface="Times New Roman"/>
                <a:cs typeface="Times New Roman"/>
              </a:rPr>
              <a:t> used</a:t>
            </a:r>
            <a:r>
              <a:rPr lang="en-GB" sz="1800" spc="5" dirty="0">
                <a:latin typeface="Times New Roman"/>
                <a:cs typeface="Times New Roman"/>
              </a:rPr>
              <a:t> </a:t>
            </a:r>
            <a:r>
              <a:rPr lang="en-GB" sz="1800" dirty="0">
                <a:latin typeface="Times New Roman"/>
                <a:cs typeface="Times New Roman"/>
              </a:rPr>
              <a:t>are</a:t>
            </a:r>
            <a:r>
              <a:rPr lang="en-GB" sz="1800" spc="-20" dirty="0">
                <a:latin typeface="Times New Roman"/>
                <a:cs typeface="Times New Roman"/>
              </a:rPr>
              <a:t> </a:t>
            </a:r>
            <a:r>
              <a:rPr lang="en-GB" sz="1800" dirty="0">
                <a:latin typeface="Times New Roman"/>
                <a:cs typeface="Times New Roman"/>
              </a:rPr>
              <a:t>so</a:t>
            </a:r>
            <a:r>
              <a:rPr lang="en-GB" sz="1800" spc="-15" dirty="0">
                <a:latin typeface="Times New Roman"/>
                <a:cs typeface="Times New Roman"/>
              </a:rPr>
              <a:t> </a:t>
            </a:r>
            <a:r>
              <a:rPr lang="en-GB" sz="1800" dirty="0">
                <a:latin typeface="Times New Roman"/>
                <a:cs typeface="Times New Roman"/>
              </a:rPr>
              <a:t>chosen</a:t>
            </a:r>
            <a:r>
              <a:rPr lang="en-GB" sz="1800" spc="-5" dirty="0">
                <a:latin typeface="Times New Roman"/>
                <a:cs typeface="Times New Roman"/>
              </a:rPr>
              <a:t> </a:t>
            </a:r>
            <a:r>
              <a:rPr lang="en-GB" sz="1800" dirty="0">
                <a:latin typeface="Times New Roman"/>
                <a:cs typeface="Times New Roman"/>
              </a:rPr>
              <a:t>as</a:t>
            </a:r>
            <a:r>
              <a:rPr lang="en-GB" sz="1800" spc="-5" dirty="0">
                <a:latin typeface="Times New Roman"/>
                <a:cs typeface="Times New Roman"/>
              </a:rPr>
              <a:t> </a:t>
            </a:r>
            <a:r>
              <a:rPr lang="en-GB" sz="1800" dirty="0">
                <a:latin typeface="Times New Roman"/>
                <a:cs typeface="Times New Roman"/>
              </a:rPr>
              <a:t>both</a:t>
            </a:r>
            <a:r>
              <a:rPr lang="en-GB" sz="1800" spc="-15" dirty="0">
                <a:latin typeface="Times New Roman"/>
                <a:cs typeface="Times New Roman"/>
              </a:rPr>
              <a:t> </a:t>
            </a:r>
            <a:r>
              <a:rPr lang="en-GB" sz="1800" dirty="0">
                <a:latin typeface="Times New Roman"/>
                <a:cs typeface="Times New Roman"/>
              </a:rPr>
              <a:t>to</a:t>
            </a:r>
            <a:r>
              <a:rPr lang="en-GB" sz="1800" spc="-5" dirty="0">
                <a:latin typeface="Times New Roman"/>
                <a:cs typeface="Times New Roman"/>
              </a:rPr>
              <a:t> </a:t>
            </a:r>
            <a:r>
              <a:rPr lang="en-GB" sz="1800" dirty="0">
                <a:latin typeface="Times New Roman"/>
                <a:cs typeface="Times New Roman"/>
              </a:rPr>
              <a:t>contain</a:t>
            </a:r>
            <a:r>
              <a:rPr lang="en-GB" sz="1800" spc="-25" dirty="0">
                <a:latin typeface="Times New Roman"/>
                <a:cs typeface="Times New Roman"/>
              </a:rPr>
              <a:t> </a:t>
            </a:r>
            <a:r>
              <a:rPr lang="en-GB" sz="1800" dirty="0">
                <a:latin typeface="Times New Roman"/>
                <a:cs typeface="Times New Roman"/>
              </a:rPr>
              <a:t>the</a:t>
            </a:r>
            <a:r>
              <a:rPr lang="en-GB" sz="1800" spc="-5" dirty="0">
                <a:latin typeface="Times New Roman"/>
                <a:cs typeface="Times New Roman"/>
              </a:rPr>
              <a:t> </a:t>
            </a:r>
            <a:r>
              <a:rPr lang="en-GB" sz="1800" dirty="0">
                <a:latin typeface="Times New Roman"/>
                <a:cs typeface="Times New Roman"/>
              </a:rPr>
              <a:t>heteroatom.</a:t>
            </a:r>
          </a:p>
        </p:txBody>
      </p:sp>
      <p:pic>
        <p:nvPicPr>
          <p:cNvPr id="10" name="Рисунок 9">
            <a:extLst>
              <a:ext uri="{FF2B5EF4-FFF2-40B4-BE49-F238E27FC236}">
                <a16:creationId xmlns:a16="http://schemas.microsoft.com/office/drawing/2014/main" id="{647BC5B4-0C07-46EC-B878-7947C561C241}"/>
              </a:ext>
            </a:extLst>
          </p:cNvPr>
          <p:cNvPicPr>
            <a:picLocks noChangeAspect="1"/>
          </p:cNvPicPr>
          <p:nvPr/>
        </p:nvPicPr>
        <p:blipFill>
          <a:blip r:embed="rId3"/>
          <a:stretch>
            <a:fillRect/>
          </a:stretch>
        </p:blipFill>
        <p:spPr>
          <a:xfrm>
            <a:off x="6975147" y="1366251"/>
            <a:ext cx="3606141" cy="2335124"/>
          </a:xfrm>
          <a:prstGeom prst="rect">
            <a:avLst/>
          </a:prstGeom>
        </p:spPr>
      </p:pic>
      <p:cxnSp>
        <p:nvCxnSpPr>
          <p:cNvPr id="11" name="Прямая соединительная линия 10">
            <a:extLst>
              <a:ext uri="{FF2B5EF4-FFF2-40B4-BE49-F238E27FC236}">
                <a16:creationId xmlns:a16="http://schemas.microsoft.com/office/drawing/2014/main" id="{A6DB5125-0834-4C94-98AE-363C9233CA22}"/>
              </a:ext>
            </a:extLst>
          </p:cNvPr>
          <p:cNvCxnSpPr>
            <a:cxnSpLocks/>
          </p:cNvCxnSpPr>
          <p:nvPr/>
        </p:nvCxnSpPr>
        <p:spPr>
          <a:xfrm>
            <a:off x="6052425" y="310202"/>
            <a:ext cx="0" cy="4905955"/>
          </a:xfrm>
          <a:prstGeom prst="line">
            <a:avLst/>
          </a:prstGeom>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526055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a:extLst>
              <a:ext uri="{FF2B5EF4-FFF2-40B4-BE49-F238E27FC236}">
                <a16:creationId xmlns:a16="http://schemas.microsoft.com/office/drawing/2014/main" id="{0024229D-A786-4553-9063-80CCD75A5CD0}"/>
              </a:ext>
            </a:extLst>
          </p:cNvPr>
          <p:cNvSpPr>
            <a:spLocks noGrp="1"/>
          </p:cNvSpPr>
          <p:nvPr>
            <p:ph type="sldNum" sz="quarter" idx="12"/>
          </p:nvPr>
        </p:nvSpPr>
        <p:spPr/>
        <p:txBody>
          <a:bodyPr/>
          <a:lstStyle/>
          <a:p>
            <a:fld id="{93C419CB-0CF1-4F10-90F9-42551F8968FF}" type="slidenum">
              <a:rPr lang="en-GB" smtClean="0"/>
              <a:t>34</a:t>
            </a:fld>
            <a:endParaRPr lang="en-GB"/>
          </a:p>
        </p:txBody>
      </p:sp>
      <p:sp>
        <p:nvSpPr>
          <p:cNvPr id="3" name="object 2">
            <a:extLst>
              <a:ext uri="{FF2B5EF4-FFF2-40B4-BE49-F238E27FC236}">
                <a16:creationId xmlns:a16="http://schemas.microsoft.com/office/drawing/2014/main" id="{DC03FD79-AAEF-4FCF-BBA6-A338FCCD0ECC}"/>
              </a:ext>
            </a:extLst>
          </p:cNvPr>
          <p:cNvSpPr txBox="1">
            <a:spLocks/>
          </p:cNvSpPr>
          <p:nvPr/>
        </p:nvSpPr>
        <p:spPr>
          <a:xfrm>
            <a:off x="204716" y="257936"/>
            <a:ext cx="11593773" cy="382156"/>
          </a:xfrm>
          <a:prstGeom prst="rect">
            <a:avLst/>
          </a:prstGeom>
        </p:spPr>
        <p:style>
          <a:lnRef idx="1">
            <a:schemeClr val="accent6"/>
          </a:lnRef>
          <a:fillRef idx="2">
            <a:schemeClr val="accent6"/>
          </a:fillRef>
          <a:effectRef idx="1">
            <a:schemeClr val="accent6"/>
          </a:effectRef>
          <a:fontRef idx="minor">
            <a:schemeClr val="dk1"/>
          </a:fontRef>
        </p:style>
        <p:txBody>
          <a:bodyPr vert="horz" wrap="square" lIns="0" tIns="12700" rIns="0" bIns="0" rtlCol="0">
            <a:spAutoFit/>
          </a:bodyPr>
          <a:lstStyle>
            <a:lvl1pPr algn="l" defTabSz="914377" rtl="0" eaLnBrk="1" latinLnBrk="0" hangingPunct="1">
              <a:lnSpc>
                <a:spcPct val="90000"/>
              </a:lnSpc>
              <a:spcBef>
                <a:spcPct val="0"/>
              </a:spcBef>
              <a:buNone/>
              <a:defRPr sz="4400" kern="1200">
                <a:solidFill>
                  <a:schemeClr val="tx1"/>
                </a:solidFill>
                <a:latin typeface="+mj-lt"/>
                <a:ea typeface="+mj-ea"/>
                <a:cs typeface="+mj-cs"/>
              </a:defRPr>
            </a:lvl1pPr>
          </a:lstStyle>
          <a:p>
            <a:pPr marL="12700" marR="5080" algn="ctr">
              <a:lnSpc>
                <a:spcPct val="100000"/>
              </a:lnSpc>
              <a:spcBef>
                <a:spcPts val="100"/>
              </a:spcBef>
              <a:tabLst>
                <a:tab pos="855344" algn="l"/>
                <a:tab pos="1238885" algn="l"/>
                <a:tab pos="2656840" algn="l"/>
                <a:tab pos="3801745" algn="l"/>
                <a:tab pos="5215890" algn="l"/>
              </a:tabLst>
            </a:pPr>
            <a:r>
              <a:rPr lang="en-GB" sz="2400" b="1" spc="-5" dirty="0"/>
              <a:t>Order	of	prefere</a:t>
            </a:r>
            <a:r>
              <a:rPr lang="en-GB" sz="2400" b="1" spc="-15" dirty="0"/>
              <a:t>n</a:t>
            </a:r>
            <a:r>
              <a:rPr lang="en-GB" sz="2400" b="1" spc="-5" dirty="0"/>
              <a:t>ce	b</a:t>
            </a:r>
            <a:r>
              <a:rPr lang="en-GB" sz="2400" b="1" spc="-15" dirty="0"/>
              <a:t>e</a:t>
            </a:r>
            <a:r>
              <a:rPr lang="en-GB" sz="2400" b="1" spc="-5" dirty="0"/>
              <a:t>t</a:t>
            </a:r>
            <a:r>
              <a:rPr lang="en-GB" sz="2400" b="1" spc="-20" dirty="0"/>
              <a:t>w</a:t>
            </a:r>
            <a:r>
              <a:rPr lang="en-GB" sz="2400" b="1" spc="-5" dirty="0"/>
              <a:t>een	al</a:t>
            </a:r>
            <a:r>
              <a:rPr lang="en-GB" sz="2400" b="1" spc="-20" dirty="0"/>
              <a:t>t</a:t>
            </a:r>
            <a:r>
              <a:rPr lang="en-GB" sz="2400" b="1" spc="-5" dirty="0"/>
              <a:t>erna</a:t>
            </a:r>
            <a:r>
              <a:rPr lang="en-GB" sz="2400" b="1" spc="-15" dirty="0"/>
              <a:t>t</a:t>
            </a:r>
            <a:r>
              <a:rPr lang="en-GB" sz="2400" b="1" spc="-5" dirty="0"/>
              <a:t>i</a:t>
            </a:r>
            <a:r>
              <a:rPr lang="en-GB" sz="2400" b="1" spc="-15" dirty="0"/>
              <a:t>v</a:t>
            </a:r>
            <a:r>
              <a:rPr lang="en-GB" sz="2400" b="1" spc="-5" dirty="0"/>
              <a:t>e	nu</a:t>
            </a:r>
            <a:r>
              <a:rPr lang="en-GB" sz="2400" b="1" spc="-25" dirty="0"/>
              <a:t>m</a:t>
            </a:r>
            <a:r>
              <a:rPr lang="en-GB" sz="2400" b="1" spc="-5" dirty="0"/>
              <a:t>bering  </a:t>
            </a:r>
            <a:r>
              <a:rPr lang="en-GB" sz="2400" b="1" dirty="0"/>
              <a:t>system</a:t>
            </a:r>
            <a:r>
              <a:rPr lang="en-GB" sz="2400" b="1" spc="-20" dirty="0"/>
              <a:t> </a:t>
            </a:r>
            <a:r>
              <a:rPr lang="en-GB" sz="2400" b="1" dirty="0"/>
              <a:t>of the</a:t>
            </a:r>
            <a:r>
              <a:rPr lang="en-GB" sz="2400" b="1" spc="-5" dirty="0"/>
              <a:t> </a:t>
            </a:r>
            <a:r>
              <a:rPr lang="en-GB" sz="2400" b="1" dirty="0"/>
              <a:t>whole</a:t>
            </a:r>
            <a:r>
              <a:rPr lang="en-GB" sz="2400" b="1" spc="-15" dirty="0"/>
              <a:t> </a:t>
            </a:r>
            <a:r>
              <a:rPr lang="en-GB" sz="2400" b="1" spc="-5" dirty="0"/>
              <a:t>molecule</a:t>
            </a:r>
          </a:p>
        </p:txBody>
      </p:sp>
      <p:sp>
        <p:nvSpPr>
          <p:cNvPr id="4" name="object 3">
            <a:extLst>
              <a:ext uri="{FF2B5EF4-FFF2-40B4-BE49-F238E27FC236}">
                <a16:creationId xmlns:a16="http://schemas.microsoft.com/office/drawing/2014/main" id="{34AF8177-2B26-4856-AAF2-7C46425BCCE8}"/>
              </a:ext>
            </a:extLst>
          </p:cNvPr>
          <p:cNvSpPr txBox="1"/>
          <p:nvPr/>
        </p:nvSpPr>
        <p:spPr>
          <a:xfrm>
            <a:off x="344943" y="1086151"/>
            <a:ext cx="11453545" cy="3193182"/>
          </a:xfrm>
          <a:prstGeom prst="rect">
            <a:avLst/>
          </a:prstGeom>
        </p:spPr>
        <p:txBody>
          <a:bodyPr vert="horz" wrap="square" lIns="0" tIns="12700" rIns="0" bIns="0" rtlCol="0">
            <a:spAutoFit/>
          </a:bodyPr>
          <a:lstStyle/>
          <a:p>
            <a:pPr marL="355600" indent="-342900">
              <a:lnSpc>
                <a:spcPct val="100000"/>
              </a:lnSpc>
              <a:spcBef>
                <a:spcPts val="100"/>
              </a:spcBef>
              <a:buFont typeface="Arial MT"/>
              <a:buChar char="•"/>
              <a:tabLst>
                <a:tab pos="354965" algn="l"/>
                <a:tab pos="355600" algn="l"/>
              </a:tabLst>
            </a:pPr>
            <a:r>
              <a:rPr sz="1800" spc="-5" dirty="0">
                <a:latin typeface="Times New Roman"/>
                <a:cs typeface="Times New Roman"/>
              </a:rPr>
              <a:t>Numbering</a:t>
            </a:r>
            <a:r>
              <a:rPr sz="1800" spc="375" dirty="0">
                <a:latin typeface="Times New Roman"/>
                <a:cs typeface="Times New Roman"/>
              </a:rPr>
              <a:t> </a:t>
            </a:r>
            <a:r>
              <a:rPr sz="1800" dirty="0">
                <a:latin typeface="Times New Roman"/>
                <a:cs typeface="Times New Roman"/>
              </a:rPr>
              <a:t>the</a:t>
            </a:r>
            <a:r>
              <a:rPr sz="1800" spc="360" dirty="0">
                <a:latin typeface="Times New Roman"/>
                <a:cs typeface="Times New Roman"/>
              </a:rPr>
              <a:t> </a:t>
            </a:r>
            <a:r>
              <a:rPr sz="1800" dirty="0">
                <a:latin typeface="Times New Roman"/>
                <a:cs typeface="Times New Roman"/>
              </a:rPr>
              <a:t>whole</a:t>
            </a:r>
            <a:r>
              <a:rPr sz="1800" spc="370" dirty="0">
                <a:latin typeface="Times New Roman"/>
                <a:cs typeface="Times New Roman"/>
              </a:rPr>
              <a:t> </a:t>
            </a:r>
            <a:r>
              <a:rPr sz="1800" spc="-5" dirty="0">
                <a:latin typeface="Times New Roman"/>
                <a:cs typeface="Times New Roman"/>
              </a:rPr>
              <a:t>fused</a:t>
            </a:r>
            <a:r>
              <a:rPr sz="1800" spc="360" dirty="0">
                <a:latin typeface="Times New Roman"/>
                <a:cs typeface="Times New Roman"/>
              </a:rPr>
              <a:t> </a:t>
            </a:r>
            <a:r>
              <a:rPr sz="1800" spc="-5" dirty="0">
                <a:latin typeface="Times New Roman"/>
                <a:cs typeface="Times New Roman"/>
              </a:rPr>
              <a:t>system</a:t>
            </a:r>
            <a:r>
              <a:rPr sz="1800" spc="360" dirty="0">
                <a:latin typeface="Times New Roman"/>
                <a:cs typeface="Times New Roman"/>
              </a:rPr>
              <a:t> </a:t>
            </a:r>
            <a:r>
              <a:rPr sz="1800" dirty="0">
                <a:latin typeface="Times New Roman"/>
                <a:cs typeface="Times New Roman"/>
              </a:rPr>
              <a:t>should</a:t>
            </a:r>
            <a:r>
              <a:rPr sz="1800" spc="365" dirty="0">
                <a:latin typeface="Times New Roman"/>
                <a:cs typeface="Times New Roman"/>
              </a:rPr>
              <a:t> </a:t>
            </a:r>
            <a:r>
              <a:rPr sz="1800" dirty="0">
                <a:latin typeface="Times New Roman"/>
                <a:cs typeface="Times New Roman"/>
              </a:rPr>
              <a:t>start</a:t>
            </a:r>
            <a:r>
              <a:rPr sz="1800" spc="360" dirty="0">
                <a:latin typeface="Times New Roman"/>
                <a:cs typeface="Times New Roman"/>
              </a:rPr>
              <a:t> </a:t>
            </a:r>
            <a:r>
              <a:rPr sz="1800" dirty="0">
                <a:latin typeface="Times New Roman"/>
                <a:cs typeface="Times New Roman"/>
              </a:rPr>
              <a:t>from</a:t>
            </a:r>
            <a:r>
              <a:rPr sz="1800" spc="355" dirty="0">
                <a:latin typeface="Times New Roman"/>
                <a:cs typeface="Times New Roman"/>
              </a:rPr>
              <a:t> </a:t>
            </a:r>
            <a:r>
              <a:rPr sz="1800" dirty="0">
                <a:latin typeface="Times New Roman"/>
                <a:cs typeface="Times New Roman"/>
              </a:rPr>
              <a:t>the</a:t>
            </a:r>
            <a:r>
              <a:rPr sz="1800" spc="370" dirty="0">
                <a:latin typeface="Times New Roman"/>
                <a:cs typeface="Times New Roman"/>
              </a:rPr>
              <a:t> </a:t>
            </a:r>
            <a:r>
              <a:rPr sz="1800" spc="-5" dirty="0">
                <a:latin typeface="Times New Roman"/>
                <a:cs typeface="Times New Roman"/>
              </a:rPr>
              <a:t>first</a:t>
            </a:r>
            <a:r>
              <a:rPr sz="1800" spc="345" dirty="0">
                <a:latin typeface="Times New Roman"/>
                <a:cs typeface="Times New Roman"/>
              </a:rPr>
              <a:t> </a:t>
            </a:r>
            <a:r>
              <a:rPr sz="1800" dirty="0">
                <a:latin typeface="Times New Roman"/>
                <a:cs typeface="Times New Roman"/>
              </a:rPr>
              <a:t>atom</a:t>
            </a:r>
            <a:r>
              <a:rPr sz="1800" spc="355" dirty="0">
                <a:latin typeface="Times New Roman"/>
                <a:cs typeface="Times New Roman"/>
              </a:rPr>
              <a:t> </a:t>
            </a:r>
            <a:r>
              <a:rPr sz="1800" dirty="0">
                <a:latin typeface="Times New Roman"/>
                <a:cs typeface="Times New Roman"/>
              </a:rPr>
              <a:t>after</a:t>
            </a:r>
            <a:r>
              <a:rPr lang="en-GB" sz="1800" dirty="0">
                <a:latin typeface="Times New Roman"/>
                <a:cs typeface="Times New Roman"/>
              </a:rPr>
              <a:t> </a:t>
            </a:r>
            <a:r>
              <a:rPr sz="1800" spc="-5" dirty="0">
                <a:latin typeface="Times New Roman"/>
                <a:cs typeface="Times New Roman"/>
              </a:rPr>
              <a:t>fusion</a:t>
            </a:r>
            <a:r>
              <a:rPr sz="1800" spc="-10" dirty="0">
                <a:latin typeface="Times New Roman"/>
                <a:cs typeface="Times New Roman"/>
              </a:rPr>
              <a:t> </a:t>
            </a:r>
            <a:r>
              <a:rPr sz="1800" dirty="0">
                <a:latin typeface="Times New Roman"/>
                <a:cs typeface="Times New Roman"/>
              </a:rPr>
              <a:t>in</a:t>
            </a:r>
            <a:r>
              <a:rPr sz="1800" spc="5" dirty="0">
                <a:latin typeface="Times New Roman"/>
                <a:cs typeface="Times New Roman"/>
              </a:rPr>
              <a:t> </a:t>
            </a:r>
            <a:r>
              <a:rPr sz="1800" dirty="0">
                <a:latin typeface="Times New Roman"/>
                <a:cs typeface="Times New Roman"/>
              </a:rPr>
              <a:t>any</a:t>
            </a:r>
            <a:r>
              <a:rPr sz="1800" spc="-10" dirty="0">
                <a:latin typeface="Times New Roman"/>
                <a:cs typeface="Times New Roman"/>
              </a:rPr>
              <a:t> </a:t>
            </a:r>
            <a:r>
              <a:rPr sz="1800" dirty="0">
                <a:latin typeface="Times New Roman"/>
                <a:cs typeface="Times New Roman"/>
              </a:rPr>
              <a:t>direction</a:t>
            </a:r>
            <a:r>
              <a:rPr sz="1800" spc="-20" dirty="0">
                <a:latin typeface="Times New Roman"/>
                <a:cs typeface="Times New Roman"/>
              </a:rPr>
              <a:t> </a:t>
            </a:r>
            <a:r>
              <a:rPr sz="1800" dirty="0">
                <a:latin typeface="Times New Roman"/>
                <a:cs typeface="Times New Roman"/>
              </a:rPr>
              <a:t>to</a:t>
            </a:r>
            <a:r>
              <a:rPr sz="1800" spc="-5" dirty="0">
                <a:latin typeface="Times New Roman"/>
                <a:cs typeface="Times New Roman"/>
              </a:rPr>
              <a:t> </a:t>
            </a:r>
            <a:r>
              <a:rPr sz="1800" dirty="0">
                <a:latin typeface="Times New Roman"/>
                <a:cs typeface="Times New Roman"/>
              </a:rPr>
              <a:t>fulfill</a:t>
            </a:r>
            <a:r>
              <a:rPr sz="1800" spc="-20" dirty="0">
                <a:latin typeface="Times New Roman"/>
                <a:cs typeface="Times New Roman"/>
              </a:rPr>
              <a:t> </a:t>
            </a:r>
            <a:r>
              <a:rPr sz="1800" dirty="0">
                <a:latin typeface="Times New Roman"/>
                <a:cs typeface="Times New Roman"/>
              </a:rPr>
              <a:t>the</a:t>
            </a:r>
            <a:r>
              <a:rPr sz="1800" spc="-5" dirty="0">
                <a:latin typeface="Times New Roman"/>
                <a:cs typeface="Times New Roman"/>
              </a:rPr>
              <a:t> </a:t>
            </a:r>
            <a:r>
              <a:rPr sz="1800" dirty="0">
                <a:latin typeface="Times New Roman"/>
                <a:cs typeface="Times New Roman"/>
              </a:rPr>
              <a:t>following</a:t>
            </a:r>
            <a:r>
              <a:rPr sz="1800" spc="-5" dirty="0">
                <a:latin typeface="Times New Roman"/>
                <a:cs typeface="Times New Roman"/>
              </a:rPr>
              <a:t> </a:t>
            </a:r>
            <a:r>
              <a:rPr sz="1800" dirty="0">
                <a:latin typeface="Times New Roman"/>
                <a:cs typeface="Times New Roman"/>
              </a:rPr>
              <a:t>rules</a:t>
            </a:r>
            <a:r>
              <a:rPr sz="1800" spc="-15" dirty="0">
                <a:latin typeface="Times New Roman"/>
                <a:cs typeface="Times New Roman"/>
              </a:rPr>
              <a:t> </a:t>
            </a:r>
            <a:r>
              <a:rPr sz="1800" dirty="0">
                <a:latin typeface="Times New Roman"/>
                <a:cs typeface="Times New Roman"/>
              </a:rPr>
              <a:t>in</a:t>
            </a:r>
            <a:r>
              <a:rPr sz="1800" spc="-10" dirty="0">
                <a:latin typeface="Times New Roman"/>
                <a:cs typeface="Times New Roman"/>
              </a:rPr>
              <a:t> </a:t>
            </a:r>
            <a:r>
              <a:rPr sz="1800" dirty="0">
                <a:latin typeface="Times New Roman"/>
                <a:cs typeface="Times New Roman"/>
              </a:rPr>
              <a:t>order:</a:t>
            </a:r>
          </a:p>
          <a:p>
            <a:pPr marL="12700">
              <a:spcBef>
                <a:spcPts val="434"/>
              </a:spcBef>
              <a:tabLst>
                <a:tab pos="545465" algn="l"/>
              </a:tabLst>
            </a:pPr>
            <a:r>
              <a:rPr sz="1800" dirty="0">
                <a:latin typeface="Times New Roman"/>
                <a:cs typeface="Times New Roman"/>
              </a:rPr>
              <a:t>a)	Give</a:t>
            </a:r>
            <a:r>
              <a:rPr sz="1800" spc="-5" dirty="0">
                <a:latin typeface="Times New Roman"/>
                <a:cs typeface="Times New Roman"/>
              </a:rPr>
              <a:t> low</a:t>
            </a:r>
            <a:r>
              <a:rPr sz="1800" dirty="0">
                <a:latin typeface="Times New Roman"/>
                <a:cs typeface="Times New Roman"/>
              </a:rPr>
              <a:t> </a:t>
            </a:r>
            <a:r>
              <a:rPr sz="1800" spc="-5" dirty="0">
                <a:latin typeface="Times New Roman"/>
                <a:cs typeface="Times New Roman"/>
              </a:rPr>
              <a:t>numbers </a:t>
            </a:r>
            <a:r>
              <a:rPr sz="1800" dirty="0">
                <a:latin typeface="Times New Roman"/>
                <a:cs typeface="Times New Roman"/>
              </a:rPr>
              <a:t>for</a:t>
            </a:r>
            <a:r>
              <a:rPr sz="1800" spc="-15" dirty="0">
                <a:latin typeface="Times New Roman"/>
                <a:cs typeface="Times New Roman"/>
              </a:rPr>
              <a:t> </a:t>
            </a:r>
            <a:r>
              <a:rPr sz="1800" dirty="0">
                <a:latin typeface="Times New Roman"/>
                <a:cs typeface="Times New Roman"/>
              </a:rPr>
              <a:t>the heteroatoms</a:t>
            </a:r>
            <a:r>
              <a:rPr sz="1800" spc="-10" dirty="0">
                <a:latin typeface="Times New Roman"/>
                <a:cs typeface="Times New Roman"/>
              </a:rPr>
              <a:t> </a:t>
            </a:r>
            <a:r>
              <a:rPr sz="1800" spc="-5" dirty="0">
                <a:latin typeface="Times New Roman"/>
                <a:cs typeface="Times New Roman"/>
              </a:rPr>
              <a:t>as </a:t>
            </a:r>
            <a:r>
              <a:rPr sz="1800" dirty="0">
                <a:latin typeface="Times New Roman"/>
                <a:cs typeface="Times New Roman"/>
              </a:rPr>
              <a:t>a</a:t>
            </a:r>
            <a:r>
              <a:rPr sz="1800" spc="-5" dirty="0">
                <a:latin typeface="Times New Roman"/>
                <a:cs typeface="Times New Roman"/>
              </a:rPr>
              <a:t> set</a:t>
            </a:r>
            <a:r>
              <a:rPr lang="en-GB" sz="1800" spc="-5" dirty="0">
                <a:latin typeface="Times New Roman"/>
                <a:cs typeface="Times New Roman"/>
              </a:rPr>
              <a:t>	b) </a:t>
            </a:r>
            <a:r>
              <a:rPr lang="en-GB" sz="1700" dirty="0">
                <a:latin typeface="Times New Roman"/>
                <a:cs typeface="Times New Roman"/>
              </a:rPr>
              <a:t>Give</a:t>
            </a:r>
            <a:r>
              <a:rPr lang="en-GB" sz="1700" spc="-5" dirty="0">
                <a:latin typeface="Times New Roman"/>
                <a:cs typeface="Times New Roman"/>
              </a:rPr>
              <a:t> </a:t>
            </a:r>
            <a:r>
              <a:rPr lang="en-GB" sz="1700" dirty="0">
                <a:latin typeface="Times New Roman"/>
                <a:cs typeface="Times New Roman"/>
              </a:rPr>
              <a:t>low </a:t>
            </a:r>
            <a:r>
              <a:rPr lang="en-GB" sz="1700" spc="-5" dirty="0">
                <a:latin typeface="Times New Roman"/>
                <a:cs typeface="Times New Roman"/>
              </a:rPr>
              <a:t>numbers</a:t>
            </a:r>
            <a:r>
              <a:rPr lang="en-GB" sz="1700" dirty="0">
                <a:latin typeface="Times New Roman"/>
                <a:cs typeface="Times New Roman"/>
              </a:rPr>
              <a:t> for</a:t>
            </a:r>
            <a:r>
              <a:rPr lang="en-GB" sz="1700" spc="-10" dirty="0">
                <a:latin typeface="Times New Roman"/>
                <a:cs typeface="Times New Roman"/>
              </a:rPr>
              <a:t> </a:t>
            </a:r>
            <a:r>
              <a:rPr lang="en-GB" sz="1700" dirty="0">
                <a:latin typeface="Times New Roman"/>
                <a:cs typeface="Times New Roman"/>
              </a:rPr>
              <a:t>heteroatoms</a:t>
            </a:r>
            <a:r>
              <a:rPr lang="en-GB" sz="1700" spc="-25" dirty="0">
                <a:latin typeface="Times New Roman"/>
                <a:cs typeface="Times New Roman"/>
              </a:rPr>
              <a:t> </a:t>
            </a:r>
            <a:r>
              <a:rPr lang="en-GB" sz="1700" spc="-5" dirty="0">
                <a:latin typeface="Times New Roman"/>
                <a:cs typeface="Times New Roman"/>
              </a:rPr>
              <a:t>of</a:t>
            </a:r>
            <a:r>
              <a:rPr lang="en-GB" sz="1700" spc="5" dirty="0">
                <a:latin typeface="Times New Roman"/>
                <a:cs typeface="Times New Roman"/>
              </a:rPr>
              <a:t> </a:t>
            </a:r>
            <a:r>
              <a:rPr lang="en-GB" sz="1700" dirty="0">
                <a:latin typeface="Times New Roman"/>
                <a:cs typeface="Times New Roman"/>
              </a:rPr>
              <a:t>higher</a:t>
            </a:r>
            <a:r>
              <a:rPr lang="en-GB" sz="1700" spc="-5" dirty="0">
                <a:latin typeface="Times New Roman"/>
                <a:cs typeface="Times New Roman"/>
              </a:rPr>
              <a:t> </a:t>
            </a:r>
            <a:r>
              <a:rPr lang="en-GB" sz="1700" dirty="0">
                <a:latin typeface="Times New Roman"/>
                <a:cs typeface="Times New Roman"/>
              </a:rPr>
              <a:t>priority</a:t>
            </a:r>
            <a:r>
              <a:rPr lang="en-GB" sz="1700" spc="-20" dirty="0">
                <a:latin typeface="Times New Roman"/>
                <a:cs typeface="Times New Roman"/>
              </a:rPr>
              <a:t> </a:t>
            </a:r>
            <a:r>
              <a:rPr lang="en-GB" sz="1700" dirty="0">
                <a:latin typeface="Times New Roman"/>
                <a:cs typeface="Times New Roman"/>
              </a:rPr>
              <a:t>i.e.</a:t>
            </a:r>
            <a:r>
              <a:rPr lang="en-GB" sz="1700" spc="-15" dirty="0">
                <a:latin typeface="Times New Roman"/>
                <a:cs typeface="Times New Roman"/>
              </a:rPr>
              <a:t> </a:t>
            </a:r>
            <a:r>
              <a:rPr lang="en-GB" sz="1700" spc="-5" dirty="0">
                <a:latin typeface="Times New Roman"/>
                <a:cs typeface="Times New Roman"/>
              </a:rPr>
              <a:t>O, S, </a:t>
            </a:r>
            <a:r>
              <a:rPr lang="en-GB" sz="1700" dirty="0">
                <a:latin typeface="Times New Roman"/>
                <a:cs typeface="Times New Roman"/>
              </a:rPr>
              <a:t>N</a:t>
            </a:r>
          </a:p>
          <a:p>
            <a:pPr marL="12700">
              <a:lnSpc>
                <a:spcPct val="100000"/>
              </a:lnSpc>
              <a:spcBef>
                <a:spcPts val="434"/>
              </a:spcBef>
              <a:tabLst>
                <a:tab pos="545465" algn="l"/>
              </a:tabLst>
            </a:pPr>
            <a:endParaRPr lang="en-GB" sz="1800" spc="-5" dirty="0">
              <a:latin typeface="Times New Roman"/>
              <a:cs typeface="Times New Roman"/>
            </a:endParaRPr>
          </a:p>
          <a:p>
            <a:pPr marL="12700">
              <a:lnSpc>
                <a:spcPct val="100000"/>
              </a:lnSpc>
              <a:spcBef>
                <a:spcPts val="434"/>
              </a:spcBef>
              <a:tabLst>
                <a:tab pos="545465" algn="l"/>
              </a:tabLst>
            </a:pPr>
            <a:endParaRPr lang="en-GB" spc="-5" dirty="0">
              <a:latin typeface="Times New Roman"/>
              <a:cs typeface="Times New Roman"/>
            </a:endParaRPr>
          </a:p>
          <a:p>
            <a:pPr marL="12700">
              <a:lnSpc>
                <a:spcPct val="100000"/>
              </a:lnSpc>
              <a:spcBef>
                <a:spcPts val="434"/>
              </a:spcBef>
              <a:tabLst>
                <a:tab pos="545465" algn="l"/>
              </a:tabLst>
            </a:pPr>
            <a:endParaRPr lang="en-GB" sz="1800" spc="-5" dirty="0">
              <a:latin typeface="Times New Roman"/>
              <a:cs typeface="Times New Roman"/>
            </a:endParaRPr>
          </a:p>
          <a:p>
            <a:pPr marL="12700">
              <a:lnSpc>
                <a:spcPct val="100000"/>
              </a:lnSpc>
              <a:spcBef>
                <a:spcPts val="434"/>
              </a:spcBef>
              <a:tabLst>
                <a:tab pos="545465" algn="l"/>
              </a:tabLst>
            </a:pPr>
            <a:endParaRPr lang="en-GB" spc="-5" dirty="0">
              <a:latin typeface="Times New Roman"/>
              <a:cs typeface="Times New Roman"/>
            </a:endParaRPr>
          </a:p>
          <a:p>
            <a:pPr marL="12700">
              <a:lnSpc>
                <a:spcPct val="100000"/>
              </a:lnSpc>
              <a:spcBef>
                <a:spcPts val="434"/>
              </a:spcBef>
              <a:tabLst>
                <a:tab pos="545465" algn="l"/>
              </a:tabLst>
            </a:pPr>
            <a:endParaRPr lang="en-GB" sz="1800" spc="-5" dirty="0">
              <a:latin typeface="Times New Roman"/>
              <a:cs typeface="Times New Roman"/>
            </a:endParaRPr>
          </a:p>
          <a:p>
            <a:pPr marL="12700">
              <a:lnSpc>
                <a:spcPct val="100000"/>
              </a:lnSpc>
              <a:spcBef>
                <a:spcPts val="434"/>
              </a:spcBef>
              <a:tabLst>
                <a:tab pos="545465" algn="l"/>
              </a:tabLst>
            </a:pPr>
            <a:endParaRPr lang="en-GB" spc="-5" dirty="0">
              <a:latin typeface="Times New Roman"/>
              <a:cs typeface="Times New Roman"/>
            </a:endParaRPr>
          </a:p>
          <a:p>
            <a:pPr marL="12700">
              <a:lnSpc>
                <a:spcPct val="100000"/>
              </a:lnSpc>
              <a:spcBef>
                <a:spcPts val="434"/>
              </a:spcBef>
              <a:tabLst>
                <a:tab pos="545465" algn="l"/>
              </a:tabLst>
            </a:pPr>
            <a:endParaRPr sz="1800" dirty="0">
              <a:latin typeface="Times New Roman"/>
              <a:cs typeface="Times New Roman"/>
            </a:endParaRPr>
          </a:p>
        </p:txBody>
      </p:sp>
      <p:pic>
        <p:nvPicPr>
          <p:cNvPr id="6" name="Рисунок 5">
            <a:extLst>
              <a:ext uri="{FF2B5EF4-FFF2-40B4-BE49-F238E27FC236}">
                <a16:creationId xmlns:a16="http://schemas.microsoft.com/office/drawing/2014/main" id="{8F7E261D-3F89-4AFB-A70A-EEC9A6C2E745}"/>
              </a:ext>
            </a:extLst>
          </p:cNvPr>
          <p:cNvPicPr>
            <a:picLocks noChangeAspect="1"/>
          </p:cNvPicPr>
          <p:nvPr/>
        </p:nvPicPr>
        <p:blipFill>
          <a:blip r:embed="rId2"/>
          <a:stretch>
            <a:fillRect/>
          </a:stretch>
        </p:blipFill>
        <p:spPr>
          <a:xfrm>
            <a:off x="344943" y="2016169"/>
            <a:ext cx="4827341" cy="1526292"/>
          </a:xfrm>
          <a:prstGeom prst="rect">
            <a:avLst/>
          </a:prstGeom>
        </p:spPr>
      </p:pic>
      <p:pic>
        <p:nvPicPr>
          <p:cNvPr id="8" name="Рисунок 7">
            <a:extLst>
              <a:ext uri="{FF2B5EF4-FFF2-40B4-BE49-F238E27FC236}">
                <a16:creationId xmlns:a16="http://schemas.microsoft.com/office/drawing/2014/main" id="{051DDD6F-6F5E-4F33-8BCF-8F54C69BCA9F}"/>
              </a:ext>
            </a:extLst>
          </p:cNvPr>
          <p:cNvPicPr>
            <a:picLocks noChangeAspect="1"/>
          </p:cNvPicPr>
          <p:nvPr/>
        </p:nvPicPr>
        <p:blipFill>
          <a:blip r:embed="rId3"/>
          <a:stretch>
            <a:fillRect/>
          </a:stretch>
        </p:blipFill>
        <p:spPr>
          <a:xfrm>
            <a:off x="6001602" y="2082089"/>
            <a:ext cx="3151737" cy="1613212"/>
          </a:xfrm>
          <a:prstGeom prst="rect">
            <a:avLst/>
          </a:prstGeom>
        </p:spPr>
      </p:pic>
      <p:sp>
        <p:nvSpPr>
          <p:cNvPr id="9" name="object 3">
            <a:extLst>
              <a:ext uri="{FF2B5EF4-FFF2-40B4-BE49-F238E27FC236}">
                <a16:creationId xmlns:a16="http://schemas.microsoft.com/office/drawing/2014/main" id="{D5FD5262-5F7D-4146-8B00-6A090D0EAB5F}"/>
              </a:ext>
            </a:extLst>
          </p:cNvPr>
          <p:cNvSpPr txBox="1"/>
          <p:nvPr/>
        </p:nvSpPr>
        <p:spPr>
          <a:xfrm>
            <a:off x="488462" y="3927065"/>
            <a:ext cx="4394835" cy="299720"/>
          </a:xfrm>
          <a:prstGeom prst="rect">
            <a:avLst/>
          </a:prstGeom>
        </p:spPr>
        <p:txBody>
          <a:bodyPr vert="horz" wrap="square" lIns="0" tIns="12700" rIns="0" bIns="0" rtlCol="0">
            <a:spAutoFit/>
          </a:bodyPr>
          <a:lstStyle/>
          <a:p>
            <a:pPr marL="12700">
              <a:lnSpc>
                <a:spcPct val="100000"/>
              </a:lnSpc>
              <a:spcBef>
                <a:spcPts val="100"/>
              </a:spcBef>
              <a:tabLst>
                <a:tab pos="546100" algn="l"/>
              </a:tabLst>
            </a:pPr>
            <a:r>
              <a:rPr sz="1800" dirty="0">
                <a:latin typeface="Times New Roman"/>
                <a:cs typeface="Times New Roman"/>
              </a:rPr>
              <a:t>c)	Give</a:t>
            </a:r>
            <a:r>
              <a:rPr sz="1800" spc="-15" dirty="0">
                <a:latin typeface="Times New Roman"/>
                <a:cs typeface="Times New Roman"/>
              </a:rPr>
              <a:t> </a:t>
            </a:r>
            <a:r>
              <a:rPr sz="1800" spc="-5" dirty="0">
                <a:latin typeface="Times New Roman"/>
                <a:cs typeface="Times New Roman"/>
              </a:rPr>
              <a:t>low</a:t>
            </a:r>
            <a:r>
              <a:rPr sz="1800" dirty="0">
                <a:latin typeface="Times New Roman"/>
                <a:cs typeface="Times New Roman"/>
              </a:rPr>
              <a:t> </a:t>
            </a:r>
            <a:r>
              <a:rPr sz="1800" spc="-5" dirty="0">
                <a:latin typeface="Times New Roman"/>
                <a:cs typeface="Times New Roman"/>
              </a:rPr>
              <a:t>numbers</a:t>
            </a:r>
            <a:r>
              <a:rPr sz="1800" dirty="0">
                <a:latin typeface="Times New Roman"/>
                <a:cs typeface="Times New Roman"/>
              </a:rPr>
              <a:t> to</a:t>
            </a:r>
            <a:r>
              <a:rPr sz="1800" spc="-15" dirty="0">
                <a:latin typeface="Times New Roman"/>
                <a:cs typeface="Times New Roman"/>
              </a:rPr>
              <a:t> </a:t>
            </a:r>
            <a:r>
              <a:rPr sz="1800" dirty="0">
                <a:latin typeface="Times New Roman"/>
                <a:cs typeface="Times New Roman"/>
              </a:rPr>
              <a:t>fusion carbon</a:t>
            </a:r>
            <a:r>
              <a:rPr sz="1800" spc="-20" dirty="0">
                <a:latin typeface="Times New Roman"/>
                <a:cs typeface="Times New Roman"/>
              </a:rPr>
              <a:t> </a:t>
            </a:r>
            <a:r>
              <a:rPr sz="1800" spc="-5" dirty="0">
                <a:latin typeface="Times New Roman"/>
                <a:cs typeface="Times New Roman"/>
              </a:rPr>
              <a:t>atoms</a:t>
            </a:r>
            <a:endParaRPr sz="1800" dirty="0">
              <a:latin typeface="Times New Roman"/>
              <a:cs typeface="Times New Roman"/>
            </a:endParaRPr>
          </a:p>
        </p:txBody>
      </p:sp>
      <p:sp>
        <p:nvSpPr>
          <p:cNvPr id="11" name="TextBox 10">
            <a:extLst>
              <a:ext uri="{FF2B5EF4-FFF2-40B4-BE49-F238E27FC236}">
                <a16:creationId xmlns:a16="http://schemas.microsoft.com/office/drawing/2014/main" id="{6F0000F6-38C9-4002-9DA2-F8E71E507AB6}"/>
              </a:ext>
            </a:extLst>
          </p:cNvPr>
          <p:cNvSpPr txBox="1"/>
          <p:nvPr/>
        </p:nvSpPr>
        <p:spPr>
          <a:xfrm>
            <a:off x="5292324" y="3910001"/>
            <a:ext cx="6097136" cy="369332"/>
          </a:xfrm>
          <a:prstGeom prst="rect">
            <a:avLst/>
          </a:prstGeom>
          <a:noFill/>
        </p:spPr>
        <p:txBody>
          <a:bodyPr wrap="square">
            <a:spAutoFit/>
          </a:bodyPr>
          <a:lstStyle/>
          <a:p>
            <a:pPr marL="12700">
              <a:lnSpc>
                <a:spcPct val="100000"/>
              </a:lnSpc>
              <a:spcBef>
                <a:spcPts val="100"/>
              </a:spcBef>
              <a:tabLst>
                <a:tab pos="546100" algn="l"/>
              </a:tabLst>
            </a:pPr>
            <a:r>
              <a:rPr lang="en-GB" sz="1800" spc="-5" dirty="0">
                <a:latin typeface="Times New Roman"/>
                <a:cs typeface="Times New Roman"/>
              </a:rPr>
              <a:t>d)	</a:t>
            </a:r>
            <a:r>
              <a:rPr lang="en-GB" sz="1800" dirty="0">
                <a:latin typeface="Times New Roman"/>
                <a:cs typeface="Times New Roman"/>
              </a:rPr>
              <a:t>Give</a:t>
            </a:r>
            <a:r>
              <a:rPr lang="en-GB" sz="1800" spc="-15" dirty="0">
                <a:latin typeface="Times New Roman"/>
                <a:cs typeface="Times New Roman"/>
              </a:rPr>
              <a:t> </a:t>
            </a:r>
            <a:r>
              <a:rPr lang="en-GB" sz="1800" dirty="0">
                <a:latin typeface="Times New Roman"/>
                <a:cs typeface="Times New Roman"/>
              </a:rPr>
              <a:t>low </a:t>
            </a:r>
            <a:r>
              <a:rPr lang="en-GB" sz="1800" spc="-5" dirty="0">
                <a:latin typeface="Times New Roman"/>
                <a:cs typeface="Times New Roman"/>
              </a:rPr>
              <a:t>numbers</a:t>
            </a:r>
            <a:r>
              <a:rPr lang="en-GB" sz="1800" spc="5" dirty="0">
                <a:latin typeface="Times New Roman"/>
                <a:cs typeface="Times New Roman"/>
              </a:rPr>
              <a:t> </a:t>
            </a:r>
            <a:r>
              <a:rPr lang="en-GB" sz="1800" dirty="0">
                <a:latin typeface="Times New Roman"/>
                <a:cs typeface="Times New Roman"/>
              </a:rPr>
              <a:t>to</a:t>
            </a:r>
            <a:r>
              <a:rPr lang="en-GB" sz="1800" spc="-15" dirty="0">
                <a:latin typeface="Times New Roman"/>
                <a:cs typeface="Times New Roman"/>
              </a:rPr>
              <a:t> </a:t>
            </a:r>
            <a:r>
              <a:rPr lang="en-GB" sz="1800" dirty="0">
                <a:latin typeface="Times New Roman"/>
                <a:cs typeface="Times New Roman"/>
              </a:rPr>
              <a:t>indicated</a:t>
            </a:r>
            <a:r>
              <a:rPr lang="en-GB" sz="1800" spc="-15" dirty="0">
                <a:latin typeface="Times New Roman"/>
                <a:cs typeface="Times New Roman"/>
              </a:rPr>
              <a:t> </a:t>
            </a:r>
            <a:r>
              <a:rPr lang="en-GB" sz="1800" dirty="0">
                <a:latin typeface="Times New Roman"/>
                <a:cs typeface="Times New Roman"/>
              </a:rPr>
              <a:t>hydrogen</a:t>
            </a:r>
            <a:r>
              <a:rPr lang="en-GB" sz="1800" spc="-30" dirty="0">
                <a:latin typeface="Times New Roman"/>
                <a:cs typeface="Times New Roman"/>
              </a:rPr>
              <a:t> </a:t>
            </a:r>
            <a:r>
              <a:rPr lang="en-GB" sz="1800" dirty="0">
                <a:latin typeface="Times New Roman"/>
                <a:cs typeface="Times New Roman"/>
              </a:rPr>
              <a:t>atom</a:t>
            </a:r>
          </a:p>
        </p:txBody>
      </p:sp>
      <p:pic>
        <p:nvPicPr>
          <p:cNvPr id="13" name="Рисунок 12">
            <a:extLst>
              <a:ext uri="{FF2B5EF4-FFF2-40B4-BE49-F238E27FC236}">
                <a16:creationId xmlns:a16="http://schemas.microsoft.com/office/drawing/2014/main" id="{ACCFD339-C7C8-4A07-87E3-12FD5049A67D}"/>
              </a:ext>
            </a:extLst>
          </p:cNvPr>
          <p:cNvPicPr>
            <a:picLocks noChangeAspect="1"/>
          </p:cNvPicPr>
          <p:nvPr/>
        </p:nvPicPr>
        <p:blipFill>
          <a:blip r:embed="rId4"/>
          <a:stretch>
            <a:fillRect/>
          </a:stretch>
        </p:blipFill>
        <p:spPr>
          <a:xfrm>
            <a:off x="753243" y="4411420"/>
            <a:ext cx="4937000" cy="1764191"/>
          </a:xfrm>
          <a:prstGeom prst="rect">
            <a:avLst/>
          </a:prstGeom>
        </p:spPr>
      </p:pic>
      <p:pic>
        <p:nvPicPr>
          <p:cNvPr id="15" name="Рисунок 14">
            <a:extLst>
              <a:ext uri="{FF2B5EF4-FFF2-40B4-BE49-F238E27FC236}">
                <a16:creationId xmlns:a16="http://schemas.microsoft.com/office/drawing/2014/main" id="{1A25FB9D-9A44-4DFE-89B5-F4F2907F1AF9}"/>
              </a:ext>
            </a:extLst>
          </p:cNvPr>
          <p:cNvPicPr>
            <a:picLocks noChangeAspect="1"/>
          </p:cNvPicPr>
          <p:nvPr/>
        </p:nvPicPr>
        <p:blipFill>
          <a:blip r:embed="rId5"/>
          <a:stretch>
            <a:fillRect/>
          </a:stretch>
        </p:blipFill>
        <p:spPr>
          <a:xfrm>
            <a:off x="6501758" y="4494033"/>
            <a:ext cx="4460177" cy="1862319"/>
          </a:xfrm>
          <a:prstGeom prst="rect">
            <a:avLst/>
          </a:prstGeom>
        </p:spPr>
      </p:pic>
    </p:spTree>
    <p:extLst>
      <p:ext uri="{BB962C8B-B14F-4D97-AF65-F5344CB8AC3E}">
        <p14:creationId xmlns:p14="http://schemas.microsoft.com/office/powerpoint/2010/main" val="242283257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a:extLst>
              <a:ext uri="{FF2B5EF4-FFF2-40B4-BE49-F238E27FC236}">
                <a16:creationId xmlns:a16="http://schemas.microsoft.com/office/drawing/2014/main" id="{AD0027CB-6C1D-45D6-91D7-F8684607970A}"/>
              </a:ext>
            </a:extLst>
          </p:cNvPr>
          <p:cNvSpPr>
            <a:spLocks noGrp="1"/>
          </p:cNvSpPr>
          <p:nvPr>
            <p:ph type="sldNum" sz="quarter" idx="12"/>
          </p:nvPr>
        </p:nvSpPr>
        <p:spPr/>
        <p:txBody>
          <a:bodyPr/>
          <a:lstStyle/>
          <a:p>
            <a:fld id="{93C419CB-0CF1-4F10-90F9-42551F8968FF}" type="slidenum">
              <a:rPr lang="en-GB" smtClean="0"/>
              <a:t>35</a:t>
            </a:fld>
            <a:endParaRPr lang="en-GB"/>
          </a:p>
        </p:txBody>
      </p:sp>
      <p:sp>
        <p:nvSpPr>
          <p:cNvPr id="4" name="Rectangle 3">
            <a:extLst>
              <a:ext uri="{FF2B5EF4-FFF2-40B4-BE49-F238E27FC236}">
                <a16:creationId xmlns:a16="http://schemas.microsoft.com/office/drawing/2014/main" id="{4E4EC4F1-7885-43F3-8608-17ED6C2E1F47}"/>
              </a:ext>
            </a:extLst>
          </p:cNvPr>
          <p:cNvSpPr txBox="1">
            <a:spLocks noChangeArrowheads="1"/>
          </p:cNvSpPr>
          <p:nvPr/>
        </p:nvSpPr>
        <p:spPr>
          <a:xfrm>
            <a:off x="0" y="1154394"/>
            <a:ext cx="6519746" cy="1001713"/>
          </a:xfrm>
          <a:prstGeom prst="rect">
            <a:avLst/>
          </a:prstGeom>
        </p:spPr>
        <p:txBody>
          <a:bodyPr/>
          <a:lst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80000"/>
              </a:lnSpc>
              <a:buNone/>
            </a:pPr>
            <a:r>
              <a:rPr lang="en-US" altLang="en-US" sz="1800" dirty="0"/>
              <a:t>Fused heterocyclic system is numbered independently of combining components. The numbering is started from the atom adjacent to the bridgehead position with the lowest possible locant(s) to the heteroatom(s). If there is choice, priority is given according to the table.</a:t>
            </a:r>
          </a:p>
        </p:txBody>
      </p:sp>
      <p:pic>
        <p:nvPicPr>
          <p:cNvPr id="5" name="Picture 4">
            <a:extLst>
              <a:ext uri="{FF2B5EF4-FFF2-40B4-BE49-F238E27FC236}">
                <a16:creationId xmlns:a16="http://schemas.microsoft.com/office/drawing/2014/main" id="{2DB69474-D37E-42BB-A8AB-40D65A56672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6664155" y="1017587"/>
            <a:ext cx="5239345" cy="1377512"/>
          </a:xfrm>
          <a:prstGeom prst="rect">
            <a:avLst/>
          </a:prstGeom>
          <a:noFill/>
          <a:ln/>
        </p:spPr>
      </p:pic>
      <p:sp>
        <p:nvSpPr>
          <p:cNvPr id="6" name="Rectangle 6">
            <a:extLst>
              <a:ext uri="{FF2B5EF4-FFF2-40B4-BE49-F238E27FC236}">
                <a16:creationId xmlns:a16="http://schemas.microsoft.com/office/drawing/2014/main" id="{33C0AB97-9B55-45EE-9F29-A92E5210F043}"/>
              </a:ext>
            </a:extLst>
          </p:cNvPr>
          <p:cNvSpPr>
            <a:spLocks noChangeArrowheads="1"/>
          </p:cNvSpPr>
          <p:nvPr/>
        </p:nvSpPr>
        <p:spPr bwMode="auto">
          <a:xfrm>
            <a:off x="4740700" y="3097453"/>
            <a:ext cx="71628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en-US" dirty="0"/>
              <a:t>Carbon atom common to two rings is given the lowest possible position, both not numbered. However, the common heteroatom is numbered.</a:t>
            </a:r>
          </a:p>
        </p:txBody>
      </p:sp>
      <p:sp>
        <p:nvSpPr>
          <p:cNvPr id="7" name="Rectangle 7">
            <a:extLst>
              <a:ext uri="{FF2B5EF4-FFF2-40B4-BE49-F238E27FC236}">
                <a16:creationId xmlns:a16="http://schemas.microsoft.com/office/drawing/2014/main" id="{C1F346D7-2AC5-422F-A085-D94505E20E97}"/>
              </a:ext>
            </a:extLst>
          </p:cNvPr>
          <p:cNvSpPr>
            <a:spLocks noChangeArrowheads="1"/>
          </p:cNvSpPr>
          <p:nvPr/>
        </p:nvSpPr>
        <p:spPr bwMode="auto">
          <a:xfrm>
            <a:off x="315666" y="4566565"/>
            <a:ext cx="69342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en-US" dirty="0"/>
              <a:t>The position of a saturated atom is indicated by an italic hydrogen and is given the lowest possible number locant.</a:t>
            </a:r>
          </a:p>
        </p:txBody>
      </p:sp>
      <p:pic>
        <p:nvPicPr>
          <p:cNvPr id="8" name="Picture 8">
            <a:extLst>
              <a:ext uri="{FF2B5EF4-FFF2-40B4-BE49-F238E27FC236}">
                <a16:creationId xmlns:a16="http://schemas.microsoft.com/office/drawing/2014/main" id="{C08805BA-75EE-41F0-8AE0-96348F6F0EF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2002665" y="2670410"/>
            <a:ext cx="1889202" cy="1461802"/>
          </a:xfrm>
          <a:prstGeom prst="rect">
            <a:avLst/>
          </a:prstGeom>
          <a:noFill/>
          <a:ln/>
        </p:spPr>
      </p:pic>
      <p:pic>
        <p:nvPicPr>
          <p:cNvPr id="9" name="Picture 10">
            <a:extLst>
              <a:ext uri="{FF2B5EF4-FFF2-40B4-BE49-F238E27FC236}">
                <a16:creationId xmlns:a16="http://schemas.microsoft.com/office/drawing/2014/main" id="{DDCA2301-4AFA-4674-AEC6-CEA19B3A880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32261" y="4219779"/>
            <a:ext cx="1658415" cy="13349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object 2">
            <a:extLst>
              <a:ext uri="{FF2B5EF4-FFF2-40B4-BE49-F238E27FC236}">
                <a16:creationId xmlns:a16="http://schemas.microsoft.com/office/drawing/2014/main" id="{A83008EE-1C71-4136-A06C-42048B2C8BA1}"/>
              </a:ext>
            </a:extLst>
          </p:cNvPr>
          <p:cNvSpPr txBox="1">
            <a:spLocks/>
          </p:cNvSpPr>
          <p:nvPr/>
        </p:nvSpPr>
        <p:spPr>
          <a:xfrm>
            <a:off x="204716" y="257936"/>
            <a:ext cx="11593773" cy="382156"/>
          </a:xfrm>
          <a:prstGeom prst="rect">
            <a:avLst/>
          </a:prstGeom>
        </p:spPr>
        <p:style>
          <a:lnRef idx="1">
            <a:schemeClr val="accent6"/>
          </a:lnRef>
          <a:fillRef idx="2">
            <a:schemeClr val="accent6"/>
          </a:fillRef>
          <a:effectRef idx="1">
            <a:schemeClr val="accent6"/>
          </a:effectRef>
          <a:fontRef idx="minor">
            <a:schemeClr val="dk1"/>
          </a:fontRef>
        </p:style>
        <p:txBody>
          <a:bodyPr vert="horz" wrap="square" lIns="0" tIns="12700" rIns="0" bIns="0" rtlCol="0">
            <a:spAutoFit/>
          </a:bodyPr>
          <a:lstStyle>
            <a:lvl1pPr algn="l" defTabSz="914377" rtl="0" eaLnBrk="1" latinLnBrk="0" hangingPunct="1">
              <a:lnSpc>
                <a:spcPct val="90000"/>
              </a:lnSpc>
              <a:spcBef>
                <a:spcPct val="0"/>
              </a:spcBef>
              <a:buNone/>
              <a:defRPr sz="4400" kern="1200">
                <a:solidFill>
                  <a:schemeClr val="tx1"/>
                </a:solidFill>
                <a:latin typeface="+mj-lt"/>
                <a:ea typeface="+mj-ea"/>
                <a:cs typeface="+mj-cs"/>
              </a:defRPr>
            </a:lvl1pPr>
          </a:lstStyle>
          <a:p>
            <a:pPr marL="12700" marR="5080" algn="ctr">
              <a:lnSpc>
                <a:spcPct val="100000"/>
              </a:lnSpc>
              <a:spcBef>
                <a:spcPts val="100"/>
              </a:spcBef>
              <a:tabLst>
                <a:tab pos="855344" algn="l"/>
                <a:tab pos="1238885" algn="l"/>
                <a:tab pos="2656840" algn="l"/>
                <a:tab pos="3801745" algn="l"/>
                <a:tab pos="5215890" algn="l"/>
              </a:tabLst>
            </a:pPr>
            <a:r>
              <a:rPr lang="en-GB" sz="2400" b="1" spc="-5" dirty="0">
                <a:latin typeface="+mn-lt"/>
              </a:rPr>
              <a:t>Order	of	prefere</a:t>
            </a:r>
            <a:r>
              <a:rPr lang="en-GB" sz="2400" b="1" spc="-15" dirty="0">
                <a:latin typeface="+mn-lt"/>
              </a:rPr>
              <a:t>n</a:t>
            </a:r>
            <a:r>
              <a:rPr lang="en-GB" sz="2400" b="1" spc="-5" dirty="0">
                <a:latin typeface="+mn-lt"/>
              </a:rPr>
              <a:t>ce	b</a:t>
            </a:r>
            <a:r>
              <a:rPr lang="en-GB" sz="2400" b="1" spc="-15" dirty="0">
                <a:latin typeface="+mn-lt"/>
              </a:rPr>
              <a:t>e</a:t>
            </a:r>
            <a:r>
              <a:rPr lang="en-GB" sz="2400" b="1" spc="-5" dirty="0">
                <a:latin typeface="+mn-lt"/>
              </a:rPr>
              <a:t>t</a:t>
            </a:r>
            <a:r>
              <a:rPr lang="en-GB" sz="2400" b="1" spc="-20" dirty="0">
                <a:latin typeface="+mn-lt"/>
              </a:rPr>
              <a:t>w</a:t>
            </a:r>
            <a:r>
              <a:rPr lang="en-GB" sz="2400" b="1" spc="-5" dirty="0">
                <a:latin typeface="+mn-lt"/>
              </a:rPr>
              <a:t>een	al</a:t>
            </a:r>
            <a:r>
              <a:rPr lang="en-GB" sz="2400" b="1" spc="-20" dirty="0">
                <a:latin typeface="+mn-lt"/>
              </a:rPr>
              <a:t>t</a:t>
            </a:r>
            <a:r>
              <a:rPr lang="en-GB" sz="2400" b="1" spc="-5" dirty="0">
                <a:latin typeface="+mn-lt"/>
              </a:rPr>
              <a:t>erna</a:t>
            </a:r>
            <a:r>
              <a:rPr lang="en-GB" sz="2400" b="1" spc="-15" dirty="0">
                <a:latin typeface="+mn-lt"/>
              </a:rPr>
              <a:t>t</a:t>
            </a:r>
            <a:r>
              <a:rPr lang="en-GB" sz="2400" b="1" spc="-5" dirty="0">
                <a:latin typeface="+mn-lt"/>
              </a:rPr>
              <a:t>i</a:t>
            </a:r>
            <a:r>
              <a:rPr lang="en-GB" sz="2400" b="1" spc="-15" dirty="0">
                <a:latin typeface="+mn-lt"/>
              </a:rPr>
              <a:t>v</a:t>
            </a:r>
            <a:r>
              <a:rPr lang="en-GB" sz="2400" b="1" spc="-5" dirty="0">
                <a:latin typeface="+mn-lt"/>
              </a:rPr>
              <a:t>e	nu</a:t>
            </a:r>
            <a:r>
              <a:rPr lang="en-GB" sz="2400" b="1" spc="-25" dirty="0">
                <a:latin typeface="+mn-lt"/>
              </a:rPr>
              <a:t>m</a:t>
            </a:r>
            <a:r>
              <a:rPr lang="en-GB" sz="2400" b="1" spc="-5" dirty="0">
                <a:latin typeface="+mn-lt"/>
              </a:rPr>
              <a:t>bering  </a:t>
            </a:r>
            <a:r>
              <a:rPr lang="en-GB" sz="2400" b="1" dirty="0">
                <a:latin typeface="+mn-lt"/>
              </a:rPr>
              <a:t>system</a:t>
            </a:r>
            <a:r>
              <a:rPr lang="en-GB" sz="2400" b="1" spc="-20" dirty="0">
                <a:latin typeface="+mn-lt"/>
              </a:rPr>
              <a:t> </a:t>
            </a:r>
            <a:r>
              <a:rPr lang="en-GB" sz="2400" b="1" dirty="0">
                <a:latin typeface="+mn-lt"/>
              </a:rPr>
              <a:t>of the</a:t>
            </a:r>
            <a:r>
              <a:rPr lang="en-GB" sz="2400" b="1" spc="-5" dirty="0">
                <a:latin typeface="+mn-lt"/>
              </a:rPr>
              <a:t> </a:t>
            </a:r>
            <a:r>
              <a:rPr lang="en-GB" sz="2400" b="1" dirty="0">
                <a:latin typeface="+mn-lt"/>
              </a:rPr>
              <a:t>whole</a:t>
            </a:r>
            <a:r>
              <a:rPr lang="en-GB" sz="2400" b="1" spc="-15" dirty="0">
                <a:latin typeface="+mn-lt"/>
              </a:rPr>
              <a:t> </a:t>
            </a:r>
            <a:r>
              <a:rPr lang="en-GB" sz="2400" b="1" spc="-5" dirty="0">
                <a:latin typeface="+mn-lt"/>
              </a:rPr>
              <a:t>molecule</a:t>
            </a:r>
          </a:p>
        </p:txBody>
      </p:sp>
    </p:spTree>
    <p:extLst>
      <p:ext uri="{BB962C8B-B14F-4D97-AF65-F5344CB8AC3E}">
        <p14:creationId xmlns:p14="http://schemas.microsoft.com/office/powerpoint/2010/main" val="300281042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Рисунок 6">
            <a:extLst>
              <a:ext uri="{FF2B5EF4-FFF2-40B4-BE49-F238E27FC236}">
                <a16:creationId xmlns:a16="http://schemas.microsoft.com/office/drawing/2014/main" id="{53BFF712-EC37-411A-9B7D-03BAFE733211}"/>
              </a:ext>
            </a:extLst>
          </p:cNvPr>
          <p:cNvPicPr>
            <a:picLocks noChangeAspect="1"/>
          </p:cNvPicPr>
          <p:nvPr/>
        </p:nvPicPr>
        <p:blipFill>
          <a:blip r:embed="rId2"/>
          <a:stretch>
            <a:fillRect/>
          </a:stretch>
        </p:blipFill>
        <p:spPr>
          <a:xfrm>
            <a:off x="2815391" y="737283"/>
            <a:ext cx="7002378" cy="5782506"/>
          </a:xfrm>
          <a:prstGeom prst="rect">
            <a:avLst/>
          </a:prstGeom>
        </p:spPr>
      </p:pic>
      <p:sp>
        <p:nvSpPr>
          <p:cNvPr id="8" name="object 2">
            <a:extLst>
              <a:ext uri="{FF2B5EF4-FFF2-40B4-BE49-F238E27FC236}">
                <a16:creationId xmlns:a16="http://schemas.microsoft.com/office/drawing/2014/main" id="{3BADC1D5-FEAA-48EF-8CC4-A7EAF65AB086}"/>
              </a:ext>
            </a:extLst>
          </p:cNvPr>
          <p:cNvSpPr txBox="1">
            <a:spLocks/>
          </p:cNvSpPr>
          <p:nvPr/>
        </p:nvSpPr>
        <p:spPr>
          <a:xfrm>
            <a:off x="118958" y="73740"/>
            <a:ext cx="5739130" cy="51435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vert="horz" wrap="square" lIns="0" tIns="13335" rIns="0" bIns="0" rtlCol="0">
            <a:spAutoFit/>
          </a:bodyPr>
          <a:lstStyle>
            <a:lvl1pPr algn="l" defTabSz="914377" rtl="0" eaLnBrk="1" latinLnBrk="0" hangingPunct="1">
              <a:lnSpc>
                <a:spcPct val="90000"/>
              </a:lnSpc>
              <a:spcBef>
                <a:spcPct val="0"/>
              </a:spcBef>
              <a:buNone/>
              <a:defRPr sz="4400" kern="1200">
                <a:solidFill>
                  <a:schemeClr val="tx1"/>
                </a:solidFill>
                <a:latin typeface="+mj-lt"/>
                <a:ea typeface="+mj-ea"/>
                <a:cs typeface="+mj-cs"/>
              </a:defRPr>
            </a:lvl1pPr>
          </a:lstStyle>
          <a:p>
            <a:pPr marL="12700">
              <a:lnSpc>
                <a:spcPct val="100000"/>
              </a:lnSpc>
              <a:spcBef>
                <a:spcPts val="105"/>
              </a:spcBef>
              <a:tabLst>
                <a:tab pos="2235835" algn="l"/>
              </a:tabLst>
            </a:pPr>
            <a:r>
              <a:rPr lang="en-GB" sz="3200" dirty="0"/>
              <a:t>Summary</a:t>
            </a:r>
            <a:r>
              <a:rPr lang="en-GB" sz="3200" spc="-30" dirty="0"/>
              <a:t> </a:t>
            </a:r>
            <a:r>
              <a:rPr lang="en-GB" sz="3200" dirty="0"/>
              <a:t>of	Nomenclatures</a:t>
            </a:r>
            <a:r>
              <a:rPr lang="en-GB" sz="3200" spc="-80" dirty="0"/>
              <a:t> </a:t>
            </a:r>
            <a:r>
              <a:rPr lang="en-GB" sz="3200" dirty="0"/>
              <a:t>Rules</a:t>
            </a:r>
          </a:p>
        </p:txBody>
      </p:sp>
    </p:spTree>
    <p:extLst>
      <p:ext uri="{BB962C8B-B14F-4D97-AF65-F5344CB8AC3E}">
        <p14:creationId xmlns:p14="http://schemas.microsoft.com/office/powerpoint/2010/main" val="28627601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a:extLst>
              <a:ext uri="{FF2B5EF4-FFF2-40B4-BE49-F238E27FC236}">
                <a16:creationId xmlns:a16="http://schemas.microsoft.com/office/drawing/2014/main" id="{DC0D387E-DFEA-4703-93B2-68BA5B6C068E}"/>
              </a:ext>
            </a:extLst>
          </p:cNvPr>
          <p:cNvSpPr>
            <a:spLocks noGrp="1"/>
          </p:cNvSpPr>
          <p:nvPr>
            <p:ph type="sldNum" sz="quarter" idx="12"/>
          </p:nvPr>
        </p:nvSpPr>
        <p:spPr/>
        <p:txBody>
          <a:bodyPr/>
          <a:lstStyle/>
          <a:p>
            <a:fld id="{93C419CB-0CF1-4F10-90F9-42551F8968FF}" type="slidenum">
              <a:rPr lang="en-GB" smtClean="0"/>
              <a:t>37</a:t>
            </a:fld>
            <a:endParaRPr lang="en-GB"/>
          </a:p>
        </p:txBody>
      </p:sp>
      <p:sp>
        <p:nvSpPr>
          <p:cNvPr id="3" name="object 2">
            <a:extLst>
              <a:ext uri="{FF2B5EF4-FFF2-40B4-BE49-F238E27FC236}">
                <a16:creationId xmlns:a16="http://schemas.microsoft.com/office/drawing/2014/main" id="{26BE720E-9876-44E3-927E-65EB5FA6CCE4}"/>
              </a:ext>
            </a:extLst>
          </p:cNvPr>
          <p:cNvSpPr txBox="1">
            <a:spLocks/>
          </p:cNvSpPr>
          <p:nvPr/>
        </p:nvSpPr>
        <p:spPr>
          <a:xfrm>
            <a:off x="2991811" y="121507"/>
            <a:ext cx="5739130" cy="51435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vert="horz" wrap="square" lIns="0" tIns="13335" rIns="0" bIns="0" rtlCol="0">
            <a:spAutoFit/>
          </a:bodyPr>
          <a:lstStyle>
            <a:lvl1pPr algn="l" defTabSz="914377" rtl="0" eaLnBrk="1" latinLnBrk="0" hangingPunct="1">
              <a:lnSpc>
                <a:spcPct val="90000"/>
              </a:lnSpc>
              <a:spcBef>
                <a:spcPct val="0"/>
              </a:spcBef>
              <a:buNone/>
              <a:defRPr sz="4400" kern="1200">
                <a:solidFill>
                  <a:schemeClr val="tx1"/>
                </a:solidFill>
                <a:latin typeface="+mj-lt"/>
                <a:ea typeface="+mj-ea"/>
                <a:cs typeface="+mj-cs"/>
              </a:defRPr>
            </a:lvl1pPr>
          </a:lstStyle>
          <a:p>
            <a:pPr marL="12700">
              <a:lnSpc>
                <a:spcPct val="100000"/>
              </a:lnSpc>
              <a:spcBef>
                <a:spcPts val="105"/>
              </a:spcBef>
              <a:tabLst>
                <a:tab pos="2235835" algn="l"/>
              </a:tabLst>
            </a:pPr>
            <a:r>
              <a:rPr lang="en-GB" sz="3200" dirty="0"/>
              <a:t>Summary</a:t>
            </a:r>
            <a:r>
              <a:rPr lang="en-GB" sz="3200" spc="-30" dirty="0"/>
              <a:t> </a:t>
            </a:r>
            <a:r>
              <a:rPr lang="en-GB" sz="3200" dirty="0"/>
              <a:t>of	Nomenclatures</a:t>
            </a:r>
            <a:r>
              <a:rPr lang="en-GB" sz="3200" spc="-80" dirty="0"/>
              <a:t> </a:t>
            </a:r>
            <a:r>
              <a:rPr lang="en-GB" sz="3200" dirty="0"/>
              <a:t>Rules</a:t>
            </a:r>
          </a:p>
        </p:txBody>
      </p:sp>
      <p:sp>
        <p:nvSpPr>
          <p:cNvPr id="6" name="TextBox 5">
            <a:extLst>
              <a:ext uri="{FF2B5EF4-FFF2-40B4-BE49-F238E27FC236}">
                <a16:creationId xmlns:a16="http://schemas.microsoft.com/office/drawing/2014/main" id="{3FE3CA9A-F84A-4AA9-94F5-A1569452804E}"/>
              </a:ext>
            </a:extLst>
          </p:cNvPr>
          <p:cNvSpPr txBox="1"/>
          <p:nvPr/>
        </p:nvSpPr>
        <p:spPr>
          <a:xfrm>
            <a:off x="319220" y="776187"/>
            <a:ext cx="11447664" cy="4416594"/>
          </a:xfrm>
          <a:prstGeom prst="rect">
            <a:avLst/>
          </a:prstGeom>
        </p:spPr>
        <p:style>
          <a:lnRef idx="1">
            <a:schemeClr val="accent4"/>
          </a:lnRef>
          <a:fillRef idx="2">
            <a:schemeClr val="accent4"/>
          </a:fillRef>
          <a:effectRef idx="1">
            <a:schemeClr val="accent4"/>
          </a:effectRef>
          <a:fontRef idx="minor">
            <a:schemeClr val="dk1"/>
          </a:fontRef>
        </p:style>
        <p:txBody>
          <a:bodyPr wrap="square">
            <a:spAutoFit/>
          </a:bodyPr>
          <a:lstStyle/>
          <a:p>
            <a:pPr marL="342900" indent="-342900" algn="just">
              <a:spcBef>
                <a:spcPts val="600"/>
              </a:spcBef>
              <a:spcAft>
                <a:spcPts val="1200"/>
              </a:spcAft>
              <a:buFont typeface="+mj-lt"/>
              <a:buAutoNum type="arabicPeriod"/>
            </a:pPr>
            <a:r>
              <a:rPr lang="en-GB" sz="1600" dirty="0"/>
              <a:t>The fused heterocyclic system is dissected into its components: one is the </a:t>
            </a:r>
            <a:r>
              <a:rPr lang="en-GB" sz="1600" b="1" dirty="0">
                <a:solidFill>
                  <a:srgbClr val="002060"/>
                </a:solidFill>
              </a:rPr>
              <a:t>base component</a:t>
            </a:r>
            <a:r>
              <a:rPr lang="en-GB" sz="1600" dirty="0"/>
              <a:t>, and the other(s) is the </a:t>
            </a:r>
            <a:r>
              <a:rPr lang="en-GB" sz="1600" b="1" dirty="0">
                <a:solidFill>
                  <a:srgbClr val="002060"/>
                </a:solidFill>
              </a:rPr>
              <a:t>attached component(s)</a:t>
            </a:r>
            <a:r>
              <a:rPr lang="en-GB" sz="1600" dirty="0"/>
              <a:t>.</a:t>
            </a:r>
          </a:p>
          <a:p>
            <a:pPr marL="342900" indent="-342900" algn="just">
              <a:spcBef>
                <a:spcPts val="600"/>
              </a:spcBef>
              <a:spcAft>
                <a:spcPts val="1200"/>
              </a:spcAft>
              <a:buFont typeface="+mj-lt"/>
              <a:buAutoNum type="arabicPeriod"/>
            </a:pPr>
            <a:r>
              <a:rPr lang="en-GB" sz="1600" dirty="0"/>
              <a:t>The components are given their recognized </a:t>
            </a:r>
            <a:r>
              <a:rPr lang="en-GB" sz="1600" b="1" dirty="0"/>
              <a:t>trivial names </a:t>
            </a:r>
            <a:r>
              <a:rPr lang="en-GB" sz="1600" dirty="0"/>
              <a:t>(if possible); else, a systematic name is used.</a:t>
            </a:r>
          </a:p>
          <a:p>
            <a:pPr marL="342900" indent="-342900" algn="just">
              <a:spcBef>
                <a:spcPts val="600"/>
              </a:spcBef>
              <a:spcAft>
                <a:spcPts val="1200"/>
              </a:spcAft>
              <a:buFont typeface="+mj-lt"/>
              <a:buAutoNum type="arabicPeriod"/>
            </a:pPr>
            <a:r>
              <a:rPr lang="en-GB" sz="1600" dirty="0"/>
              <a:t>The base component should always be a </a:t>
            </a:r>
            <a:r>
              <a:rPr lang="en-GB" sz="1600" b="1" dirty="0"/>
              <a:t>heterocyclic system</a:t>
            </a:r>
            <a:r>
              <a:rPr lang="en-GB" sz="1600" dirty="0"/>
              <a:t>. If there is a choice, it is determined by order of preference.</a:t>
            </a:r>
          </a:p>
          <a:p>
            <a:pPr marL="342900" indent="-342900" algn="just">
              <a:spcBef>
                <a:spcPts val="600"/>
              </a:spcBef>
              <a:spcAft>
                <a:spcPts val="1200"/>
              </a:spcAft>
              <a:buFont typeface="+mj-lt"/>
              <a:buAutoNum type="arabicPeriod"/>
            </a:pPr>
            <a:r>
              <a:rPr lang="en-GB" sz="1600" dirty="0"/>
              <a:t>The </a:t>
            </a:r>
            <a:r>
              <a:rPr lang="en-GB" sz="1600" b="1" dirty="0"/>
              <a:t>attached component </a:t>
            </a:r>
            <a:r>
              <a:rPr lang="en-GB" sz="1600" dirty="0"/>
              <a:t>is added </a:t>
            </a:r>
            <a:r>
              <a:rPr lang="en-GB" sz="1600" b="1" dirty="0"/>
              <a:t>as a prefix </a:t>
            </a:r>
            <a:r>
              <a:rPr lang="en-GB" sz="1600" dirty="0"/>
              <a:t>to the name of the base component. The terminal ‘</a:t>
            </a:r>
            <a:r>
              <a:rPr lang="en-GB" sz="1600" b="1" dirty="0"/>
              <a:t>e</a:t>
            </a:r>
            <a:r>
              <a:rPr lang="en-GB" sz="1600" dirty="0"/>
              <a:t>’ is replaced by ‘</a:t>
            </a:r>
            <a:r>
              <a:rPr lang="en-GB" sz="1600" b="1" dirty="0"/>
              <a:t>o</a:t>
            </a:r>
            <a:r>
              <a:rPr lang="en-GB" sz="1600" dirty="0"/>
              <a:t>’.</a:t>
            </a:r>
          </a:p>
          <a:p>
            <a:pPr marL="342900" indent="-342900" algn="just">
              <a:spcBef>
                <a:spcPts val="600"/>
              </a:spcBef>
              <a:spcAft>
                <a:spcPts val="1200"/>
              </a:spcAft>
              <a:buFont typeface="+mj-lt"/>
              <a:buAutoNum type="arabicPeriod"/>
            </a:pPr>
            <a:r>
              <a:rPr lang="en-GB" sz="1600" dirty="0"/>
              <a:t>The </a:t>
            </a:r>
            <a:r>
              <a:rPr lang="en-GB" sz="1600" b="1" dirty="0"/>
              <a:t>bonds</a:t>
            </a:r>
            <a:r>
              <a:rPr lang="en-GB" sz="1600" dirty="0"/>
              <a:t> of the </a:t>
            </a:r>
            <a:r>
              <a:rPr lang="en-GB" sz="1600" b="1" dirty="0"/>
              <a:t>base component </a:t>
            </a:r>
            <a:r>
              <a:rPr lang="en-GB" sz="1600" dirty="0"/>
              <a:t>are alphabetized with consecutive </a:t>
            </a:r>
            <a:r>
              <a:rPr lang="en-GB" sz="1600" b="1" dirty="0"/>
              <a:t>italic letters </a:t>
            </a:r>
            <a:r>
              <a:rPr lang="en-GB" sz="1600" dirty="0"/>
              <a:t>starting with ‘</a:t>
            </a:r>
            <a:r>
              <a:rPr lang="en-GB" sz="1600" b="1" dirty="0"/>
              <a:t>a</a:t>
            </a:r>
            <a:r>
              <a:rPr lang="en-GB" sz="1600" dirty="0"/>
              <a:t>’ for </a:t>
            </a:r>
            <a:r>
              <a:rPr lang="en-GB" sz="1600" b="1" dirty="0"/>
              <a:t>1,2-bond</a:t>
            </a:r>
            <a:r>
              <a:rPr lang="en-GB" sz="1600" dirty="0"/>
              <a:t>…..</a:t>
            </a:r>
          </a:p>
          <a:p>
            <a:pPr marL="342900" indent="-342900" algn="just">
              <a:spcBef>
                <a:spcPts val="600"/>
              </a:spcBef>
              <a:spcAft>
                <a:spcPts val="1200"/>
              </a:spcAft>
              <a:buFont typeface="+mj-lt"/>
              <a:buAutoNum type="arabicPeriod"/>
            </a:pPr>
            <a:r>
              <a:rPr lang="en-GB" sz="1600" dirty="0"/>
              <a:t>The </a:t>
            </a:r>
            <a:r>
              <a:rPr lang="en-GB" sz="1600" b="1" dirty="0"/>
              <a:t>atoms common to both rings </a:t>
            </a:r>
            <a:r>
              <a:rPr lang="en-GB" sz="1600" dirty="0"/>
              <a:t>(side of fusion) are indicated by appropriate </a:t>
            </a:r>
            <a:r>
              <a:rPr lang="en-GB" sz="1600" b="1" dirty="0"/>
              <a:t>letters</a:t>
            </a:r>
            <a:r>
              <a:rPr lang="en-GB" sz="1600" dirty="0"/>
              <a:t>, and numbers are enclosed in a square bracket and placed immediately after the prefix of the attached component. The </a:t>
            </a:r>
            <a:r>
              <a:rPr lang="en-GB" sz="1600" b="1" dirty="0"/>
              <a:t>numbers</a:t>
            </a:r>
            <a:r>
              <a:rPr lang="en-GB" sz="1600" dirty="0"/>
              <a:t> (positions of attachment) of the </a:t>
            </a:r>
            <a:r>
              <a:rPr lang="en-GB" sz="1600" b="1" dirty="0"/>
              <a:t>second component </a:t>
            </a:r>
            <a:r>
              <a:rPr lang="en-GB" sz="1600" dirty="0"/>
              <a:t>are placed in the </a:t>
            </a:r>
            <a:r>
              <a:rPr lang="en-GB" sz="1600" b="1" dirty="0"/>
              <a:t>sequence</a:t>
            </a:r>
            <a:r>
              <a:rPr lang="en-GB" sz="1600" dirty="0"/>
              <a:t> in </a:t>
            </a:r>
            <a:r>
              <a:rPr lang="en-GB" sz="1600" b="1" dirty="0"/>
              <a:t>which they are attached to the base component</a:t>
            </a:r>
            <a:r>
              <a:rPr lang="en-GB" sz="1600" dirty="0"/>
              <a:t>.</a:t>
            </a:r>
          </a:p>
          <a:p>
            <a:pPr marL="342900" indent="-342900" algn="just">
              <a:spcBef>
                <a:spcPts val="600"/>
              </a:spcBef>
              <a:spcAft>
                <a:spcPts val="1200"/>
              </a:spcAft>
              <a:buFont typeface="+mj-lt"/>
              <a:buAutoNum type="arabicPeriod"/>
            </a:pPr>
            <a:r>
              <a:rPr lang="en-GB" sz="1600" dirty="0"/>
              <a:t>Atoms and other components are numbered in the usual way 1,2,3….according to the </a:t>
            </a:r>
            <a:r>
              <a:rPr lang="en-GB" sz="1600" b="1" dirty="0"/>
              <a:t>principle of the lowest possible numbering</a:t>
            </a:r>
            <a:r>
              <a:rPr lang="en-GB" sz="1600" dirty="0"/>
              <a:t>.</a:t>
            </a:r>
          </a:p>
          <a:p>
            <a:pPr marL="342900" indent="-342900" algn="just">
              <a:spcBef>
                <a:spcPts val="600"/>
              </a:spcBef>
              <a:spcAft>
                <a:spcPts val="1200"/>
              </a:spcAft>
              <a:buFont typeface="+mj-lt"/>
              <a:buAutoNum type="arabicPeriod"/>
            </a:pPr>
            <a:r>
              <a:rPr lang="en-GB" sz="1600" dirty="0"/>
              <a:t>If a </a:t>
            </a:r>
            <a:r>
              <a:rPr lang="en-GB" sz="1600" b="1" dirty="0"/>
              <a:t>heteroatom occupies a fusion position</a:t>
            </a:r>
            <a:r>
              <a:rPr lang="en-GB" sz="1600" dirty="0"/>
              <a:t>, it is assumed that the ring systems of </a:t>
            </a:r>
            <a:r>
              <a:rPr lang="en-GB" sz="1600" b="1" dirty="0"/>
              <a:t>both components have this heteroatom</a:t>
            </a:r>
            <a:r>
              <a:rPr lang="en-GB" sz="1600" dirty="0"/>
              <a:t>.</a:t>
            </a:r>
          </a:p>
        </p:txBody>
      </p:sp>
      <p:pic>
        <p:nvPicPr>
          <p:cNvPr id="9" name="Picture 9">
            <a:extLst>
              <a:ext uri="{FF2B5EF4-FFF2-40B4-BE49-F238E27FC236}">
                <a16:creationId xmlns:a16="http://schemas.microsoft.com/office/drawing/2014/main" id="{A904A9CA-8571-4518-BAA9-D852859AF39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3581401" y="5422902"/>
            <a:ext cx="4572000" cy="933450"/>
          </a:xfrm>
          <a:prstGeom prst="rect">
            <a:avLst/>
          </a:prstGeom>
          <a:noFill/>
          <a:ln/>
        </p:spPr>
      </p:pic>
    </p:spTree>
    <p:extLst>
      <p:ext uri="{BB962C8B-B14F-4D97-AF65-F5344CB8AC3E}">
        <p14:creationId xmlns:p14="http://schemas.microsoft.com/office/powerpoint/2010/main" val="268780610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a:extLst>
              <a:ext uri="{FF2B5EF4-FFF2-40B4-BE49-F238E27FC236}">
                <a16:creationId xmlns:a16="http://schemas.microsoft.com/office/drawing/2014/main" id="{DC0D387E-DFEA-4703-93B2-68BA5B6C068E}"/>
              </a:ext>
            </a:extLst>
          </p:cNvPr>
          <p:cNvSpPr>
            <a:spLocks noGrp="1"/>
          </p:cNvSpPr>
          <p:nvPr>
            <p:ph type="sldNum" sz="quarter" idx="12"/>
          </p:nvPr>
        </p:nvSpPr>
        <p:spPr/>
        <p:txBody>
          <a:bodyPr/>
          <a:lstStyle/>
          <a:p>
            <a:fld id="{93C419CB-0CF1-4F10-90F9-42551F8968FF}" type="slidenum">
              <a:rPr lang="en-GB" smtClean="0"/>
              <a:t>38</a:t>
            </a:fld>
            <a:endParaRPr lang="en-GB" dirty="0"/>
          </a:p>
        </p:txBody>
      </p:sp>
      <p:sp>
        <p:nvSpPr>
          <p:cNvPr id="3" name="object 2">
            <a:extLst>
              <a:ext uri="{FF2B5EF4-FFF2-40B4-BE49-F238E27FC236}">
                <a16:creationId xmlns:a16="http://schemas.microsoft.com/office/drawing/2014/main" id="{26BE720E-9876-44E3-927E-65EB5FA6CCE4}"/>
              </a:ext>
            </a:extLst>
          </p:cNvPr>
          <p:cNvSpPr txBox="1">
            <a:spLocks/>
          </p:cNvSpPr>
          <p:nvPr/>
        </p:nvSpPr>
        <p:spPr>
          <a:xfrm>
            <a:off x="153077" y="196500"/>
            <a:ext cx="5739130" cy="51435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vert="horz" wrap="square" lIns="0" tIns="13335" rIns="0" bIns="0" rtlCol="0">
            <a:spAutoFit/>
          </a:bodyPr>
          <a:lstStyle>
            <a:lvl1pPr algn="l" defTabSz="914377" rtl="0" eaLnBrk="1" latinLnBrk="0" hangingPunct="1">
              <a:lnSpc>
                <a:spcPct val="90000"/>
              </a:lnSpc>
              <a:spcBef>
                <a:spcPct val="0"/>
              </a:spcBef>
              <a:buNone/>
              <a:defRPr sz="4400" kern="1200">
                <a:solidFill>
                  <a:schemeClr val="tx1"/>
                </a:solidFill>
                <a:latin typeface="+mj-lt"/>
                <a:ea typeface="+mj-ea"/>
                <a:cs typeface="+mj-cs"/>
              </a:defRPr>
            </a:lvl1pPr>
          </a:lstStyle>
          <a:p>
            <a:pPr marL="12700">
              <a:lnSpc>
                <a:spcPct val="100000"/>
              </a:lnSpc>
              <a:spcBef>
                <a:spcPts val="105"/>
              </a:spcBef>
              <a:tabLst>
                <a:tab pos="2235835" algn="l"/>
              </a:tabLst>
            </a:pPr>
            <a:r>
              <a:rPr lang="en-GB" sz="3200" dirty="0"/>
              <a:t>Summary</a:t>
            </a:r>
            <a:r>
              <a:rPr lang="en-GB" sz="3200" spc="-30" dirty="0"/>
              <a:t> </a:t>
            </a:r>
            <a:r>
              <a:rPr lang="en-GB" sz="3200" dirty="0"/>
              <a:t>of	Nomenclatures</a:t>
            </a:r>
            <a:r>
              <a:rPr lang="en-GB" sz="3200" spc="-80" dirty="0"/>
              <a:t> </a:t>
            </a:r>
            <a:r>
              <a:rPr lang="en-GB" sz="3200" dirty="0"/>
              <a:t>Rules</a:t>
            </a:r>
          </a:p>
        </p:txBody>
      </p:sp>
      <p:sp>
        <p:nvSpPr>
          <p:cNvPr id="4" name="object 3">
            <a:extLst>
              <a:ext uri="{FF2B5EF4-FFF2-40B4-BE49-F238E27FC236}">
                <a16:creationId xmlns:a16="http://schemas.microsoft.com/office/drawing/2014/main" id="{A6DA8B72-D223-4F4D-83B7-B8B203202E99}"/>
              </a:ext>
            </a:extLst>
          </p:cNvPr>
          <p:cNvSpPr txBox="1"/>
          <p:nvPr/>
        </p:nvSpPr>
        <p:spPr>
          <a:xfrm>
            <a:off x="324547" y="945085"/>
            <a:ext cx="7679510" cy="5198859"/>
          </a:xfrm>
          <a:prstGeom prst="rect">
            <a:avLst/>
          </a:prstGeom>
        </p:spPr>
        <p:txBody>
          <a:bodyPr vert="horz" wrap="square" lIns="0" tIns="12700" rIns="0" bIns="0" rtlCol="0">
            <a:spAutoFit/>
          </a:bodyPr>
          <a:lstStyle/>
          <a:p>
            <a:pPr marL="660400">
              <a:lnSpc>
                <a:spcPct val="100000"/>
              </a:lnSpc>
              <a:spcBef>
                <a:spcPts val="600"/>
              </a:spcBef>
            </a:pPr>
            <a:r>
              <a:rPr sz="1700" dirty="0">
                <a:solidFill>
                  <a:srgbClr val="00AF50"/>
                </a:solidFill>
                <a:latin typeface="Times New Roman"/>
                <a:cs typeface="Times New Roman"/>
              </a:rPr>
              <a:t>Scheme</a:t>
            </a:r>
            <a:r>
              <a:rPr sz="1700" spc="-10" dirty="0">
                <a:solidFill>
                  <a:srgbClr val="00AF50"/>
                </a:solidFill>
                <a:latin typeface="Times New Roman"/>
                <a:cs typeface="Times New Roman"/>
              </a:rPr>
              <a:t> </a:t>
            </a:r>
            <a:r>
              <a:rPr sz="1700" dirty="0">
                <a:solidFill>
                  <a:srgbClr val="00AF50"/>
                </a:solidFill>
                <a:latin typeface="Times New Roman"/>
                <a:cs typeface="Times New Roman"/>
              </a:rPr>
              <a:t>for</a:t>
            </a:r>
            <a:r>
              <a:rPr sz="1700" spc="-5" dirty="0">
                <a:solidFill>
                  <a:srgbClr val="00AF50"/>
                </a:solidFill>
                <a:latin typeface="Times New Roman"/>
                <a:cs typeface="Times New Roman"/>
              </a:rPr>
              <a:t> </a:t>
            </a:r>
            <a:r>
              <a:rPr sz="1700" dirty="0">
                <a:solidFill>
                  <a:srgbClr val="00AF50"/>
                </a:solidFill>
                <a:latin typeface="Times New Roman"/>
                <a:cs typeface="Times New Roman"/>
              </a:rPr>
              <a:t>deriving</a:t>
            </a:r>
            <a:r>
              <a:rPr sz="1700" spc="-20" dirty="0">
                <a:solidFill>
                  <a:srgbClr val="00AF50"/>
                </a:solidFill>
                <a:latin typeface="Times New Roman"/>
                <a:cs typeface="Times New Roman"/>
              </a:rPr>
              <a:t> </a:t>
            </a:r>
            <a:r>
              <a:rPr sz="1700" dirty="0">
                <a:solidFill>
                  <a:srgbClr val="00AF50"/>
                </a:solidFill>
                <a:latin typeface="Times New Roman"/>
                <a:cs typeface="Times New Roman"/>
              </a:rPr>
              <a:t>the</a:t>
            </a:r>
            <a:r>
              <a:rPr sz="1700" spc="-20" dirty="0">
                <a:solidFill>
                  <a:srgbClr val="00AF50"/>
                </a:solidFill>
                <a:latin typeface="Times New Roman"/>
                <a:cs typeface="Times New Roman"/>
              </a:rPr>
              <a:t> </a:t>
            </a:r>
            <a:r>
              <a:rPr sz="1700" dirty="0">
                <a:solidFill>
                  <a:srgbClr val="00AF50"/>
                </a:solidFill>
                <a:latin typeface="Times New Roman"/>
                <a:cs typeface="Times New Roman"/>
              </a:rPr>
              <a:t>base</a:t>
            </a:r>
            <a:r>
              <a:rPr sz="1700" spc="-5" dirty="0">
                <a:solidFill>
                  <a:srgbClr val="00AF50"/>
                </a:solidFill>
                <a:latin typeface="Times New Roman"/>
                <a:cs typeface="Times New Roman"/>
              </a:rPr>
              <a:t> </a:t>
            </a:r>
            <a:r>
              <a:rPr sz="1700" dirty="0">
                <a:solidFill>
                  <a:srgbClr val="00AF50"/>
                </a:solidFill>
                <a:latin typeface="Times New Roman"/>
                <a:cs typeface="Times New Roman"/>
              </a:rPr>
              <a:t>component</a:t>
            </a:r>
            <a:r>
              <a:rPr sz="1700" spc="-5" dirty="0">
                <a:solidFill>
                  <a:srgbClr val="00AF50"/>
                </a:solidFill>
                <a:latin typeface="Times New Roman"/>
                <a:cs typeface="Times New Roman"/>
              </a:rPr>
              <a:t> </a:t>
            </a:r>
            <a:r>
              <a:rPr sz="1700" dirty="0">
                <a:solidFill>
                  <a:srgbClr val="00AF50"/>
                </a:solidFill>
                <a:latin typeface="Times New Roman"/>
                <a:cs typeface="Times New Roman"/>
              </a:rPr>
              <a:t>of</a:t>
            </a:r>
            <a:r>
              <a:rPr sz="1700" spc="-20" dirty="0">
                <a:solidFill>
                  <a:srgbClr val="00AF50"/>
                </a:solidFill>
                <a:latin typeface="Times New Roman"/>
                <a:cs typeface="Times New Roman"/>
              </a:rPr>
              <a:t> </a:t>
            </a:r>
            <a:r>
              <a:rPr sz="1700" dirty="0">
                <a:solidFill>
                  <a:srgbClr val="00AF50"/>
                </a:solidFill>
                <a:latin typeface="Times New Roman"/>
                <a:cs typeface="Times New Roman"/>
              </a:rPr>
              <a:t>a</a:t>
            </a:r>
            <a:r>
              <a:rPr sz="1700" spc="-5" dirty="0">
                <a:solidFill>
                  <a:srgbClr val="00AF50"/>
                </a:solidFill>
                <a:latin typeface="Times New Roman"/>
                <a:cs typeface="Times New Roman"/>
              </a:rPr>
              <a:t> </a:t>
            </a:r>
            <a:r>
              <a:rPr sz="1700" dirty="0">
                <a:solidFill>
                  <a:srgbClr val="00AF50"/>
                </a:solidFill>
                <a:latin typeface="Times New Roman"/>
                <a:cs typeface="Times New Roman"/>
              </a:rPr>
              <a:t>fused</a:t>
            </a:r>
            <a:r>
              <a:rPr sz="1700" spc="-10" dirty="0">
                <a:solidFill>
                  <a:srgbClr val="00AF50"/>
                </a:solidFill>
                <a:latin typeface="Times New Roman"/>
                <a:cs typeface="Times New Roman"/>
              </a:rPr>
              <a:t> </a:t>
            </a:r>
            <a:r>
              <a:rPr sz="1700" dirty="0">
                <a:solidFill>
                  <a:srgbClr val="00AF50"/>
                </a:solidFill>
                <a:latin typeface="Times New Roman"/>
                <a:cs typeface="Times New Roman"/>
              </a:rPr>
              <a:t>ring</a:t>
            </a:r>
            <a:r>
              <a:rPr sz="1700" spc="-5" dirty="0">
                <a:solidFill>
                  <a:srgbClr val="00AF50"/>
                </a:solidFill>
                <a:latin typeface="Times New Roman"/>
                <a:cs typeface="Times New Roman"/>
              </a:rPr>
              <a:t> </a:t>
            </a:r>
            <a:r>
              <a:rPr sz="1700" dirty="0">
                <a:solidFill>
                  <a:srgbClr val="00AF50"/>
                </a:solidFill>
                <a:latin typeface="Times New Roman"/>
                <a:cs typeface="Times New Roman"/>
              </a:rPr>
              <a:t>system</a:t>
            </a:r>
            <a:endParaRPr sz="1700" dirty="0">
              <a:latin typeface="Times New Roman"/>
              <a:cs typeface="Times New Roman"/>
            </a:endParaRPr>
          </a:p>
          <a:p>
            <a:pPr marL="12700" algn="just">
              <a:lnSpc>
                <a:spcPct val="100000"/>
              </a:lnSpc>
              <a:spcBef>
                <a:spcPts val="600"/>
              </a:spcBef>
              <a:tabLst>
                <a:tab pos="354965" algn="l"/>
                <a:tab pos="355600" algn="l"/>
              </a:tabLst>
            </a:pPr>
            <a:r>
              <a:rPr lang="en-GB" sz="1700" spc="-5" dirty="0">
                <a:solidFill>
                  <a:srgbClr val="C00000"/>
                </a:solidFill>
                <a:latin typeface="Times New Roman"/>
                <a:cs typeface="Times New Roman"/>
              </a:rPr>
              <a:t>1. </a:t>
            </a:r>
            <a:r>
              <a:rPr sz="1700" spc="-5" dirty="0">
                <a:solidFill>
                  <a:srgbClr val="C00000"/>
                </a:solidFill>
                <a:latin typeface="Times New Roman"/>
                <a:cs typeface="Times New Roman"/>
              </a:rPr>
              <a:t>Is </a:t>
            </a:r>
            <a:r>
              <a:rPr sz="1700" dirty="0">
                <a:solidFill>
                  <a:srgbClr val="C00000"/>
                </a:solidFill>
                <a:latin typeface="Times New Roman"/>
                <a:cs typeface="Times New Roman"/>
              </a:rPr>
              <a:t>there</a:t>
            </a:r>
            <a:r>
              <a:rPr sz="1700" spc="-15" dirty="0">
                <a:solidFill>
                  <a:srgbClr val="C00000"/>
                </a:solidFill>
                <a:latin typeface="Times New Roman"/>
                <a:cs typeface="Times New Roman"/>
              </a:rPr>
              <a:t> </a:t>
            </a:r>
            <a:r>
              <a:rPr sz="1700" dirty="0">
                <a:solidFill>
                  <a:srgbClr val="C00000"/>
                </a:solidFill>
                <a:latin typeface="Times New Roman"/>
                <a:cs typeface="Times New Roman"/>
              </a:rPr>
              <a:t>only</a:t>
            </a:r>
            <a:r>
              <a:rPr sz="1700" spc="-15" dirty="0">
                <a:solidFill>
                  <a:srgbClr val="C00000"/>
                </a:solidFill>
                <a:latin typeface="Times New Roman"/>
                <a:cs typeface="Times New Roman"/>
              </a:rPr>
              <a:t> </a:t>
            </a:r>
            <a:r>
              <a:rPr sz="1700" dirty="0">
                <a:solidFill>
                  <a:srgbClr val="C00000"/>
                </a:solidFill>
                <a:latin typeface="Times New Roman"/>
                <a:cs typeface="Times New Roman"/>
              </a:rPr>
              <a:t>one</a:t>
            </a:r>
            <a:r>
              <a:rPr sz="1700" spc="10" dirty="0">
                <a:solidFill>
                  <a:srgbClr val="C00000"/>
                </a:solidFill>
                <a:latin typeface="Times New Roman"/>
                <a:cs typeface="Times New Roman"/>
              </a:rPr>
              <a:t> </a:t>
            </a:r>
            <a:r>
              <a:rPr sz="1700" dirty="0">
                <a:solidFill>
                  <a:srgbClr val="C00000"/>
                </a:solidFill>
                <a:latin typeface="Times New Roman"/>
                <a:cs typeface="Times New Roman"/>
              </a:rPr>
              <a:t>ring</a:t>
            </a:r>
            <a:r>
              <a:rPr sz="1700" spc="-10" dirty="0">
                <a:solidFill>
                  <a:srgbClr val="C00000"/>
                </a:solidFill>
                <a:latin typeface="Times New Roman"/>
                <a:cs typeface="Times New Roman"/>
              </a:rPr>
              <a:t> </a:t>
            </a:r>
            <a:r>
              <a:rPr lang="en-GB" sz="1700" dirty="0">
                <a:solidFill>
                  <a:srgbClr val="C00000"/>
                </a:solidFill>
                <a:latin typeface="Times New Roman"/>
                <a:cs typeface="Times New Roman"/>
              </a:rPr>
              <a:t>that</a:t>
            </a:r>
            <a:r>
              <a:rPr sz="1700" spc="-5" dirty="0">
                <a:solidFill>
                  <a:srgbClr val="C00000"/>
                </a:solidFill>
                <a:latin typeface="Times New Roman"/>
                <a:cs typeface="Times New Roman"/>
              </a:rPr>
              <a:t> </a:t>
            </a:r>
            <a:r>
              <a:rPr sz="1700" dirty="0">
                <a:solidFill>
                  <a:srgbClr val="C00000"/>
                </a:solidFill>
                <a:latin typeface="Times New Roman"/>
                <a:cs typeface="Times New Roman"/>
              </a:rPr>
              <a:t>contains</a:t>
            </a:r>
            <a:r>
              <a:rPr sz="1700" spc="-5" dirty="0">
                <a:solidFill>
                  <a:srgbClr val="C00000"/>
                </a:solidFill>
                <a:latin typeface="Times New Roman"/>
                <a:cs typeface="Times New Roman"/>
              </a:rPr>
              <a:t> </a:t>
            </a:r>
            <a:r>
              <a:rPr sz="1700" dirty="0">
                <a:solidFill>
                  <a:srgbClr val="C00000"/>
                </a:solidFill>
                <a:latin typeface="Times New Roman"/>
                <a:cs typeface="Times New Roman"/>
              </a:rPr>
              <a:t>nitrogen?</a:t>
            </a:r>
            <a:endParaRPr lang="en-GB" sz="1700" dirty="0">
              <a:latin typeface="Times New Roman"/>
              <a:cs typeface="Times New Roman"/>
            </a:endParaRPr>
          </a:p>
          <a:p>
            <a:pPr marL="12700" algn="just">
              <a:lnSpc>
                <a:spcPct val="100000"/>
              </a:lnSpc>
              <a:spcBef>
                <a:spcPts val="600"/>
              </a:spcBef>
            </a:pPr>
            <a:r>
              <a:rPr lang="en-GB" sz="1700" spc="-50" dirty="0">
                <a:latin typeface="Times New Roman"/>
                <a:cs typeface="Times New Roman"/>
              </a:rPr>
              <a:t>      Yes:</a:t>
            </a:r>
            <a:r>
              <a:rPr lang="en-GB" sz="1700" spc="-10" dirty="0">
                <a:latin typeface="Times New Roman"/>
                <a:cs typeface="Times New Roman"/>
              </a:rPr>
              <a:t> </a:t>
            </a:r>
            <a:r>
              <a:rPr lang="en-GB" sz="1700" spc="-5" dirty="0">
                <a:latin typeface="Times New Roman"/>
                <a:cs typeface="Times New Roman"/>
              </a:rPr>
              <a:t>choose </a:t>
            </a:r>
            <a:r>
              <a:rPr lang="en-GB" sz="1700" dirty="0">
                <a:latin typeface="Times New Roman"/>
                <a:cs typeface="Times New Roman"/>
              </a:rPr>
              <a:t>this</a:t>
            </a:r>
            <a:r>
              <a:rPr lang="en-GB" sz="1700" spc="-20" dirty="0">
                <a:latin typeface="Times New Roman"/>
                <a:cs typeface="Times New Roman"/>
              </a:rPr>
              <a:t> </a:t>
            </a:r>
            <a:r>
              <a:rPr lang="en-GB" sz="1700" dirty="0">
                <a:latin typeface="Times New Roman"/>
                <a:cs typeface="Times New Roman"/>
              </a:rPr>
              <a:t>as</a:t>
            </a:r>
            <a:r>
              <a:rPr lang="en-GB" sz="1700" spc="-15" dirty="0">
                <a:latin typeface="Times New Roman"/>
                <a:cs typeface="Times New Roman"/>
              </a:rPr>
              <a:t> a </a:t>
            </a:r>
            <a:r>
              <a:rPr lang="en-GB" sz="1700" dirty="0">
                <a:latin typeface="Times New Roman"/>
                <a:cs typeface="Times New Roman"/>
              </a:rPr>
              <a:t>base</a:t>
            </a:r>
            <a:r>
              <a:rPr lang="en-GB" sz="1700" spc="-5" dirty="0">
                <a:latin typeface="Times New Roman"/>
                <a:cs typeface="Times New Roman"/>
              </a:rPr>
              <a:t> </a:t>
            </a:r>
            <a:r>
              <a:rPr lang="en-GB" sz="1700" dirty="0">
                <a:latin typeface="Times New Roman"/>
                <a:cs typeface="Times New Roman"/>
              </a:rPr>
              <a:t>component</a:t>
            </a:r>
          </a:p>
          <a:p>
            <a:pPr marL="12700" algn="just">
              <a:spcBef>
                <a:spcPts val="600"/>
              </a:spcBef>
            </a:pPr>
            <a:r>
              <a:rPr lang="en-GB" sz="1700" spc="-5" dirty="0">
                <a:solidFill>
                  <a:srgbClr val="C00000"/>
                </a:solidFill>
                <a:latin typeface="Times New Roman"/>
                <a:cs typeface="Times New Roman"/>
              </a:rPr>
              <a:t>2. </a:t>
            </a:r>
            <a:r>
              <a:rPr lang="en-US" altLang="en-US" sz="1700" spc="-5" dirty="0">
                <a:solidFill>
                  <a:srgbClr val="C00000"/>
                </a:solidFill>
                <a:latin typeface="Times New Roman"/>
                <a:cs typeface="Times New Roman"/>
              </a:rPr>
              <a:t>If nitrogen is absent, then ring with another heteroatom(s) is selected as a base component (order of preference as in the table). </a:t>
            </a:r>
            <a:r>
              <a:rPr lang="en-US" altLang="en-US" sz="1700" spc="-5" dirty="0">
                <a:latin typeface="Times New Roman"/>
                <a:cs typeface="Times New Roman"/>
              </a:rPr>
              <a:t>The c</a:t>
            </a:r>
            <a:r>
              <a:rPr lang="en-US" altLang="en-US" sz="1700" spc="-50" dirty="0">
                <a:latin typeface="Times New Roman"/>
                <a:cs typeface="Times New Roman"/>
              </a:rPr>
              <a:t>omponent with the greatest number of rings is selected and named with recognized trivial name if possible.</a:t>
            </a:r>
          </a:p>
          <a:p>
            <a:pPr marL="12700" marR="1223645" algn="just">
              <a:lnSpc>
                <a:spcPct val="100000"/>
              </a:lnSpc>
              <a:spcBef>
                <a:spcPts val="600"/>
              </a:spcBef>
              <a:tabLst>
                <a:tab pos="354965" algn="l"/>
                <a:tab pos="355600" algn="l"/>
              </a:tabLst>
            </a:pPr>
            <a:r>
              <a:rPr lang="en-GB" sz="1700" spc="-5" dirty="0">
                <a:solidFill>
                  <a:srgbClr val="C00000"/>
                </a:solidFill>
                <a:latin typeface="Times New Roman"/>
                <a:cs typeface="Times New Roman"/>
              </a:rPr>
              <a:t>3.  </a:t>
            </a:r>
            <a:r>
              <a:rPr sz="1700" spc="-5" dirty="0">
                <a:solidFill>
                  <a:srgbClr val="C00000"/>
                </a:solidFill>
                <a:latin typeface="Times New Roman"/>
                <a:cs typeface="Times New Roman"/>
              </a:rPr>
              <a:t>Are</a:t>
            </a:r>
            <a:r>
              <a:rPr sz="1700" dirty="0">
                <a:solidFill>
                  <a:srgbClr val="C00000"/>
                </a:solidFill>
                <a:latin typeface="Times New Roman"/>
                <a:cs typeface="Times New Roman"/>
              </a:rPr>
              <a:t> the </a:t>
            </a:r>
            <a:r>
              <a:rPr sz="1700" spc="-5" dirty="0">
                <a:solidFill>
                  <a:srgbClr val="C00000"/>
                </a:solidFill>
                <a:latin typeface="Times New Roman"/>
                <a:cs typeface="Times New Roman"/>
              </a:rPr>
              <a:t>two</a:t>
            </a:r>
            <a:r>
              <a:rPr sz="1700" spc="5" dirty="0">
                <a:solidFill>
                  <a:srgbClr val="C00000"/>
                </a:solidFill>
                <a:latin typeface="Times New Roman"/>
                <a:cs typeface="Times New Roman"/>
              </a:rPr>
              <a:t> </a:t>
            </a:r>
            <a:r>
              <a:rPr sz="1700" dirty="0">
                <a:solidFill>
                  <a:srgbClr val="C00000"/>
                </a:solidFill>
                <a:latin typeface="Times New Roman"/>
                <a:cs typeface="Times New Roman"/>
              </a:rPr>
              <a:t>rings have </a:t>
            </a:r>
            <a:r>
              <a:rPr lang="en-GB" sz="1700" dirty="0">
                <a:solidFill>
                  <a:srgbClr val="C00000"/>
                </a:solidFill>
                <a:latin typeface="Times New Roman"/>
                <a:cs typeface="Times New Roman"/>
              </a:rPr>
              <a:t>identical </a:t>
            </a:r>
            <a:r>
              <a:rPr sz="1700" dirty="0">
                <a:solidFill>
                  <a:srgbClr val="C00000"/>
                </a:solidFill>
                <a:latin typeface="Times New Roman"/>
                <a:cs typeface="Times New Roman"/>
              </a:rPr>
              <a:t>heteroatoms</a:t>
            </a:r>
            <a:r>
              <a:rPr sz="1700" spc="-10" dirty="0">
                <a:solidFill>
                  <a:srgbClr val="C00000"/>
                </a:solidFill>
                <a:latin typeface="Times New Roman"/>
                <a:cs typeface="Times New Roman"/>
              </a:rPr>
              <a:t> </a:t>
            </a:r>
            <a:r>
              <a:rPr sz="1700" dirty="0">
                <a:solidFill>
                  <a:srgbClr val="C00000"/>
                </a:solidFill>
                <a:latin typeface="Times New Roman"/>
                <a:cs typeface="Times New Roman"/>
              </a:rPr>
              <a:t>but their</a:t>
            </a:r>
            <a:r>
              <a:rPr sz="1700" spc="-15" dirty="0">
                <a:solidFill>
                  <a:srgbClr val="C00000"/>
                </a:solidFill>
                <a:latin typeface="Times New Roman"/>
                <a:cs typeface="Times New Roman"/>
              </a:rPr>
              <a:t> </a:t>
            </a:r>
            <a:r>
              <a:rPr sz="1700" dirty="0">
                <a:solidFill>
                  <a:srgbClr val="C00000"/>
                </a:solidFill>
                <a:latin typeface="Times New Roman"/>
                <a:cs typeface="Times New Roman"/>
              </a:rPr>
              <a:t>size </a:t>
            </a:r>
            <a:r>
              <a:rPr sz="1700" spc="-5" dirty="0">
                <a:solidFill>
                  <a:srgbClr val="C00000"/>
                </a:solidFill>
                <a:latin typeface="Times New Roman"/>
                <a:cs typeface="Times New Roman"/>
              </a:rPr>
              <a:t>is</a:t>
            </a:r>
            <a:r>
              <a:rPr sz="1700" spc="5" dirty="0">
                <a:solidFill>
                  <a:srgbClr val="C00000"/>
                </a:solidFill>
                <a:latin typeface="Times New Roman"/>
                <a:cs typeface="Times New Roman"/>
              </a:rPr>
              <a:t> </a:t>
            </a:r>
            <a:r>
              <a:rPr sz="1700" spc="-5" dirty="0">
                <a:solidFill>
                  <a:srgbClr val="C00000"/>
                </a:solidFill>
                <a:latin typeface="Times New Roman"/>
                <a:cs typeface="Times New Roman"/>
              </a:rPr>
              <a:t>different</a:t>
            </a:r>
            <a:r>
              <a:rPr sz="1700" dirty="0">
                <a:solidFill>
                  <a:srgbClr val="C00000"/>
                </a:solidFill>
                <a:latin typeface="Times New Roman"/>
                <a:cs typeface="Times New Roman"/>
              </a:rPr>
              <a:t>? </a:t>
            </a:r>
            <a:r>
              <a:rPr sz="1700" spc="-434" dirty="0">
                <a:solidFill>
                  <a:srgbClr val="C00000"/>
                </a:solidFill>
                <a:latin typeface="Times New Roman"/>
                <a:cs typeface="Times New Roman"/>
              </a:rPr>
              <a:t> </a:t>
            </a:r>
            <a:endParaRPr lang="en-GB" sz="1700" spc="-434" dirty="0">
              <a:solidFill>
                <a:srgbClr val="C00000"/>
              </a:solidFill>
              <a:latin typeface="Times New Roman"/>
              <a:cs typeface="Times New Roman"/>
            </a:endParaRPr>
          </a:p>
          <a:p>
            <a:pPr marL="12700" marR="1223645" algn="just">
              <a:lnSpc>
                <a:spcPct val="100000"/>
              </a:lnSpc>
              <a:spcBef>
                <a:spcPts val="600"/>
              </a:spcBef>
              <a:tabLst>
                <a:tab pos="354965" algn="l"/>
                <a:tab pos="355600" algn="l"/>
              </a:tabLst>
            </a:pPr>
            <a:r>
              <a:rPr lang="en-GB" sz="1700" spc="-50" dirty="0">
                <a:latin typeface="Times New Roman"/>
                <a:cs typeface="Times New Roman"/>
              </a:rPr>
              <a:t>      </a:t>
            </a:r>
            <a:r>
              <a:rPr sz="1700" spc="-50" dirty="0">
                <a:latin typeface="Times New Roman"/>
                <a:cs typeface="Times New Roman"/>
              </a:rPr>
              <a:t>Yes:</a:t>
            </a:r>
            <a:r>
              <a:rPr sz="1700" spc="-5" dirty="0">
                <a:latin typeface="Times New Roman"/>
                <a:cs typeface="Times New Roman"/>
              </a:rPr>
              <a:t> </a:t>
            </a:r>
            <a:r>
              <a:rPr sz="1700" dirty="0">
                <a:latin typeface="Times New Roman"/>
                <a:cs typeface="Times New Roman"/>
              </a:rPr>
              <a:t>choose</a:t>
            </a:r>
            <a:r>
              <a:rPr sz="1700" spc="5" dirty="0">
                <a:latin typeface="Times New Roman"/>
                <a:cs typeface="Times New Roman"/>
              </a:rPr>
              <a:t> </a:t>
            </a:r>
            <a:r>
              <a:rPr sz="1700" dirty="0">
                <a:latin typeface="Times New Roman"/>
                <a:cs typeface="Times New Roman"/>
              </a:rPr>
              <a:t>the</a:t>
            </a:r>
            <a:r>
              <a:rPr sz="1700" spc="-15" dirty="0">
                <a:latin typeface="Times New Roman"/>
                <a:cs typeface="Times New Roman"/>
              </a:rPr>
              <a:t> </a:t>
            </a:r>
            <a:r>
              <a:rPr sz="1700" spc="-10" dirty="0">
                <a:latin typeface="Times New Roman"/>
                <a:cs typeface="Times New Roman"/>
              </a:rPr>
              <a:t>larger</a:t>
            </a:r>
            <a:r>
              <a:rPr sz="1700" spc="-5" dirty="0">
                <a:latin typeface="Times New Roman"/>
                <a:cs typeface="Times New Roman"/>
              </a:rPr>
              <a:t> </a:t>
            </a:r>
            <a:r>
              <a:rPr sz="1700" dirty="0">
                <a:latin typeface="Times New Roman"/>
                <a:cs typeface="Times New Roman"/>
              </a:rPr>
              <a:t>one</a:t>
            </a:r>
          </a:p>
          <a:p>
            <a:pPr marL="12700" algn="just">
              <a:lnSpc>
                <a:spcPct val="100000"/>
              </a:lnSpc>
              <a:spcBef>
                <a:spcPts val="600"/>
              </a:spcBef>
              <a:tabLst>
                <a:tab pos="354965" algn="l"/>
                <a:tab pos="355600" algn="l"/>
              </a:tabLst>
            </a:pPr>
            <a:r>
              <a:rPr lang="en-GB" sz="1700" spc="-5" dirty="0">
                <a:solidFill>
                  <a:srgbClr val="C00000"/>
                </a:solidFill>
                <a:latin typeface="Times New Roman"/>
                <a:cs typeface="Times New Roman"/>
              </a:rPr>
              <a:t>4. </a:t>
            </a:r>
            <a:r>
              <a:rPr sz="1700" spc="-5" dirty="0">
                <a:solidFill>
                  <a:srgbClr val="C00000"/>
                </a:solidFill>
                <a:latin typeface="Times New Roman"/>
                <a:cs typeface="Times New Roman"/>
              </a:rPr>
              <a:t>Are</a:t>
            </a:r>
            <a:r>
              <a:rPr sz="1700" spc="-10" dirty="0">
                <a:solidFill>
                  <a:srgbClr val="C00000"/>
                </a:solidFill>
                <a:latin typeface="Times New Roman"/>
                <a:cs typeface="Times New Roman"/>
              </a:rPr>
              <a:t> </a:t>
            </a:r>
            <a:r>
              <a:rPr sz="1700" dirty="0">
                <a:solidFill>
                  <a:srgbClr val="C00000"/>
                </a:solidFill>
                <a:latin typeface="Times New Roman"/>
                <a:cs typeface="Times New Roman"/>
              </a:rPr>
              <a:t>the </a:t>
            </a:r>
            <a:r>
              <a:rPr sz="1700" spc="-5" dirty="0">
                <a:solidFill>
                  <a:srgbClr val="C00000"/>
                </a:solidFill>
                <a:latin typeface="Times New Roman"/>
                <a:cs typeface="Times New Roman"/>
              </a:rPr>
              <a:t>two</a:t>
            </a:r>
            <a:r>
              <a:rPr sz="1700" dirty="0">
                <a:solidFill>
                  <a:srgbClr val="C00000"/>
                </a:solidFill>
                <a:latin typeface="Times New Roman"/>
                <a:cs typeface="Times New Roman"/>
              </a:rPr>
              <a:t> rings</a:t>
            </a:r>
            <a:r>
              <a:rPr sz="1700" spc="-15" dirty="0">
                <a:solidFill>
                  <a:srgbClr val="C00000"/>
                </a:solidFill>
                <a:latin typeface="Times New Roman"/>
                <a:cs typeface="Times New Roman"/>
              </a:rPr>
              <a:t> </a:t>
            </a:r>
            <a:r>
              <a:rPr sz="1700" dirty="0">
                <a:solidFill>
                  <a:srgbClr val="C00000"/>
                </a:solidFill>
                <a:latin typeface="Times New Roman"/>
                <a:cs typeface="Times New Roman"/>
              </a:rPr>
              <a:t>of</a:t>
            </a:r>
            <a:r>
              <a:rPr sz="1700" spc="5" dirty="0">
                <a:solidFill>
                  <a:srgbClr val="C00000"/>
                </a:solidFill>
                <a:latin typeface="Times New Roman"/>
                <a:cs typeface="Times New Roman"/>
              </a:rPr>
              <a:t> </a:t>
            </a:r>
            <a:r>
              <a:rPr sz="1700" dirty="0">
                <a:solidFill>
                  <a:srgbClr val="C00000"/>
                </a:solidFill>
                <a:latin typeface="Times New Roman"/>
                <a:cs typeface="Times New Roman"/>
              </a:rPr>
              <a:t>the</a:t>
            </a:r>
            <a:r>
              <a:rPr sz="1700" spc="-5" dirty="0">
                <a:solidFill>
                  <a:srgbClr val="C00000"/>
                </a:solidFill>
                <a:latin typeface="Times New Roman"/>
                <a:cs typeface="Times New Roman"/>
              </a:rPr>
              <a:t> same</a:t>
            </a:r>
            <a:r>
              <a:rPr sz="1700" spc="10" dirty="0">
                <a:solidFill>
                  <a:srgbClr val="C00000"/>
                </a:solidFill>
                <a:latin typeface="Times New Roman"/>
                <a:cs typeface="Times New Roman"/>
              </a:rPr>
              <a:t> </a:t>
            </a:r>
            <a:r>
              <a:rPr sz="1700" spc="-5" dirty="0">
                <a:solidFill>
                  <a:srgbClr val="C00000"/>
                </a:solidFill>
                <a:latin typeface="Times New Roman"/>
                <a:cs typeface="Times New Roman"/>
              </a:rPr>
              <a:t>size</a:t>
            </a:r>
            <a:r>
              <a:rPr sz="1700" spc="-15" dirty="0">
                <a:solidFill>
                  <a:srgbClr val="C00000"/>
                </a:solidFill>
                <a:latin typeface="Times New Roman"/>
                <a:cs typeface="Times New Roman"/>
              </a:rPr>
              <a:t> </a:t>
            </a:r>
            <a:r>
              <a:rPr sz="1700" dirty="0">
                <a:solidFill>
                  <a:srgbClr val="C00000"/>
                </a:solidFill>
                <a:latin typeface="Times New Roman"/>
                <a:cs typeface="Times New Roman"/>
              </a:rPr>
              <a:t>but</a:t>
            </a:r>
            <a:r>
              <a:rPr sz="1700" spc="5" dirty="0">
                <a:solidFill>
                  <a:srgbClr val="C00000"/>
                </a:solidFill>
                <a:latin typeface="Times New Roman"/>
                <a:cs typeface="Times New Roman"/>
              </a:rPr>
              <a:t> </a:t>
            </a:r>
            <a:r>
              <a:rPr sz="1700" dirty="0">
                <a:solidFill>
                  <a:srgbClr val="C00000"/>
                </a:solidFill>
                <a:latin typeface="Times New Roman"/>
                <a:cs typeface="Times New Roman"/>
              </a:rPr>
              <a:t>have</a:t>
            </a:r>
            <a:r>
              <a:rPr sz="1700" spc="-10" dirty="0">
                <a:solidFill>
                  <a:srgbClr val="C00000"/>
                </a:solidFill>
                <a:latin typeface="Times New Roman"/>
                <a:cs typeface="Times New Roman"/>
              </a:rPr>
              <a:t> </a:t>
            </a:r>
            <a:r>
              <a:rPr sz="1700" spc="-5" dirty="0">
                <a:solidFill>
                  <a:srgbClr val="C00000"/>
                </a:solidFill>
                <a:latin typeface="Times New Roman"/>
                <a:cs typeface="Times New Roman"/>
              </a:rPr>
              <a:t>different</a:t>
            </a:r>
            <a:r>
              <a:rPr sz="1700" spc="5" dirty="0">
                <a:solidFill>
                  <a:srgbClr val="C00000"/>
                </a:solidFill>
                <a:latin typeface="Times New Roman"/>
                <a:cs typeface="Times New Roman"/>
              </a:rPr>
              <a:t> </a:t>
            </a:r>
            <a:r>
              <a:rPr sz="1700" dirty="0">
                <a:solidFill>
                  <a:srgbClr val="C00000"/>
                </a:solidFill>
                <a:latin typeface="Times New Roman"/>
                <a:cs typeface="Times New Roman"/>
              </a:rPr>
              <a:t>heteroatoms?</a:t>
            </a:r>
            <a:endParaRPr sz="1700" dirty="0">
              <a:latin typeface="Times New Roman"/>
              <a:cs typeface="Times New Roman"/>
            </a:endParaRPr>
          </a:p>
          <a:p>
            <a:pPr marL="12700" algn="just">
              <a:lnSpc>
                <a:spcPct val="100000"/>
              </a:lnSpc>
              <a:spcBef>
                <a:spcPts val="600"/>
              </a:spcBef>
            </a:pPr>
            <a:r>
              <a:rPr lang="en-GB" sz="1700" spc="-50" dirty="0">
                <a:latin typeface="Times New Roman"/>
                <a:cs typeface="Times New Roman"/>
              </a:rPr>
              <a:t>      </a:t>
            </a:r>
            <a:r>
              <a:rPr sz="1700" spc="-50" dirty="0">
                <a:latin typeface="Times New Roman"/>
                <a:cs typeface="Times New Roman"/>
              </a:rPr>
              <a:t>Yes:</a:t>
            </a:r>
            <a:r>
              <a:rPr sz="1700" dirty="0">
                <a:latin typeface="Times New Roman"/>
                <a:cs typeface="Times New Roman"/>
              </a:rPr>
              <a:t> </a:t>
            </a:r>
            <a:r>
              <a:rPr sz="1700" spc="-5" dirty="0">
                <a:latin typeface="Times New Roman"/>
                <a:cs typeface="Times New Roman"/>
              </a:rPr>
              <a:t>choose</a:t>
            </a:r>
            <a:r>
              <a:rPr sz="1700" spc="5" dirty="0">
                <a:latin typeface="Times New Roman"/>
                <a:cs typeface="Times New Roman"/>
              </a:rPr>
              <a:t> </a:t>
            </a:r>
            <a:r>
              <a:rPr sz="1700" dirty="0">
                <a:latin typeface="Times New Roman"/>
                <a:cs typeface="Times New Roman"/>
              </a:rPr>
              <a:t>the</a:t>
            </a:r>
            <a:r>
              <a:rPr sz="1700" spc="-10" dirty="0">
                <a:latin typeface="Times New Roman"/>
                <a:cs typeface="Times New Roman"/>
              </a:rPr>
              <a:t> </a:t>
            </a:r>
            <a:r>
              <a:rPr sz="1700" dirty="0">
                <a:latin typeface="Times New Roman"/>
                <a:cs typeface="Times New Roman"/>
              </a:rPr>
              <a:t>ring containing</a:t>
            </a:r>
            <a:r>
              <a:rPr sz="1700" spc="-15" dirty="0">
                <a:latin typeface="Times New Roman"/>
                <a:cs typeface="Times New Roman"/>
              </a:rPr>
              <a:t> </a:t>
            </a:r>
            <a:r>
              <a:rPr sz="1700" dirty="0">
                <a:latin typeface="Times New Roman"/>
                <a:cs typeface="Times New Roman"/>
              </a:rPr>
              <a:t>a heteroatom</a:t>
            </a:r>
            <a:r>
              <a:rPr sz="1700" spc="-20" dirty="0">
                <a:latin typeface="Times New Roman"/>
                <a:cs typeface="Times New Roman"/>
              </a:rPr>
              <a:t> </a:t>
            </a:r>
            <a:r>
              <a:rPr sz="1700" dirty="0">
                <a:latin typeface="Times New Roman"/>
                <a:cs typeface="Times New Roman"/>
              </a:rPr>
              <a:t>of the</a:t>
            </a:r>
            <a:r>
              <a:rPr sz="1700" spc="5" dirty="0">
                <a:latin typeface="Times New Roman"/>
                <a:cs typeface="Times New Roman"/>
              </a:rPr>
              <a:t> </a:t>
            </a:r>
            <a:r>
              <a:rPr sz="1700" spc="-5" dirty="0">
                <a:latin typeface="Times New Roman"/>
                <a:cs typeface="Times New Roman"/>
              </a:rPr>
              <a:t>highest</a:t>
            </a:r>
            <a:r>
              <a:rPr sz="1700" spc="-20" dirty="0">
                <a:latin typeface="Times New Roman"/>
                <a:cs typeface="Times New Roman"/>
              </a:rPr>
              <a:t> </a:t>
            </a:r>
            <a:r>
              <a:rPr sz="1700" dirty="0">
                <a:latin typeface="Times New Roman"/>
                <a:cs typeface="Times New Roman"/>
              </a:rPr>
              <a:t>priority</a:t>
            </a:r>
            <a:r>
              <a:rPr sz="1700" spc="-5" dirty="0">
                <a:latin typeface="Times New Roman"/>
                <a:cs typeface="Times New Roman"/>
              </a:rPr>
              <a:t> </a:t>
            </a:r>
            <a:r>
              <a:rPr sz="1700" dirty="0">
                <a:latin typeface="Times New Roman"/>
                <a:cs typeface="Times New Roman"/>
              </a:rPr>
              <a:t>i.e.</a:t>
            </a:r>
            <a:r>
              <a:rPr sz="1700" spc="-15" dirty="0">
                <a:latin typeface="Times New Roman"/>
                <a:cs typeface="Times New Roman"/>
              </a:rPr>
              <a:t> </a:t>
            </a:r>
            <a:r>
              <a:rPr sz="1700" dirty="0">
                <a:latin typeface="Times New Roman"/>
                <a:cs typeface="Times New Roman"/>
              </a:rPr>
              <a:t>O</a:t>
            </a:r>
            <a:r>
              <a:rPr sz="1700" spc="5" dirty="0">
                <a:latin typeface="Times New Roman"/>
                <a:cs typeface="Times New Roman"/>
              </a:rPr>
              <a:t> </a:t>
            </a:r>
            <a:r>
              <a:rPr sz="1700" dirty="0">
                <a:latin typeface="Times New Roman"/>
                <a:cs typeface="Times New Roman"/>
              </a:rPr>
              <a:t>&gt;S</a:t>
            </a:r>
          </a:p>
          <a:p>
            <a:pPr marL="12700" marR="725805" algn="just">
              <a:lnSpc>
                <a:spcPct val="100000"/>
              </a:lnSpc>
              <a:spcBef>
                <a:spcPts val="600"/>
              </a:spcBef>
              <a:tabLst>
                <a:tab pos="354965" algn="l"/>
                <a:tab pos="355600" algn="l"/>
              </a:tabLst>
            </a:pPr>
            <a:r>
              <a:rPr lang="en-GB" sz="1700" spc="-5" dirty="0">
                <a:solidFill>
                  <a:srgbClr val="C00000"/>
                </a:solidFill>
                <a:latin typeface="Times New Roman"/>
                <a:cs typeface="Times New Roman"/>
              </a:rPr>
              <a:t>5. </a:t>
            </a:r>
            <a:r>
              <a:rPr sz="1700" spc="-5" dirty="0">
                <a:solidFill>
                  <a:srgbClr val="C00000"/>
                </a:solidFill>
                <a:latin typeface="Times New Roman"/>
                <a:cs typeface="Times New Roman"/>
              </a:rPr>
              <a:t>Are </a:t>
            </a:r>
            <a:r>
              <a:rPr sz="1700" dirty="0">
                <a:solidFill>
                  <a:srgbClr val="C00000"/>
                </a:solidFill>
                <a:latin typeface="Times New Roman"/>
                <a:cs typeface="Times New Roman"/>
              </a:rPr>
              <a:t>the rings of the </a:t>
            </a:r>
            <a:r>
              <a:rPr sz="1700" spc="-5" dirty="0">
                <a:solidFill>
                  <a:srgbClr val="C00000"/>
                </a:solidFill>
                <a:latin typeface="Times New Roman"/>
                <a:cs typeface="Times New Roman"/>
              </a:rPr>
              <a:t>same </a:t>
            </a:r>
            <a:r>
              <a:rPr sz="1700" dirty="0">
                <a:solidFill>
                  <a:srgbClr val="C00000"/>
                </a:solidFill>
                <a:latin typeface="Times New Roman"/>
                <a:cs typeface="Times New Roman"/>
              </a:rPr>
              <a:t>size but</a:t>
            </a:r>
            <a:r>
              <a:rPr sz="1700" spc="5" dirty="0">
                <a:solidFill>
                  <a:srgbClr val="C00000"/>
                </a:solidFill>
                <a:latin typeface="Times New Roman"/>
                <a:cs typeface="Times New Roman"/>
              </a:rPr>
              <a:t> </a:t>
            </a:r>
            <a:r>
              <a:rPr sz="1700" dirty="0">
                <a:solidFill>
                  <a:srgbClr val="C00000"/>
                </a:solidFill>
                <a:latin typeface="Times New Roman"/>
                <a:cs typeface="Times New Roman"/>
              </a:rPr>
              <a:t>contain </a:t>
            </a:r>
            <a:r>
              <a:rPr sz="1700" spc="-5" dirty="0">
                <a:solidFill>
                  <a:srgbClr val="C00000"/>
                </a:solidFill>
                <a:latin typeface="Times New Roman"/>
                <a:cs typeface="Times New Roman"/>
              </a:rPr>
              <a:t>different </a:t>
            </a:r>
            <a:r>
              <a:rPr sz="1700" dirty="0">
                <a:solidFill>
                  <a:srgbClr val="C00000"/>
                </a:solidFill>
                <a:latin typeface="Times New Roman"/>
                <a:cs typeface="Times New Roman"/>
              </a:rPr>
              <a:t>numbers of heteroatoms? </a:t>
            </a:r>
            <a:r>
              <a:rPr sz="1700" spc="-434" dirty="0">
                <a:solidFill>
                  <a:srgbClr val="C00000"/>
                </a:solidFill>
                <a:latin typeface="Times New Roman"/>
                <a:cs typeface="Times New Roman"/>
              </a:rPr>
              <a:t> </a:t>
            </a:r>
            <a:endParaRPr lang="en-GB" sz="1700" spc="-434" dirty="0">
              <a:solidFill>
                <a:srgbClr val="C00000"/>
              </a:solidFill>
              <a:latin typeface="Times New Roman"/>
              <a:cs typeface="Times New Roman"/>
            </a:endParaRPr>
          </a:p>
          <a:p>
            <a:pPr marL="12700" marR="725805" algn="just">
              <a:lnSpc>
                <a:spcPct val="100000"/>
              </a:lnSpc>
              <a:spcBef>
                <a:spcPts val="600"/>
              </a:spcBef>
              <a:tabLst>
                <a:tab pos="354965" algn="l"/>
                <a:tab pos="355600" algn="l"/>
              </a:tabLst>
            </a:pPr>
            <a:r>
              <a:rPr lang="en-GB" sz="1700" spc="-50" dirty="0">
                <a:latin typeface="Times New Roman"/>
                <a:cs typeface="Times New Roman"/>
              </a:rPr>
              <a:t>      </a:t>
            </a:r>
            <a:r>
              <a:rPr sz="1700" spc="-50" dirty="0">
                <a:latin typeface="Times New Roman"/>
                <a:cs typeface="Times New Roman"/>
              </a:rPr>
              <a:t>Yes:</a:t>
            </a:r>
            <a:r>
              <a:rPr sz="1700" spc="-5" dirty="0">
                <a:latin typeface="Times New Roman"/>
                <a:cs typeface="Times New Roman"/>
              </a:rPr>
              <a:t> </a:t>
            </a:r>
            <a:r>
              <a:rPr sz="1700" dirty="0">
                <a:latin typeface="Times New Roman"/>
                <a:cs typeface="Times New Roman"/>
              </a:rPr>
              <a:t>choose</a:t>
            </a:r>
            <a:r>
              <a:rPr sz="1700" spc="5" dirty="0">
                <a:latin typeface="Times New Roman"/>
                <a:cs typeface="Times New Roman"/>
              </a:rPr>
              <a:t> </a:t>
            </a:r>
            <a:r>
              <a:rPr sz="1700" dirty="0">
                <a:latin typeface="Times New Roman"/>
                <a:cs typeface="Times New Roman"/>
              </a:rPr>
              <a:t>the</a:t>
            </a:r>
            <a:r>
              <a:rPr sz="1700" spc="-15" dirty="0">
                <a:latin typeface="Times New Roman"/>
                <a:cs typeface="Times New Roman"/>
              </a:rPr>
              <a:t> </a:t>
            </a:r>
            <a:r>
              <a:rPr sz="1700" dirty="0">
                <a:latin typeface="Times New Roman"/>
                <a:cs typeface="Times New Roman"/>
              </a:rPr>
              <a:t>ring</a:t>
            </a:r>
            <a:r>
              <a:rPr sz="1700" spc="5" dirty="0">
                <a:latin typeface="Times New Roman"/>
                <a:cs typeface="Times New Roman"/>
              </a:rPr>
              <a:t> </a:t>
            </a:r>
            <a:r>
              <a:rPr sz="1700" dirty="0">
                <a:latin typeface="Times New Roman"/>
                <a:cs typeface="Times New Roman"/>
              </a:rPr>
              <a:t>with the</a:t>
            </a:r>
            <a:r>
              <a:rPr sz="1700" spc="-10" dirty="0">
                <a:latin typeface="Times New Roman"/>
                <a:cs typeface="Times New Roman"/>
              </a:rPr>
              <a:t> </a:t>
            </a:r>
            <a:r>
              <a:rPr sz="1700" dirty="0">
                <a:latin typeface="Times New Roman"/>
                <a:cs typeface="Times New Roman"/>
              </a:rPr>
              <a:t>greater</a:t>
            </a:r>
            <a:r>
              <a:rPr sz="1700" spc="-15" dirty="0">
                <a:latin typeface="Times New Roman"/>
                <a:cs typeface="Times New Roman"/>
              </a:rPr>
              <a:t> </a:t>
            </a:r>
            <a:r>
              <a:rPr sz="1700" spc="-5" dirty="0">
                <a:latin typeface="Times New Roman"/>
                <a:cs typeface="Times New Roman"/>
              </a:rPr>
              <a:t>number</a:t>
            </a:r>
            <a:endParaRPr sz="1700" dirty="0">
              <a:latin typeface="Times New Roman"/>
              <a:cs typeface="Times New Roman"/>
            </a:endParaRPr>
          </a:p>
          <a:p>
            <a:pPr marL="12700" algn="just">
              <a:lnSpc>
                <a:spcPct val="100000"/>
              </a:lnSpc>
              <a:spcBef>
                <a:spcPts val="600"/>
              </a:spcBef>
              <a:tabLst>
                <a:tab pos="354965" algn="l"/>
                <a:tab pos="355600" algn="l"/>
              </a:tabLst>
            </a:pPr>
            <a:r>
              <a:rPr lang="en-GB" sz="1700" dirty="0">
                <a:solidFill>
                  <a:srgbClr val="C00000"/>
                </a:solidFill>
                <a:latin typeface="Times New Roman"/>
                <a:cs typeface="Times New Roman"/>
              </a:rPr>
              <a:t>6. </a:t>
            </a:r>
            <a:r>
              <a:rPr sz="1700" dirty="0">
                <a:solidFill>
                  <a:srgbClr val="C00000"/>
                </a:solidFill>
                <a:latin typeface="Times New Roman"/>
                <a:cs typeface="Times New Roman"/>
              </a:rPr>
              <a:t>Are the two</a:t>
            </a:r>
            <a:r>
              <a:rPr sz="1700" spc="5" dirty="0">
                <a:solidFill>
                  <a:srgbClr val="C00000"/>
                </a:solidFill>
                <a:latin typeface="Times New Roman"/>
                <a:cs typeface="Times New Roman"/>
              </a:rPr>
              <a:t> </a:t>
            </a:r>
            <a:r>
              <a:rPr sz="1700" dirty="0">
                <a:solidFill>
                  <a:srgbClr val="C00000"/>
                </a:solidFill>
                <a:latin typeface="Times New Roman"/>
                <a:cs typeface="Times New Roman"/>
              </a:rPr>
              <a:t>rings</a:t>
            </a:r>
            <a:r>
              <a:rPr sz="1700" spc="-10" dirty="0">
                <a:solidFill>
                  <a:srgbClr val="C00000"/>
                </a:solidFill>
                <a:latin typeface="Times New Roman"/>
                <a:cs typeface="Times New Roman"/>
              </a:rPr>
              <a:t> </a:t>
            </a:r>
            <a:r>
              <a:rPr sz="1700" dirty="0">
                <a:solidFill>
                  <a:srgbClr val="C00000"/>
                </a:solidFill>
                <a:latin typeface="Times New Roman"/>
                <a:cs typeface="Times New Roman"/>
              </a:rPr>
              <a:t>of</a:t>
            </a:r>
            <a:r>
              <a:rPr sz="1700" spc="10" dirty="0">
                <a:solidFill>
                  <a:srgbClr val="C00000"/>
                </a:solidFill>
                <a:latin typeface="Times New Roman"/>
                <a:cs typeface="Times New Roman"/>
              </a:rPr>
              <a:t> </a:t>
            </a:r>
            <a:r>
              <a:rPr sz="1700" dirty="0">
                <a:solidFill>
                  <a:srgbClr val="C00000"/>
                </a:solidFill>
                <a:latin typeface="Times New Roman"/>
                <a:cs typeface="Times New Roman"/>
              </a:rPr>
              <a:t>the</a:t>
            </a:r>
            <a:r>
              <a:rPr sz="1700" spc="-5" dirty="0">
                <a:solidFill>
                  <a:srgbClr val="C00000"/>
                </a:solidFill>
                <a:latin typeface="Times New Roman"/>
                <a:cs typeface="Times New Roman"/>
              </a:rPr>
              <a:t> </a:t>
            </a:r>
            <a:r>
              <a:rPr sz="1700" dirty="0">
                <a:solidFill>
                  <a:srgbClr val="C00000"/>
                </a:solidFill>
                <a:latin typeface="Times New Roman"/>
                <a:cs typeface="Times New Roman"/>
              </a:rPr>
              <a:t>same</a:t>
            </a:r>
            <a:r>
              <a:rPr sz="1700" spc="5" dirty="0">
                <a:solidFill>
                  <a:srgbClr val="C00000"/>
                </a:solidFill>
                <a:latin typeface="Times New Roman"/>
                <a:cs typeface="Times New Roman"/>
              </a:rPr>
              <a:t> </a:t>
            </a:r>
            <a:r>
              <a:rPr sz="1700" dirty="0">
                <a:solidFill>
                  <a:srgbClr val="C00000"/>
                </a:solidFill>
                <a:latin typeface="Times New Roman"/>
                <a:cs typeface="Times New Roman"/>
              </a:rPr>
              <a:t>size</a:t>
            </a:r>
            <a:r>
              <a:rPr sz="1700" spc="-15" dirty="0">
                <a:solidFill>
                  <a:srgbClr val="C00000"/>
                </a:solidFill>
                <a:latin typeface="Times New Roman"/>
                <a:cs typeface="Times New Roman"/>
              </a:rPr>
              <a:t> </a:t>
            </a:r>
            <a:r>
              <a:rPr sz="1700" dirty="0">
                <a:solidFill>
                  <a:srgbClr val="C00000"/>
                </a:solidFill>
                <a:latin typeface="Times New Roman"/>
                <a:cs typeface="Times New Roman"/>
              </a:rPr>
              <a:t>and</a:t>
            </a:r>
            <a:r>
              <a:rPr sz="1700" spc="10" dirty="0">
                <a:solidFill>
                  <a:srgbClr val="C00000"/>
                </a:solidFill>
                <a:latin typeface="Times New Roman"/>
                <a:cs typeface="Times New Roman"/>
              </a:rPr>
              <a:t> </a:t>
            </a:r>
            <a:r>
              <a:rPr sz="1700" dirty="0">
                <a:solidFill>
                  <a:srgbClr val="C00000"/>
                </a:solidFill>
                <a:latin typeface="Times New Roman"/>
                <a:cs typeface="Times New Roman"/>
              </a:rPr>
              <a:t>the</a:t>
            </a:r>
            <a:r>
              <a:rPr sz="1700" spc="-15" dirty="0">
                <a:solidFill>
                  <a:srgbClr val="C00000"/>
                </a:solidFill>
                <a:latin typeface="Times New Roman"/>
                <a:cs typeface="Times New Roman"/>
              </a:rPr>
              <a:t> </a:t>
            </a:r>
            <a:r>
              <a:rPr sz="1700" dirty="0">
                <a:solidFill>
                  <a:srgbClr val="C00000"/>
                </a:solidFill>
                <a:latin typeface="Times New Roman"/>
                <a:cs typeface="Times New Roman"/>
              </a:rPr>
              <a:t>same</a:t>
            </a:r>
            <a:r>
              <a:rPr sz="1700" spc="5" dirty="0">
                <a:solidFill>
                  <a:srgbClr val="C00000"/>
                </a:solidFill>
                <a:latin typeface="Times New Roman"/>
                <a:cs typeface="Times New Roman"/>
              </a:rPr>
              <a:t> </a:t>
            </a:r>
            <a:r>
              <a:rPr sz="1700" dirty="0">
                <a:solidFill>
                  <a:srgbClr val="C00000"/>
                </a:solidFill>
                <a:latin typeface="Times New Roman"/>
                <a:cs typeface="Times New Roman"/>
              </a:rPr>
              <a:t>number</a:t>
            </a:r>
            <a:r>
              <a:rPr sz="1700" spc="5" dirty="0">
                <a:solidFill>
                  <a:srgbClr val="C00000"/>
                </a:solidFill>
                <a:latin typeface="Times New Roman"/>
                <a:cs typeface="Times New Roman"/>
              </a:rPr>
              <a:t> </a:t>
            </a:r>
            <a:r>
              <a:rPr sz="1700" dirty="0">
                <a:solidFill>
                  <a:srgbClr val="C00000"/>
                </a:solidFill>
                <a:latin typeface="Times New Roman"/>
                <a:cs typeface="Times New Roman"/>
              </a:rPr>
              <a:t>of</a:t>
            </a:r>
            <a:r>
              <a:rPr sz="1700" spc="10" dirty="0">
                <a:solidFill>
                  <a:srgbClr val="C00000"/>
                </a:solidFill>
                <a:latin typeface="Times New Roman"/>
                <a:cs typeface="Times New Roman"/>
              </a:rPr>
              <a:t> </a:t>
            </a:r>
            <a:r>
              <a:rPr sz="1700" spc="-5" dirty="0">
                <a:solidFill>
                  <a:srgbClr val="C00000"/>
                </a:solidFill>
                <a:latin typeface="Times New Roman"/>
                <a:cs typeface="Times New Roman"/>
              </a:rPr>
              <a:t>different</a:t>
            </a:r>
            <a:r>
              <a:rPr sz="1700" spc="-15" dirty="0">
                <a:solidFill>
                  <a:srgbClr val="C00000"/>
                </a:solidFill>
                <a:latin typeface="Times New Roman"/>
                <a:cs typeface="Times New Roman"/>
              </a:rPr>
              <a:t> </a:t>
            </a:r>
            <a:r>
              <a:rPr sz="1700" dirty="0">
                <a:solidFill>
                  <a:srgbClr val="C00000"/>
                </a:solidFill>
                <a:latin typeface="Times New Roman"/>
                <a:cs typeface="Times New Roman"/>
              </a:rPr>
              <a:t>heteroatoms?</a:t>
            </a:r>
            <a:endParaRPr sz="1700" dirty="0">
              <a:latin typeface="Times New Roman"/>
              <a:cs typeface="Times New Roman"/>
            </a:endParaRPr>
          </a:p>
          <a:p>
            <a:pPr marL="12700" algn="just">
              <a:lnSpc>
                <a:spcPct val="100000"/>
              </a:lnSpc>
              <a:spcBef>
                <a:spcPts val="600"/>
              </a:spcBef>
            </a:pPr>
            <a:r>
              <a:rPr lang="en-GB" sz="1700" spc="-50" dirty="0">
                <a:latin typeface="Times New Roman"/>
                <a:cs typeface="Times New Roman"/>
              </a:rPr>
              <a:t>      </a:t>
            </a:r>
            <a:r>
              <a:rPr sz="1700" spc="-50" dirty="0">
                <a:latin typeface="Times New Roman"/>
                <a:cs typeface="Times New Roman"/>
              </a:rPr>
              <a:t>Yes:</a:t>
            </a:r>
            <a:r>
              <a:rPr sz="1700" spc="-10" dirty="0">
                <a:latin typeface="Times New Roman"/>
                <a:cs typeface="Times New Roman"/>
              </a:rPr>
              <a:t> </a:t>
            </a:r>
            <a:r>
              <a:rPr sz="1700" dirty="0">
                <a:latin typeface="Times New Roman"/>
                <a:cs typeface="Times New Roman"/>
              </a:rPr>
              <a:t>choose the</a:t>
            </a:r>
            <a:r>
              <a:rPr sz="1700" spc="-25" dirty="0">
                <a:latin typeface="Times New Roman"/>
                <a:cs typeface="Times New Roman"/>
              </a:rPr>
              <a:t> </a:t>
            </a:r>
            <a:r>
              <a:rPr sz="1700" dirty="0">
                <a:latin typeface="Times New Roman"/>
                <a:cs typeface="Times New Roman"/>
              </a:rPr>
              <a:t>ring with</a:t>
            </a:r>
            <a:r>
              <a:rPr sz="1700" spc="-10" dirty="0">
                <a:latin typeface="Times New Roman"/>
                <a:cs typeface="Times New Roman"/>
              </a:rPr>
              <a:t> </a:t>
            </a:r>
            <a:r>
              <a:rPr sz="1700" dirty="0">
                <a:latin typeface="Times New Roman"/>
                <a:cs typeface="Times New Roman"/>
              </a:rPr>
              <a:t>the</a:t>
            </a:r>
            <a:r>
              <a:rPr sz="1700" spc="-10" dirty="0">
                <a:latin typeface="Times New Roman"/>
                <a:cs typeface="Times New Roman"/>
              </a:rPr>
              <a:t> </a:t>
            </a:r>
            <a:r>
              <a:rPr sz="1700" dirty="0">
                <a:latin typeface="Times New Roman"/>
                <a:cs typeface="Times New Roman"/>
              </a:rPr>
              <a:t>greatest</a:t>
            </a:r>
            <a:r>
              <a:rPr sz="1700" spc="-25" dirty="0">
                <a:latin typeface="Times New Roman"/>
                <a:cs typeface="Times New Roman"/>
              </a:rPr>
              <a:t> </a:t>
            </a:r>
            <a:r>
              <a:rPr sz="1700" dirty="0">
                <a:latin typeface="Times New Roman"/>
                <a:cs typeface="Times New Roman"/>
              </a:rPr>
              <a:t>variety</a:t>
            </a:r>
            <a:r>
              <a:rPr sz="1700" spc="-25" dirty="0">
                <a:latin typeface="Times New Roman"/>
                <a:cs typeface="Times New Roman"/>
              </a:rPr>
              <a:t> </a:t>
            </a:r>
            <a:r>
              <a:rPr sz="1700" dirty="0">
                <a:latin typeface="Times New Roman"/>
                <a:cs typeface="Times New Roman"/>
              </a:rPr>
              <a:t>of</a:t>
            </a:r>
            <a:r>
              <a:rPr sz="1700" spc="-5" dirty="0">
                <a:latin typeface="Times New Roman"/>
                <a:cs typeface="Times New Roman"/>
              </a:rPr>
              <a:t> </a:t>
            </a:r>
            <a:r>
              <a:rPr sz="1700" dirty="0">
                <a:latin typeface="Times New Roman"/>
                <a:cs typeface="Times New Roman"/>
              </a:rPr>
              <a:t>heteroatoms</a:t>
            </a:r>
          </a:p>
          <a:p>
            <a:pPr marL="12700" marR="5080" algn="just">
              <a:lnSpc>
                <a:spcPct val="100000"/>
              </a:lnSpc>
              <a:spcBef>
                <a:spcPts val="600"/>
              </a:spcBef>
              <a:tabLst>
                <a:tab pos="354965" algn="l"/>
                <a:tab pos="355600" algn="l"/>
              </a:tabLst>
            </a:pPr>
            <a:r>
              <a:rPr lang="en-GB" sz="1700" spc="-5" dirty="0">
                <a:solidFill>
                  <a:srgbClr val="C00000"/>
                </a:solidFill>
                <a:latin typeface="Times New Roman"/>
                <a:cs typeface="Times New Roman"/>
              </a:rPr>
              <a:t>7. </a:t>
            </a:r>
            <a:r>
              <a:rPr sz="1700" spc="-5" dirty="0">
                <a:solidFill>
                  <a:srgbClr val="C00000"/>
                </a:solidFill>
                <a:latin typeface="Times New Roman"/>
                <a:cs typeface="Times New Roman"/>
              </a:rPr>
              <a:t>Are </a:t>
            </a:r>
            <a:r>
              <a:rPr sz="1700" dirty="0">
                <a:solidFill>
                  <a:srgbClr val="C00000"/>
                </a:solidFill>
                <a:latin typeface="Times New Roman"/>
                <a:cs typeface="Times New Roman"/>
              </a:rPr>
              <a:t>the</a:t>
            </a:r>
            <a:r>
              <a:rPr sz="1700" spc="10" dirty="0">
                <a:solidFill>
                  <a:srgbClr val="C00000"/>
                </a:solidFill>
                <a:latin typeface="Times New Roman"/>
                <a:cs typeface="Times New Roman"/>
              </a:rPr>
              <a:t> </a:t>
            </a:r>
            <a:r>
              <a:rPr sz="1700" spc="-5" dirty="0">
                <a:solidFill>
                  <a:srgbClr val="C00000"/>
                </a:solidFill>
                <a:latin typeface="Times New Roman"/>
                <a:cs typeface="Times New Roman"/>
              </a:rPr>
              <a:t>two</a:t>
            </a:r>
            <a:r>
              <a:rPr sz="1700" dirty="0">
                <a:solidFill>
                  <a:srgbClr val="C00000"/>
                </a:solidFill>
                <a:latin typeface="Times New Roman"/>
                <a:cs typeface="Times New Roman"/>
              </a:rPr>
              <a:t> rings</a:t>
            </a:r>
            <a:r>
              <a:rPr sz="1700" spc="5" dirty="0">
                <a:solidFill>
                  <a:srgbClr val="C00000"/>
                </a:solidFill>
                <a:latin typeface="Times New Roman"/>
                <a:cs typeface="Times New Roman"/>
              </a:rPr>
              <a:t> </a:t>
            </a:r>
            <a:r>
              <a:rPr sz="1700" dirty="0">
                <a:solidFill>
                  <a:srgbClr val="C00000"/>
                </a:solidFill>
                <a:latin typeface="Times New Roman"/>
                <a:cs typeface="Times New Roman"/>
              </a:rPr>
              <a:t>have the </a:t>
            </a:r>
            <a:r>
              <a:rPr sz="1700" spc="-5" dirty="0">
                <a:solidFill>
                  <a:srgbClr val="C00000"/>
                </a:solidFill>
                <a:latin typeface="Times New Roman"/>
                <a:cs typeface="Times New Roman"/>
              </a:rPr>
              <a:t>same</a:t>
            </a:r>
            <a:r>
              <a:rPr sz="1700" dirty="0">
                <a:solidFill>
                  <a:srgbClr val="C00000"/>
                </a:solidFill>
                <a:latin typeface="Times New Roman"/>
                <a:cs typeface="Times New Roman"/>
              </a:rPr>
              <a:t> size and the </a:t>
            </a:r>
            <a:r>
              <a:rPr sz="1700" spc="-5" dirty="0">
                <a:solidFill>
                  <a:srgbClr val="C00000"/>
                </a:solidFill>
                <a:latin typeface="Times New Roman"/>
                <a:cs typeface="Times New Roman"/>
              </a:rPr>
              <a:t>same</a:t>
            </a:r>
            <a:r>
              <a:rPr sz="1700" spc="10" dirty="0">
                <a:solidFill>
                  <a:srgbClr val="C00000"/>
                </a:solidFill>
                <a:latin typeface="Times New Roman"/>
                <a:cs typeface="Times New Roman"/>
              </a:rPr>
              <a:t> </a:t>
            </a:r>
            <a:r>
              <a:rPr sz="1700" dirty="0">
                <a:solidFill>
                  <a:srgbClr val="C00000"/>
                </a:solidFill>
                <a:latin typeface="Times New Roman"/>
                <a:cs typeface="Times New Roman"/>
              </a:rPr>
              <a:t>number</a:t>
            </a:r>
            <a:r>
              <a:rPr sz="1700" spc="5" dirty="0">
                <a:solidFill>
                  <a:srgbClr val="C00000"/>
                </a:solidFill>
                <a:latin typeface="Times New Roman"/>
                <a:cs typeface="Times New Roman"/>
              </a:rPr>
              <a:t> </a:t>
            </a:r>
            <a:r>
              <a:rPr sz="1700" dirty="0">
                <a:solidFill>
                  <a:srgbClr val="C00000"/>
                </a:solidFill>
                <a:latin typeface="Times New Roman"/>
                <a:cs typeface="Times New Roman"/>
              </a:rPr>
              <a:t>and </a:t>
            </a:r>
            <a:r>
              <a:rPr sz="1700" spc="5" dirty="0">
                <a:solidFill>
                  <a:srgbClr val="C00000"/>
                </a:solidFill>
                <a:latin typeface="Times New Roman"/>
                <a:cs typeface="Times New Roman"/>
              </a:rPr>
              <a:t>type</a:t>
            </a:r>
            <a:r>
              <a:rPr sz="1700" spc="-30" dirty="0">
                <a:solidFill>
                  <a:srgbClr val="C00000"/>
                </a:solidFill>
                <a:latin typeface="Times New Roman"/>
                <a:cs typeface="Times New Roman"/>
              </a:rPr>
              <a:t> </a:t>
            </a:r>
            <a:r>
              <a:rPr sz="1700" dirty="0">
                <a:solidFill>
                  <a:srgbClr val="C00000"/>
                </a:solidFill>
                <a:latin typeface="Times New Roman"/>
                <a:cs typeface="Times New Roman"/>
              </a:rPr>
              <a:t>of</a:t>
            </a:r>
            <a:r>
              <a:rPr sz="1700" spc="-5" dirty="0">
                <a:solidFill>
                  <a:srgbClr val="C00000"/>
                </a:solidFill>
                <a:latin typeface="Times New Roman"/>
                <a:cs typeface="Times New Roman"/>
              </a:rPr>
              <a:t> </a:t>
            </a:r>
            <a:r>
              <a:rPr sz="1700" dirty="0">
                <a:solidFill>
                  <a:srgbClr val="C00000"/>
                </a:solidFill>
                <a:latin typeface="Times New Roman"/>
                <a:cs typeface="Times New Roman"/>
              </a:rPr>
              <a:t>heteroatoms? </a:t>
            </a:r>
            <a:endParaRPr lang="en-GB" sz="1700" dirty="0">
              <a:solidFill>
                <a:srgbClr val="C00000"/>
              </a:solidFill>
              <a:latin typeface="Times New Roman"/>
              <a:cs typeface="Times New Roman"/>
            </a:endParaRPr>
          </a:p>
          <a:p>
            <a:pPr marL="12700" marR="5080" algn="just">
              <a:lnSpc>
                <a:spcPct val="100000"/>
              </a:lnSpc>
              <a:spcBef>
                <a:spcPts val="600"/>
              </a:spcBef>
              <a:tabLst>
                <a:tab pos="354965" algn="l"/>
                <a:tab pos="355600" algn="l"/>
              </a:tabLst>
            </a:pPr>
            <a:r>
              <a:rPr lang="en-GB" sz="1700" spc="-434" dirty="0">
                <a:solidFill>
                  <a:srgbClr val="C00000"/>
                </a:solidFill>
                <a:latin typeface="Times New Roman"/>
                <a:cs typeface="Times New Roman"/>
              </a:rPr>
              <a:t>       </a:t>
            </a:r>
            <a:r>
              <a:rPr lang="en-GB" sz="1700" spc="-50" dirty="0">
                <a:solidFill>
                  <a:srgbClr val="C00000"/>
                </a:solidFill>
                <a:latin typeface="Times New Roman"/>
                <a:cs typeface="Times New Roman"/>
              </a:rPr>
              <a:t>   </a:t>
            </a:r>
            <a:r>
              <a:rPr lang="en-GB" sz="1700" spc="-50" dirty="0">
                <a:latin typeface="Times New Roman"/>
                <a:cs typeface="Times New Roman"/>
              </a:rPr>
              <a:t>  Y</a:t>
            </a:r>
            <a:r>
              <a:rPr sz="1700" spc="-50" dirty="0">
                <a:latin typeface="Times New Roman"/>
                <a:cs typeface="Times New Roman"/>
              </a:rPr>
              <a:t>es:</a:t>
            </a:r>
            <a:r>
              <a:rPr sz="1700" spc="-5" dirty="0">
                <a:latin typeface="Times New Roman"/>
                <a:cs typeface="Times New Roman"/>
              </a:rPr>
              <a:t> </a:t>
            </a:r>
            <a:r>
              <a:rPr sz="1700" dirty="0">
                <a:latin typeface="Times New Roman"/>
                <a:cs typeface="Times New Roman"/>
              </a:rPr>
              <a:t>choose</a:t>
            </a:r>
            <a:r>
              <a:rPr sz="1700" spc="5" dirty="0">
                <a:latin typeface="Times New Roman"/>
                <a:cs typeface="Times New Roman"/>
              </a:rPr>
              <a:t> </a:t>
            </a:r>
            <a:r>
              <a:rPr sz="1700" dirty="0">
                <a:latin typeface="Times New Roman"/>
                <a:cs typeface="Times New Roman"/>
              </a:rPr>
              <a:t>the</a:t>
            </a:r>
            <a:r>
              <a:rPr sz="1700" spc="-15" dirty="0">
                <a:latin typeface="Times New Roman"/>
                <a:cs typeface="Times New Roman"/>
              </a:rPr>
              <a:t> </a:t>
            </a:r>
            <a:r>
              <a:rPr sz="1700" dirty="0">
                <a:latin typeface="Times New Roman"/>
                <a:cs typeface="Times New Roman"/>
              </a:rPr>
              <a:t>ring</a:t>
            </a:r>
            <a:r>
              <a:rPr sz="1700" spc="5" dirty="0">
                <a:latin typeface="Times New Roman"/>
                <a:cs typeface="Times New Roman"/>
              </a:rPr>
              <a:t> </a:t>
            </a:r>
            <a:r>
              <a:rPr sz="1700" dirty="0">
                <a:latin typeface="Times New Roman"/>
                <a:cs typeface="Times New Roman"/>
              </a:rPr>
              <a:t>with</a:t>
            </a:r>
            <a:r>
              <a:rPr sz="1700" spc="-5" dirty="0">
                <a:latin typeface="Times New Roman"/>
                <a:cs typeface="Times New Roman"/>
              </a:rPr>
              <a:t> </a:t>
            </a:r>
            <a:r>
              <a:rPr sz="1700" dirty="0">
                <a:latin typeface="Times New Roman"/>
                <a:cs typeface="Times New Roman"/>
              </a:rPr>
              <a:t>the lower</a:t>
            </a:r>
            <a:r>
              <a:rPr sz="1700" spc="-15" dirty="0">
                <a:latin typeface="Times New Roman"/>
                <a:cs typeface="Times New Roman"/>
              </a:rPr>
              <a:t> </a:t>
            </a:r>
            <a:r>
              <a:rPr sz="1700" spc="-5" dirty="0">
                <a:latin typeface="Times New Roman"/>
                <a:cs typeface="Times New Roman"/>
              </a:rPr>
              <a:t>numbers</a:t>
            </a:r>
            <a:r>
              <a:rPr sz="1700" spc="10" dirty="0">
                <a:latin typeface="Times New Roman"/>
                <a:cs typeface="Times New Roman"/>
              </a:rPr>
              <a:t> </a:t>
            </a:r>
            <a:r>
              <a:rPr sz="1700" dirty="0">
                <a:latin typeface="Times New Roman"/>
                <a:cs typeface="Times New Roman"/>
              </a:rPr>
              <a:t>for</a:t>
            </a:r>
            <a:r>
              <a:rPr sz="1700" spc="-5" dirty="0">
                <a:latin typeface="Times New Roman"/>
                <a:cs typeface="Times New Roman"/>
              </a:rPr>
              <a:t> </a:t>
            </a:r>
            <a:r>
              <a:rPr sz="1700" dirty="0">
                <a:latin typeface="Times New Roman"/>
                <a:cs typeface="Times New Roman"/>
              </a:rPr>
              <a:t>heteroatoms</a:t>
            </a:r>
          </a:p>
        </p:txBody>
      </p:sp>
      <p:pic>
        <p:nvPicPr>
          <p:cNvPr id="7" name="Picture 4">
            <a:extLst>
              <a:ext uri="{FF2B5EF4-FFF2-40B4-BE49-F238E27FC236}">
                <a16:creationId xmlns:a16="http://schemas.microsoft.com/office/drawing/2014/main" id="{8D5B3C88-2802-4C09-BBE0-7EF95BAE165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9740721" y="136523"/>
            <a:ext cx="1301979" cy="668914"/>
          </a:xfrm>
          <a:prstGeom prst="rect">
            <a:avLst/>
          </a:prstGeom>
          <a:noFill/>
          <a:ln/>
        </p:spPr>
      </p:pic>
      <p:pic>
        <p:nvPicPr>
          <p:cNvPr id="8" name="Picture 7">
            <a:extLst>
              <a:ext uri="{FF2B5EF4-FFF2-40B4-BE49-F238E27FC236}">
                <a16:creationId xmlns:a16="http://schemas.microsoft.com/office/drawing/2014/main" id="{2F27E205-E37C-4EC2-91FA-8F43E308C6F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8890078" y="1153729"/>
            <a:ext cx="2977376" cy="582087"/>
          </a:xfrm>
          <a:prstGeom prst="rect">
            <a:avLst/>
          </a:prstGeom>
          <a:noFill/>
          <a:ln/>
        </p:spPr>
      </p:pic>
      <p:pic>
        <p:nvPicPr>
          <p:cNvPr id="9" name="Picture 11">
            <a:extLst>
              <a:ext uri="{FF2B5EF4-FFF2-40B4-BE49-F238E27FC236}">
                <a16:creationId xmlns:a16="http://schemas.microsoft.com/office/drawing/2014/main" id="{A07AAD8C-A899-4D8D-BEE0-D7F0EF7B19A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378766" y="2072989"/>
            <a:ext cx="1708460" cy="1011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 name="Picture 5">
            <a:extLst>
              <a:ext uri="{FF2B5EF4-FFF2-40B4-BE49-F238E27FC236}">
                <a16:creationId xmlns:a16="http://schemas.microsoft.com/office/drawing/2014/main" id="{1335F76D-6FBF-4370-9B8C-4E8C53089C3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a:xfrm>
            <a:off x="7511091" y="2967556"/>
            <a:ext cx="1090961" cy="596007"/>
          </a:xfrm>
          <a:prstGeom prst="rect">
            <a:avLst/>
          </a:prstGeom>
          <a:noFill/>
          <a:ln/>
        </p:spPr>
      </p:pic>
      <p:pic>
        <p:nvPicPr>
          <p:cNvPr id="11" name="Picture 8">
            <a:extLst>
              <a:ext uri="{FF2B5EF4-FFF2-40B4-BE49-F238E27FC236}">
                <a16:creationId xmlns:a16="http://schemas.microsoft.com/office/drawing/2014/main" id="{29FB90F5-E4F1-432B-913F-B451DEA9DF3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a:xfrm>
            <a:off x="8525776" y="3819228"/>
            <a:ext cx="1425497" cy="647516"/>
          </a:xfrm>
          <a:prstGeom prst="rect">
            <a:avLst/>
          </a:prstGeom>
          <a:noFill/>
          <a:ln/>
        </p:spPr>
      </p:pic>
      <p:pic>
        <p:nvPicPr>
          <p:cNvPr id="12" name="Picture 10">
            <a:extLst>
              <a:ext uri="{FF2B5EF4-FFF2-40B4-BE49-F238E27FC236}">
                <a16:creationId xmlns:a16="http://schemas.microsoft.com/office/drawing/2014/main" id="{F2D26458-ADC3-48E2-98D7-BC981A2D9CB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a:xfrm>
            <a:off x="8257270" y="5457863"/>
            <a:ext cx="1425497" cy="984099"/>
          </a:xfrm>
          <a:prstGeom prst="rect">
            <a:avLst/>
          </a:prstGeom>
          <a:noFill/>
          <a:ln/>
        </p:spPr>
      </p:pic>
      <p:pic>
        <p:nvPicPr>
          <p:cNvPr id="13" name="Picture 7">
            <a:extLst>
              <a:ext uri="{FF2B5EF4-FFF2-40B4-BE49-F238E27FC236}">
                <a16:creationId xmlns:a16="http://schemas.microsoft.com/office/drawing/2014/main" id="{817D5EA3-F43F-4D7B-B7B1-02AE4A285559}"/>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a:xfrm>
            <a:off x="9862562" y="4798001"/>
            <a:ext cx="1554123" cy="1114914"/>
          </a:xfrm>
          <a:prstGeom prst="rect">
            <a:avLst/>
          </a:prstGeom>
          <a:noFill/>
          <a:ln/>
        </p:spPr>
      </p:pic>
      <p:cxnSp>
        <p:nvCxnSpPr>
          <p:cNvPr id="14" name="Прямая со стрелкой 13">
            <a:extLst>
              <a:ext uri="{FF2B5EF4-FFF2-40B4-BE49-F238E27FC236}">
                <a16:creationId xmlns:a16="http://schemas.microsoft.com/office/drawing/2014/main" id="{ADF3919B-FF1B-4A69-A011-32DBC089F27D}"/>
              </a:ext>
            </a:extLst>
          </p:cNvPr>
          <p:cNvCxnSpPr>
            <a:cxnSpLocks/>
          </p:cNvCxnSpPr>
          <p:nvPr/>
        </p:nvCxnSpPr>
        <p:spPr>
          <a:xfrm flipV="1">
            <a:off x="4729829" y="675539"/>
            <a:ext cx="4341878" cy="9270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Прямая со стрелкой 15">
            <a:extLst>
              <a:ext uri="{FF2B5EF4-FFF2-40B4-BE49-F238E27FC236}">
                <a16:creationId xmlns:a16="http://schemas.microsoft.com/office/drawing/2014/main" id="{BFDB8C58-A239-41E9-9814-26891278E902}"/>
              </a:ext>
            </a:extLst>
          </p:cNvPr>
          <p:cNvCxnSpPr>
            <a:cxnSpLocks/>
            <a:endCxn id="36" idx="1"/>
          </p:cNvCxnSpPr>
          <p:nvPr/>
        </p:nvCxnSpPr>
        <p:spPr>
          <a:xfrm flipV="1">
            <a:off x="6502303" y="1556124"/>
            <a:ext cx="1754967" cy="3964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Прямая со стрелкой 17">
            <a:extLst>
              <a:ext uri="{FF2B5EF4-FFF2-40B4-BE49-F238E27FC236}">
                <a16:creationId xmlns:a16="http://schemas.microsoft.com/office/drawing/2014/main" id="{903E0FAB-2037-4B80-88A6-BCF986CAF7BD}"/>
              </a:ext>
            </a:extLst>
          </p:cNvPr>
          <p:cNvCxnSpPr>
            <a:cxnSpLocks/>
          </p:cNvCxnSpPr>
          <p:nvPr/>
        </p:nvCxnSpPr>
        <p:spPr>
          <a:xfrm flipV="1">
            <a:off x="8437065" y="2314840"/>
            <a:ext cx="1860377" cy="225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Прямая со стрелкой 19">
            <a:extLst>
              <a:ext uri="{FF2B5EF4-FFF2-40B4-BE49-F238E27FC236}">
                <a16:creationId xmlns:a16="http://schemas.microsoft.com/office/drawing/2014/main" id="{5121A1A3-25D4-4BD1-99E0-CD0C3EB7CB84}"/>
              </a:ext>
            </a:extLst>
          </p:cNvPr>
          <p:cNvCxnSpPr/>
          <p:nvPr/>
        </p:nvCxnSpPr>
        <p:spPr>
          <a:xfrm>
            <a:off x="6689240" y="3197719"/>
            <a:ext cx="59779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Прямая со стрелкой 21">
            <a:extLst>
              <a:ext uri="{FF2B5EF4-FFF2-40B4-BE49-F238E27FC236}">
                <a16:creationId xmlns:a16="http://schemas.microsoft.com/office/drawing/2014/main" id="{CD728F90-C723-4A38-ACB1-A00121C0D613}"/>
              </a:ext>
            </a:extLst>
          </p:cNvPr>
          <p:cNvCxnSpPr>
            <a:cxnSpLocks/>
          </p:cNvCxnSpPr>
          <p:nvPr/>
        </p:nvCxnSpPr>
        <p:spPr>
          <a:xfrm>
            <a:off x="7124131" y="4526972"/>
            <a:ext cx="131293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Прямая со стрелкой 23">
            <a:extLst>
              <a:ext uri="{FF2B5EF4-FFF2-40B4-BE49-F238E27FC236}">
                <a16:creationId xmlns:a16="http://schemas.microsoft.com/office/drawing/2014/main" id="{B2EEF388-B14F-458B-A341-C291F34F8E10}"/>
              </a:ext>
            </a:extLst>
          </p:cNvPr>
          <p:cNvCxnSpPr>
            <a:cxnSpLocks/>
          </p:cNvCxnSpPr>
          <p:nvPr/>
        </p:nvCxnSpPr>
        <p:spPr>
          <a:xfrm>
            <a:off x="6166183" y="5949912"/>
            <a:ext cx="2075411" cy="109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Прямая со стрелкой 25">
            <a:extLst>
              <a:ext uri="{FF2B5EF4-FFF2-40B4-BE49-F238E27FC236}">
                <a16:creationId xmlns:a16="http://schemas.microsoft.com/office/drawing/2014/main" id="{E4470C4D-C6D9-4445-B3B5-708CE632B4F6}"/>
              </a:ext>
            </a:extLst>
          </p:cNvPr>
          <p:cNvCxnSpPr>
            <a:cxnSpLocks/>
          </p:cNvCxnSpPr>
          <p:nvPr/>
        </p:nvCxnSpPr>
        <p:spPr>
          <a:xfrm flipV="1">
            <a:off x="7250403" y="5305841"/>
            <a:ext cx="2550745" cy="12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4653B25F-4CB5-4736-9CD0-1E6A63E96599}"/>
              </a:ext>
            </a:extLst>
          </p:cNvPr>
          <p:cNvSpPr txBox="1"/>
          <p:nvPr/>
        </p:nvSpPr>
        <p:spPr>
          <a:xfrm>
            <a:off x="232990" y="6413491"/>
            <a:ext cx="6094926" cy="276999"/>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GB" sz="1200" dirty="0"/>
              <a:t>More examples here </a:t>
            </a:r>
            <a:r>
              <a:rPr lang="en-GB" sz="1200" dirty="0">
                <a:hlinkClick r:id="rId9"/>
              </a:rPr>
              <a:t>https://www.acdlabs.com/iupac/nomenclature/79/r79_960.htm</a:t>
            </a:r>
            <a:r>
              <a:rPr lang="uk-UA" sz="1200" dirty="0"/>
              <a:t> </a:t>
            </a:r>
            <a:endParaRPr lang="en-GB" sz="1200" dirty="0"/>
          </a:p>
        </p:txBody>
      </p:sp>
      <p:pic>
        <p:nvPicPr>
          <p:cNvPr id="32" name="Рисунок 31">
            <a:extLst>
              <a:ext uri="{FF2B5EF4-FFF2-40B4-BE49-F238E27FC236}">
                <a16:creationId xmlns:a16="http://schemas.microsoft.com/office/drawing/2014/main" id="{5CCF119A-9164-406C-8943-BA1B4F39A004}"/>
              </a:ext>
            </a:extLst>
          </p:cNvPr>
          <p:cNvPicPr>
            <a:picLocks noChangeAspect="1"/>
          </p:cNvPicPr>
          <p:nvPr/>
        </p:nvPicPr>
        <p:blipFill>
          <a:blip r:embed="rId10"/>
          <a:stretch>
            <a:fillRect/>
          </a:stretch>
        </p:blipFill>
        <p:spPr>
          <a:xfrm>
            <a:off x="9149813" y="159751"/>
            <a:ext cx="2946282" cy="827027"/>
          </a:xfrm>
          <a:prstGeom prst="rect">
            <a:avLst/>
          </a:prstGeom>
        </p:spPr>
      </p:pic>
      <p:pic>
        <p:nvPicPr>
          <p:cNvPr id="36" name="Рисунок 35">
            <a:extLst>
              <a:ext uri="{FF2B5EF4-FFF2-40B4-BE49-F238E27FC236}">
                <a16:creationId xmlns:a16="http://schemas.microsoft.com/office/drawing/2014/main" id="{F93CC513-2DB3-4A50-9524-42CA63026B54}"/>
              </a:ext>
            </a:extLst>
          </p:cNvPr>
          <p:cNvPicPr>
            <a:picLocks noChangeAspect="1"/>
          </p:cNvPicPr>
          <p:nvPr/>
        </p:nvPicPr>
        <p:blipFill>
          <a:blip r:embed="rId11"/>
          <a:stretch>
            <a:fillRect/>
          </a:stretch>
        </p:blipFill>
        <p:spPr>
          <a:xfrm>
            <a:off x="8257270" y="1142610"/>
            <a:ext cx="3863397" cy="827027"/>
          </a:xfrm>
          <a:prstGeom prst="rect">
            <a:avLst/>
          </a:prstGeom>
        </p:spPr>
      </p:pic>
      <p:pic>
        <p:nvPicPr>
          <p:cNvPr id="40" name="Рисунок 39">
            <a:extLst>
              <a:ext uri="{FF2B5EF4-FFF2-40B4-BE49-F238E27FC236}">
                <a16:creationId xmlns:a16="http://schemas.microsoft.com/office/drawing/2014/main" id="{FEB39213-5A2D-443B-A46F-361C1F5F8A5D}"/>
              </a:ext>
            </a:extLst>
          </p:cNvPr>
          <p:cNvPicPr>
            <a:picLocks noChangeAspect="1"/>
          </p:cNvPicPr>
          <p:nvPr/>
        </p:nvPicPr>
        <p:blipFill>
          <a:blip r:embed="rId12"/>
          <a:stretch>
            <a:fillRect/>
          </a:stretch>
        </p:blipFill>
        <p:spPr>
          <a:xfrm>
            <a:off x="7408929" y="2810276"/>
            <a:ext cx="2962297" cy="809631"/>
          </a:xfrm>
          <a:prstGeom prst="rect">
            <a:avLst/>
          </a:prstGeom>
        </p:spPr>
      </p:pic>
      <p:pic>
        <p:nvPicPr>
          <p:cNvPr id="44" name="Рисунок 43">
            <a:extLst>
              <a:ext uri="{FF2B5EF4-FFF2-40B4-BE49-F238E27FC236}">
                <a16:creationId xmlns:a16="http://schemas.microsoft.com/office/drawing/2014/main" id="{B2221341-15DB-4BE1-9504-8805880D4475}"/>
              </a:ext>
            </a:extLst>
          </p:cNvPr>
          <p:cNvPicPr>
            <a:picLocks noChangeAspect="1"/>
          </p:cNvPicPr>
          <p:nvPr/>
        </p:nvPicPr>
        <p:blipFill>
          <a:blip r:embed="rId13"/>
          <a:stretch>
            <a:fillRect/>
          </a:stretch>
        </p:blipFill>
        <p:spPr>
          <a:xfrm>
            <a:off x="8525776" y="3851262"/>
            <a:ext cx="3190898" cy="819156"/>
          </a:xfrm>
          <a:prstGeom prst="rect">
            <a:avLst/>
          </a:prstGeom>
        </p:spPr>
      </p:pic>
    </p:spTree>
    <p:extLst>
      <p:ext uri="{BB962C8B-B14F-4D97-AF65-F5344CB8AC3E}">
        <p14:creationId xmlns:p14="http://schemas.microsoft.com/office/powerpoint/2010/main" val="83746093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a:extLst>
              <a:ext uri="{FF2B5EF4-FFF2-40B4-BE49-F238E27FC236}">
                <a16:creationId xmlns:a16="http://schemas.microsoft.com/office/drawing/2014/main" id="{585BA22F-EE86-4B49-BC04-4D15EEEBDD59}"/>
              </a:ext>
            </a:extLst>
          </p:cNvPr>
          <p:cNvSpPr>
            <a:spLocks noGrp="1"/>
          </p:cNvSpPr>
          <p:nvPr>
            <p:ph type="sldNum" sz="quarter" idx="12"/>
          </p:nvPr>
        </p:nvSpPr>
        <p:spPr/>
        <p:txBody>
          <a:bodyPr/>
          <a:lstStyle/>
          <a:p>
            <a:fld id="{93C419CB-0CF1-4F10-90F9-42551F8968FF}" type="slidenum">
              <a:rPr lang="en-GB" smtClean="0"/>
              <a:t>39</a:t>
            </a:fld>
            <a:endParaRPr lang="en-GB"/>
          </a:p>
        </p:txBody>
      </p:sp>
      <p:pic>
        <p:nvPicPr>
          <p:cNvPr id="4" name="Рисунок 3">
            <a:extLst>
              <a:ext uri="{FF2B5EF4-FFF2-40B4-BE49-F238E27FC236}">
                <a16:creationId xmlns:a16="http://schemas.microsoft.com/office/drawing/2014/main" id="{48527F96-F35D-4890-940B-8822334FB60D}"/>
              </a:ext>
            </a:extLst>
          </p:cNvPr>
          <p:cNvPicPr>
            <a:picLocks noChangeAspect="1"/>
          </p:cNvPicPr>
          <p:nvPr/>
        </p:nvPicPr>
        <p:blipFill>
          <a:blip r:embed="rId2"/>
          <a:stretch>
            <a:fillRect/>
          </a:stretch>
        </p:blipFill>
        <p:spPr>
          <a:xfrm>
            <a:off x="621982" y="1753663"/>
            <a:ext cx="7541783" cy="2913871"/>
          </a:xfrm>
          <a:prstGeom prst="rect">
            <a:avLst/>
          </a:prstGeom>
        </p:spPr>
      </p:pic>
      <p:sp>
        <p:nvSpPr>
          <p:cNvPr id="8" name="TextBox 7">
            <a:extLst>
              <a:ext uri="{FF2B5EF4-FFF2-40B4-BE49-F238E27FC236}">
                <a16:creationId xmlns:a16="http://schemas.microsoft.com/office/drawing/2014/main" id="{D562A6FC-93F2-4D72-91A9-7B13113E0E7E}"/>
              </a:ext>
            </a:extLst>
          </p:cNvPr>
          <p:cNvSpPr txBox="1"/>
          <p:nvPr/>
        </p:nvSpPr>
        <p:spPr>
          <a:xfrm>
            <a:off x="639739" y="600424"/>
            <a:ext cx="6097136" cy="584775"/>
          </a:xfrm>
          <a:prstGeom prst="rect">
            <a:avLst/>
          </a:prstGeom>
          <a:noFill/>
        </p:spPr>
        <p:txBody>
          <a:bodyPr wrap="square">
            <a:spAutoFit/>
          </a:bodyPr>
          <a:lstStyle/>
          <a:p>
            <a:r>
              <a:rPr lang="en-GB" sz="3200" b="1" dirty="0"/>
              <a:t>Task 3.</a:t>
            </a:r>
          </a:p>
        </p:txBody>
      </p:sp>
      <p:sp>
        <p:nvSpPr>
          <p:cNvPr id="10" name="TextBox 9">
            <a:extLst>
              <a:ext uri="{FF2B5EF4-FFF2-40B4-BE49-F238E27FC236}">
                <a16:creationId xmlns:a16="http://schemas.microsoft.com/office/drawing/2014/main" id="{D23D2D6A-E3A2-476C-9F16-0E04A81E0CD6}"/>
              </a:ext>
            </a:extLst>
          </p:cNvPr>
          <p:cNvSpPr txBox="1"/>
          <p:nvPr/>
        </p:nvSpPr>
        <p:spPr>
          <a:xfrm>
            <a:off x="921226" y="5235998"/>
            <a:ext cx="6097136" cy="461665"/>
          </a:xfrm>
          <a:prstGeom prst="rect">
            <a:avLst/>
          </a:prstGeom>
          <a:noFill/>
        </p:spPr>
        <p:txBody>
          <a:bodyPr wrap="square">
            <a:spAutoFit/>
          </a:bodyPr>
          <a:lstStyle/>
          <a:p>
            <a:r>
              <a:rPr lang="en-GB" sz="2400" i="1" u="sng" dirty="0">
                <a:solidFill>
                  <a:schemeClr val="accent1">
                    <a:lumMod val="75000"/>
                  </a:schemeClr>
                </a:solidFill>
              </a:rPr>
              <a:t>https://forms.gle/sJ29iYo46ZV9ZthJ7</a:t>
            </a:r>
          </a:p>
        </p:txBody>
      </p:sp>
      <p:pic>
        <p:nvPicPr>
          <p:cNvPr id="12" name="Рисунок 11">
            <a:extLst>
              <a:ext uri="{FF2B5EF4-FFF2-40B4-BE49-F238E27FC236}">
                <a16:creationId xmlns:a16="http://schemas.microsoft.com/office/drawing/2014/main" id="{4504CBFB-7ACD-4B4E-9FF5-61D155AAC26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22207" y="2661313"/>
            <a:ext cx="3241343" cy="3241343"/>
          </a:xfrm>
          <a:prstGeom prst="rect">
            <a:avLst/>
          </a:prstGeom>
        </p:spPr>
      </p:pic>
    </p:spTree>
    <p:extLst>
      <p:ext uri="{BB962C8B-B14F-4D97-AF65-F5344CB8AC3E}">
        <p14:creationId xmlns:p14="http://schemas.microsoft.com/office/powerpoint/2010/main" val="139370806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a:extLst>
              <a:ext uri="{FF2B5EF4-FFF2-40B4-BE49-F238E27FC236}">
                <a16:creationId xmlns:a16="http://schemas.microsoft.com/office/drawing/2014/main" id="{43FC852B-8FE8-4ED0-8C55-08ABC0729F43}"/>
              </a:ext>
            </a:extLst>
          </p:cNvPr>
          <p:cNvSpPr>
            <a:spLocks noGrp="1"/>
          </p:cNvSpPr>
          <p:nvPr>
            <p:ph type="sldNum" sz="quarter" idx="12"/>
          </p:nvPr>
        </p:nvSpPr>
        <p:spPr/>
        <p:txBody>
          <a:bodyPr/>
          <a:lstStyle/>
          <a:p>
            <a:fld id="{93C419CB-0CF1-4F10-90F9-42551F8968FF}" type="slidenum">
              <a:rPr lang="en-GB" smtClean="0"/>
              <a:t>40</a:t>
            </a:fld>
            <a:endParaRPr lang="en-GB"/>
          </a:p>
        </p:txBody>
      </p:sp>
      <p:sp>
        <p:nvSpPr>
          <p:cNvPr id="4" name="TextBox 3">
            <a:extLst>
              <a:ext uri="{FF2B5EF4-FFF2-40B4-BE49-F238E27FC236}">
                <a16:creationId xmlns:a16="http://schemas.microsoft.com/office/drawing/2014/main" id="{E0BBBF76-BF11-47D9-B644-548EA845C418}"/>
              </a:ext>
            </a:extLst>
          </p:cNvPr>
          <p:cNvSpPr txBox="1"/>
          <p:nvPr/>
        </p:nvSpPr>
        <p:spPr>
          <a:xfrm>
            <a:off x="3130455" y="2118393"/>
            <a:ext cx="6097136" cy="1569660"/>
          </a:xfrm>
          <a:prstGeom prst="rect">
            <a:avLst/>
          </a:prstGeom>
          <a:noFill/>
        </p:spPr>
        <p:txBody>
          <a:bodyPr wrap="square">
            <a:spAutoFit/>
          </a:bodyPr>
          <a:lstStyle/>
          <a:p>
            <a:pPr algn="ctr"/>
            <a:r>
              <a:rPr lang="en-GB" sz="4800" b="1" dirty="0"/>
              <a:t>Thank you for your attention!</a:t>
            </a:r>
          </a:p>
        </p:txBody>
      </p:sp>
    </p:spTree>
    <p:extLst>
      <p:ext uri="{BB962C8B-B14F-4D97-AF65-F5344CB8AC3E}">
        <p14:creationId xmlns:p14="http://schemas.microsoft.com/office/powerpoint/2010/main" val="322738513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a:extLst>
              <a:ext uri="{FF2B5EF4-FFF2-40B4-BE49-F238E27FC236}">
                <a16:creationId xmlns:a16="http://schemas.microsoft.com/office/drawing/2014/main" id="{03A9AA99-2429-4BE2-8645-77F5AC74EAC2}"/>
              </a:ext>
            </a:extLst>
          </p:cNvPr>
          <p:cNvSpPr>
            <a:spLocks noGrp="1"/>
          </p:cNvSpPr>
          <p:nvPr>
            <p:ph type="sldNum" sz="quarter" idx="12"/>
          </p:nvPr>
        </p:nvSpPr>
        <p:spPr/>
        <p:txBody>
          <a:bodyPr/>
          <a:lstStyle/>
          <a:p>
            <a:fld id="{93C419CB-0CF1-4F10-90F9-42551F8968FF}" type="slidenum">
              <a:rPr lang="en-GB" smtClean="0"/>
              <a:t>41</a:t>
            </a:fld>
            <a:endParaRPr lang="en-GB"/>
          </a:p>
        </p:txBody>
      </p:sp>
      <p:pic>
        <p:nvPicPr>
          <p:cNvPr id="4" name="Рисунок 3">
            <a:extLst>
              <a:ext uri="{FF2B5EF4-FFF2-40B4-BE49-F238E27FC236}">
                <a16:creationId xmlns:a16="http://schemas.microsoft.com/office/drawing/2014/main" id="{CC523346-1A8D-4CD7-81FF-BCFAED3FBC70}"/>
              </a:ext>
            </a:extLst>
          </p:cNvPr>
          <p:cNvPicPr>
            <a:picLocks noChangeAspect="1"/>
          </p:cNvPicPr>
          <p:nvPr/>
        </p:nvPicPr>
        <p:blipFill>
          <a:blip r:embed="rId2"/>
          <a:stretch>
            <a:fillRect/>
          </a:stretch>
        </p:blipFill>
        <p:spPr>
          <a:xfrm>
            <a:off x="85697" y="71422"/>
            <a:ext cx="4369650" cy="2357453"/>
          </a:xfrm>
          <a:prstGeom prst="rect">
            <a:avLst/>
          </a:prstGeom>
        </p:spPr>
      </p:pic>
      <p:pic>
        <p:nvPicPr>
          <p:cNvPr id="6" name="Рисунок 5">
            <a:extLst>
              <a:ext uri="{FF2B5EF4-FFF2-40B4-BE49-F238E27FC236}">
                <a16:creationId xmlns:a16="http://schemas.microsoft.com/office/drawing/2014/main" id="{16232862-C797-4687-9D6B-5C7D2B75AC31}"/>
              </a:ext>
            </a:extLst>
          </p:cNvPr>
          <p:cNvPicPr>
            <a:picLocks noChangeAspect="1"/>
          </p:cNvPicPr>
          <p:nvPr/>
        </p:nvPicPr>
        <p:blipFill>
          <a:blip r:embed="rId3"/>
          <a:stretch>
            <a:fillRect/>
          </a:stretch>
        </p:blipFill>
        <p:spPr>
          <a:xfrm>
            <a:off x="4010025" y="14470"/>
            <a:ext cx="3986237" cy="2471356"/>
          </a:xfrm>
          <a:prstGeom prst="rect">
            <a:avLst/>
          </a:prstGeom>
        </p:spPr>
      </p:pic>
      <p:pic>
        <p:nvPicPr>
          <p:cNvPr id="8" name="Рисунок 7">
            <a:extLst>
              <a:ext uri="{FF2B5EF4-FFF2-40B4-BE49-F238E27FC236}">
                <a16:creationId xmlns:a16="http://schemas.microsoft.com/office/drawing/2014/main" id="{C87F769F-12BB-4BEE-9560-F47656A19C3F}"/>
              </a:ext>
            </a:extLst>
          </p:cNvPr>
          <p:cNvPicPr>
            <a:picLocks noChangeAspect="1"/>
          </p:cNvPicPr>
          <p:nvPr/>
        </p:nvPicPr>
        <p:blipFill>
          <a:blip r:embed="rId4"/>
          <a:stretch>
            <a:fillRect/>
          </a:stretch>
        </p:blipFill>
        <p:spPr>
          <a:xfrm>
            <a:off x="7996262" y="71422"/>
            <a:ext cx="3995741" cy="2287487"/>
          </a:xfrm>
          <a:prstGeom prst="rect">
            <a:avLst/>
          </a:prstGeom>
        </p:spPr>
      </p:pic>
      <p:pic>
        <p:nvPicPr>
          <p:cNvPr id="10" name="Рисунок 9">
            <a:extLst>
              <a:ext uri="{FF2B5EF4-FFF2-40B4-BE49-F238E27FC236}">
                <a16:creationId xmlns:a16="http://schemas.microsoft.com/office/drawing/2014/main" id="{55424754-81D3-4AE5-AD30-6CBFD6AC4BCD}"/>
              </a:ext>
            </a:extLst>
          </p:cNvPr>
          <p:cNvPicPr>
            <a:picLocks noChangeAspect="1"/>
          </p:cNvPicPr>
          <p:nvPr/>
        </p:nvPicPr>
        <p:blipFill>
          <a:blip r:embed="rId5"/>
          <a:stretch>
            <a:fillRect/>
          </a:stretch>
        </p:blipFill>
        <p:spPr>
          <a:xfrm>
            <a:off x="29739" y="2542778"/>
            <a:ext cx="3675486" cy="1400185"/>
          </a:xfrm>
          <a:prstGeom prst="rect">
            <a:avLst/>
          </a:prstGeom>
        </p:spPr>
      </p:pic>
      <p:pic>
        <p:nvPicPr>
          <p:cNvPr id="12" name="Рисунок 11">
            <a:extLst>
              <a:ext uri="{FF2B5EF4-FFF2-40B4-BE49-F238E27FC236}">
                <a16:creationId xmlns:a16="http://schemas.microsoft.com/office/drawing/2014/main" id="{0B73766E-A6A5-4E67-BB54-9EAEE2AEFE22}"/>
              </a:ext>
            </a:extLst>
          </p:cNvPr>
          <p:cNvPicPr>
            <a:picLocks noChangeAspect="1"/>
          </p:cNvPicPr>
          <p:nvPr/>
        </p:nvPicPr>
        <p:blipFill>
          <a:blip r:embed="rId6"/>
          <a:stretch>
            <a:fillRect/>
          </a:stretch>
        </p:blipFill>
        <p:spPr>
          <a:xfrm>
            <a:off x="3705226" y="2599730"/>
            <a:ext cx="2171700" cy="898634"/>
          </a:xfrm>
          <a:prstGeom prst="rect">
            <a:avLst/>
          </a:prstGeom>
        </p:spPr>
      </p:pic>
      <p:pic>
        <p:nvPicPr>
          <p:cNvPr id="14" name="Рисунок 13">
            <a:extLst>
              <a:ext uri="{FF2B5EF4-FFF2-40B4-BE49-F238E27FC236}">
                <a16:creationId xmlns:a16="http://schemas.microsoft.com/office/drawing/2014/main" id="{4DE24100-6FE6-4681-82AD-42F8B524DEDC}"/>
              </a:ext>
            </a:extLst>
          </p:cNvPr>
          <p:cNvPicPr>
            <a:picLocks noChangeAspect="1"/>
          </p:cNvPicPr>
          <p:nvPr/>
        </p:nvPicPr>
        <p:blipFill>
          <a:blip r:embed="rId7"/>
          <a:stretch>
            <a:fillRect/>
          </a:stretch>
        </p:blipFill>
        <p:spPr>
          <a:xfrm>
            <a:off x="5876926" y="2656681"/>
            <a:ext cx="2600642" cy="592402"/>
          </a:xfrm>
          <a:prstGeom prst="rect">
            <a:avLst/>
          </a:prstGeom>
        </p:spPr>
      </p:pic>
      <p:pic>
        <p:nvPicPr>
          <p:cNvPr id="16" name="Рисунок 15">
            <a:extLst>
              <a:ext uri="{FF2B5EF4-FFF2-40B4-BE49-F238E27FC236}">
                <a16:creationId xmlns:a16="http://schemas.microsoft.com/office/drawing/2014/main" id="{DE0341E4-8833-4D86-A215-BDCE9A43CF18}"/>
              </a:ext>
            </a:extLst>
          </p:cNvPr>
          <p:cNvPicPr>
            <a:picLocks noChangeAspect="1"/>
          </p:cNvPicPr>
          <p:nvPr/>
        </p:nvPicPr>
        <p:blipFill rotWithShape="1">
          <a:blip r:embed="rId8"/>
          <a:srcRect l="1131" t="2229" r="609" b="2229"/>
          <a:stretch/>
        </p:blipFill>
        <p:spPr>
          <a:xfrm>
            <a:off x="8610599" y="2485825"/>
            <a:ext cx="2874933" cy="763257"/>
          </a:xfrm>
          <a:prstGeom prst="rect">
            <a:avLst/>
          </a:prstGeom>
        </p:spPr>
      </p:pic>
      <p:pic>
        <p:nvPicPr>
          <p:cNvPr id="18" name="Рисунок 17">
            <a:extLst>
              <a:ext uri="{FF2B5EF4-FFF2-40B4-BE49-F238E27FC236}">
                <a16:creationId xmlns:a16="http://schemas.microsoft.com/office/drawing/2014/main" id="{ECD7475C-33CB-4264-80F7-E35BDC42E70F}"/>
              </a:ext>
            </a:extLst>
          </p:cNvPr>
          <p:cNvPicPr>
            <a:picLocks noChangeAspect="1"/>
          </p:cNvPicPr>
          <p:nvPr/>
        </p:nvPicPr>
        <p:blipFill>
          <a:blip r:embed="rId9"/>
          <a:stretch>
            <a:fillRect/>
          </a:stretch>
        </p:blipFill>
        <p:spPr>
          <a:xfrm>
            <a:off x="2633538" y="3489904"/>
            <a:ext cx="3603467" cy="684530"/>
          </a:xfrm>
          <a:prstGeom prst="rect">
            <a:avLst/>
          </a:prstGeom>
        </p:spPr>
      </p:pic>
      <p:pic>
        <p:nvPicPr>
          <p:cNvPr id="20" name="Рисунок 19">
            <a:extLst>
              <a:ext uri="{FF2B5EF4-FFF2-40B4-BE49-F238E27FC236}">
                <a16:creationId xmlns:a16="http://schemas.microsoft.com/office/drawing/2014/main" id="{9D27FC39-CCC7-42B2-A90F-DF15DD02B116}"/>
              </a:ext>
            </a:extLst>
          </p:cNvPr>
          <p:cNvPicPr>
            <a:picLocks noChangeAspect="1"/>
          </p:cNvPicPr>
          <p:nvPr/>
        </p:nvPicPr>
        <p:blipFill>
          <a:blip r:embed="rId10"/>
          <a:stretch>
            <a:fillRect/>
          </a:stretch>
        </p:blipFill>
        <p:spPr>
          <a:xfrm>
            <a:off x="6096000" y="3354158"/>
            <a:ext cx="2624154" cy="597580"/>
          </a:xfrm>
          <a:prstGeom prst="rect">
            <a:avLst/>
          </a:prstGeom>
        </p:spPr>
      </p:pic>
      <p:pic>
        <p:nvPicPr>
          <p:cNvPr id="22" name="Рисунок 21">
            <a:extLst>
              <a:ext uri="{FF2B5EF4-FFF2-40B4-BE49-F238E27FC236}">
                <a16:creationId xmlns:a16="http://schemas.microsoft.com/office/drawing/2014/main" id="{F8F9C227-C717-46EA-898D-E8DF8B251680}"/>
              </a:ext>
            </a:extLst>
          </p:cNvPr>
          <p:cNvPicPr>
            <a:picLocks noChangeAspect="1"/>
          </p:cNvPicPr>
          <p:nvPr/>
        </p:nvPicPr>
        <p:blipFill>
          <a:blip r:embed="rId11"/>
          <a:stretch>
            <a:fillRect/>
          </a:stretch>
        </p:blipFill>
        <p:spPr>
          <a:xfrm>
            <a:off x="8776946" y="3301779"/>
            <a:ext cx="2992193" cy="641184"/>
          </a:xfrm>
          <a:prstGeom prst="rect">
            <a:avLst/>
          </a:prstGeom>
        </p:spPr>
      </p:pic>
      <p:pic>
        <p:nvPicPr>
          <p:cNvPr id="24" name="Рисунок 23">
            <a:extLst>
              <a:ext uri="{FF2B5EF4-FFF2-40B4-BE49-F238E27FC236}">
                <a16:creationId xmlns:a16="http://schemas.microsoft.com/office/drawing/2014/main" id="{F6B21973-73C6-48F0-A337-AB381BA58AEC}"/>
              </a:ext>
            </a:extLst>
          </p:cNvPr>
          <p:cNvPicPr>
            <a:picLocks noChangeAspect="1"/>
          </p:cNvPicPr>
          <p:nvPr/>
        </p:nvPicPr>
        <p:blipFill>
          <a:blip r:embed="rId12"/>
          <a:stretch>
            <a:fillRect/>
          </a:stretch>
        </p:blipFill>
        <p:spPr>
          <a:xfrm>
            <a:off x="150389" y="4050995"/>
            <a:ext cx="3086091" cy="684530"/>
          </a:xfrm>
          <a:prstGeom prst="rect">
            <a:avLst/>
          </a:prstGeom>
        </p:spPr>
      </p:pic>
      <p:pic>
        <p:nvPicPr>
          <p:cNvPr id="26" name="Рисунок 25">
            <a:extLst>
              <a:ext uri="{FF2B5EF4-FFF2-40B4-BE49-F238E27FC236}">
                <a16:creationId xmlns:a16="http://schemas.microsoft.com/office/drawing/2014/main" id="{24E72246-0627-467C-A865-200DB05BE47F}"/>
              </a:ext>
            </a:extLst>
          </p:cNvPr>
          <p:cNvPicPr>
            <a:picLocks noChangeAspect="1"/>
          </p:cNvPicPr>
          <p:nvPr/>
        </p:nvPicPr>
        <p:blipFill>
          <a:blip r:embed="rId13"/>
          <a:stretch>
            <a:fillRect/>
          </a:stretch>
        </p:blipFill>
        <p:spPr>
          <a:xfrm>
            <a:off x="3602125" y="4095928"/>
            <a:ext cx="5648095" cy="763256"/>
          </a:xfrm>
          <a:prstGeom prst="rect">
            <a:avLst/>
          </a:prstGeom>
        </p:spPr>
      </p:pic>
      <p:pic>
        <p:nvPicPr>
          <p:cNvPr id="28" name="Рисунок 27">
            <a:extLst>
              <a:ext uri="{FF2B5EF4-FFF2-40B4-BE49-F238E27FC236}">
                <a16:creationId xmlns:a16="http://schemas.microsoft.com/office/drawing/2014/main" id="{B9B8D112-8DB9-4419-804F-7F2AAD0DDA36}"/>
              </a:ext>
            </a:extLst>
          </p:cNvPr>
          <p:cNvPicPr>
            <a:picLocks noChangeAspect="1"/>
          </p:cNvPicPr>
          <p:nvPr/>
        </p:nvPicPr>
        <p:blipFill rotWithShape="1">
          <a:blip r:embed="rId14"/>
          <a:srcRect b="3963"/>
          <a:stretch/>
        </p:blipFill>
        <p:spPr>
          <a:xfrm>
            <a:off x="150389" y="4859184"/>
            <a:ext cx="5131809" cy="1500471"/>
          </a:xfrm>
          <a:prstGeom prst="rect">
            <a:avLst/>
          </a:prstGeom>
        </p:spPr>
      </p:pic>
      <p:sp>
        <p:nvSpPr>
          <p:cNvPr id="30" name="TextBox 29">
            <a:extLst>
              <a:ext uri="{FF2B5EF4-FFF2-40B4-BE49-F238E27FC236}">
                <a16:creationId xmlns:a16="http://schemas.microsoft.com/office/drawing/2014/main" id="{A89C58DF-94C4-435F-B546-34517148B21D}"/>
              </a:ext>
            </a:extLst>
          </p:cNvPr>
          <p:cNvSpPr txBox="1"/>
          <p:nvPr/>
        </p:nvSpPr>
        <p:spPr>
          <a:xfrm>
            <a:off x="5802385" y="5874980"/>
            <a:ext cx="5131807" cy="584775"/>
          </a:xfrm>
          <a:prstGeom prst="rect">
            <a:avLst/>
          </a:prstGeom>
        </p:spPr>
        <p:style>
          <a:lnRef idx="1">
            <a:schemeClr val="accent2"/>
          </a:lnRef>
          <a:fillRef idx="2">
            <a:schemeClr val="accent2"/>
          </a:fillRef>
          <a:effectRef idx="1">
            <a:schemeClr val="accent2"/>
          </a:effectRef>
          <a:fontRef idx="minor">
            <a:schemeClr val="dk1"/>
          </a:fontRef>
        </p:style>
        <p:txBody>
          <a:bodyPr wrap="square">
            <a:spAutoFit/>
          </a:bodyPr>
          <a:lstStyle/>
          <a:p>
            <a:r>
              <a:rPr lang="en-GB" sz="3200" b="1" dirty="0"/>
              <a:t>Heterocycles from lecture #1</a:t>
            </a:r>
          </a:p>
        </p:txBody>
      </p:sp>
      <p:pic>
        <p:nvPicPr>
          <p:cNvPr id="32" name="Рисунок 31">
            <a:extLst>
              <a:ext uri="{FF2B5EF4-FFF2-40B4-BE49-F238E27FC236}">
                <a16:creationId xmlns:a16="http://schemas.microsoft.com/office/drawing/2014/main" id="{85A4847F-C005-4F5D-9635-90D1D676F9B6}"/>
              </a:ext>
            </a:extLst>
          </p:cNvPr>
          <p:cNvPicPr>
            <a:picLocks noChangeAspect="1"/>
          </p:cNvPicPr>
          <p:nvPr/>
        </p:nvPicPr>
        <p:blipFill rotWithShape="1">
          <a:blip r:embed="rId15"/>
          <a:srcRect l="8499"/>
          <a:stretch/>
        </p:blipFill>
        <p:spPr>
          <a:xfrm>
            <a:off x="5282198" y="4885706"/>
            <a:ext cx="2987858" cy="808621"/>
          </a:xfrm>
          <a:prstGeom prst="rect">
            <a:avLst/>
          </a:prstGeom>
        </p:spPr>
      </p:pic>
      <p:pic>
        <p:nvPicPr>
          <p:cNvPr id="34" name="Рисунок 33">
            <a:extLst>
              <a:ext uri="{FF2B5EF4-FFF2-40B4-BE49-F238E27FC236}">
                <a16:creationId xmlns:a16="http://schemas.microsoft.com/office/drawing/2014/main" id="{12A68186-E16E-4314-9A66-11BB4DA704BD}"/>
              </a:ext>
            </a:extLst>
          </p:cNvPr>
          <p:cNvPicPr>
            <a:picLocks noChangeAspect="1"/>
          </p:cNvPicPr>
          <p:nvPr/>
        </p:nvPicPr>
        <p:blipFill>
          <a:blip r:embed="rId16"/>
          <a:stretch>
            <a:fillRect/>
          </a:stretch>
        </p:blipFill>
        <p:spPr>
          <a:xfrm>
            <a:off x="8368289" y="4735525"/>
            <a:ext cx="3562376" cy="1054355"/>
          </a:xfrm>
          <a:prstGeom prst="rect">
            <a:avLst/>
          </a:prstGeom>
        </p:spPr>
      </p:pic>
    </p:spTree>
    <p:extLst>
      <p:ext uri="{BB962C8B-B14F-4D97-AF65-F5344CB8AC3E}">
        <p14:creationId xmlns:p14="http://schemas.microsoft.com/office/powerpoint/2010/main" val="419052121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a:extLst>
              <a:ext uri="{FF2B5EF4-FFF2-40B4-BE49-F238E27FC236}">
                <a16:creationId xmlns:a16="http://schemas.microsoft.com/office/drawing/2014/main" id="{4757A983-9FEB-4B6C-86C6-8B76D1D0DDDA}"/>
              </a:ext>
            </a:extLst>
          </p:cNvPr>
          <p:cNvSpPr>
            <a:spLocks noGrp="1"/>
          </p:cNvSpPr>
          <p:nvPr>
            <p:ph type="sldNum" sz="quarter" idx="12"/>
          </p:nvPr>
        </p:nvSpPr>
        <p:spPr/>
        <p:txBody>
          <a:bodyPr/>
          <a:lstStyle/>
          <a:p>
            <a:fld id="{93C419CB-0CF1-4F10-90F9-42551F8968FF}" type="slidenum">
              <a:rPr lang="en-GB" smtClean="0"/>
              <a:t>42</a:t>
            </a:fld>
            <a:endParaRPr lang="en-GB"/>
          </a:p>
        </p:txBody>
      </p:sp>
      <p:sp>
        <p:nvSpPr>
          <p:cNvPr id="4" name="TextBox 3">
            <a:extLst>
              <a:ext uri="{FF2B5EF4-FFF2-40B4-BE49-F238E27FC236}">
                <a16:creationId xmlns:a16="http://schemas.microsoft.com/office/drawing/2014/main" id="{8A55D05E-60A0-45A3-8ED0-AEED6A9FF2A8}"/>
              </a:ext>
            </a:extLst>
          </p:cNvPr>
          <p:cNvSpPr txBox="1"/>
          <p:nvPr/>
        </p:nvSpPr>
        <p:spPr>
          <a:xfrm>
            <a:off x="3048569" y="3244334"/>
            <a:ext cx="6097136" cy="769441"/>
          </a:xfrm>
          <a:prstGeom prst="rect">
            <a:avLst/>
          </a:prstGeom>
          <a:noFill/>
        </p:spPr>
        <p:txBody>
          <a:bodyPr wrap="square">
            <a:spAutoFit/>
          </a:bodyPr>
          <a:lstStyle/>
          <a:p>
            <a:pPr algn="ctr"/>
            <a:r>
              <a:rPr lang="en-GB" sz="4400" b="1" dirty="0"/>
              <a:t>Additional materials</a:t>
            </a:r>
          </a:p>
        </p:txBody>
      </p:sp>
    </p:spTree>
    <p:extLst>
      <p:ext uri="{BB962C8B-B14F-4D97-AF65-F5344CB8AC3E}">
        <p14:creationId xmlns:p14="http://schemas.microsoft.com/office/powerpoint/2010/main" val="70201165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a:extLst>
              <a:ext uri="{FF2B5EF4-FFF2-40B4-BE49-F238E27FC236}">
                <a16:creationId xmlns:a16="http://schemas.microsoft.com/office/drawing/2014/main" id="{83A4E167-0BF4-49BD-800E-21BF72AD76B1}"/>
              </a:ext>
            </a:extLst>
          </p:cNvPr>
          <p:cNvSpPr>
            <a:spLocks noGrp="1"/>
          </p:cNvSpPr>
          <p:nvPr>
            <p:ph type="sldNum" sz="quarter" idx="12"/>
          </p:nvPr>
        </p:nvSpPr>
        <p:spPr/>
        <p:txBody>
          <a:bodyPr/>
          <a:lstStyle/>
          <a:p>
            <a:fld id="{93C419CB-0CF1-4F10-90F9-42551F8968FF}" type="slidenum">
              <a:rPr lang="en-GB" smtClean="0"/>
              <a:t>43</a:t>
            </a:fld>
            <a:endParaRPr lang="en-GB"/>
          </a:p>
        </p:txBody>
      </p:sp>
      <p:sp>
        <p:nvSpPr>
          <p:cNvPr id="3" name="Номер слайда 1">
            <a:extLst>
              <a:ext uri="{FF2B5EF4-FFF2-40B4-BE49-F238E27FC236}">
                <a16:creationId xmlns:a16="http://schemas.microsoft.com/office/drawing/2014/main" id="{1C8A772E-4573-4C80-9E80-6041C7E1C421}"/>
              </a:ext>
            </a:extLst>
          </p:cNvPr>
          <p:cNvSpPr txBox="1">
            <a:spLocks/>
          </p:cNvSpPr>
          <p:nvPr/>
        </p:nvSpPr>
        <p:spPr>
          <a:xfrm>
            <a:off x="8260743" y="64928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dirty="0"/>
              <a:t>boyer-research.com/teaching </a:t>
            </a:r>
          </a:p>
        </p:txBody>
      </p:sp>
      <p:pic>
        <p:nvPicPr>
          <p:cNvPr id="5" name="Рисунок 4">
            <a:extLst>
              <a:ext uri="{FF2B5EF4-FFF2-40B4-BE49-F238E27FC236}">
                <a16:creationId xmlns:a16="http://schemas.microsoft.com/office/drawing/2014/main" id="{C88A785C-6097-4372-986C-09D4BD8724ED}"/>
              </a:ext>
            </a:extLst>
          </p:cNvPr>
          <p:cNvPicPr>
            <a:picLocks noChangeAspect="1"/>
          </p:cNvPicPr>
          <p:nvPr/>
        </p:nvPicPr>
        <p:blipFill>
          <a:blip r:embed="rId2"/>
          <a:stretch>
            <a:fillRect/>
          </a:stretch>
        </p:blipFill>
        <p:spPr>
          <a:xfrm>
            <a:off x="1258562" y="0"/>
            <a:ext cx="9065545" cy="6155429"/>
          </a:xfrm>
          <a:prstGeom prst="rect">
            <a:avLst/>
          </a:prstGeom>
        </p:spPr>
      </p:pic>
      <p:pic>
        <p:nvPicPr>
          <p:cNvPr id="6" name="Рисунок 5">
            <a:extLst>
              <a:ext uri="{FF2B5EF4-FFF2-40B4-BE49-F238E27FC236}">
                <a16:creationId xmlns:a16="http://schemas.microsoft.com/office/drawing/2014/main" id="{678C83D4-1CFA-49EB-A70F-B5E228F25F68}"/>
              </a:ext>
            </a:extLst>
          </p:cNvPr>
          <p:cNvPicPr>
            <a:picLocks noChangeAspect="1"/>
          </p:cNvPicPr>
          <p:nvPr/>
        </p:nvPicPr>
        <p:blipFill>
          <a:blip r:embed="rId3"/>
          <a:stretch>
            <a:fillRect/>
          </a:stretch>
        </p:blipFill>
        <p:spPr>
          <a:xfrm>
            <a:off x="2001146" y="5503539"/>
            <a:ext cx="2224907" cy="989336"/>
          </a:xfrm>
          <a:prstGeom prst="rect">
            <a:avLst/>
          </a:prstGeom>
        </p:spPr>
      </p:pic>
    </p:spTree>
    <p:extLst>
      <p:ext uri="{BB962C8B-B14F-4D97-AF65-F5344CB8AC3E}">
        <p14:creationId xmlns:p14="http://schemas.microsoft.com/office/powerpoint/2010/main" val="254576890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a:extLst>
              <a:ext uri="{FF2B5EF4-FFF2-40B4-BE49-F238E27FC236}">
                <a16:creationId xmlns:a16="http://schemas.microsoft.com/office/drawing/2014/main" id="{209E8545-0449-4063-825B-BC6CEB66BB95}"/>
              </a:ext>
            </a:extLst>
          </p:cNvPr>
          <p:cNvSpPr>
            <a:spLocks noGrp="1"/>
          </p:cNvSpPr>
          <p:nvPr>
            <p:ph type="sldNum" sz="quarter" idx="12"/>
          </p:nvPr>
        </p:nvSpPr>
        <p:spPr/>
        <p:txBody>
          <a:bodyPr/>
          <a:lstStyle/>
          <a:p>
            <a:fld id="{93C419CB-0CF1-4F10-90F9-42551F8968FF}" type="slidenum">
              <a:rPr lang="en-GB" smtClean="0"/>
              <a:t>44</a:t>
            </a:fld>
            <a:endParaRPr lang="en-GB"/>
          </a:p>
        </p:txBody>
      </p:sp>
      <p:pic>
        <p:nvPicPr>
          <p:cNvPr id="4" name="Рисунок 3">
            <a:extLst>
              <a:ext uri="{FF2B5EF4-FFF2-40B4-BE49-F238E27FC236}">
                <a16:creationId xmlns:a16="http://schemas.microsoft.com/office/drawing/2014/main" id="{93EEF994-AC63-44B1-B511-ADCF874F7380}"/>
              </a:ext>
            </a:extLst>
          </p:cNvPr>
          <p:cNvPicPr>
            <a:picLocks noChangeAspect="1"/>
          </p:cNvPicPr>
          <p:nvPr/>
        </p:nvPicPr>
        <p:blipFill>
          <a:blip r:embed="rId2"/>
          <a:stretch>
            <a:fillRect/>
          </a:stretch>
        </p:blipFill>
        <p:spPr>
          <a:xfrm>
            <a:off x="260217" y="950089"/>
            <a:ext cx="10872865" cy="3932011"/>
          </a:xfrm>
          <a:prstGeom prst="rect">
            <a:avLst/>
          </a:prstGeom>
        </p:spPr>
      </p:pic>
      <p:sp>
        <p:nvSpPr>
          <p:cNvPr id="5" name="Номер слайда 1">
            <a:extLst>
              <a:ext uri="{FF2B5EF4-FFF2-40B4-BE49-F238E27FC236}">
                <a16:creationId xmlns:a16="http://schemas.microsoft.com/office/drawing/2014/main" id="{36CA112C-9097-44AA-A514-8464AB964669}"/>
              </a:ext>
            </a:extLst>
          </p:cNvPr>
          <p:cNvSpPr txBox="1">
            <a:spLocks/>
          </p:cNvSpPr>
          <p:nvPr/>
        </p:nvSpPr>
        <p:spPr>
          <a:xfrm>
            <a:off x="8260743" y="64928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dirty="0"/>
              <a:t>boyer-research.com/teaching </a:t>
            </a:r>
          </a:p>
        </p:txBody>
      </p:sp>
    </p:spTree>
    <p:extLst>
      <p:ext uri="{BB962C8B-B14F-4D97-AF65-F5344CB8AC3E}">
        <p14:creationId xmlns:p14="http://schemas.microsoft.com/office/powerpoint/2010/main" val="106394229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a:extLst>
              <a:ext uri="{FF2B5EF4-FFF2-40B4-BE49-F238E27FC236}">
                <a16:creationId xmlns:a16="http://schemas.microsoft.com/office/drawing/2014/main" id="{41AD552F-9959-4508-AAA1-41B29CFC8402}"/>
              </a:ext>
            </a:extLst>
          </p:cNvPr>
          <p:cNvSpPr>
            <a:spLocks noGrp="1"/>
          </p:cNvSpPr>
          <p:nvPr>
            <p:ph type="sldNum" sz="quarter" idx="12"/>
          </p:nvPr>
        </p:nvSpPr>
        <p:spPr/>
        <p:txBody>
          <a:bodyPr/>
          <a:lstStyle/>
          <a:p>
            <a:fld id="{93C419CB-0CF1-4F10-90F9-42551F8968FF}" type="slidenum">
              <a:rPr lang="en-GB" smtClean="0"/>
              <a:t>45</a:t>
            </a:fld>
            <a:endParaRPr lang="en-GB"/>
          </a:p>
        </p:txBody>
      </p:sp>
      <p:pic>
        <p:nvPicPr>
          <p:cNvPr id="6" name="Рисунок 5">
            <a:extLst>
              <a:ext uri="{FF2B5EF4-FFF2-40B4-BE49-F238E27FC236}">
                <a16:creationId xmlns:a16="http://schemas.microsoft.com/office/drawing/2014/main" id="{E1746FE5-603E-4E1D-BA24-1038B2539D7D}"/>
              </a:ext>
            </a:extLst>
          </p:cNvPr>
          <p:cNvPicPr>
            <a:picLocks noChangeAspect="1"/>
          </p:cNvPicPr>
          <p:nvPr/>
        </p:nvPicPr>
        <p:blipFill>
          <a:blip r:embed="rId2"/>
          <a:stretch>
            <a:fillRect/>
          </a:stretch>
        </p:blipFill>
        <p:spPr>
          <a:xfrm>
            <a:off x="1001078" y="211815"/>
            <a:ext cx="9378294" cy="5910690"/>
          </a:xfrm>
          <a:prstGeom prst="rect">
            <a:avLst/>
          </a:prstGeom>
        </p:spPr>
      </p:pic>
      <p:sp>
        <p:nvSpPr>
          <p:cNvPr id="7" name="Номер слайда 1">
            <a:extLst>
              <a:ext uri="{FF2B5EF4-FFF2-40B4-BE49-F238E27FC236}">
                <a16:creationId xmlns:a16="http://schemas.microsoft.com/office/drawing/2014/main" id="{62342619-DE79-4ED6-87F6-9F922709149E}"/>
              </a:ext>
            </a:extLst>
          </p:cNvPr>
          <p:cNvSpPr txBox="1">
            <a:spLocks/>
          </p:cNvSpPr>
          <p:nvPr/>
        </p:nvSpPr>
        <p:spPr>
          <a:xfrm>
            <a:off x="8260743" y="64928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dirty="0"/>
              <a:t>boyer-research.com/teaching </a:t>
            </a:r>
          </a:p>
        </p:txBody>
      </p:sp>
    </p:spTree>
    <p:extLst>
      <p:ext uri="{BB962C8B-B14F-4D97-AF65-F5344CB8AC3E}">
        <p14:creationId xmlns:p14="http://schemas.microsoft.com/office/powerpoint/2010/main" val="124830870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a:extLst>
              <a:ext uri="{FF2B5EF4-FFF2-40B4-BE49-F238E27FC236}">
                <a16:creationId xmlns:a16="http://schemas.microsoft.com/office/drawing/2014/main" id="{9E114761-8729-401A-B91B-8547277A8D21}"/>
              </a:ext>
            </a:extLst>
          </p:cNvPr>
          <p:cNvSpPr>
            <a:spLocks noGrp="1"/>
          </p:cNvSpPr>
          <p:nvPr>
            <p:ph type="sldNum" sz="quarter" idx="12"/>
          </p:nvPr>
        </p:nvSpPr>
        <p:spPr/>
        <p:txBody>
          <a:bodyPr/>
          <a:lstStyle/>
          <a:p>
            <a:fld id="{93C419CB-0CF1-4F10-90F9-42551F8968FF}" type="slidenum">
              <a:rPr lang="en-GB" smtClean="0"/>
              <a:t>46</a:t>
            </a:fld>
            <a:endParaRPr lang="en-GB"/>
          </a:p>
        </p:txBody>
      </p:sp>
      <p:pic>
        <p:nvPicPr>
          <p:cNvPr id="4" name="Рисунок 3">
            <a:extLst>
              <a:ext uri="{FF2B5EF4-FFF2-40B4-BE49-F238E27FC236}">
                <a16:creationId xmlns:a16="http://schemas.microsoft.com/office/drawing/2014/main" id="{9F238B3D-D015-4C2C-9378-D997FFF47BA2}"/>
              </a:ext>
            </a:extLst>
          </p:cNvPr>
          <p:cNvPicPr>
            <a:picLocks noChangeAspect="1"/>
          </p:cNvPicPr>
          <p:nvPr/>
        </p:nvPicPr>
        <p:blipFill>
          <a:blip r:embed="rId2"/>
          <a:stretch>
            <a:fillRect/>
          </a:stretch>
        </p:blipFill>
        <p:spPr>
          <a:xfrm>
            <a:off x="436720" y="349432"/>
            <a:ext cx="10171326" cy="4588327"/>
          </a:xfrm>
          <a:prstGeom prst="rect">
            <a:avLst/>
          </a:prstGeom>
        </p:spPr>
      </p:pic>
      <p:sp>
        <p:nvSpPr>
          <p:cNvPr id="5" name="Номер слайда 1">
            <a:extLst>
              <a:ext uri="{FF2B5EF4-FFF2-40B4-BE49-F238E27FC236}">
                <a16:creationId xmlns:a16="http://schemas.microsoft.com/office/drawing/2014/main" id="{B6955C9F-53FE-4254-B51F-ED79390D9890}"/>
              </a:ext>
            </a:extLst>
          </p:cNvPr>
          <p:cNvSpPr txBox="1">
            <a:spLocks/>
          </p:cNvSpPr>
          <p:nvPr/>
        </p:nvSpPr>
        <p:spPr>
          <a:xfrm>
            <a:off x="8260743" y="64928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dirty="0"/>
              <a:t>boyer-research.com/teaching </a:t>
            </a:r>
          </a:p>
        </p:txBody>
      </p:sp>
    </p:spTree>
    <p:extLst>
      <p:ext uri="{BB962C8B-B14F-4D97-AF65-F5344CB8AC3E}">
        <p14:creationId xmlns:p14="http://schemas.microsoft.com/office/powerpoint/2010/main" val="6333947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a:extLst>
              <a:ext uri="{FF2B5EF4-FFF2-40B4-BE49-F238E27FC236}">
                <a16:creationId xmlns:a16="http://schemas.microsoft.com/office/drawing/2014/main" id="{15BE27FC-29F6-4A81-86B5-9A0B1FB6B001}"/>
              </a:ext>
            </a:extLst>
          </p:cNvPr>
          <p:cNvSpPr>
            <a:spLocks noGrp="1"/>
          </p:cNvSpPr>
          <p:nvPr>
            <p:ph type="sldNum" sz="quarter" idx="12"/>
          </p:nvPr>
        </p:nvSpPr>
        <p:spPr/>
        <p:txBody>
          <a:bodyPr/>
          <a:lstStyle/>
          <a:p>
            <a:fld id="{93C419CB-0CF1-4F10-90F9-42551F8968FF}" type="slidenum">
              <a:rPr lang="en-GB" smtClean="0"/>
              <a:t>47</a:t>
            </a:fld>
            <a:endParaRPr lang="en-GB"/>
          </a:p>
        </p:txBody>
      </p:sp>
      <p:pic>
        <p:nvPicPr>
          <p:cNvPr id="4" name="Рисунок 3">
            <a:extLst>
              <a:ext uri="{FF2B5EF4-FFF2-40B4-BE49-F238E27FC236}">
                <a16:creationId xmlns:a16="http://schemas.microsoft.com/office/drawing/2014/main" id="{557FEA7E-CEFA-4BEE-A8EE-37AB8AC86199}"/>
              </a:ext>
            </a:extLst>
          </p:cNvPr>
          <p:cNvPicPr>
            <a:picLocks noChangeAspect="1"/>
          </p:cNvPicPr>
          <p:nvPr/>
        </p:nvPicPr>
        <p:blipFill>
          <a:blip r:embed="rId2"/>
          <a:stretch>
            <a:fillRect/>
          </a:stretch>
        </p:blipFill>
        <p:spPr>
          <a:xfrm>
            <a:off x="1228270" y="18598"/>
            <a:ext cx="8339160" cy="6839404"/>
          </a:xfrm>
          <a:prstGeom prst="rect">
            <a:avLst/>
          </a:prstGeom>
        </p:spPr>
      </p:pic>
      <p:sp>
        <p:nvSpPr>
          <p:cNvPr id="5" name="TextBox 4">
            <a:extLst>
              <a:ext uri="{FF2B5EF4-FFF2-40B4-BE49-F238E27FC236}">
                <a16:creationId xmlns:a16="http://schemas.microsoft.com/office/drawing/2014/main" id="{0FA692AD-7178-4B3C-B3C5-612B81E3A3EB}"/>
              </a:ext>
            </a:extLst>
          </p:cNvPr>
          <p:cNvSpPr txBox="1"/>
          <p:nvPr/>
        </p:nvSpPr>
        <p:spPr>
          <a:xfrm>
            <a:off x="6283037" y="4387333"/>
            <a:ext cx="886692" cy="307777"/>
          </a:xfrm>
          <a:prstGeom prst="rect">
            <a:avLst/>
          </a:prstGeom>
          <a:noFill/>
        </p:spPr>
        <p:txBody>
          <a:bodyPr wrap="square">
            <a:spAutoFit/>
          </a:bodyPr>
          <a:lstStyle/>
          <a:p>
            <a:pPr marL="12700" algn="just">
              <a:spcBef>
                <a:spcPts val="600"/>
              </a:spcBef>
              <a:spcAft>
                <a:spcPts val="600"/>
              </a:spcAft>
            </a:pPr>
            <a:r>
              <a:rPr lang="en-GB" sz="1400" dirty="0">
                <a:latin typeface="Times New Roman"/>
                <a:cs typeface="Times New Roman"/>
              </a:rPr>
              <a:t> (THF)</a:t>
            </a:r>
          </a:p>
        </p:txBody>
      </p:sp>
    </p:spTree>
    <p:extLst>
      <p:ext uri="{BB962C8B-B14F-4D97-AF65-F5344CB8AC3E}">
        <p14:creationId xmlns:p14="http://schemas.microsoft.com/office/powerpoint/2010/main" val="206051517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a:extLst>
              <a:ext uri="{FF2B5EF4-FFF2-40B4-BE49-F238E27FC236}">
                <a16:creationId xmlns:a16="http://schemas.microsoft.com/office/drawing/2014/main" id="{093241B8-8C92-4341-B906-1141195F56D4}"/>
              </a:ext>
            </a:extLst>
          </p:cNvPr>
          <p:cNvSpPr>
            <a:spLocks noGrp="1"/>
          </p:cNvSpPr>
          <p:nvPr>
            <p:ph type="sldNum" sz="quarter" idx="12"/>
          </p:nvPr>
        </p:nvSpPr>
        <p:spPr/>
        <p:txBody>
          <a:bodyPr/>
          <a:lstStyle/>
          <a:p>
            <a:fld id="{93C419CB-0CF1-4F10-90F9-42551F8968FF}" type="slidenum">
              <a:rPr lang="en-GB" smtClean="0"/>
              <a:t>48</a:t>
            </a:fld>
            <a:endParaRPr lang="en-GB"/>
          </a:p>
        </p:txBody>
      </p:sp>
      <p:pic>
        <p:nvPicPr>
          <p:cNvPr id="4" name="Рисунок 3">
            <a:extLst>
              <a:ext uri="{FF2B5EF4-FFF2-40B4-BE49-F238E27FC236}">
                <a16:creationId xmlns:a16="http://schemas.microsoft.com/office/drawing/2014/main" id="{095426AC-A06B-469C-BA3F-F1698E110E7D}"/>
              </a:ext>
            </a:extLst>
          </p:cNvPr>
          <p:cNvPicPr>
            <a:picLocks noChangeAspect="1"/>
          </p:cNvPicPr>
          <p:nvPr/>
        </p:nvPicPr>
        <p:blipFill>
          <a:blip r:embed="rId2"/>
          <a:stretch>
            <a:fillRect/>
          </a:stretch>
        </p:blipFill>
        <p:spPr>
          <a:xfrm>
            <a:off x="1025158" y="136523"/>
            <a:ext cx="10141686" cy="6584954"/>
          </a:xfrm>
          <a:prstGeom prst="rect">
            <a:avLst/>
          </a:prstGeom>
        </p:spPr>
      </p:pic>
    </p:spTree>
    <p:extLst>
      <p:ext uri="{BB962C8B-B14F-4D97-AF65-F5344CB8AC3E}">
        <p14:creationId xmlns:p14="http://schemas.microsoft.com/office/powerpoint/2010/main" val="137455177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Номер слайда 1">
            <a:extLst>
              <a:ext uri="{FF2B5EF4-FFF2-40B4-BE49-F238E27FC236}">
                <a16:creationId xmlns:a16="http://schemas.microsoft.com/office/drawing/2014/main" id="{2AFB77AB-A223-4A85-A809-7071A50BA725}"/>
              </a:ext>
            </a:extLst>
          </p:cNvPr>
          <p:cNvSpPr>
            <a:spLocks noGrp="1"/>
          </p:cNvSpPr>
          <p:nvPr>
            <p:ph type="sldNum" sz="quarter" idx="12"/>
          </p:nvPr>
        </p:nvSpPr>
        <p:spPr/>
        <p:txBody>
          <a:bodyPr/>
          <a:lstStyle/>
          <a:p>
            <a:fld id="{93C419CB-0CF1-4F10-90F9-42551F8968FF}" type="slidenum">
              <a:rPr lang="en-GB" smtClean="0"/>
              <a:t>49</a:t>
            </a:fld>
            <a:endParaRPr lang="en-GB"/>
          </a:p>
        </p:txBody>
      </p:sp>
      <p:pic>
        <p:nvPicPr>
          <p:cNvPr id="3" name="Рисунок 2">
            <a:extLst>
              <a:ext uri="{FF2B5EF4-FFF2-40B4-BE49-F238E27FC236}">
                <a16:creationId xmlns:a16="http://schemas.microsoft.com/office/drawing/2014/main" id="{DAF9E6FF-D426-4A93-B67F-9D38D1E6F07B}"/>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75441" y="9306"/>
            <a:ext cx="9686041" cy="6848694"/>
          </a:xfrm>
          <a:prstGeom prst="rect">
            <a:avLst/>
          </a:prstGeom>
          <a:noFill/>
          <a:ln>
            <a:noFill/>
          </a:ln>
        </p:spPr>
      </p:pic>
    </p:spTree>
    <p:extLst>
      <p:ext uri="{BB962C8B-B14F-4D97-AF65-F5344CB8AC3E}">
        <p14:creationId xmlns:p14="http://schemas.microsoft.com/office/powerpoint/2010/main" val="74387675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44E7BC8-84A7-48B7-A551-B7565972C5CA}"/>
              </a:ext>
            </a:extLst>
          </p:cNvPr>
          <p:cNvSpPr>
            <a:spLocks noGrp="1"/>
          </p:cNvSpPr>
          <p:nvPr>
            <p:ph type="ctrTitle"/>
          </p:nvPr>
        </p:nvSpPr>
        <p:spPr>
          <a:xfrm>
            <a:off x="1094629" y="740700"/>
            <a:ext cx="9144000" cy="2583104"/>
          </a:xfrm>
        </p:spPr>
        <p:txBody>
          <a:bodyPr>
            <a:normAutofit fontScale="90000"/>
          </a:bodyPr>
          <a:lstStyle/>
          <a:p>
            <a:r>
              <a:rPr lang="en-GB" b="1" dirty="0"/>
              <a:t>Nomenclature of heterocycles</a:t>
            </a:r>
            <a:br>
              <a:rPr lang="en-GB" b="1" dirty="0"/>
            </a:br>
            <a:r>
              <a:rPr lang="en-GB" sz="4400" b="1" dirty="0"/>
              <a:t> </a:t>
            </a:r>
            <a:br>
              <a:rPr lang="uk-UA" dirty="0"/>
            </a:br>
            <a:r>
              <a:rPr lang="en-GB" dirty="0"/>
              <a:t>II.</a:t>
            </a:r>
            <a:r>
              <a:rPr lang="en-GB" baseline="30000" dirty="0"/>
              <a:t>  </a:t>
            </a:r>
            <a:r>
              <a:rPr lang="en-GB" dirty="0"/>
              <a:t>seminar </a:t>
            </a:r>
            <a:br>
              <a:rPr lang="en-GB" dirty="0"/>
            </a:br>
            <a:r>
              <a:rPr lang="en-GB" sz="1800" dirty="0"/>
              <a:t> </a:t>
            </a:r>
            <a:br>
              <a:rPr lang="uk-UA" dirty="0"/>
            </a:br>
            <a:endParaRPr lang="en-GB" sz="2700" dirty="0"/>
          </a:p>
        </p:txBody>
      </p:sp>
      <p:sp>
        <p:nvSpPr>
          <p:cNvPr id="5" name="TextBox 4">
            <a:extLst>
              <a:ext uri="{FF2B5EF4-FFF2-40B4-BE49-F238E27FC236}">
                <a16:creationId xmlns:a16="http://schemas.microsoft.com/office/drawing/2014/main" id="{DDC4C3B5-5B90-4154-A753-B34CA15443BC}"/>
              </a:ext>
            </a:extLst>
          </p:cNvPr>
          <p:cNvSpPr txBox="1"/>
          <p:nvPr/>
        </p:nvSpPr>
        <p:spPr>
          <a:xfrm>
            <a:off x="4918060" y="6201973"/>
            <a:ext cx="1735223" cy="430887"/>
          </a:xfrm>
          <a:prstGeom prst="rect">
            <a:avLst/>
          </a:prstGeom>
          <a:noFill/>
        </p:spPr>
        <p:txBody>
          <a:bodyPr wrap="square">
            <a:spAutoFit/>
          </a:bodyPr>
          <a:lstStyle/>
          <a:p>
            <a:r>
              <a:rPr lang="en-GB" sz="2200" dirty="0"/>
              <a:t>26</a:t>
            </a:r>
            <a:r>
              <a:rPr lang="uk-UA" sz="2200" dirty="0"/>
              <a:t>.04.2023</a:t>
            </a:r>
            <a:endParaRPr lang="en-GB" sz="2200" b="1" dirty="0"/>
          </a:p>
        </p:txBody>
      </p:sp>
      <p:sp>
        <p:nvSpPr>
          <p:cNvPr id="9" name="TextBox 8">
            <a:extLst>
              <a:ext uri="{FF2B5EF4-FFF2-40B4-BE49-F238E27FC236}">
                <a16:creationId xmlns:a16="http://schemas.microsoft.com/office/drawing/2014/main" id="{0AB1AE3F-70DB-443F-AFF3-51FA3BEB5CE9}"/>
              </a:ext>
            </a:extLst>
          </p:cNvPr>
          <p:cNvSpPr txBox="1"/>
          <p:nvPr/>
        </p:nvSpPr>
        <p:spPr>
          <a:xfrm>
            <a:off x="5420970" y="3323804"/>
            <a:ext cx="6096000" cy="2265364"/>
          </a:xfrm>
          <a:prstGeom prst="rect">
            <a:avLst/>
          </a:prstGeom>
          <a:noFill/>
        </p:spPr>
        <p:txBody>
          <a:bodyPr wrap="square">
            <a:spAutoFit/>
          </a:bodyPr>
          <a:lstStyle/>
          <a:p>
            <a:pPr algn="just">
              <a:lnSpc>
                <a:spcPct val="150000"/>
              </a:lnSpc>
            </a:pPr>
            <a:r>
              <a:rPr lang="pl-PL" sz="2400" b="1" dirty="0">
                <a:solidFill>
                  <a:srgbClr val="6F2F9F"/>
                </a:solidFill>
                <a:latin typeface="Calibri" panose="020F0502020204030204" pitchFamily="34" charset="0"/>
              </a:rPr>
              <a:t>Assoc. prof., Dr. Maryna M. Kornet </a:t>
            </a:r>
            <a:endParaRPr lang="uk-UA" sz="2400" b="1" dirty="0">
              <a:solidFill>
                <a:srgbClr val="6F2F9F"/>
              </a:solidFill>
              <a:latin typeface="Calibri" panose="020F0502020204030204" pitchFamily="34" charset="0"/>
            </a:endParaRPr>
          </a:p>
          <a:p>
            <a:pPr algn="just">
              <a:lnSpc>
                <a:spcPct val="150000"/>
              </a:lnSpc>
            </a:pPr>
            <a:r>
              <a:rPr lang="en-GB" dirty="0">
                <a:solidFill>
                  <a:srgbClr val="555555"/>
                </a:solidFill>
                <a:latin typeface="Calibri" panose="020F0502020204030204" pitchFamily="34" charset="0"/>
              </a:rPr>
              <a:t>Head, Laboratory of Biotechnology of Physiologically Active Substances; Associate Professor, Department of Chemistry </a:t>
            </a:r>
            <a:r>
              <a:rPr lang="en-GB" dirty="0">
                <a:solidFill>
                  <a:srgbClr val="000000"/>
                </a:solidFill>
                <a:latin typeface="Calibri" panose="020F0502020204030204" pitchFamily="34" charset="0"/>
              </a:rPr>
              <a:t>	</a:t>
            </a:r>
            <a:endParaRPr lang="uk-UA" dirty="0">
              <a:solidFill>
                <a:srgbClr val="000000"/>
              </a:solidFill>
              <a:latin typeface="Calibri" panose="020F0502020204030204" pitchFamily="34" charset="0"/>
            </a:endParaRPr>
          </a:p>
          <a:p>
            <a:pPr algn="just">
              <a:lnSpc>
                <a:spcPct val="150000"/>
              </a:lnSpc>
            </a:pPr>
            <a:r>
              <a:rPr lang="en-GB" dirty="0">
                <a:latin typeface="Calibri" panose="020F0502020204030204" pitchFamily="34" charset="0"/>
              </a:rPr>
              <a:t> </a:t>
            </a:r>
            <a:r>
              <a:rPr lang="en-GB" dirty="0" err="1">
                <a:solidFill>
                  <a:srgbClr val="555555"/>
                </a:solidFill>
                <a:latin typeface="Calibri" panose="020F0502020204030204" pitchFamily="34" charset="0"/>
              </a:rPr>
              <a:t>Zaporizhzhia</a:t>
            </a:r>
            <a:r>
              <a:rPr lang="en-GB" dirty="0">
                <a:solidFill>
                  <a:srgbClr val="555555"/>
                </a:solidFill>
                <a:latin typeface="Calibri" panose="020F0502020204030204" pitchFamily="34" charset="0"/>
              </a:rPr>
              <a:t> National University (</a:t>
            </a:r>
            <a:r>
              <a:rPr lang="en-GB" dirty="0" err="1">
                <a:solidFill>
                  <a:srgbClr val="555555"/>
                </a:solidFill>
                <a:latin typeface="Calibri" panose="020F0502020204030204" pitchFamily="34" charset="0"/>
              </a:rPr>
              <a:t>Zaporizhzhia</a:t>
            </a:r>
            <a:r>
              <a:rPr lang="en-GB" dirty="0">
                <a:solidFill>
                  <a:srgbClr val="555555"/>
                </a:solidFill>
                <a:latin typeface="Calibri" panose="020F0502020204030204" pitchFamily="34" charset="0"/>
              </a:rPr>
              <a:t>, Ukraine) </a:t>
            </a:r>
          </a:p>
          <a:p>
            <a:pPr algn="just">
              <a:lnSpc>
                <a:spcPct val="150000"/>
              </a:lnSpc>
            </a:pPr>
            <a:r>
              <a:rPr lang="en-GB" b="1" dirty="0">
                <a:solidFill>
                  <a:srgbClr val="555555"/>
                </a:solidFill>
                <a:latin typeface="Calibri" panose="020F0502020204030204" pitchFamily="34" charset="0"/>
              </a:rPr>
              <a:t>kornetmaryna@ukr.net</a:t>
            </a:r>
            <a:endParaRPr lang="en-GB" b="1" dirty="0"/>
          </a:p>
        </p:txBody>
      </p:sp>
    </p:spTree>
    <p:extLst>
      <p:ext uri="{BB962C8B-B14F-4D97-AF65-F5344CB8AC3E}">
        <p14:creationId xmlns:p14="http://schemas.microsoft.com/office/powerpoint/2010/main" val="411042239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a:extLst>
              <a:ext uri="{FF2B5EF4-FFF2-40B4-BE49-F238E27FC236}">
                <a16:creationId xmlns:a16="http://schemas.microsoft.com/office/drawing/2014/main" id="{585BA22F-EE86-4B49-BC04-4D15EEEBDD59}"/>
              </a:ext>
            </a:extLst>
          </p:cNvPr>
          <p:cNvSpPr>
            <a:spLocks noGrp="1"/>
          </p:cNvSpPr>
          <p:nvPr>
            <p:ph type="sldNum" sz="quarter" idx="12"/>
          </p:nvPr>
        </p:nvSpPr>
        <p:spPr>
          <a:xfrm>
            <a:off x="8634454" y="6364304"/>
            <a:ext cx="2743200" cy="365125"/>
          </a:xfrm>
        </p:spPr>
        <p:txBody>
          <a:bodyPr/>
          <a:lstStyle/>
          <a:p>
            <a:fld id="{93C419CB-0CF1-4F10-90F9-42551F8968FF}" type="slidenum">
              <a:rPr lang="en-GB" smtClean="0"/>
              <a:t>51</a:t>
            </a:fld>
            <a:endParaRPr lang="en-GB"/>
          </a:p>
        </p:txBody>
      </p:sp>
      <p:pic>
        <p:nvPicPr>
          <p:cNvPr id="4" name="Рисунок 3">
            <a:extLst>
              <a:ext uri="{FF2B5EF4-FFF2-40B4-BE49-F238E27FC236}">
                <a16:creationId xmlns:a16="http://schemas.microsoft.com/office/drawing/2014/main" id="{48527F96-F35D-4890-940B-8822334FB60D}"/>
              </a:ext>
            </a:extLst>
          </p:cNvPr>
          <p:cNvPicPr>
            <a:picLocks noChangeAspect="1"/>
          </p:cNvPicPr>
          <p:nvPr/>
        </p:nvPicPr>
        <p:blipFill>
          <a:blip r:embed="rId4"/>
          <a:stretch>
            <a:fillRect/>
          </a:stretch>
        </p:blipFill>
        <p:spPr>
          <a:xfrm>
            <a:off x="621982" y="1740015"/>
            <a:ext cx="7541783" cy="2913871"/>
          </a:xfrm>
          <a:prstGeom prst="rect">
            <a:avLst/>
          </a:prstGeom>
        </p:spPr>
      </p:pic>
      <p:sp>
        <p:nvSpPr>
          <p:cNvPr id="8" name="TextBox 7">
            <a:extLst>
              <a:ext uri="{FF2B5EF4-FFF2-40B4-BE49-F238E27FC236}">
                <a16:creationId xmlns:a16="http://schemas.microsoft.com/office/drawing/2014/main" id="{D562A6FC-93F2-4D72-91A9-7B13113E0E7E}"/>
              </a:ext>
            </a:extLst>
          </p:cNvPr>
          <p:cNvSpPr txBox="1"/>
          <p:nvPr/>
        </p:nvSpPr>
        <p:spPr>
          <a:xfrm>
            <a:off x="639739" y="600424"/>
            <a:ext cx="6097136" cy="584775"/>
          </a:xfrm>
          <a:prstGeom prst="rect">
            <a:avLst/>
          </a:prstGeom>
          <a:noFill/>
        </p:spPr>
        <p:txBody>
          <a:bodyPr wrap="square">
            <a:spAutoFit/>
          </a:bodyPr>
          <a:lstStyle/>
          <a:p>
            <a:r>
              <a:rPr lang="en-GB" sz="3200" b="1" dirty="0"/>
              <a:t>Task 3.</a:t>
            </a:r>
          </a:p>
        </p:txBody>
      </p:sp>
      <p:sp>
        <p:nvSpPr>
          <p:cNvPr id="10" name="TextBox 9">
            <a:extLst>
              <a:ext uri="{FF2B5EF4-FFF2-40B4-BE49-F238E27FC236}">
                <a16:creationId xmlns:a16="http://schemas.microsoft.com/office/drawing/2014/main" id="{D23D2D6A-E3A2-476C-9F16-0E04A81E0CD6}"/>
              </a:ext>
            </a:extLst>
          </p:cNvPr>
          <p:cNvSpPr txBox="1"/>
          <p:nvPr/>
        </p:nvSpPr>
        <p:spPr>
          <a:xfrm>
            <a:off x="921226" y="5235998"/>
            <a:ext cx="6097136" cy="461665"/>
          </a:xfrm>
          <a:prstGeom prst="rect">
            <a:avLst/>
          </a:prstGeom>
          <a:noFill/>
        </p:spPr>
        <p:txBody>
          <a:bodyPr wrap="square">
            <a:spAutoFit/>
          </a:bodyPr>
          <a:lstStyle/>
          <a:p>
            <a:r>
              <a:rPr lang="en-GB" sz="2400" i="1" u="sng" dirty="0">
                <a:solidFill>
                  <a:schemeClr val="accent1">
                    <a:lumMod val="75000"/>
                  </a:schemeClr>
                </a:solidFill>
              </a:rPr>
              <a:t>https://forms.gle/sJ29iYo46ZV9ZthJ7</a:t>
            </a:r>
          </a:p>
        </p:txBody>
      </p:sp>
      <p:pic>
        <p:nvPicPr>
          <p:cNvPr id="12" name="Рисунок 11">
            <a:extLst>
              <a:ext uri="{FF2B5EF4-FFF2-40B4-BE49-F238E27FC236}">
                <a16:creationId xmlns:a16="http://schemas.microsoft.com/office/drawing/2014/main" id="{4504CBFB-7ACD-4B4E-9FF5-61D155AAC26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222207" y="2661313"/>
            <a:ext cx="3241343" cy="3241343"/>
          </a:xfrm>
          <a:prstGeom prst="rect">
            <a:avLst/>
          </a:prstGeom>
        </p:spPr>
      </p:pic>
      <p:sp>
        <p:nvSpPr>
          <p:cNvPr id="9" name="TextBox 8">
            <a:extLst>
              <a:ext uri="{FF2B5EF4-FFF2-40B4-BE49-F238E27FC236}">
                <a16:creationId xmlns:a16="http://schemas.microsoft.com/office/drawing/2014/main" id="{783E0E4D-F82E-4391-9FBF-136558DFB47F}"/>
              </a:ext>
            </a:extLst>
          </p:cNvPr>
          <p:cNvSpPr txBox="1"/>
          <p:nvPr/>
        </p:nvSpPr>
        <p:spPr>
          <a:xfrm>
            <a:off x="-29378" y="4615016"/>
            <a:ext cx="2812973" cy="307777"/>
          </a:xfrm>
          <a:prstGeom prst="rect">
            <a:avLst/>
          </a:prstGeom>
          <a:noFill/>
        </p:spPr>
        <p:txBody>
          <a:bodyPr wrap="square">
            <a:spAutoFit/>
          </a:bodyPr>
          <a:lstStyle/>
          <a:p>
            <a:r>
              <a:rPr lang="en-GB" sz="1400"/>
              <a:t>5,7-dihydrothieno[3,4-d]pyridazine</a:t>
            </a:r>
            <a:endParaRPr lang="en-GB" sz="1400" dirty="0"/>
          </a:p>
        </p:txBody>
      </p:sp>
      <p:sp>
        <p:nvSpPr>
          <p:cNvPr id="11" name="TextBox 10">
            <a:extLst>
              <a:ext uri="{FF2B5EF4-FFF2-40B4-BE49-F238E27FC236}">
                <a16:creationId xmlns:a16="http://schemas.microsoft.com/office/drawing/2014/main" id="{68C23C42-AF94-4760-B0E3-17F01DA8CD4F}"/>
              </a:ext>
            </a:extLst>
          </p:cNvPr>
          <p:cNvSpPr txBox="1"/>
          <p:nvPr/>
        </p:nvSpPr>
        <p:spPr>
          <a:xfrm>
            <a:off x="1987626" y="2876562"/>
            <a:ext cx="2154716" cy="307777"/>
          </a:xfrm>
          <a:prstGeom prst="rect">
            <a:avLst/>
          </a:prstGeom>
          <a:noFill/>
        </p:spPr>
        <p:txBody>
          <a:bodyPr wrap="square">
            <a:spAutoFit/>
          </a:bodyPr>
          <a:lstStyle/>
          <a:p>
            <a:r>
              <a:rPr lang="en-GB" sz="1400" dirty="0"/>
              <a:t>1H-imidazo[1,2-b]pyrazole</a:t>
            </a:r>
          </a:p>
        </p:txBody>
      </p:sp>
      <p:sp>
        <p:nvSpPr>
          <p:cNvPr id="13" name="TextBox 12">
            <a:extLst>
              <a:ext uri="{FF2B5EF4-FFF2-40B4-BE49-F238E27FC236}">
                <a16:creationId xmlns:a16="http://schemas.microsoft.com/office/drawing/2014/main" id="{BBAA3FF3-CBB9-4B2D-96C0-D1F34FF1988F}"/>
              </a:ext>
            </a:extLst>
          </p:cNvPr>
          <p:cNvSpPr txBox="1"/>
          <p:nvPr/>
        </p:nvSpPr>
        <p:spPr>
          <a:xfrm>
            <a:off x="4318613" y="4648674"/>
            <a:ext cx="1729647" cy="307777"/>
          </a:xfrm>
          <a:prstGeom prst="rect">
            <a:avLst/>
          </a:prstGeom>
          <a:noFill/>
        </p:spPr>
        <p:txBody>
          <a:bodyPr wrap="square">
            <a:spAutoFit/>
          </a:bodyPr>
          <a:lstStyle/>
          <a:p>
            <a:r>
              <a:rPr lang="en-GB" sz="1400" dirty="0"/>
              <a:t>benzo[h]</a:t>
            </a:r>
            <a:r>
              <a:rPr lang="en-GB" sz="1400" dirty="0" err="1"/>
              <a:t>isoquinoline</a:t>
            </a:r>
            <a:endParaRPr lang="en-GB" sz="1400" dirty="0"/>
          </a:p>
        </p:txBody>
      </p:sp>
      <p:sp>
        <p:nvSpPr>
          <p:cNvPr id="14" name="TextBox 13">
            <a:extLst>
              <a:ext uri="{FF2B5EF4-FFF2-40B4-BE49-F238E27FC236}">
                <a16:creationId xmlns:a16="http://schemas.microsoft.com/office/drawing/2014/main" id="{6ED4377C-749B-424D-86ED-997C2162D5A1}"/>
              </a:ext>
            </a:extLst>
          </p:cNvPr>
          <p:cNvSpPr txBox="1"/>
          <p:nvPr/>
        </p:nvSpPr>
        <p:spPr>
          <a:xfrm>
            <a:off x="6126297" y="2409080"/>
            <a:ext cx="2688828" cy="307777"/>
          </a:xfrm>
          <a:prstGeom prst="rect">
            <a:avLst/>
          </a:prstGeom>
          <a:noFill/>
        </p:spPr>
        <p:txBody>
          <a:bodyPr wrap="square">
            <a:spAutoFit/>
          </a:bodyPr>
          <a:lstStyle/>
          <a:p>
            <a:r>
              <a:rPr lang="en-GB" sz="1400" dirty="0"/>
              <a:t>4,6-dihydrothieno[3,4-d]oxazole</a:t>
            </a:r>
          </a:p>
        </p:txBody>
      </p:sp>
      <p:graphicFrame>
        <p:nvGraphicFramePr>
          <p:cNvPr id="5" name="Объект 4">
            <a:extLst>
              <a:ext uri="{FF2B5EF4-FFF2-40B4-BE49-F238E27FC236}">
                <a16:creationId xmlns:a16="http://schemas.microsoft.com/office/drawing/2014/main" id="{6464E99C-43A1-4AC5-BE84-63833B286343}"/>
              </a:ext>
            </a:extLst>
          </p:cNvPr>
          <p:cNvGraphicFramePr>
            <a:graphicFrameLocks noChangeAspect="1"/>
          </p:cNvGraphicFramePr>
          <p:nvPr>
            <p:extLst>
              <p:ext uri="{D42A27DB-BD31-4B8C-83A1-F6EECF244321}">
                <p14:modId xmlns:p14="http://schemas.microsoft.com/office/powerpoint/2010/main" val="3033819783"/>
              </p:ext>
            </p:extLst>
          </p:nvPr>
        </p:nvGraphicFramePr>
        <p:xfrm>
          <a:off x="6518783" y="3030061"/>
          <a:ext cx="1644621" cy="1001611"/>
        </p:xfrm>
        <a:graphic>
          <a:graphicData uri="http://schemas.openxmlformats.org/presentationml/2006/ole">
            <mc:AlternateContent xmlns:mc="http://schemas.openxmlformats.org/markup-compatibility/2006">
              <mc:Choice xmlns:v="urn:schemas-microsoft-com:vml" Requires="v">
                <p:oleObj spid="_x0000_s6213" name="CS ChemDraw Drawing" r:id="rId6" imgW="1267534" imgH="771127" progId="ChemDraw.Document.6.0">
                  <p:embed/>
                </p:oleObj>
              </mc:Choice>
              <mc:Fallback>
                <p:oleObj name="CS ChemDraw Drawing" r:id="rId6" imgW="1267534" imgH="771127" progId="ChemDraw.Document.6.0">
                  <p:embed/>
                  <p:pic>
                    <p:nvPicPr>
                      <p:cNvPr id="0" name=""/>
                      <p:cNvPicPr/>
                      <p:nvPr/>
                    </p:nvPicPr>
                    <p:blipFill>
                      <a:blip r:embed="rId7"/>
                      <a:stretch>
                        <a:fillRect/>
                      </a:stretch>
                    </p:blipFill>
                    <p:spPr>
                      <a:xfrm>
                        <a:off x="6518783" y="3030061"/>
                        <a:ext cx="1644621" cy="1001611"/>
                      </a:xfrm>
                      <a:prstGeom prst="rect">
                        <a:avLst/>
                      </a:prstGeom>
                      <a:solidFill>
                        <a:schemeClr val="bg1"/>
                      </a:solidFill>
                    </p:spPr>
                  </p:pic>
                </p:oleObj>
              </mc:Fallback>
            </mc:AlternateContent>
          </a:graphicData>
        </a:graphic>
      </p:graphicFrame>
      <p:graphicFrame>
        <p:nvGraphicFramePr>
          <p:cNvPr id="7" name="Объект 6">
            <a:extLst>
              <a:ext uri="{FF2B5EF4-FFF2-40B4-BE49-F238E27FC236}">
                <a16:creationId xmlns:a16="http://schemas.microsoft.com/office/drawing/2014/main" id="{FD49BA8A-6244-42EC-9D15-514F9FB3D61B}"/>
              </a:ext>
            </a:extLst>
          </p:cNvPr>
          <p:cNvGraphicFramePr>
            <a:graphicFrameLocks noChangeAspect="1"/>
          </p:cNvGraphicFramePr>
          <p:nvPr>
            <p:extLst>
              <p:ext uri="{D42A27DB-BD31-4B8C-83A1-F6EECF244321}">
                <p14:modId xmlns:p14="http://schemas.microsoft.com/office/powerpoint/2010/main" val="121094865"/>
              </p:ext>
            </p:extLst>
          </p:nvPr>
        </p:nvGraphicFramePr>
        <p:xfrm>
          <a:off x="728450" y="3002459"/>
          <a:ext cx="987425" cy="1279525"/>
        </p:xfrm>
        <a:graphic>
          <a:graphicData uri="http://schemas.openxmlformats.org/presentationml/2006/ole">
            <mc:AlternateContent xmlns:mc="http://schemas.openxmlformats.org/markup-compatibility/2006">
              <mc:Choice xmlns:v="urn:schemas-microsoft-com:vml" Requires="v">
                <p:oleObj spid="_x0000_s6214" name="CS ChemDraw Drawing" r:id="rId8" imgW="1072559" imgH="1392722" progId="ChemDraw.Document.6.0">
                  <p:embed/>
                </p:oleObj>
              </mc:Choice>
              <mc:Fallback>
                <p:oleObj name="CS ChemDraw Drawing" r:id="rId8" imgW="1072559" imgH="1392722" progId="ChemDraw.Document.6.0">
                  <p:embed/>
                  <p:pic>
                    <p:nvPicPr>
                      <p:cNvPr id="0" name=""/>
                      <p:cNvPicPr/>
                      <p:nvPr/>
                    </p:nvPicPr>
                    <p:blipFill>
                      <a:blip r:embed="rId9"/>
                      <a:stretch>
                        <a:fillRect/>
                      </a:stretch>
                    </p:blipFill>
                    <p:spPr>
                      <a:xfrm>
                        <a:off x="728450" y="3002459"/>
                        <a:ext cx="987425" cy="1279525"/>
                      </a:xfrm>
                      <a:prstGeom prst="rect">
                        <a:avLst/>
                      </a:prstGeom>
                      <a:solidFill>
                        <a:schemeClr val="bg1"/>
                      </a:solidFill>
                    </p:spPr>
                  </p:pic>
                </p:oleObj>
              </mc:Fallback>
            </mc:AlternateContent>
          </a:graphicData>
        </a:graphic>
      </p:graphicFrame>
    </p:spTree>
    <p:extLst>
      <p:ext uri="{BB962C8B-B14F-4D97-AF65-F5344CB8AC3E}">
        <p14:creationId xmlns:p14="http://schemas.microsoft.com/office/powerpoint/2010/main" val="39209802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a:extLst>
              <a:ext uri="{FF2B5EF4-FFF2-40B4-BE49-F238E27FC236}">
                <a16:creationId xmlns:a16="http://schemas.microsoft.com/office/drawing/2014/main" id="{D4A494B9-02B2-495B-A19A-8C9E0E9BA2FD}"/>
              </a:ext>
            </a:extLst>
          </p:cNvPr>
          <p:cNvSpPr>
            <a:spLocks noGrp="1"/>
          </p:cNvSpPr>
          <p:nvPr>
            <p:ph type="sldNum" sz="quarter" idx="12"/>
          </p:nvPr>
        </p:nvSpPr>
        <p:spPr/>
        <p:txBody>
          <a:bodyPr/>
          <a:lstStyle/>
          <a:p>
            <a:fld id="{93C419CB-0CF1-4F10-90F9-42551F8968FF}" type="slidenum">
              <a:rPr lang="en-GB" smtClean="0"/>
              <a:t>52</a:t>
            </a:fld>
            <a:endParaRPr lang="en-GB"/>
          </a:p>
        </p:txBody>
      </p:sp>
      <p:graphicFrame>
        <p:nvGraphicFramePr>
          <p:cNvPr id="5" name="Объект 4">
            <a:extLst>
              <a:ext uri="{FF2B5EF4-FFF2-40B4-BE49-F238E27FC236}">
                <a16:creationId xmlns:a16="http://schemas.microsoft.com/office/drawing/2014/main" id="{69B16A04-B6E8-4007-9189-77A04D282052}"/>
              </a:ext>
            </a:extLst>
          </p:cNvPr>
          <p:cNvGraphicFramePr>
            <a:graphicFrameLocks noChangeAspect="1"/>
          </p:cNvGraphicFramePr>
          <p:nvPr>
            <p:extLst>
              <p:ext uri="{D42A27DB-BD31-4B8C-83A1-F6EECF244321}">
                <p14:modId xmlns:p14="http://schemas.microsoft.com/office/powerpoint/2010/main" val="3169208353"/>
              </p:ext>
            </p:extLst>
          </p:nvPr>
        </p:nvGraphicFramePr>
        <p:xfrm>
          <a:off x="285229" y="270657"/>
          <a:ext cx="5259139" cy="3267525"/>
        </p:xfrm>
        <a:graphic>
          <a:graphicData uri="http://schemas.openxmlformats.org/presentationml/2006/ole">
            <mc:AlternateContent xmlns:mc="http://schemas.openxmlformats.org/markup-compatibility/2006">
              <mc:Choice xmlns:v="urn:schemas-microsoft-com:vml" Requires="v">
                <p:oleObj spid="_x0000_s3145" name="CS ChemDraw Drawing" r:id="rId3" imgW="3651088" imgH="2269238" progId="ChemDraw.Document.6.0">
                  <p:embed/>
                </p:oleObj>
              </mc:Choice>
              <mc:Fallback>
                <p:oleObj name="CS ChemDraw Drawing" r:id="rId3" imgW="3651088" imgH="2269238" progId="ChemDraw.Document.6.0">
                  <p:embed/>
                  <p:pic>
                    <p:nvPicPr>
                      <p:cNvPr id="0" name=""/>
                      <p:cNvPicPr/>
                      <p:nvPr/>
                    </p:nvPicPr>
                    <p:blipFill>
                      <a:blip r:embed="rId4"/>
                      <a:stretch>
                        <a:fillRect/>
                      </a:stretch>
                    </p:blipFill>
                    <p:spPr>
                      <a:xfrm>
                        <a:off x="285229" y="270657"/>
                        <a:ext cx="5259139" cy="3267525"/>
                      </a:xfrm>
                      <a:prstGeom prst="rect">
                        <a:avLst/>
                      </a:prstGeom>
                    </p:spPr>
                  </p:pic>
                </p:oleObj>
              </mc:Fallback>
            </mc:AlternateContent>
          </a:graphicData>
        </a:graphic>
      </p:graphicFrame>
      <p:sp>
        <p:nvSpPr>
          <p:cNvPr id="7" name="TextBox 6">
            <a:extLst>
              <a:ext uri="{FF2B5EF4-FFF2-40B4-BE49-F238E27FC236}">
                <a16:creationId xmlns:a16="http://schemas.microsoft.com/office/drawing/2014/main" id="{2AA880AC-C3EC-4F92-9CAA-EB23A5F30A72}"/>
              </a:ext>
            </a:extLst>
          </p:cNvPr>
          <p:cNvSpPr txBox="1"/>
          <p:nvPr/>
        </p:nvSpPr>
        <p:spPr>
          <a:xfrm>
            <a:off x="414552" y="477943"/>
            <a:ext cx="6097136" cy="369332"/>
          </a:xfrm>
          <a:prstGeom prst="rect">
            <a:avLst/>
          </a:prstGeom>
          <a:noFill/>
        </p:spPr>
        <p:txBody>
          <a:bodyPr wrap="square">
            <a:spAutoFit/>
          </a:bodyPr>
          <a:lstStyle/>
          <a:p>
            <a:r>
              <a:rPr lang="en-GB" sz="1800" b="1" dirty="0"/>
              <a:t>Task 3, Compound </a:t>
            </a:r>
            <a:r>
              <a:rPr lang="en-GB" b="1" dirty="0"/>
              <a:t>a</a:t>
            </a:r>
            <a:endParaRPr lang="en-GB" dirty="0"/>
          </a:p>
        </p:txBody>
      </p:sp>
      <p:sp>
        <p:nvSpPr>
          <p:cNvPr id="9" name="TextBox 8">
            <a:extLst>
              <a:ext uri="{FF2B5EF4-FFF2-40B4-BE49-F238E27FC236}">
                <a16:creationId xmlns:a16="http://schemas.microsoft.com/office/drawing/2014/main" id="{55EDC402-1AF7-499F-B22C-AE75D39E80D5}"/>
              </a:ext>
            </a:extLst>
          </p:cNvPr>
          <p:cNvSpPr txBox="1"/>
          <p:nvPr/>
        </p:nvSpPr>
        <p:spPr>
          <a:xfrm>
            <a:off x="6309483" y="270657"/>
            <a:ext cx="5597288" cy="6140142"/>
          </a:xfrm>
          <a:prstGeom prst="rect">
            <a:avLst/>
          </a:prstGeom>
          <a:noFill/>
        </p:spPr>
        <p:txBody>
          <a:bodyPr wrap="square">
            <a:spAutoFit/>
          </a:bodyPr>
          <a:lstStyle/>
          <a:p>
            <a:pPr marL="12700">
              <a:lnSpc>
                <a:spcPct val="100000"/>
              </a:lnSpc>
              <a:tabLst>
                <a:tab pos="354965" algn="l"/>
                <a:tab pos="355600" algn="l"/>
              </a:tabLst>
            </a:pPr>
            <a:r>
              <a:rPr lang="en-GB" sz="1800" spc="-5" dirty="0">
                <a:solidFill>
                  <a:srgbClr val="C00000"/>
                </a:solidFill>
                <a:latin typeface="Times New Roman"/>
                <a:cs typeface="Times New Roman"/>
              </a:rPr>
              <a:t>1) Is there only one ring that contains nitrogen?</a:t>
            </a:r>
          </a:p>
          <a:p>
            <a:pPr marL="12700">
              <a:lnSpc>
                <a:spcPct val="100000"/>
              </a:lnSpc>
              <a:tabLst>
                <a:tab pos="354965" algn="l"/>
                <a:tab pos="355600" algn="l"/>
              </a:tabLst>
            </a:pPr>
            <a:r>
              <a:rPr lang="en-GB" sz="1800" spc="-5" dirty="0">
                <a:solidFill>
                  <a:srgbClr val="C00000"/>
                </a:solidFill>
                <a:latin typeface="Times New Roman"/>
                <a:cs typeface="Times New Roman"/>
              </a:rPr>
              <a:t>      </a:t>
            </a:r>
            <a:r>
              <a:rPr lang="en-GB" sz="1800" spc="-5" dirty="0">
                <a:latin typeface="Times New Roman"/>
                <a:cs typeface="Times New Roman"/>
              </a:rPr>
              <a:t>Yes: choose this as a base component</a:t>
            </a:r>
            <a:r>
              <a:rPr lang="en-GB" sz="1800" dirty="0">
                <a:latin typeface="Times New Roman"/>
                <a:cs typeface="Times New Roman"/>
              </a:rPr>
              <a:t>    </a:t>
            </a:r>
          </a:p>
          <a:p>
            <a:pPr marL="12700">
              <a:lnSpc>
                <a:spcPct val="100000"/>
              </a:lnSpc>
              <a:tabLst>
                <a:tab pos="354965" algn="l"/>
                <a:tab pos="355600" algn="l"/>
              </a:tabLst>
            </a:pPr>
            <a:r>
              <a:rPr lang="en-GB" dirty="0">
                <a:latin typeface="Times New Roman"/>
                <a:cs typeface="Times New Roman"/>
              </a:rPr>
              <a:t>	</a:t>
            </a:r>
            <a:r>
              <a:rPr lang="en-GB" sz="1800" dirty="0">
                <a:latin typeface="Times New Roman"/>
                <a:cs typeface="Times New Roman"/>
              </a:rPr>
              <a:t>  </a:t>
            </a:r>
            <a:r>
              <a:rPr lang="en-GB" sz="1800" dirty="0">
                <a:solidFill>
                  <a:srgbClr val="92D050"/>
                </a:solidFill>
                <a:latin typeface="Times New Roman"/>
                <a:cs typeface="Times New Roman"/>
              </a:rPr>
              <a:t>(pyridazine)</a:t>
            </a:r>
          </a:p>
          <a:p>
            <a:pPr marL="12700" algn="just"/>
            <a:r>
              <a:rPr lang="en-GB" sz="1800" dirty="0">
                <a:latin typeface="Times New Roman"/>
                <a:cs typeface="Times New Roman"/>
              </a:rPr>
              <a:t>2) </a:t>
            </a:r>
            <a:r>
              <a:rPr lang="en-GB" dirty="0">
                <a:latin typeface="Times New Roman"/>
                <a:cs typeface="Times New Roman"/>
              </a:rPr>
              <a:t>2) The name of the minor ring is derived by writing a contracted prefix for the substituent ring present. In an attached component prefix, the terminal ‘</a:t>
            </a:r>
            <a:r>
              <a:rPr lang="en-GB" dirty="0">
                <a:solidFill>
                  <a:srgbClr val="00B050"/>
                </a:solidFill>
                <a:latin typeface="Times New Roman"/>
                <a:cs typeface="Times New Roman"/>
              </a:rPr>
              <a:t>e</a:t>
            </a:r>
            <a:r>
              <a:rPr lang="en-GB" dirty="0">
                <a:latin typeface="Times New Roman"/>
                <a:cs typeface="Times New Roman"/>
              </a:rPr>
              <a:t>’ is  changed to ‘</a:t>
            </a:r>
            <a:r>
              <a:rPr lang="en-GB" dirty="0">
                <a:solidFill>
                  <a:srgbClr val="00B050"/>
                </a:solidFill>
                <a:latin typeface="Times New Roman"/>
                <a:cs typeface="Times New Roman"/>
              </a:rPr>
              <a:t>o</a:t>
            </a:r>
            <a:r>
              <a:rPr lang="en-GB" dirty="0">
                <a:latin typeface="Times New Roman"/>
                <a:cs typeface="Times New Roman"/>
              </a:rPr>
              <a:t>’ except for:</a:t>
            </a:r>
          </a:p>
          <a:p>
            <a:pPr marL="12700"/>
            <a:endParaRPr lang="en-GB" dirty="0">
              <a:latin typeface="Times New Roman"/>
              <a:cs typeface="Times New Roman"/>
            </a:endParaRPr>
          </a:p>
          <a:p>
            <a:pPr marL="12700"/>
            <a:endParaRPr lang="en-GB" dirty="0">
              <a:latin typeface="Times New Roman"/>
              <a:cs typeface="Times New Roman"/>
            </a:endParaRPr>
          </a:p>
          <a:p>
            <a:pPr marL="12700"/>
            <a:endParaRPr lang="en-GB" dirty="0">
              <a:latin typeface="Times New Roman"/>
              <a:cs typeface="Times New Roman"/>
            </a:endParaRPr>
          </a:p>
          <a:p>
            <a:pPr marL="12700"/>
            <a:endParaRPr lang="en-GB" dirty="0">
              <a:latin typeface="Times New Roman"/>
              <a:cs typeface="Times New Roman"/>
            </a:endParaRPr>
          </a:p>
          <a:p>
            <a:pPr marL="12700"/>
            <a:endParaRPr lang="en-GB" dirty="0">
              <a:latin typeface="Times New Roman"/>
              <a:cs typeface="Times New Roman"/>
            </a:endParaRPr>
          </a:p>
          <a:p>
            <a:pPr marL="12700" marR="5080" algn="just">
              <a:spcBef>
                <a:spcPts val="600"/>
              </a:spcBef>
              <a:spcAft>
                <a:spcPts val="600"/>
              </a:spcAft>
            </a:pPr>
            <a:r>
              <a:rPr lang="en-GB" dirty="0">
                <a:latin typeface="Times New Roman"/>
                <a:cs typeface="Times New Roman"/>
              </a:rPr>
              <a:t>3) </a:t>
            </a:r>
            <a:r>
              <a:rPr lang="en-GB" sz="1800" dirty="0">
                <a:latin typeface="Times New Roman"/>
                <a:cs typeface="Times New Roman"/>
              </a:rPr>
              <a:t>The position of nitrogen or carbon atoms that bear extra hydrogen atoms must be indicated by numbers and italic capital H (e.g., </a:t>
            </a:r>
            <a:r>
              <a:rPr lang="en-GB" sz="1800" dirty="0">
                <a:solidFill>
                  <a:srgbClr val="00B050"/>
                </a:solidFill>
                <a:latin typeface="Times New Roman"/>
                <a:cs typeface="Times New Roman"/>
              </a:rPr>
              <a:t>1</a:t>
            </a:r>
            <a:r>
              <a:rPr lang="en-GB" sz="1800" i="1" dirty="0">
                <a:solidFill>
                  <a:srgbClr val="00B050"/>
                </a:solidFill>
                <a:latin typeface="Times New Roman"/>
                <a:cs typeface="Times New Roman"/>
              </a:rPr>
              <a:t>H</a:t>
            </a:r>
            <a:r>
              <a:rPr lang="en-GB" sz="1800" dirty="0">
                <a:solidFill>
                  <a:srgbClr val="00B050"/>
                </a:solidFill>
                <a:latin typeface="Times New Roman"/>
                <a:cs typeface="Times New Roman"/>
              </a:rPr>
              <a:t>, 2</a:t>
            </a:r>
            <a:r>
              <a:rPr lang="en-GB" sz="1800" i="1" dirty="0">
                <a:solidFill>
                  <a:srgbClr val="00B050"/>
                </a:solidFill>
                <a:latin typeface="Times New Roman"/>
                <a:cs typeface="Times New Roman"/>
              </a:rPr>
              <a:t>H</a:t>
            </a:r>
            <a:r>
              <a:rPr lang="en-GB" sz="1800" dirty="0">
                <a:latin typeface="Times New Roman"/>
                <a:cs typeface="Times New Roman"/>
              </a:rPr>
              <a:t>, etc.) followed by the name of a maximally unsaturated ring.</a:t>
            </a:r>
          </a:p>
          <a:p>
            <a:pPr marL="12700" marR="5080" algn="just">
              <a:spcBef>
                <a:spcPts val="600"/>
              </a:spcBef>
              <a:spcAft>
                <a:spcPts val="600"/>
              </a:spcAft>
            </a:pPr>
            <a:r>
              <a:rPr lang="en-GB" sz="1800" dirty="0">
                <a:latin typeface="Times New Roman"/>
                <a:cs typeface="Times New Roman"/>
              </a:rPr>
              <a:t>The words </a:t>
            </a:r>
            <a:r>
              <a:rPr lang="en-GB" sz="1800" dirty="0">
                <a:solidFill>
                  <a:srgbClr val="00B050"/>
                </a:solidFill>
                <a:latin typeface="Times New Roman"/>
                <a:cs typeface="Times New Roman"/>
              </a:rPr>
              <a:t>dihydro, </a:t>
            </a:r>
            <a:r>
              <a:rPr lang="en-GB" sz="1800" dirty="0" err="1">
                <a:solidFill>
                  <a:srgbClr val="00B050"/>
                </a:solidFill>
                <a:latin typeface="Times New Roman"/>
                <a:cs typeface="Times New Roman"/>
              </a:rPr>
              <a:t>trihydro</a:t>
            </a:r>
            <a:r>
              <a:rPr lang="en-GB" sz="1800" dirty="0">
                <a:solidFill>
                  <a:srgbClr val="00B050"/>
                </a:solidFill>
                <a:latin typeface="Times New Roman"/>
                <a:cs typeface="Times New Roman"/>
              </a:rPr>
              <a:t>, or tetrahydro are used if two, three, or four atoms are saturated</a:t>
            </a:r>
            <a:r>
              <a:rPr lang="en-GB" sz="1800" dirty="0">
                <a:latin typeface="Times New Roman"/>
                <a:cs typeface="Times New Roman"/>
              </a:rPr>
              <a:t>. Numbers preceding these words indicate the position of saturated atoms as low as possible and are followed by the corresponding fully unsaturated </a:t>
            </a:r>
            <a:r>
              <a:rPr lang="en-GB" sz="1800" dirty="0" err="1">
                <a:latin typeface="Times New Roman"/>
                <a:cs typeface="Times New Roman"/>
              </a:rPr>
              <a:t>Hantzsch</a:t>
            </a:r>
            <a:r>
              <a:rPr lang="en-GB" sz="1800" dirty="0">
                <a:latin typeface="Times New Roman"/>
                <a:cs typeface="Times New Roman"/>
              </a:rPr>
              <a:t>-Widman name.</a:t>
            </a:r>
            <a:endParaRPr lang="uk-UA" sz="1800" dirty="0">
              <a:latin typeface="Times New Roman"/>
              <a:cs typeface="Times New Roman"/>
            </a:endParaRPr>
          </a:p>
        </p:txBody>
      </p:sp>
      <p:pic>
        <p:nvPicPr>
          <p:cNvPr id="10" name="Рисунок 9">
            <a:extLst>
              <a:ext uri="{FF2B5EF4-FFF2-40B4-BE49-F238E27FC236}">
                <a16:creationId xmlns:a16="http://schemas.microsoft.com/office/drawing/2014/main" id="{EFF270BA-C4B0-4D65-B478-1347131EFEC9}"/>
              </a:ext>
            </a:extLst>
          </p:cNvPr>
          <p:cNvPicPr>
            <a:picLocks noChangeAspect="1"/>
          </p:cNvPicPr>
          <p:nvPr/>
        </p:nvPicPr>
        <p:blipFill>
          <a:blip r:embed="rId5"/>
          <a:stretch>
            <a:fillRect/>
          </a:stretch>
        </p:blipFill>
        <p:spPr>
          <a:xfrm>
            <a:off x="9426504" y="1927133"/>
            <a:ext cx="2373956" cy="1791882"/>
          </a:xfrm>
          <a:prstGeom prst="rect">
            <a:avLst/>
          </a:prstGeom>
        </p:spPr>
      </p:pic>
    </p:spTree>
    <p:extLst>
      <p:ext uri="{BB962C8B-B14F-4D97-AF65-F5344CB8AC3E}">
        <p14:creationId xmlns:p14="http://schemas.microsoft.com/office/powerpoint/2010/main" val="161212492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a:extLst>
              <a:ext uri="{FF2B5EF4-FFF2-40B4-BE49-F238E27FC236}">
                <a16:creationId xmlns:a16="http://schemas.microsoft.com/office/drawing/2014/main" id="{733D2036-7B97-4532-84FA-82A972F0C74C}"/>
              </a:ext>
            </a:extLst>
          </p:cNvPr>
          <p:cNvSpPr>
            <a:spLocks noGrp="1"/>
          </p:cNvSpPr>
          <p:nvPr>
            <p:ph type="sldNum" sz="quarter" idx="12"/>
          </p:nvPr>
        </p:nvSpPr>
        <p:spPr/>
        <p:txBody>
          <a:bodyPr/>
          <a:lstStyle/>
          <a:p>
            <a:fld id="{93C419CB-0CF1-4F10-90F9-42551F8968FF}" type="slidenum">
              <a:rPr lang="en-GB" smtClean="0"/>
              <a:t>53</a:t>
            </a:fld>
            <a:endParaRPr lang="en-GB"/>
          </a:p>
        </p:txBody>
      </p:sp>
      <p:sp>
        <p:nvSpPr>
          <p:cNvPr id="3" name="TextBox 2">
            <a:extLst>
              <a:ext uri="{FF2B5EF4-FFF2-40B4-BE49-F238E27FC236}">
                <a16:creationId xmlns:a16="http://schemas.microsoft.com/office/drawing/2014/main" id="{B6AD2BFB-924A-464B-9E96-C24A3D3316E1}"/>
              </a:ext>
            </a:extLst>
          </p:cNvPr>
          <p:cNvSpPr txBox="1"/>
          <p:nvPr/>
        </p:nvSpPr>
        <p:spPr>
          <a:xfrm>
            <a:off x="414552" y="477943"/>
            <a:ext cx="6097136" cy="369332"/>
          </a:xfrm>
          <a:prstGeom prst="rect">
            <a:avLst/>
          </a:prstGeom>
          <a:noFill/>
        </p:spPr>
        <p:txBody>
          <a:bodyPr wrap="square">
            <a:spAutoFit/>
          </a:bodyPr>
          <a:lstStyle/>
          <a:p>
            <a:r>
              <a:rPr lang="en-GB" sz="1800" b="1" dirty="0"/>
              <a:t>Task 3, Compound b</a:t>
            </a:r>
            <a:endParaRPr lang="en-GB" dirty="0"/>
          </a:p>
        </p:txBody>
      </p:sp>
      <p:graphicFrame>
        <p:nvGraphicFramePr>
          <p:cNvPr id="4" name="Объект 3">
            <a:extLst>
              <a:ext uri="{FF2B5EF4-FFF2-40B4-BE49-F238E27FC236}">
                <a16:creationId xmlns:a16="http://schemas.microsoft.com/office/drawing/2014/main" id="{C5F34454-55E9-41DB-8EB0-3F600D16E613}"/>
              </a:ext>
            </a:extLst>
          </p:cNvPr>
          <p:cNvGraphicFramePr>
            <a:graphicFrameLocks noChangeAspect="1"/>
          </p:cNvGraphicFramePr>
          <p:nvPr>
            <p:extLst>
              <p:ext uri="{D42A27DB-BD31-4B8C-83A1-F6EECF244321}">
                <p14:modId xmlns:p14="http://schemas.microsoft.com/office/powerpoint/2010/main" val="1175266982"/>
              </p:ext>
            </p:extLst>
          </p:nvPr>
        </p:nvGraphicFramePr>
        <p:xfrm>
          <a:off x="131763" y="941388"/>
          <a:ext cx="4060825" cy="3813175"/>
        </p:xfrm>
        <a:graphic>
          <a:graphicData uri="http://schemas.openxmlformats.org/presentationml/2006/ole">
            <mc:AlternateContent xmlns:mc="http://schemas.openxmlformats.org/markup-compatibility/2006">
              <mc:Choice xmlns:v="urn:schemas-microsoft-com:vml" Requires="v">
                <p:oleObj spid="_x0000_s4217" name="CS ChemDraw Drawing" r:id="rId4" imgW="2816166" imgH="2647047" progId="ChemDraw.Document.6.0">
                  <p:embed/>
                </p:oleObj>
              </mc:Choice>
              <mc:Fallback>
                <p:oleObj name="CS ChemDraw Drawing" r:id="rId4" imgW="2816166" imgH="2647047" progId="ChemDraw.Document.6.0">
                  <p:embed/>
                  <p:pic>
                    <p:nvPicPr>
                      <p:cNvPr id="0" name=""/>
                      <p:cNvPicPr/>
                      <p:nvPr/>
                    </p:nvPicPr>
                    <p:blipFill>
                      <a:blip r:embed="rId5"/>
                      <a:stretch>
                        <a:fillRect/>
                      </a:stretch>
                    </p:blipFill>
                    <p:spPr>
                      <a:xfrm>
                        <a:off x="131763" y="941388"/>
                        <a:ext cx="4060825" cy="3813175"/>
                      </a:xfrm>
                      <a:prstGeom prst="rect">
                        <a:avLst/>
                      </a:prstGeom>
                    </p:spPr>
                  </p:pic>
                </p:oleObj>
              </mc:Fallback>
            </mc:AlternateContent>
          </a:graphicData>
        </a:graphic>
      </p:graphicFrame>
      <p:sp>
        <p:nvSpPr>
          <p:cNvPr id="6" name="TextBox 5">
            <a:extLst>
              <a:ext uri="{FF2B5EF4-FFF2-40B4-BE49-F238E27FC236}">
                <a16:creationId xmlns:a16="http://schemas.microsoft.com/office/drawing/2014/main" id="{5C77D907-7CF5-4EEC-93D1-91DC81510235}"/>
              </a:ext>
            </a:extLst>
          </p:cNvPr>
          <p:cNvSpPr txBox="1"/>
          <p:nvPr/>
        </p:nvSpPr>
        <p:spPr>
          <a:xfrm>
            <a:off x="4288665" y="74802"/>
            <a:ext cx="7504627" cy="5647700"/>
          </a:xfrm>
          <a:prstGeom prst="rect">
            <a:avLst/>
          </a:prstGeom>
          <a:noFill/>
        </p:spPr>
        <p:txBody>
          <a:bodyPr wrap="square">
            <a:spAutoFit/>
          </a:bodyPr>
          <a:lstStyle/>
          <a:p>
            <a:pPr algn="just"/>
            <a:r>
              <a:rPr lang="en-GB" sz="1700" dirty="0"/>
              <a:t> </a:t>
            </a:r>
            <a:r>
              <a:rPr lang="uk-UA" sz="1700" dirty="0"/>
              <a:t>1) </a:t>
            </a:r>
            <a:r>
              <a:rPr lang="en-GB" sz="1700" dirty="0">
                <a:solidFill>
                  <a:srgbClr val="C00000"/>
                </a:solidFill>
              </a:rPr>
              <a:t>Are the two rings have the same size and the same number and type of heteroatoms? </a:t>
            </a:r>
          </a:p>
          <a:p>
            <a:pPr marL="285750" indent="-285750" algn="just">
              <a:buFont typeface="Wingdings" panose="05000000000000000000" pitchFamily="2" charset="2"/>
              <a:buChar char="ü"/>
            </a:pPr>
            <a:r>
              <a:rPr lang="en-GB" sz="1700" dirty="0"/>
              <a:t> Yes: choose the ring with the  lower numbers for heteroatoms</a:t>
            </a:r>
            <a:r>
              <a:rPr lang="uk-UA" sz="1700" dirty="0"/>
              <a:t> </a:t>
            </a:r>
            <a:r>
              <a:rPr lang="uk-UA" sz="1700" dirty="0">
                <a:solidFill>
                  <a:srgbClr val="00B050"/>
                </a:solidFill>
              </a:rPr>
              <a:t>(</a:t>
            </a:r>
            <a:r>
              <a:rPr lang="en-GB" sz="1700" dirty="0">
                <a:solidFill>
                  <a:srgbClr val="00B050"/>
                </a:solidFill>
              </a:rPr>
              <a:t>pyrazole)</a:t>
            </a:r>
          </a:p>
          <a:p>
            <a:pPr algn="just"/>
            <a:endParaRPr lang="en-GB" sz="1700" dirty="0">
              <a:solidFill>
                <a:srgbClr val="00B050"/>
              </a:solidFill>
            </a:endParaRPr>
          </a:p>
          <a:p>
            <a:pPr algn="just"/>
            <a:r>
              <a:rPr lang="en-GB" sz="1700" dirty="0"/>
              <a:t>2) </a:t>
            </a:r>
            <a:r>
              <a:rPr lang="en-GB" sz="1700" dirty="0">
                <a:cs typeface="Times New Roman"/>
              </a:rPr>
              <a:t>The name of the minor ring is derived by writing a contracted prefix for the substituent ring present. In an attached component prefix, the terminal ‘</a:t>
            </a:r>
            <a:r>
              <a:rPr lang="en-GB" sz="1700" dirty="0">
                <a:solidFill>
                  <a:srgbClr val="FF0000"/>
                </a:solidFill>
                <a:cs typeface="Times New Roman"/>
              </a:rPr>
              <a:t>e</a:t>
            </a:r>
            <a:r>
              <a:rPr lang="en-GB" sz="1700" dirty="0">
                <a:cs typeface="Times New Roman"/>
              </a:rPr>
              <a:t>’ is  changed to ‘</a:t>
            </a:r>
            <a:r>
              <a:rPr lang="en-GB" sz="1700" dirty="0">
                <a:solidFill>
                  <a:srgbClr val="00B050"/>
                </a:solidFill>
                <a:cs typeface="Times New Roman"/>
              </a:rPr>
              <a:t>o</a:t>
            </a:r>
            <a:r>
              <a:rPr lang="en-GB" sz="1700" dirty="0">
                <a:cs typeface="Times New Roman"/>
              </a:rPr>
              <a:t>’ exception for:</a:t>
            </a:r>
            <a:r>
              <a:rPr lang="uk-UA" sz="1700" dirty="0">
                <a:cs typeface="Times New Roman"/>
              </a:rPr>
              <a:t> </a:t>
            </a:r>
            <a:endParaRPr lang="en-GB" sz="1700" dirty="0">
              <a:cs typeface="Times New Roman"/>
            </a:endParaRPr>
          </a:p>
          <a:p>
            <a:pPr algn="just"/>
            <a:endParaRPr lang="en-GB" sz="1700" dirty="0"/>
          </a:p>
          <a:p>
            <a:pPr algn="just"/>
            <a:r>
              <a:rPr lang="en-GB" sz="1700" dirty="0"/>
              <a:t>Imidazole = </a:t>
            </a:r>
            <a:r>
              <a:rPr lang="en-GB" sz="1700" dirty="0" err="1">
                <a:solidFill>
                  <a:srgbClr val="7030A0"/>
                </a:solidFill>
              </a:rPr>
              <a:t>Imidazo</a:t>
            </a:r>
            <a:endParaRPr lang="uk-UA" sz="1700" dirty="0">
              <a:solidFill>
                <a:srgbClr val="7030A0"/>
              </a:solidFill>
            </a:endParaRPr>
          </a:p>
          <a:p>
            <a:pPr algn="just"/>
            <a:endParaRPr lang="uk-UA" dirty="0">
              <a:solidFill>
                <a:srgbClr val="7030A0"/>
              </a:solidFill>
            </a:endParaRPr>
          </a:p>
          <a:p>
            <a:pPr algn="just"/>
            <a:endParaRPr lang="uk-UA" dirty="0">
              <a:solidFill>
                <a:srgbClr val="7030A0"/>
              </a:solidFill>
            </a:endParaRPr>
          </a:p>
          <a:p>
            <a:pPr algn="just"/>
            <a:endParaRPr lang="en-GB" dirty="0">
              <a:solidFill>
                <a:srgbClr val="7030A0"/>
              </a:solidFill>
            </a:endParaRPr>
          </a:p>
          <a:p>
            <a:pPr algn="just"/>
            <a:endParaRPr lang="uk-UA" dirty="0"/>
          </a:p>
          <a:p>
            <a:pPr algn="just"/>
            <a:endParaRPr lang="en-GB" sz="1600" dirty="0">
              <a:solidFill>
                <a:srgbClr val="7030A0"/>
              </a:solidFill>
            </a:endParaRPr>
          </a:p>
          <a:p>
            <a:pPr algn="just"/>
            <a:r>
              <a:rPr lang="en-GB" sz="1700" dirty="0"/>
              <a:t>3) About </a:t>
            </a:r>
            <a:r>
              <a:rPr lang="en-GB" sz="1700" b="1" dirty="0">
                <a:solidFill>
                  <a:srgbClr val="0070C0"/>
                </a:solidFill>
              </a:rPr>
              <a:t>1H</a:t>
            </a:r>
            <a:r>
              <a:rPr lang="en-GB" sz="1700" dirty="0"/>
              <a:t>. </a:t>
            </a:r>
            <a:r>
              <a:rPr lang="en-GB" sz="1700" i="1" dirty="0"/>
              <a:t>The numbering system for the whole fused system is not the same as the numbers in the square brackets</a:t>
            </a:r>
            <a:r>
              <a:rPr lang="en-GB" sz="1700" dirty="0"/>
              <a:t> (i.e., there are three numbering systems; one for a minor ring, one for a major ring, and the third for the system as a whole). </a:t>
            </a:r>
          </a:p>
          <a:p>
            <a:pPr algn="just"/>
            <a:r>
              <a:rPr lang="en-GB" sz="1700" dirty="0"/>
              <a:t>Numbering the whole fused system should start from the first atom after fusion in any direction to </a:t>
            </a:r>
            <a:r>
              <a:rPr lang="en-GB" sz="1700" dirty="0" err="1"/>
              <a:t>fulfill</a:t>
            </a:r>
            <a:r>
              <a:rPr lang="en-GB" sz="1700" dirty="0"/>
              <a:t> the order of the following rule: Give low numbers to an indicated hydrogen atom.</a:t>
            </a:r>
          </a:p>
          <a:p>
            <a:pPr algn="just"/>
            <a:endParaRPr lang="en-GB" dirty="0">
              <a:solidFill>
                <a:srgbClr val="00B050"/>
              </a:solidFill>
            </a:endParaRPr>
          </a:p>
        </p:txBody>
      </p:sp>
      <p:pic>
        <p:nvPicPr>
          <p:cNvPr id="7" name="Рисунок 6">
            <a:extLst>
              <a:ext uri="{FF2B5EF4-FFF2-40B4-BE49-F238E27FC236}">
                <a16:creationId xmlns:a16="http://schemas.microsoft.com/office/drawing/2014/main" id="{C714C706-FCDB-4A5B-B66C-9DAE4DAE0079}"/>
              </a:ext>
            </a:extLst>
          </p:cNvPr>
          <p:cNvPicPr>
            <a:picLocks noChangeAspect="1"/>
          </p:cNvPicPr>
          <p:nvPr/>
        </p:nvPicPr>
        <p:blipFill>
          <a:blip r:embed="rId6"/>
          <a:stretch>
            <a:fillRect/>
          </a:stretch>
        </p:blipFill>
        <p:spPr>
          <a:xfrm>
            <a:off x="9350063" y="1649234"/>
            <a:ext cx="2372395" cy="1851356"/>
          </a:xfrm>
          <a:prstGeom prst="rect">
            <a:avLst/>
          </a:prstGeom>
        </p:spPr>
      </p:pic>
      <p:sp>
        <p:nvSpPr>
          <p:cNvPr id="9" name="TextBox 8">
            <a:extLst>
              <a:ext uri="{FF2B5EF4-FFF2-40B4-BE49-F238E27FC236}">
                <a16:creationId xmlns:a16="http://schemas.microsoft.com/office/drawing/2014/main" id="{09565F16-B5D7-47FB-92AC-3E873A6E89E2}"/>
              </a:ext>
            </a:extLst>
          </p:cNvPr>
          <p:cNvSpPr txBox="1"/>
          <p:nvPr/>
        </p:nvSpPr>
        <p:spPr>
          <a:xfrm>
            <a:off x="200771" y="4754563"/>
            <a:ext cx="6094674" cy="369332"/>
          </a:xfrm>
          <a:prstGeom prst="rect">
            <a:avLst/>
          </a:prstGeom>
          <a:noFill/>
        </p:spPr>
        <p:txBody>
          <a:bodyPr wrap="square">
            <a:spAutoFit/>
          </a:bodyPr>
          <a:lstStyle/>
          <a:p>
            <a:r>
              <a:rPr lang="en-GB" sz="1800" strike="sngStrike" dirty="0">
                <a:solidFill>
                  <a:srgbClr val="FF0000"/>
                </a:solidFill>
              </a:rPr>
              <a:t>1H-imidazo[</a:t>
            </a:r>
            <a:r>
              <a:rPr lang="uk-UA" sz="1800" strike="sngStrike" dirty="0">
                <a:solidFill>
                  <a:srgbClr val="FF0000"/>
                </a:solidFill>
              </a:rPr>
              <a:t>2</a:t>
            </a:r>
            <a:r>
              <a:rPr lang="en-GB" sz="1800" strike="sngStrike" dirty="0">
                <a:solidFill>
                  <a:srgbClr val="FF0000"/>
                </a:solidFill>
              </a:rPr>
              <a:t>,</a:t>
            </a:r>
            <a:r>
              <a:rPr lang="uk-UA" sz="1800" strike="sngStrike" dirty="0">
                <a:solidFill>
                  <a:srgbClr val="FF0000"/>
                </a:solidFill>
              </a:rPr>
              <a:t>3</a:t>
            </a:r>
            <a:r>
              <a:rPr lang="en-GB" sz="1800" strike="sngStrike" dirty="0">
                <a:solidFill>
                  <a:srgbClr val="FF0000"/>
                </a:solidFill>
              </a:rPr>
              <a:t>-b]pyrazole </a:t>
            </a:r>
            <a:endParaRPr lang="en-GB" strike="sngStrike" dirty="0"/>
          </a:p>
        </p:txBody>
      </p:sp>
      <p:graphicFrame>
        <p:nvGraphicFramePr>
          <p:cNvPr id="10" name="Объект 9">
            <a:extLst>
              <a:ext uri="{FF2B5EF4-FFF2-40B4-BE49-F238E27FC236}">
                <a16:creationId xmlns:a16="http://schemas.microsoft.com/office/drawing/2014/main" id="{A65AE712-8AFD-40D9-BF12-866BB833977E}"/>
              </a:ext>
            </a:extLst>
          </p:cNvPr>
          <p:cNvGraphicFramePr>
            <a:graphicFrameLocks noChangeAspect="1"/>
          </p:cNvGraphicFramePr>
          <p:nvPr>
            <p:extLst>
              <p:ext uri="{D42A27DB-BD31-4B8C-83A1-F6EECF244321}">
                <p14:modId xmlns:p14="http://schemas.microsoft.com/office/powerpoint/2010/main" val="2650702615"/>
              </p:ext>
            </p:extLst>
          </p:nvPr>
        </p:nvGraphicFramePr>
        <p:xfrm>
          <a:off x="200771" y="5123895"/>
          <a:ext cx="2500731" cy="1549391"/>
        </p:xfrm>
        <a:graphic>
          <a:graphicData uri="http://schemas.openxmlformats.org/presentationml/2006/ole">
            <mc:AlternateContent xmlns:mc="http://schemas.openxmlformats.org/markup-compatibility/2006">
              <mc:Choice xmlns:v="urn:schemas-microsoft-com:vml" Requires="v">
                <p:oleObj spid="_x0000_s4218" name="CS ChemDraw Drawing" r:id="rId7" imgW="1718886" imgH="1065023" progId="ChemDraw.Document.6.0">
                  <p:embed/>
                </p:oleObj>
              </mc:Choice>
              <mc:Fallback>
                <p:oleObj name="CS ChemDraw Drawing" r:id="rId7" imgW="1718886" imgH="1065023" progId="ChemDraw.Document.6.0">
                  <p:embed/>
                  <p:pic>
                    <p:nvPicPr>
                      <p:cNvPr id="0" name=""/>
                      <p:cNvPicPr/>
                      <p:nvPr/>
                    </p:nvPicPr>
                    <p:blipFill>
                      <a:blip r:embed="rId8"/>
                      <a:stretch>
                        <a:fillRect/>
                      </a:stretch>
                    </p:blipFill>
                    <p:spPr>
                      <a:xfrm>
                        <a:off x="200771" y="5123895"/>
                        <a:ext cx="2500731" cy="1549391"/>
                      </a:xfrm>
                      <a:prstGeom prst="rect">
                        <a:avLst/>
                      </a:prstGeom>
                    </p:spPr>
                  </p:pic>
                </p:oleObj>
              </mc:Fallback>
            </mc:AlternateContent>
          </a:graphicData>
        </a:graphic>
      </p:graphicFrame>
    </p:spTree>
    <p:extLst>
      <p:ext uri="{BB962C8B-B14F-4D97-AF65-F5344CB8AC3E}">
        <p14:creationId xmlns:p14="http://schemas.microsoft.com/office/powerpoint/2010/main" val="333921967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a:extLst>
              <a:ext uri="{FF2B5EF4-FFF2-40B4-BE49-F238E27FC236}">
                <a16:creationId xmlns:a16="http://schemas.microsoft.com/office/drawing/2014/main" id="{7EADA96C-15E6-4E65-A3C9-40993EF24018}"/>
              </a:ext>
            </a:extLst>
          </p:cNvPr>
          <p:cNvSpPr>
            <a:spLocks noGrp="1"/>
          </p:cNvSpPr>
          <p:nvPr>
            <p:ph type="sldNum" sz="quarter" idx="12"/>
          </p:nvPr>
        </p:nvSpPr>
        <p:spPr/>
        <p:txBody>
          <a:bodyPr/>
          <a:lstStyle/>
          <a:p>
            <a:fld id="{93C419CB-0CF1-4F10-90F9-42551F8968FF}" type="slidenum">
              <a:rPr lang="en-GB" smtClean="0"/>
              <a:t>54</a:t>
            </a:fld>
            <a:endParaRPr lang="en-GB"/>
          </a:p>
        </p:txBody>
      </p:sp>
      <p:sp>
        <p:nvSpPr>
          <p:cNvPr id="3" name="TextBox 2">
            <a:extLst>
              <a:ext uri="{FF2B5EF4-FFF2-40B4-BE49-F238E27FC236}">
                <a16:creationId xmlns:a16="http://schemas.microsoft.com/office/drawing/2014/main" id="{CAE7618B-2527-4D1C-B2E5-29104486958B}"/>
              </a:ext>
            </a:extLst>
          </p:cNvPr>
          <p:cNvSpPr txBox="1"/>
          <p:nvPr/>
        </p:nvSpPr>
        <p:spPr>
          <a:xfrm>
            <a:off x="414552" y="477943"/>
            <a:ext cx="6097136" cy="369332"/>
          </a:xfrm>
          <a:prstGeom prst="rect">
            <a:avLst/>
          </a:prstGeom>
          <a:noFill/>
        </p:spPr>
        <p:txBody>
          <a:bodyPr wrap="square">
            <a:spAutoFit/>
          </a:bodyPr>
          <a:lstStyle/>
          <a:p>
            <a:r>
              <a:rPr lang="en-GB" sz="1800" b="1" dirty="0"/>
              <a:t>Task 3, Compound c</a:t>
            </a:r>
            <a:endParaRPr lang="en-GB" dirty="0"/>
          </a:p>
        </p:txBody>
      </p:sp>
      <p:graphicFrame>
        <p:nvGraphicFramePr>
          <p:cNvPr id="4" name="Объект 3">
            <a:extLst>
              <a:ext uri="{FF2B5EF4-FFF2-40B4-BE49-F238E27FC236}">
                <a16:creationId xmlns:a16="http://schemas.microsoft.com/office/drawing/2014/main" id="{091F5696-2438-4EFC-8164-F15213B6F410}"/>
              </a:ext>
            </a:extLst>
          </p:cNvPr>
          <p:cNvGraphicFramePr>
            <a:graphicFrameLocks noChangeAspect="1"/>
          </p:cNvGraphicFramePr>
          <p:nvPr>
            <p:extLst>
              <p:ext uri="{D42A27DB-BD31-4B8C-83A1-F6EECF244321}">
                <p14:modId xmlns:p14="http://schemas.microsoft.com/office/powerpoint/2010/main" val="2551155898"/>
              </p:ext>
            </p:extLst>
          </p:nvPr>
        </p:nvGraphicFramePr>
        <p:xfrm>
          <a:off x="599314" y="847275"/>
          <a:ext cx="5830777" cy="3190252"/>
        </p:xfrm>
        <a:graphic>
          <a:graphicData uri="http://schemas.openxmlformats.org/presentationml/2006/ole">
            <mc:AlternateContent xmlns:mc="http://schemas.openxmlformats.org/markup-compatibility/2006">
              <mc:Choice xmlns:v="urn:schemas-microsoft-com:vml" Requires="v">
                <p:oleObj spid="_x0000_s5228" name="CS ChemDraw Drawing" r:id="rId4" imgW="4024689" imgH="2201630" progId="ChemDraw.Document.6.0">
                  <p:embed/>
                </p:oleObj>
              </mc:Choice>
              <mc:Fallback>
                <p:oleObj name="CS ChemDraw Drawing" r:id="rId4" imgW="4024689" imgH="2201630" progId="ChemDraw.Document.6.0">
                  <p:embed/>
                  <p:pic>
                    <p:nvPicPr>
                      <p:cNvPr id="0" name=""/>
                      <p:cNvPicPr/>
                      <p:nvPr/>
                    </p:nvPicPr>
                    <p:blipFill>
                      <a:blip r:embed="rId5"/>
                      <a:stretch>
                        <a:fillRect/>
                      </a:stretch>
                    </p:blipFill>
                    <p:spPr>
                      <a:xfrm>
                        <a:off x="599314" y="847275"/>
                        <a:ext cx="5830777" cy="3190252"/>
                      </a:xfrm>
                      <a:prstGeom prst="rect">
                        <a:avLst/>
                      </a:prstGeom>
                    </p:spPr>
                  </p:pic>
                </p:oleObj>
              </mc:Fallback>
            </mc:AlternateContent>
          </a:graphicData>
        </a:graphic>
      </p:graphicFrame>
      <p:sp>
        <p:nvSpPr>
          <p:cNvPr id="6" name="TextBox 5">
            <a:extLst>
              <a:ext uri="{FF2B5EF4-FFF2-40B4-BE49-F238E27FC236}">
                <a16:creationId xmlns:a16="http://schemas.microsoft.com/office/drawing/2014/main" id="{2CBF3BE8-29A7-4F32-A46D-AA92CE344F94}"/>
              </a:ext>
            </a:extLst>
          </p:cNvPr>
          <p:cNvSpPr txBox="1"/>
          <p:nvPr/>
        </p:nvSpPr>
        <p:spPr>
          <a:xfrm>
            <a:off x="6697868" y="339443"/>
            <a:ext cx="5079580" cy="5678478"/>
          </a:xfrm>
          <a:prstGeom prst="rect">
            <a:avLst/>
          </a:prstGeom>
          <a:noFill/>
        </p:spPr>
        <p:txBody>
          <a:bodyPr wrap="square">
            <a:spAutoFit/>
          </a:bodyPr>
          <a:lstStyle/>
          <a:p>
            <a:pPr marL="342900" indent="-342900" algn="just">
              <a:spcBef>
                <a:spcPts val="600"/>
              </a:spcBef>
              <a:spcAft>
                <a:spcPts val="600"/>
              </a:spcAft>
              <a:buAutoNum type="arabicPeriod"/>
            </a:pPr>
            <a:r>
              <a:rPr lang="en-GB" sz="1800" dirty="0"/>
              <a:t>Several important heterocycles predate the </a:t>
            </a:r>
            <a:r>
              <a:rPr lang="en-GB" sz="1800" dirty="0" err="1"/>
              <a:t>Hantzch</a:t>
            </a:r>
            <a:r>
              <a:rPr lang="en-GB" sz="1800" dirty="0"/>
              <a:t>-Wildman nomenclature and keep their </a:t>
            </a:r>
            <a:r>
              <a:rPr lang="en-GB" sz="1800" b="1" dirty="0"/>
              <a:t>historic names </a:t>
            </a:r>
            <a:r>
              <a:rPr lang="en-GB" sz="1800" b="1" dirty="0">
                <a:solidFill>
                  <a:srgbClr val="00B050"/>
                </a:solidFill>
              </a:rPr>
              <a:t>(</a:t>
            </a:r>
            <a:r>
              <a:rPr lang="en-GB" sz="1800" b="1" dirty="0" err="1">
                <a:solidFill>
                  <a:srgbClr val="00B050"/>
                </a:solidFill>
              </a:rPr>
              <a:t>isoquinoline</a:t>
            </a:r>
            <a:r>
              <a:rPr lang="en-GB" sz="1800" b="1" dirty="0">
                <a:solidFill>
                  <a:srgbClr val="00B050"/>
                </a:solidFill>
              </a:rPr>
              <a:t>)</a:t>
            </a:r>
          </a:p>
          <a:p>
            <a:pPr algn="just">
              <a:spcBef>
                <a:spcPts val="600"/>
              </a:spcBef>
              <a:spcAft>
                <a:spcPts val="600"/>
              </a:spcAft>
            </a:pPr>
            <a:r>
              <a:rPr lang="en-GB" dirty="0"/>
              <a:t>Important! </a:t>
            </a:r>
          </a:p>
          <a:p>
            <a:pPr algn="just">
              <a:spcBef>
                <a:spcPts val="600"/>
              </a:spcBef>
              <a:spcAft>
                <a:spcPts val="600"/>
              </a:spcAft>
            </a:pPr>
            <a:r>
              <a:rPr lang="en-GB" dirty="0"/>
              <a:t>If possible, </a:t>
            </a:r>
            <a:r>
              <a:rPr lang="en-GB" dirty="0">
                <a:solidFill>
                  <a:srgbClr val="0070C0"/>
                </a:solidFill>
              </a:rPr>
              <a:t>choose from the list of IUPAC-recognized trivial names </a:t>
            </a:r>
            <a:r>
              <a:rPr lang="en-GB" b="1" dirty="0">
                <a:solidFill>
                  <a:srgbClr val="0070C0"/>
                </a:solidFill>
              </a:rPr>
              <a:t>as large as possible </a:t>
            </a:r>
            <a:r>
              <a:rPr lang="en-GB" dirty="0">
                <a:solidFill>
                  <a:srgbClr val="0070C0"/>
                </a:solidFill>
              </a:rPr>
              <a:t>as</a:t>
            </a:r>
            <a:r>
              <a:rPr lang="en-GB" b="1" dirty="0">
                <a:solidFill>
                  <a:srgbClr val="0070C0"/>
                </a:solidFill>
              </a:rPr>
              <a:t> </a:t>
            </a:r>
            <a:r>
              <a:rPr lang="en-GB" dirty="0">
                <a:solidFill>
                  <a:srgbClr val="0070C0"/>
                </a:solidFill>
              </a:rPr>
              <a:t>the main component.</a:t>
            </a:r>
          </a:p>
          <a:p>
            <a:pPr algn="just">
              <a:spcBef>
                <a:spcPts val="600"/>
              </a:spcBef>
              <a:spcAft>
                <a:spcPts val="600"/>
              </a:spcAft>
            </a:pPr>
            <a:r>
              <a:rPr lang="en-GB" dirty="0"/>
              <a:t>2. </a:t>
            </a:r>
            <a:r>
              <a:rPr lang="en-GB" dirty="0">
                <a:solidFill>
                  <a:srgbClr val="0070C0"/>
                </a:solidFill>
              </a:rPr>
              <a:t>The letter defines the position of attachment of the minor ring to the major ring  (fusion sites in the base component). </a:t>
            </a:r>
            <a:r>
              <a:rPr lang="en-GB" dirty="0"/>
              <a:t>The 1,2 bond in </a:t>
            </a:r>
            <a:r>
              <a:rPr lang="en-GB" dirty="0" err="1"/>
              <a:t>isoquinoline</a:t>
            </a:r>
            <a:r>
              <a:rPr lang="en-GB" dirty="0"/>
              <a:t> corresponds to the letter "a". </a:t>
            </a:r>
          </a:p>
          <a:p>
            <a:pPr algn="just">
              <a:spcBef>
                <a:spcPts val="600"/>
              </a:spcBef>
              <a:spcAft>
                <a:spcPts val="600"/>
              </a:spcAft>
            </a:pPr>
            <a:endParaRPr lang="uk-UA" dirty="0"/>
          </a:p>
          <a:p>
            <a:pPr algn="just">
              <a:spcBef>
                <a:spcPts val="600"/>
              </a:spcBef>
              <a:spcAft>
                <a:spcPts val="600"/>
              </a:spcAft>
            </a:pPr>
            <a:endParaRPr lang="uk-UA" dirty="0"/>
          </a:p>
          <a:p>
            <a:pPr algn="just">
              <a:spcBef>
                <a:spcPts val="600"/>
              </a:spcBef>
              <a:spcAft>
                <a:spcPts val="600"/>
              </a:spcAft>
            </a:pPr>
            <a:endParaRPr lang="uk-UA" dirty="0"/>
          </a:p>
          <a:p>
            <a:pPr algn="just">
              <a:spcBef>
                <a:spcPts val="600"/>
              </a:spcBef>
              <a:spcAft>
                <a:spcPts val="600"/>
              </a:spcAft>
            </a:pPr>
            <a:endParaRPr lang="uk-UA" dirty="0"/>
          </a:p>
          <a:p>
            <a:r>
              <a:rPr lang="en-GB" dirty="0"/>
              <a:t> </a:t>
            </a:r>
          </a:p>
        </p:txBody>
      </p:sp>
      <p:pic>
        <p:nvPicPr>
          <p:cNvPr id="8" name="Рисунок 7">
            <a:extLst>
              <a:ext uri="{FF2B5EF4-FFF2-40B4-BE49-F238E27FC236}">
                <a16:creationId xmlns:a16="http://schemas.microsoft.com/office/drawing/2014/main" id="{EE2A6CF5-2372-4410-8AFE-6FC249B04E63}"/>
              </a:ext>
            </a:extLst>
          </p:cNvPr>
          <p:cNvPicPr>
            <a:picLocks noChangeAspect="1"/>
          </p:cNvPicPr>
          <p:nvPr/>
        </p:nvPicPr>
        <p:blipFill>
          <a:blip r:embed="rId6"/>
          <a:stretch>
            <a:fillRect/>
          </a:stretch>
        </p:blipFill>
        <p:spPr>
          <a:xfrm>
            <a:off x="8475789" y="4452869"/>
            <a:ext cx="2155721" cy="1761665"/>
          </a:xfrm>
          <a:prstGeom prst="rect">
            <a:avLst/>
          </a:prstGeom>
        </p:spPr>
      </p:pic>
      <p:sp>
        <p:nvSpPr>
          <p:cNvPr id="10" name="TextBox 9">
            <a:extLst>
              <a:ext uri="{FF2B5EF4-FFF2-40B4-BE49-F238E27FC236}">
                <a16:creationId xmlns:a16="http://schemas.microsoft.com/office/drawing/2014/main" id="{FC71272D-7966-46AD-B9F9-CF50B03A25A5}"/>
              </a:ext>
            </a:extLst>
          </p:cNvPr>
          <p:cNvSpPr txBox="1"/>
          <p:nvPr/>
        </p:nvSpPr>
        <p:spPr>
          <a:xfrm>
            <a:off x="599314" y="4406859"/>
            <a:ext cx="2773251" cy="923330"/>
          </a:xfrm>
          <a:prstGeom prst="rect">
            <a:avLst/>
          </a:prstGeom>
          <a:noFill/>
        </p:spPr>
        <p:txBody>
          <a:bodyPr wrap="square">
            <a:spAutoFit/>
          </a:bodyPr>
          <a:lstStyle/>
          <a:p>
            <a:r>
              <a:rPr lang="en-GB" sz="1800" b="1" strike="sngStrike"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Pyrido[2,3-</a:t>
            </a:r>
            <a:r>
              <a:rPr lang="en-GB" sz="1800" b="1" i="1" strike="sngStrike"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b</a:t>
            </a:r>
            <a:r>
              <a:rPr lang="en-GB" sz="1800" b="1" strike="sngStrike"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]naphthalene</a:t>
            </a:r>
          </a:p>
          <a:p>
            <a:r>
              <a:rPr lang="en-GB" sz="1800" b="1" strike="sngStrike" dirty="0" err="1">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Naphto</a:t>
            </a:r>
            <a:r>
              <a:rPr lang="en-GB" sz="1800" b="1" strike="sngStrike"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[1,2-c]pyridine</a:t>
            </a:r>
            <a:endParaRPr lang="en-GB" b="1" strike="sngStrike" dirty="0">
              <a:solidFill>
                <a:srgbClr val="FF0000"/>
              </a:solidFill>
            </a:endParaRPr>
          </a:p>
          <a:p>
            <a:endParaRPr lang="en-GB" b="1" strike="sngStrike" dirty="0">
              <a:solidFill>
                <a:srgbClr val="FF0000"/>
              </a:solidFill>
            </a:endParaRPr>
          </a:p>
        </p:txBody>
      </p:sp>
    </p:spTree>
    <p:extLst>
      <p:ext uri="{BB962C8B-B14F-4D97-AF65-F5344CB8AC3E}">
        <p14:creationId xmlns:p14="http://schemas.microsoft.com/office/powerpoint/2010/main" val="381581372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a:extLst>
              <a:ext uri="{FF2B5EF4-FFF2-40B4-BE49-F238E27FC236}">
                <a16:creationId xmlns:a16="http://schemas.microsoft.com/office/drawing/2014/main" id="{3D173930-9F29-4AB3-BC1F-722D287E61F1}"/>
              </a:ext>
            </a:extLst>
          </p:cNvPr>
          <p:cNvSpPr>
            <a:spLocks noGrp="1"/>
          </p:cNvSpPr>
          <p:nvPr>
            <p:ph type="sldNum" sz="quarter" idx="12"/>
          </p:nvPr>
        </p:nvSpPr>
        <p:spPr/>
        <p:txBody>
          <a:bodyPr/>
          <a:lstStyle/>
          <a:p>
            <a:fld id="{93C419CB-0CF1-4F10-90F9-42551F8968FF}" type="slidenum">
              <a:rPr lang="en-GB" smtClean="0"/>
              <a:t>55</a:t>
            </a:fld>
            <a:endParaRPr lang="en-GB"/>
          </a:p>
        </p:txBody>
      </p:sp>
      <p:sp>
        <p:nvSpPr>
          <p:cNvPr id="3" name="TextBox 2">
            <a:extLst>
              <a:ext uri="{FF2B5EF4-FFF2-40B4-BE49-F238E27FC236}">
                <a16:creationId xmlns:a16="http://schemas.microsoft.com/office/drawing/2014/main" id="{3AFFCA8B-3F5A-436D-97C0-812B531E78FB}"/>
              </a:ext>
            </a:extLst>
          </p:cNvPr>
          <p:cNvSpPr txBox="1"/>
          <p:nvPr/>
        </p:nvSpPr>
        <p:spPr>
          <a:xfrm>
            <a:off x="414552" y="477943"/>
            <a:ext cx="6097136" cy="369332"/>
          </a:xfrm>
          <a:prstGeom prst="rect">
            <a:avLst/>
          </a:prstGeom>
          <a:noFill/>
        </p:spPr>
        <p:txBody>
          <a:bodyPr wrap="square">
            <a:spAutoFit/>
          </a:bodyPr>
          <a:lstStyle/>
          <a:p>
            <a:r>
              <a:rPr lang="en-GB" sz="1800" b="1" dirty="0"/>
              <a:t>Task 3, Compound d</a:t>
            </a:r>
            <a:endParaRPr lang="en-GB" dirty="0"/>
          </a:p>
        </p:txBody>
      </p:sp>
      <p:graphicFrame>
        <p:nvGraphicFramePr>
          <p:cNvPr id="4" name="Объект 3">
            <a:extLst>
              <a:ext uri="{FF2B5EF4-FFF2-40B4-BE49-F238E27FC236}">
                <a16:creationId xmlns:a16="http://schemas.microsoft.com/office/drawing/2014/main" id="{8C1E14CB-9A71-4BD4-8950-1E657959834C}"/>
              </a:ext>
            </a:extLst>
          </p:cNvPr>
          <p:cNvGraphicFramePr>
            <a:graphicFrameLocks noChangeAspect="1"/>
          </p:cNvGraphicFramePr>
          <p:nvPr>
            <p:extLst>
              <p:ext uri="{D42A27DB-BD31-4B8C-83A1-F6EECF244321}">
                <p14:modId xmlns:p14="http://schemas.microsoft.com/office/powerpoint/2010/main" val="3377633272"/>
              </p:ext>
            </p:extLst>
          </p:nvPr>
        </p:nvGraphicFramePr>
        <p:xfrm>
          <a:off x="204643" y="1015857"/>
          <a:ext cx="6047422" cy="3112798"/>
        </p:xfrm>
        <a:graphic>
          <a:graphicData uri="http://schemas.openxmlformats.org/presentationml/2006/ole">
            <mc:AlternateContent xmlns:mc="http://schemas.openxmlformats.org/markup-compatibility/2006">
              <mc:Choice xmlns:v="urn:schemas-microsoft-com:vml" Requires="v">
                <p:oleObj spid="_x0000_s7271" name="CS ChemDraw Drawing" r:id="rId4" imgW="3663448" imgH="1886259" progId="ChemDraw.Document.6.0">
                  <p:embed/>
                </p:oleObj>
              </mc:Choice>
              <mc:Fallback>
                <p:oleObj name="CS ChemDraw Drawing" r:id="rId4" imgW="3663448" imgH="1886259" progId="ChemDraw.Document.6.0">
                  <p:embed/>
                  <p:pic>
                    <p:nvPicPr>
                      <p:cNvPr id="0" name=""/>
                      <p:cNvPicPr/>
                      <p:nvPr/>
                    </p:nvPicPr>
                    <p:blipFill>
                      <a:blip r:embed="rId5"/>
                      <a:stretch>
                        <a:fillRect/>
                      </a:stretch>
                    </p:blipFill>
                    <p:spPr>
                      <a:xfrm>
                        <a:off x="204643" y="1015857"/>
                        <a:ext cx="6047422" cy="3112798"/>
                      </a:xfrm>
                      <a:prstGeom prst="rect">
                        <a:avLst/>
                      </a:prstGeom>
                    </p:spPr>
                  </p:pic>
                </p:oleObj>
              </mc:Fallback>
            </mc:AlternateContent>
          </a:graphicData>
        </a:graphic>
      </p:graphicFrame>
      <p:sp>
        <p:nvSpPr>
          <p:cNvPr id="6" name="TextBox 5">
            <a:extLst>
              <a:ext uri="{FF2B5EF4-FFF2-40B4-BE49-F238E27FC236}">
                <a16:creationId xmlns:a16="http://schemas.microsoft.com/office/drawing/2014/main" id="{E1697D8C-6CEA-434D-A2CE-5FA71B86BE0D}"/>
              </a:ext>
            </a:extLst>
          </p:cNvPr>
          <p:cNvSpPr txBox="1"/>
          <p:nvPr/>
        </p:nvSpPr>
        <p:spPr>
          <a:xfrm>
            <a:off x="6591011" y="289679"/>
            <a:ext cx="5462443" cy="6309420"/>
          </a:xfrm>
          <a:prstGeom prst="rect">
            <a:avLst/>
          </a:prstGeom>
          <a:noFill/>
        </p:spPr>
        <p:txBody>
          <a:bodyPr wrap="square">
            <a:spAutoFit/>
          </a:bodyPr>
          <a:lstStyle/>
          <a:p>
            <a:pPr marL="12700" algn="just">
              <a:lnSpc>
                <a:spcPct val="100000"/>
              </a:lnSpc>
              <a:spcBef>
                <a:spcPts val="600"/>
              </a:spcBef>
              <a:spcAft>
                <a:spcPts val="600"/>
              </a:spcAft>
              <a:tabLst>
                <a:tab pos="354965" algn="l"/>
                <a:tab pos="355600" algn="l"/>
              </a:tabLst>
            </a:pPr>
            <a:r>
              <a:rPr lang="en-GB" sz="1800" spc="-5" dirty="0">
                <a:solidFill>
                  <a:srgbClr val="C00000"/>
                </a:solidFill>
                <a:latin typeface="Times New Roman"/>
                <a:cs typeface="Times New Roman"/>
              </a:rPr>
              <a:t>1) Is </a:t>
            </a:r>
            <a:r>
              <a:rPr lang="en-GB" sz="1800" dirty="0">
                <a:solidFill>
                  <a:srgbClr val="C00000"/>
                </a:solidFill>
                <a:latin typeface="Times New Roman"/>
                <a:cs typeface="Times New Roman"/>
              </a:rPr>
              <a:t>there</a:t>
            </a:r>
            <a:r>
              <a:rPr lang="en-GB" sz="1800" spc="-15" dirty="0">
                <a:solidFill>
                  <a:srgbClr val="C00000"/>
                </a:solidFill>
                <a:latin typeface="Times New Roman"/>
                <a:cs typeface="Times New Roman"/>
              </a:rPr>
              <a:t> </a:t>
            </a:r>
            <a:r>
              <a:rPr lang="en-GB" sz="1800" dirty="0">
                <a:solidFill>
                  <a:srgbClr val="C00000"/>
                </a:solidFill>
                <a:latin typeface="Times New Roman"/>
                <a:cs typeface="Times New Roman"/>
              </a:rPr>
              <a:t>only</a:t>
            </a:r>
            <a:r>
              <a:rPr lang="en-GB" sz="1800" spc="-15" dirty="0">
                <a:solidFill>
                  <a:srgbClr val="C00000"/>
                </a:solidFill>
                <a:latin typeface="Times New Roman"/>
                <a:cs typeface="Times New Roman"/>
              </a:rPr>
              <a:t> </a:t>
            </a:r>
            <a:r>
              <a:rPr lang="en-GB" sz="1800" dirty="0">
                <a:solidFill>
                  <a:srgbClr val="C00000"/>
                </a:solidFill>
                <a:latin typeface="Times New Roman"/>
                <a:cs typeface="Times New Roman"/>
              </a:rPr>
              <a:t>one</a:t>
            </a:r>
            <a:r>
              <a:rPr lang="en-GB" sz="1800" spc="10" dirty="0">
                <a:solidFill>
                  <a:srgbClr val="C00000"/>
                </a:solidFill>
                <a:latin typeface="Times New Roman"/>
                <a:cs typeface="Times New Roman"/>
              </a:rPr>
              <a:t> </a:t>
            </a:r>
            <a:r>
              <a:rPr lang="en-GB" sz="1800" dirty="0">
                <a:solidFill>
                  <a:srgbClr val="C00000"/>
                </a:solidFill>
                <a:latin typeface="Times New Roman"/>
                <a:cs typeface="Times New Roman"/>
              </a:rPr>
              <a:t>ring</a:t>
            </a:r>
            <a:r>
              <a:rPr lang="en-GB" sz="1800" spc="-10" dirty="0">
                <a:solidFill>
                  <a:srgbClr val="C00000"/>
                </a:solidFill>
                <a:latin typeface="Times New Roman"/>
                <a:cs typeface="Times New Roman"/>
              </a:rPr>
              <a:t> </a:t>
            </a:r>
            <a:r>
              <a:rPr lang="en-GB" sz="1800" spc="-5" dirty="0">
                <a:solidFill>
                  <a:srgbClr val="C00000"/>
                </a:solidFill>
                <a:latin typeface="Times New Roman"/>
                <a:cs typeface="Times New Roman"/>
              </a:rPr>
              <a:t>that </a:t>
            </a:r>
            <a:r>
              <a:rPr lang="en-GB" sz="1800" dirty="0">
                <a:solidFill>
                  <a:srgbClr val="C00000"/>
                </a:solidFill>
                <a:latin typeface="Times New Roman"/>
                <a:cs typeface="Times New Roman"/>
              </a:rPr>
              <a:t>contains</a:t>
            </a:r>
            <a:r>
              <a:rPr lang="en-GB" sz="1800" spc="-5" dirty="0">
                <a:solidFill>
                  <a:srgbClr val="C00000"/>
                </a:solidFill>
                <a:latin typeface="Times New Roman"/>
                <a:cs typeface="Times New Roman"/>
              </a:rPr>
              <a:t> </a:t>
            </a:r>
            <a:r>
              <a:rPr lang="en-GB" sz="1800" dirty="0">
                <a:solidFill>
                  <a:srgbClr val="C00000"/>
                </a:solidFill>
                <a:latin typeface="Times New Roman"/>
                <a:cs typeface="Times New Roman"/>
              </a:rPr>
              <a:t>nitrogen?</a:t>
            </a:r>
            <a:endParaRPr lang="en-GB" sz="1800" dirty="0">
              <a:latin typeface="Times New Roman"/>
              <a:cs typeface="Times New Roman"/>
            </a:endParaRPr>
          </a:p>
          <a:p>
            <a:pPr marL="12700" algn="just">
              <a:lnSpc>
                <a:spcPct val="100000"/>
              </a:lnSpc>
              <a:spcBef>
                <a:spcPts val="600"/>
              </a:spcBef>
              <a:spcAft>
                <a:spcPts val="600"/>
              </a:spcAft>
            </a:pPr>
            <a:r>
              <a:rPr lang="en-GB" sz="1800" spc="-50" dirty="0">
                <a:latin typeface="Times New Roman"/>
                <a:cs typeface="Times New Roman"/>
              </a:rPr>
              <a:t>      Yes:</a:t>
            </a:r>
            <a:r>
              <a:rPr lang="en-GB" sz="1800" spc="-10" dirty="0">
                <a:latin typeface="Times New Roman"/>
                <a:cs typeface="Times New Roman"/>
              </a:rPr>
              <a:t> </a:t>
            </a:r>
            <a:r>
              <a:rPr lang="en-GB" sz="1800" spc="-5" dirty="0">
                <a:latin typeface="Times New Roman"/>
                <a:cs typeface="Times New Roman"/>
              </a:rPr>
              <a:t>choose </a:t>
            </a:r>
            <a:r>
              <a:rPr lang="en-GB" sz="1800" dirty="0">
                <a:latin typeface="Times New Roman"/>
                <a:cs typeface="Times New Roman"/>
              </a:rPr>
              <a:t>this</a:t>
            </a:r>
            <a:r>
              <a:rPr lang="en-GB" sz="1800" spc="-20" dirty="0">
                <a:latin typeface="Times New Roman"/>
                <a:cs typeface="Times New Roman"/>
              </a:rPr>
              <a:t> </a:t>
            </a:r>
            <a:r>
              <a:rPr lang="en-GB" sz="1800" dirty="0">
                <a:latin typeface="Times New Roman"/>
                <a:cs typeface="Times New Roman"/>
              </a:rPr>
              <a:t>as</a:t>
            </a:r>
            <a:r>
              <a:rPr lang="en-GB" sz="1800" spc="-15" dirty="0">
                <a:latin typeface="Times New Roman"/>
                <a:cs typeface="Times New Roman"/>
              </a:rPr>
              <a:t> </a:t>
            </a:r>
            <a:r>
              <a:rPr lang="en-GB" sz="1800" dirty="0">
                <a:latin typeface="Times New Roman"/>
                <a:cs typeface="Times New Roman"/>
              </a:rPr>
              <a:t>base</a:t>
            </a:r>
            <a:r>
              <a:rPr lang="en-GB" sz="1800" spc="-5" dirty="0">
                <a:latin typeface="Times New Roman"/>
                <a:cs typeface="Times New Roman"/>
              </a:rPr>
              <a:t> </a:t>
            </a:r>
            <a:r>
              <a:rPr lang="en-GB" sz="1800" dirty="0">
                <a:latin typeface="Times New Roman"/>
                <a:cs typeface="Times New Roman"/>
              </a:rPr>
              <a:t>component</a:t>
            </a:r>
          </a:p>
          <a:p>
            <a:pPr marL="12700" algn="just">
              <a:lnSpc>
                <a:spcPct val="100000"/>
              </a:lnSpc>
              <a:spcBef>
                <a:spcPts val="600"/>
              </a:spcBef>
              <a:spcAft>
                <a:spcPts val="600"/>
              </a:spcAft>
            </a:pPr>
            <a:r>
              <a:rPr lang="en-GB" sz="1800" dirty="0">
                <a:solidFill>
                  <a:srgbClr val="92D050"/>
                </a:solidFill>
                <a:latin typeface="Times New Roman"/>
                <a:cs typeface="Times New Roman"/>
              </a:rPr>
              <a:t>      (oxazole)</a:t>
            </a:r>
          </a:p>
          <a:p>
            <a:pPr marL="12700" algn="just">
              <a:spcBef>
                <a:spcPts val="600"/>
              </a:spcBef>
              <a:spcAft>
                <a:spcPts val="600"/>
              </a:spcAft>
            </a:pPr>
            <a:r>
              <a:rPr lang="en-GB" sz="1800" dirty="0">
                <a:latin typeface="Times New Roman"/>
                <a:cs typeface="Times New Roman"/>
              </a:rPr>
              <a:t>2) The words </a:t>
            </a:r>
            <a:r>
              <a:rPr lang="en-GB" sz="1800" dirty="0">
                <a:solidFill>
                  <a:srgbClr val="7030A0"/>
                </a:solidFill>
                <a:latin typeface="Times New Roman"/>
                <a:cs typeface="Times New Roman"/>
              </a:rPr>
              <a:t>dihydro</a:t>
            </a:r>
            <a:r>
              <a:rPr lang="en-GB" sz="1800" dirty="0">
                <a:latin typeface="Times New Roman"/>
                <a:cs typeface="Times New Roman"/>
              </a:rPr>
              <a:t>, </a:t>
            </a:r>
            <a:r>
              <a:rPr lang="en-GB" sz="1800" dirty="0" err="1">
                <a:latin typeface="Times New Roman"/>
                <a:cs typeface="Times New Roman"/>
              </a:rPr>
              <a:t>trihydro</a:t>
            </a:r>
            <a:r>
              <a:rPr lang="en-GB" sz="1800" dirty="0">
                <a:latin typeface="Times New Roman"/>
                <a:cs typeface="Times New Roman"/>
              </a:rPr>
              <a:t>, or tetrahydro are used </a:t>
            </a:r>
            <a:r>
              <a:rPr lang="en-GB" sz="1800" dirty="0">
                <a:solidFill>
                  <a:srgbClr val="7030A0"/>
                </a:solidFill>
                <a:latin typeface="Times New Roman"/>
                <a:cs typeface="Times New Roman"/>
              </a:rPr>
              <a:t>if two, three, or four atoms are saturated</a:t>
            </a:r>
            <a:r>
              <a:rPr lang="en-GB" sz="1800" dirty="0">
                <a:latin typeface="Times New Roman"/>
                <a:cs typeface="Times New Roman"/>
              </a:rPr>
              <a:t>.</a:t>
            </a:r>
            <a:endParaRPr lang="en-GB" sz="1800" dirty="0">
              <a:solidFill>
                <a:srgbClr val="7030A0"/>
              </a:solidFill>
              <a:latin typeface="Times New Roman"/>
              <a:cs typeface="Times New Roman"/>
            </a:endParaRPr>
          </a:p>
          <a:p>
            <a:pPr marL="12700" algn="just">
              <a:spcBef>
                <a:spcPts val="600"/>
              </a:spcBef>
              <a:spcAft>
                <a:spcPts val="600"/>
              </a:spcAft>
            </a:pPr>
            <a:r>
              <a:rPr lang="en-GB" spc="-50" dirty="0">
                <a:latin typeface="Times New Roman"/>
                <a:cs typeface="Times New Roman"/>
              </a:rPr>
              <a:t>Tetrahydrothiophene </a:t>
            </a:r>
            <a:r>
              <a:rPr lang="en-GB" sz="1800" dirty="0"/>
              <a:t>=  </a:t>
            </a:r>
            <a:r>
              <a:rPr lang="en-GB" sz="1800" dirty="0" err="1">
                <a:solidFill>
                  <a:srgbClr val="7030A0"/>
                </a:solidFill>
              </a:rPr>
              <a:t>Thieno</a:t>
            </a:r>
            <a:r>
              <a:rPr lang="en-GB" sz="1800" dirty="0"/>
              <a:t> </a:t>
            </a:r>
          </a:p>
          <a:p>
            <a:pPr marL="12700" algn="just">
              <a:spcBef>
                <a:spcPts val="600"/>
              </a:spcBef>
              <a:spcAft>
                <a:spcPts val="600"/>
              </a:spcAft>
            </a:pPr>
            <a:r>
              <a:rPr lang="en-GB" spc="-50" dirty="0">
                <a:latin typeface="Times New Roman"/>
                <a:cs typeface="Times New Roman"/>
              </a:rPr>
              <a:t>The molecule consists of a five-membered saturated ring </a:t>
            </a:r>
            <a:r>
              <a:rPr lang="en-GB" i="1" spc="-50" dirty="0">
                <a:latin typeface="Times New Roman"/>
                <a:cs typeface="Times New Roman"/>
              </a:rPr>
              <a:t>with four methylene groups </a:t>
            </a:r>
            <a:r>
              <a:rPr lang="en-GB" spc="-50" dirty="0">
                <a:latin typeface="Times New Roman"/>
                <a:cs typeface="Times New Roman"/>
              </a:rPr>
              <a:t>and a </a:t>
            </a:r>
            <a:r>
              <a:rPr lang="en-GB" spc="-50" dirty="0" err="1">
                <a:latin typeface="Times New Roman"/>
                <a:cs typeface="Times New Roman"/>
              </a:rPr>
              <a:t>sulfur</a:t>
            </a:r>
            <a:r>
              <a:rPr lang="en-GB" spc="-50" dirty="0">
                <a:latin typeface="Times New Roman"/>
                <a:cs typeface="Times New Roman"/>
              </a:rPr>
              <a:t> atom. It is the saturated </a:t>
            </a:r>
            <a:r>
              <a:rPr lang="en-GB" spc="-50" dirty="0" err="1">
                <a:latin typeface="Times New Roman"/>
                <a:cs typeface="Times New Roman"/>
              </a:rPr>
              <a:t>analog</a:t>
            </a:r>
            <a:r>
              <a:rPr lang="en-GB" spc="-50" dirty="0">
                <a:latin typeface="Times New Roman"/>
                <a:cs typeface="Times New Roman"/>
              </a:rPr>
              <a:t> of thiophene. </a:t>
            </a:r>
            <a:endParaRPr lang="uk-UA" spc="-50" dirty="0">
              <a:latin typeface="Times New Roman"/>
              <a:cs typeface="Times New Roman"/>
            </a:endParaRPr>
          </a:p>
          <a:p>
            <a:pPr marL="12700" algn="just">
              <a:spcBef>
                <a:spcPts val="600"/>
              </a:spcBef>
              <a:spcAft>
                <a:spcPts val="600"/>
              </a:spcAft>
            </a:pPr>
            <a:r>
              <a:rPr lang="en-GB" sz="1800" i="1" dirty="0"/>
              <a:t>3) The numbering system for the whole fused system is not the same as the numbers in the square brackets</a:t>
            </a:r>
            <a:r>
              <a:rPr lang="en-GB" sz="1800" dirty="0"/>
              <a:t> (i.e., there are three numbering systems; one for a minor ring, one for a major ring, and the third for the system as a whole). </a:t>
            </a:r>
          </a:p>
          <a:p>
            <a:pPr marL="12700" algn="just">
              <a:spcBef>
                <a:spcPts val="600"/>
              </a:spcBef>
              <a:spcAft>
                <a:spcPts val="600"/>
              </a:spcAft>
            </a:pPr>
            <a:r>
              <a:rPr lang="en-GB" sz="1800" dirty="0">
                <a:latin typeface="Times New Roman"/>
                <a:cs typeface="Times New Roman"/>
              </a:rPr>
              <a:t>Numbering the whole fused system should start from the first atom after fusion in any direction to </a:t>
            </a:r>
            <a:r>
              <a:rPr lang="en-GB" sz="1800" dirty="0" err="1">
                <a:latin typeface="Times New Roman"/>
                <a:cs typeface="Times New Roman"/>
              </a:rPr>
              <a:t>fulfill</a:t>
            </a:r>
            <a:r>
              <a:rPr lang="en-GB" sz="1800" dirty="0">
                <a:latin typeface="Times New Roman"/>
                <a:cs typeface="Times New Roman"/>
              </a:rPr>
              <a:t> the order of the following rule :</a:t>
            </a:r>
          </a:p>
          <a:p>
            <a:pPr marL="12700" algn="just">
              <a:spcBef>
                <a:spcPts val="600"/>
              </a:spcBef>
              <a:spcAft>
                <a:spcPts val="600"/>
              </a:spcAft>
            </a:pPr>
            <a:r>
              <a:rPr lang="en-GB" sz="1800" dirty="0">
                <a:latin typeface="Times New Roman"/>
                <a:cs typeface="Times New Roman"/>
              </a:rPr>
              <a:t>a)	</a:t>
            </a:r>
            <a:r>
              <a:rPr lang="en-GB" sz="1800" dirty="0">
                <a:solidFill>
                  <a:srgbClr val="0070C0"/>
                </a:solidFill>
                <a:latin typeface="Times New Roman"/>
                <a:cs typeface="Times New Roman"/>
              </a:rPr>
              <a:t>Give low numbers for the heteroatoms as a set</a:t>
            </a:r>
            <a:endParaRPr lang="en-GB" sz="1800" dirty="0">
              <a:solidFill>
                <a:srgbClr val="92D050"/>
              </a:solidFill>
              <a:latin typeface="Times New Roman"/>
              <a:cs typeface="Times New Roman"/>
            </a:endParaRPr>
          </a:p>
        </p:txBody>
      </p:sp>
      <p:pic>
        <p:nvPicPr>
          <p:cNvPr id="7" name="Рисунок 6">
            <a:extLst>
              <a:ext uri="{FF2B5EF4-FFF2-40B4-BE49-F238E27FC236}">
                <a16:creationId xmlns:a16="http://schemas.microsoft.com/office/drawing/2014/main" id="{1F09AD38-004D-403C-BA59-FE9E4832EAF1}"/>
              </a:ext>
            </a:extLst>
          </p:cNvPr>
          <p:cNvPicPr>
            <a:picLocks noChangeAspect="1"/>
          </p:cNvPicPr>
          <p:nvPr/>
        </p:nvPicPr>
        <p:blipFill>
          <a:blip r:embed="rId6"/>
          <a:stretch>
            <a:fillRect/>
          </a:stretch>
        </p:blipFill>
        <p:spPr>
          <a:xfrm>
            <a:off x="3723605" y="4794216"/>
            <a:ext cx="2372395" cy="1851356"/>
          </a:xfrm>
          <a:prstGeom prst="rect">
            <a:avLst/>
          </a:prstGeom>
        </p:spPr>
      </p:pic>
    </p:spTree>
    <p:extLst>
      <p:ext uri="{BB962C8B-B14F-4D97-AF65-F5344CB8AC3E}">
        <p14:creationId xmlns:p14="http://schemas.microsoft.com/office/powerpoint/2010/main" val="7875038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Объект 12">
            <a:extLst>
              <a:ext uri="{FF2B5EF4-FFF2-40B4-BE49-F238E27FC236}">
                <a16:creationId xmlns:a16="http://schemas.microsoft.com/office/drawing/2014/main" id="{27356D3D-0897-4CBB-BE06-9505E18EBD7F}"/>
              </a:ext>
            </a:extLst>
          </p:cNvPr>
          <p:cNvGraphicFramePr>
            <a:graphicFrameLocks noChangeAspect="1"/>
          </p:cNvGraphicFramePr>
          <p:nvPr>
            <p:extLst>
              <p:ext uri="{D42A27DB-BD31-4B8C-83A1-F6EECF244321}">
                <p14:modId xmlns:p14="http://schemas.microsoft.com/office/powerpoint/2010/main" val="3958194575"/>
              </p:ext>
            </p:extLst>
          </p:nvPr>
        </p:nvGraphicFramePr>
        <p:xfrm>
          <a:off x="753227" y="4025195"/>
          <a:ext cx="7857373" cy="365124"/>
        </p:xfrm>
        <a:graphic>
          <a:graphicData uri="http://schemas.openxmlformats.org/presentationml/2006/ole">
            <mc:AlternateContent xmlns:mc="http://schemas.openxmlformats.org/markup-compatibility/2006">
              <mc:Choice xmlns:v="urn:schemas-microsoft-com:vml" Requires="v">
                <p:oleObj spid="_x0000_s22563" name="CS ChemDraw Drawing" r:id="rId3" imgW="5192144" imgH="240604" progId="ChemDraw.Document.6.0">
                  <p:embed/>
                </p:oleObj>
              </mc:Choice>
              <mc:Fallback>
                <p:oleObj name="CS ChemDraw Drawing" r:id="rId3" imgW="5192144" imgH="240604" progId="ChemDraw.Document.6.0">
                  <p:embed/>
                  <p:pic>
                    <p:nvPicPr>
                      <p:cNvPr id="0" name=""/>
                      <p:cNvPicPr/>
                      <p:nvPr/>
                    </p:nvPicPr>
                    <p:blipFill>
                      <a:blip r:embed="rId4"/>
                      <a:stretch>
                        <a:fillRect/>
                      </a:stretch>
                    </p:blipFill>
                    <p:spPr>
                      <a:xfrm>
                        <a:off x="753227" y="4025195"/>
                        <a:ext cx="7857373" cy="365124"/>
                      </a:xfrm>
                      <a:prstGeom prst="rect">
                        <a:avLst/>
                      </a:prstGeom>
                    </p:spPr>
                  </p:pic>
                </p:oleObj>
              </mc:Fallback>
            </mc:AlternateContent>
          </a:graphicData>
        </a:graphic>
      </p:graphicFrame>
      <p:sp>
        <p:nvSpPr>
          <p:cNvPr id="2" name="Номер слайда 1">
            <a:extLst>
              <a:ext uri="{FF2B5EF4-FFF2-40B4-BE49-F238E27FC236}">
                <a16:creationId xmlns:a16="http://schemas.microsoft.com/office/drawing/2014/main" id="{67992D26-4A02-41DA-98D1-226C5F3B3166}"/>
              </a:ext>
            </a:extLst>
          </p:cNvPr>
          <p:cNvSpPr>
            <a:spLocks noGrp="1"/>
          </p:cNvSpPr>
          <p:nvPr>
            <p:ph type="sldNum" sz="quarter" idx="12"/>
          </p:nvPr>
        </p:nvSpPr>
        <p:spPr/>
        <p:txBody>
          <a:bodyPr/>
          <a:lstStyle/>
          <a:p>
            <a:fld id="{93C419CB-0CF1-4F10-90F9-42551F8968FF}" type="slidenum">
              <a:rPr lang="en-GB" smtClean="0"/>
              <a:t>56</a:t>
            </a:fld>
            <a:endParaRPr lang="en-GB"/>
          </a:p>
        </p:txBody>
      </p:sp>
      <p:sp>
        <p:nvSpPr>
          <p:cNvPr id="3" name="TextBox 2">
            <a:extLst>
              <a:ext uri="{FF2B5EF4-FFF2-40B4-BE49-F238E27FC236}">
                <a16:creationId xmlns:a16="http://schemas.microsoft.com/office/drawing/2014/main" id="{0D5EA271-E8CB-4FC4-9D47-B9A3C0F0BC55}"/>
              </a:ext>
            </a:extLst>
          </p:cNvPr>
          <p:cNvSpPr txBox="1"/>
          <p:nvPr/>
        </p:nvSpPr>
        <p:spPr>
          <a:xfrm>
            <a:off x="462318" y="218287"/>
            <a:ext cx="6097136" cy="584775"/>
          </a:xfrm>
          <a:prstGeom prst="rect">
            <a:avLst/>
          </a:prstGeom>
          <a:noFill/>
        </p:spPr>
        <p:txBody>
          <a:bodyPr wrap="square">
            <a:spAutoFit/>
          </a:bodyPr>
          <a:lstStyle/>
          <a:p>
            <a:r>
              <a:rPr lang="en-GB" sz="3200" b="1" dirty="0"/>
              <a:t>Task </a:t>
            </a:r>
            <a:r>
              <a:rPr lang="uk-UA" sz="3200" b="1" dirty="0"/>
              <a:t>4</a:t>
            </a:r>
            <a:r>
              <a:rPr lang="en-GB" sz="3200" b="1" dirty="0"/>
              <a:t>.</a:t>
            </a:r>
          </a:p>
        </p:txBody>
      </p:sp>
      <p:pic>
        <p:nvPicPr>
          <p:cNvPr id="4" name="Рисунок 3">
            <a:extLst>
              <a:ext uri="{FF2B5EF4-FFF2-40B4-BE49-F238E27FC236}">
                <a16:creationId xmlns:a16="http://schemas.microsoft.com/office/drawing/2014/main" id="{C40463AC-4953-4A2E-990E-1019E308A799}"/>
              </a:ext>
            </a:extLst>
          </p:cNvPr>
          <p:cNvPicPr>
            <a:picLocks noChangeAspect="1"/>
          </p:cNvPicPr>
          <p:nvPr/>
        </p:nvPicPr>
        <p:blipFill rotWithShape="1">
          <a:blip r:embed="rId5"/>
          <a:srcRect b="67987"/>
          <a:stretch/>
        </p:blipFill>
        <p:spPr>
          <a:xfrm>
            <a:off x="462318" y="722705"/>
            <a:ext cx="7628748" cy="1008946"/>
          </a:xfrm>
          <a:prstGeom prst="rect">
            <a:avLst/>
          </a:prstGeom>
        </p:spPr>
      </p:pic>
      <p:sp>
        <p:nvSpPr>
          <p:cNvPr id="5" name="Прямоугольник 4">
            <a:extLst>
              <a:ext uri="{FF2B5EF4-FFF2-40B4-BE49-F238E27FC236}">
                <a16:creationId xmlns:a16="http://schemas.microsoft.com/office/drawing/2014/main" id="{5C18AF23-D2CD-48E5-987C-A7A09F5215E6}"/>
              </a:ext>
            </a:extLst>
          </p:cNvPr>
          <p:cNvSpPr/>
          <p:nvPr/>
        </p:nvSpPr>
        <p:spPr>
          <a:xfrm>
            <a:off x="462318" y="1245925"/>
            <a:ext cx="7628748" cy="4857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6" name="Рисунок 5">
            <a:extLst>
              <a:ext uri="{FF2B5EF4-FFF2-40B4-BE49-F238E27FC236}">
                <a16:creationId xmlns:a16="http://schemas.microsoft.com/office/drawing/2014/main" id="{12497386-0F03-40E7-8774-85E604F0AD85}"/>
              </a:ext>
            </a:extLst>
          </p:cNvPr>
          <p:cNvPicPr>
            <a:picLocks noChangeAspect="1"/>
          </p:cNvPicPr>
          <p:nvPr/>
        </p:nvPicPr>
        <p:blipFill rotWithShape="1">
          <a:blip r:embed="rId6"/>
          <a:srcRect l="18350" t="517" r="2" b="84504"/>
          <a:stretch/>
        </p:blipFill>
        <p:spPr>
          <a:xfrm>
            <a:off x="1020076" y="1372419"/>
            <a:ext cx="6157719" cy="436493"/>
          </a:xfrm>
          <a:prstGeom prst="rect">
            <a:avLst/>
          </a:prstGeom>
        </p:spPr>
      </p:pic>
      <p:sp>
        <p:nvSpPr>
          <p:cNvPr id="10" name="TextBox 9">
            <a:extLst>
              <a:ext uri="{FF2B5EF4-FFF2-40B4-BE49-F238E27FC236}">
                <a16:creationId xmlns:a16="http://schemas.microsoft.com/office/drawing/2014/main" id="{BEC73176-2FF1-4CE2-A802-03B7381D2F1C}"/>
              </a:ext>
            </a:extLst>
          </p:cNvPr>
          <p:cNvSpPr txBox="1"/>
          <p:nvPr/>
        </p:nvSpPr>
        <p:spPr>
          <a:xfrm>
            <a:off x="529430" y="5305265"/>
            <a:ext cx="6097136" cy="646331"/>
          </a:xfrm>
          <a:prstGeom prst="rect">
            <a:avLst/>
          </a:prstGeom>
          <a:noFill/>
        </p:spPr>
        <p:txBody>
          <a:bodyPr wrap="square">
            <a:spAutoFit/>
          </a:bodyPr>
          <a:lstStyle/>
          <a:p>
            <a:r>
              <a:rPr lang="en-GB" b="1" dirty="0">
                <a:hlinkClick r:id="rId7"/>
              </a:rPr>
              <a:t>https://forms.gle/4S127ZhUmUYnRem5A</a:t>
            </a:r>
            <a:endParaRPr lang="en-GB" b="1" dirty="0"/>
          </a:p>
          <a:p>
            <a:endParaRPr lang="en-GB" b="1" dirty="0"/>
          </a:p>
        </p:txBody>
      </p:sp>
      <p:pic>
        <p:nvPicPr>
          <p:cNvPr id="12" name="Рисунок 11">
            <a:extLst>
              <a:ext uri="{FF2B5EF4-FFF2-40B4-BE49-F238E27FC236}">
                <a16:creationId xmlns:a16="http://schemas.microsoft.com/office/drawing/2014/main" id="{77F17707-1178-4177-A9FD-0D0F6A63DA27}"/>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8676367" y="3134219"/>
            <a:ext cx="3250756" cy="3250756"/>
          </a:xfrm>
          <a:prstGeom prst="rect">
            <a:avLst/>
          </a:prstGeom>
        </p:spPr>
      </p:pic>
      <p:graphicFrame>
        <p:nvGraphicFramePr>
          <p:cNvPr id="8" name="Объект 7">
            <a:extLst>
              <a:ext uri="{FF2B5EF4-FFF2-40B4-BE49-F238E27FC236}">
                <a16:creationId xmlns:a16="http://schemas.microsoft.com/office/drawing/2014/main" id="{2EC00C3D-D2C0-4D80-8609-5341B1B28D2B}"/>
              </a:ext>
            </a:extLst>
          </p:cNvPr>
          <p:cNvGraphicFramePr>
            <a:graphicFrameLocks noChangeAspect="1"/>
          </p:cNvGraphicFramePr>
          <p:nvPr>
            <p:extLst>
              <p:ext uri="{D42A27DB-BD31-4B8C-83A1-F6EECF244321}">
                <p14:modId xmlns:p14="http://schemas.microsoft.com/office/powerpoint/2010/main" val="3743115381"/>
              </p:ext>
            </p:extLst>
          </p:nvPr>
        </p:nvGraphicFramePr>
        <p:xfrm>
          <a:off x="462318" y="2254871"/>
          <a:ext cx="8271685" cy="2147792"/>
        </p:xfrm>
        <a:graphic>
          <a:graphicData uri="http://schemas.openxmlformats.org/presentationml/2006/ole">
            <mc:AlternateContent xmlns:mc="http://schemas.openxmlformats.org/markup-compatibility/2006">
              <mc:Choice xmlns:v="urn:schemas-microsoft-com:vml" Requires="v">
                <p:oleObj spid="_x0000_s22564" name="CS ChemDraw Drawing" r:id="rId9" imgW="5631136" imgH="1462716" progId="ChemDraw.Document.6.0">
                  <p:embed/>
                </p:oleObj>
              </mc:Choice>
              <mc:Fallback>
                <p:oleObj name="CS ChemDraw Drawing" r:id="rId9" imgW="5631136" imgH="1462716" progId="ChemDraw.Document.6.0">
                  <p:embed/>
                  <p:pic>
                    <p:nvPicPr>
                      <p:cNvPr id="0" name=""/>
                      <p:cNvPicPr/>
                      <p:nvPr/>
                    </p:nvPicPr>
                    <p:blipFill>
                      <a:blip r:embed="rId10"/>
                      <a:stretch>
                        <a:fillRect/>
                      </a:stretch>
                    </p:blipFill>
                    <p:spPr>
                      <a:xfrm>
                        <a:off x="462318" y="2254871"/>
                        <a:ext cx="8271685" cy="2147792"/>
                      </a:xfrm>
                      <a:prstGeom prst="rect">
                        <a:avLst/>
                      </a:prstGeom>
                      <a:solidFill>
                        <a:schemeClr val="bg1"/>
                      </a:solidFill>
                    </p:spPr>
                  </p:pic>
                </p:oleObj>
              </mc:Fallback>
            </mc:AlternateContent>
          </a:graphicData>
        </a:graphic>
      </p:graphicFrame>
    </p:spTree>
    <p:extLst>
      <p:ext uri="{BB962C8B-B14F-4D97-AF65-F5344CB8AC3E}">
        <p14:creationId xmlns:p14="http://schemas.microsoft.com/office/powerpoint/2010/main" val="131723438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a:extLst>
              <a:ext uri="{FF2B5EF4-FFF2-40B4-BE49-F238E27FC236}">
                <a16:creationId xmlns:a16="http://schemas.microsoft.com/office/drawing/2014/main" id="{FC7A3557-8DA0-43D1-A7BE-B5292DB39777}"/>
              </a:ext>
            </a:extLst>
          </p:cNvPr>
          <p:cNvSpPr>
            <a:spLocks noGrp="1"/>
          </p:cNvSpPr>
          <p:nvPr>
            <p:ph type="sldNum" sz="quarter" idx="12"/>
          </p:nvPr>
        </p:nvSpPr>
        <p:spPr/>
        <p:txBody>
          <a:bodyPr/>
          <a:lstStyle/>
          <a:p>
            <a:fld id="{93C419CB-0CF1-4F10-90F9-42551F8968FF}" type="slidenum">
              <a:rPr lang="en-GB" smtClean="0"/>
              <a:t>57</a:t>
            </a:fld>
            <a:endParaRPr lang="en-GB"/>
          </a:p>
        </p:txBody>
      </p:sp>
      <p:pic>
        <p:nvPicPr>
          <p:cNvPr id="4" name="Рисунок 3">
            <a:extLst>
              <a:ext uri="{FF2B5EF4-FFF2-40B4-BE49-F238E27FC236}">
                <a16:creationId xmlns:a16="http://schemas.microsoft.com/office/drawing/2014/main" id="{91BAEA32-C290-40AD-8FCD-6DAD8567650B}"/>
              </a:ext>
            </a:extLst>
          </p:cNvPr>
          <p:cNvPicPr>
            <a:picLocks noChangeAspect="1"/>
          </p:cNvPicPr>
          <p:nvPr/>
        </p:nvPicPr>
        <p:blipFill>
          <a:blip r:embed="rId3"/>
          <a:stretch>
            <a:fillRect/>
          </a:stretch>
        </p:blipFill>
        <p:spPr>
          <a:xfrm>
            <a:off x="411634" y="633658"/>
            <a:ext cx="5415542" cy="1925526"/>
          </a:xfrm>
          <a:prstGeom prst="rect">
            <a:avLst/>
          </a:prstGeom>
        </p:spPr>
      </p:pic>
      <p:pic>
        <p:nvPicPr>
          <p:cNvPr id="6" name="Рисунок 5">
            <a:extLst>
              <a:ext uri="{FF2B5EF4-FFF2-40B4-BE49-F238E27FC236}">
                <a16:creationId xmlns:a16="http://schemas.microsoft.com/office/drawing/2014/main" id="{53AB38B4-28FF-49F0-983F-2771EC65A1A9}"/>
              </a:ext>
            </a:extLst>
          </p:cNvPr>
          <p:cNvPicPr>
            <a:picLocks noChangeAspect="1"/>
          </p:cNvPicPr>
          <p:nvPr/>
        </p:nvPicPr>
        <p:blipFill>
          <a:blip r:embed="rId4"/>
          <a:stretch>
            <a:fillRect/>
          </a:stretch>
        </p:blipFill>
        <p:spPr>
          <a:xfrm>
            <a:off x="577210" y="3429000"/>
            <a:ext cx="5610230" cy="3176039"/>
          </a:xfrm>
          <a:prstGeom prst="rect">
            <a:avLst/>
          </a:prstGeom>
        </p:spPr>
      </p:pic>
      <p:pic>
        <p:nvPicPr>
          <p:cNvPr id="8" name="Рисунок 7">
            <a:extLst>
              <a:ext uri="{FF2B5EF4-FFF2-40B4-BE49-F238E27FC236}">
                <a16:creationId xmlns:a16="http://schemas.microsoft.com/office/drawing/2014/main" id="{F361B684-031B-4A12-B8BD-C0A36B41BE69}"/>
              </a:ext>
            </a:extLst>
          </p:cNvPr>
          <p:cNvPicPr>
            <a:picLocks noChangeAspect="1"/>
          </p:cNvPicPr>
          <p:nvPr/>
        </p:nvPicPr>
        <p:blipFill>
          <a:blip r:embed="rId5"/>
          <a:stretch>
            <a:fillRect/>
          </a:stretch>
        </p:blipFill>
        <p:spPr>
          <a:xfrm>
            <a:off x="6929371" y="758113"/>
            <a:ext cx="5062152" cy="2795342"/>
          </a:xfrm>
          <a:prstGeom prst="rect">
            <a:avLst/>
          </a:prstGeom>
        </p:spPr>
      </p:pic>
      <p:sp>
        <p:nvSpPr>
          <p:cNvPr id="10" name="TextBox 9">
            <a:extLst>
              <a:ext uri="{FF2B5EF4-FFF2-40B4-BE49-F238E27FC236}">
                <a16:creationId xmlns:a16="http://schemas.microsoft.com/office/drawing/2014/main" id="{809E7423-9016-4C7A-AC05-5795FA26F405}"/>
              </a:ext>
            </a:extLst>
          </p:cNvPr>
          <p:cNvSpPr txBox="1"/>
          <p:nvPr/>
        </p:nvSpPr>
        <p:spPr>
          <a:xfrm>
            <a:off x="577210" y="296448"/>
            <a:ext cx="2032143" cy="461665"/>
          </a:xfrm>
          <a:prstGeom prst="rect">
            <a:avLst/>
          </a:prstGeom>
          <a:noFill/>
        </p:spPr>
        <p:txBody>
          <a:bodyPr wrap="square">
            <a:spAutoFit/>
          </a:bodyPr>
          <a:lstStyle/>
          <a:p>
            <a:r>
              <a:rPr lang="uk-UA" sz="2400" b="1" dirty="0">
                <a:cs typeface="Times New Roman"/>
              </a:rPr>
              <a:t>С</a:t>
            </a:r>
            <a:r>
              <a:rPr lang="en-GB" sz="2400" b="1" dirty="0" err="1">
                <a:cs typeface="Times New Roman"/>
              </a:rPr>
              <a:t>ompound</a:t>
            </a:r>
            <a:r>
              <a:rPr lang="uk-UA" sz="2400" b="1" dirty="0">
                <a:cs typeface="Times New Roman"/>
              </a:rPr>
              <a:t> (а)</a:t>
            </a:r>
            <a:endParaRPr lang="en-GB" sz="2400" b="1" dirty="0"/>
          </a:p>
        </p:txBody>
      </p:sp>
      <p:sp>
        <p:nvSpPr>
          <p:cNvPr id="11" name="TextBox 10">
            <a:extLst>
              <a:ext uri="{FF2B5EF4-FFF2-40B4-BE49-F238E27FC236}">
                <a16:creationId xmlns:a16="http://schemas.microsoft.com/office/drawing/2014/main" id="{E1E6796C-1B96-4F6A-ACDE-94F84A5E9E25}"/>
              </a:ext>
            </a:extLst>
          </p:cNvPr>
          <p:cNvSpPr txBox="1"/>
          <p:nvPr/>
        </p:nvSpPr>
        <p:spPr>
          <a:xfrm>
            <a:off x="577210" y="2746458"/>
            <a:ext cx="2032143" cy="461665"/>
          </a:xfrm>
          <a:prstGeom prst="rect">
            <a:avLst/>
          </a:prstGeom>
          <a:noFill/>
        </p:spPr>
        <p:txBody>
          <a:bodyPr wrap="square">
            <a:spAutoFit/>
          </a:bodyPr>
          <a:lstStyle/>
          <a:p>
            <a:r>
              <a:rPr lang="uk-UA" sz="2400" b="1" dirty="0">
                <a:cs typeface="Times New Roman"/>
              </a:rPr>
              <a:t>С</a:t>
            </a:r>
            <a:r>
              <a:rPr lang="en-GB" sz="2400" b="1" dirty="0" err="1">
                <a:cs typeface="Times New Roman"/>
              </a:rPr>
              <a:t>ompound</a:t>
            </a:r>
            <a:r>
              <a:rPr lang="uk-UA" sz="2400" b="1" dirty="0">
                <a:cs typeface="Times New Roman"/>
              </a:rPr>
              <a:t> (</a:t>
            </a:r>
            <a:r>
              <a:rPr lang="en-GB" sz="2400" b="1" dirty="0">
                <a:cs typeface="Times New Roman"/>
              </a:rPr>
              <a:t>b</a:t>
            </a:r>
            <a:r>
              <a:rPr lang="uk-UA" sz="2400" b="1" dirty="0">
                <a:cs typeface="Times New Roman"/>
              </a:rPr>
              <a:t>)</a:t>
            </a:r>
            <a:endParaRPr lang="en-GB" sz="2400" b="1" dirty="0"/>
          </a:p>
        </p:txBody>
      </p:sp>
      <p:sp>
        <p:nvSpPr>
          <p:cNvPr id="12" name="TextBox 11">
            <a:extLst>
              <a:ext uri="{FF2B5EF4-FFF2-40B4-BE49-F238E27FC236}">
                <a16:creationId xmlns:a16="http://schemas.microsoft.com/office/drawing/2014/main" id="{F61427AA-536B-487F-A3A3-587D4DD5C9E8}"/>
              </a:ext>
            </a:extLst>
          </p:cNvPr>
          <p:cNvSpPr txBox="1"/>
          <p:nvPr/>
        </p:nvSpPr>
        <p:spPr>
          <a:xfrm>
            <a:off x="6826934" y="296448"/>
            <a:ext cx="2032143" cy="461665"/>
          </a:xfrm>
          <a:prstGeom prst="rect">
            <a:avLst/>
          </a:prstGeom>
          <a:noFill/>
        </p:spPr>
        <p:txBody>
          <a:bodyPr wrap="square">
            <a:spAutoFit/>
          </a:bodyPr>
          <a:lstStyle/>
          <a:p>
            <a:r>
              <a:rPr lang="uk-UA" sz="2400" b="1" dirty="0">
                <a:cs typeface="Times New Roman"/>
              </a:rPr>
              <a:t>С</a:t>
            </a:r>
            <a:r>
              <a:rPr lang="en-GB" sz="2400" b="1" dirty="0" err="1">
                <a:cs typeface="Times New Roman"/>
              </a:rPr>
              <a:t>ompound</a:t>
            </a:r>
            <a:r>
              <a:rPr lang="uk-UA" sz="2400" b="1" dirty="0">
                <a:cs typeface="Times New Roman"/>
              </a:rPr>
              <a:t> (</a:t>
            </a:r>
            <a:r>
              <a:rPr lang="en-GB" sz="2400" b="1" dirty="0">
                <a:cs typeface="Times New Roman"/>
              </a:rPr>
              <a:t>c</a:t>
            </a:r>
            <a:r>
              <a:rPr lang="uk-UA" sz="2400" b="1" dirty="0">
                <a:cs typeface="Times New Roman"/>
              </a:rPr>
              <a:t>)</a:t>
            </a:r>
            <a:endParaRPr lang="en-GB" sz="2400" b="1" dirty="0"/>
          </a:p>
        </p:txBody>
      </p:sp>
    </p:spTree>
    <p:extLst>
      <p:ext uri="{BB962C8B-B14F-4D97-AF65-F5344CB8AC3E}">
        <p14:creationId xmlns:p14="http://schemas.microsoft.com/office/powerpoint/2010/main" val="106725714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05685" y="242699"/>
            <a:ext cx="11307649" cy="813684"/>
          </a:xfrm>
          <a:prstGeom prst="rect">
            <a:avLst/>
          </a:prstGeom>
        </p:spPr>
        <p:style>
          <a:lnRef idx="1">
            <a:schemeClr val="accent1"/>
          </a:lnRef>
          <a:fillRef idx="2">
            <a:schemeClr val="accent1"/>
          </a:fillRef>
          <a:effectRef idx="1">
            <a:schemeClr val="accent1"/>
          </a:effectRef>
          <a:fontRef idx="minor">
            <a:schemeClr val="dk1"/>
          </a:fontRef>
        </p:style>
        <p:txBody>
          <a:bodyPr vert="horz" wrap="square" lIns="0" tIns="13335" rIns="0" bIns="0" rtlCol="0" anchor="ctr">
            <a:spAutoFit/>
          </a:bodyPr>
          <a:lstStyle/>
          <a:p>
            <a:pPr algn="ctr">
              <a:lnSpc>
                <a:spcPct val="100000"/>
              </a:lnSpc>
            </a:pPr>
            <a:r>
              <a:rPr lang="en-GB" sz="2600" b="1" dirty="0"/>
              <a:t>III. Carbon-Framework Substitution Nomenclature </a:t>
            </a:r>
            <a:br>
              <a:rPr lang="en-GB" sz="2600" b="1" dirty="0"/>
            </a:br>
            <a:r>
              <a:rPr lang="en-GB" sz="2600" dirty="0"/>
              <a:t>(Replacement Nomenclature)</a:t>
            </a:r>
          </a:p>
        </p:txBody>
      </p:sp>
      <p:sp>
        <p:nvSpPr>
          <p:cNvPr id="3" name="object 3"/>
          <p:cNvSpPr txBox="1"/>
          <p:nvPr/>
        </p:nvSpPr>
        <p:spPr>
          <a:xfrm>
            <a:off x="1266319" y="4564573"/>
            <a:ext cx="1659255" cy="300355"/>
          </a:xfrm>
          <a:prstGeom prst="rect">
            <a:avLst/>
          </a:prstGeom>
        </p:spPr>
        <p:txBody>
          <a:bodyPr vert="horz" wrap="square" lIns="0" tIns="12700" rIns="0" bIns="0" rtlCol="0">
            <a:spAutoFit/>
          </a:bodyPr>
          <a:lstStyle/>
          <a:p>
            <a:pPr marL="12700">
              <a:spcBef>
                <a:spcPts val="100"/>
              </a:spcBef>
            </a:pPr>
            <a:r>
              <a:rPr dirty="0">
                <a:solidFill>
                  <a:srgbClr val="C00000"/>
                </a:solidFill>
                <a:latin typeface="Times New Roman"/>
                <a:cs typeface="Times New Roman"/>
              </a:rPr>
              <a:t>Priority</a:t>
            </a:r>
            <a:r>
              <a:rPr spc="-80" dirty="0">
                <a:solidFill>
                  <a:srgbClr val="C00000"/>
                </a:solidFill>
                <a:latin typeface="Times New Roman"/>
                <a:cs typeface="Times New Roman"/>
              </a:rPr>
              <a:t> </a:t>
            </a:r>
            <a:r>
              <a:rPr dirty="0">
                <a:solidFill>
                  <a:srgbClr val="C00000"/>
                </a:solidFill>
                <a:latin typeface="Times New Roman"/>
                <a:cs typeface="Times New Roman"/>
              </a:rPr>
              <a:t>decreases</a:t>
            </a:r>
            <a:endParaRPr>
              <a:latin typeface="Times New Roman"/>
              <a:cs typeface="Times New Roman"/>
            </a:endParaRPr>
          </a:p>
        </p:txBody>
      </p:sp>
      <p:graphicFrame>
        <p:nvGraphicFramePr>
          <p:cNvPr id="4" name="object 4"/>
          <p:cNvGraphicFramePr>
            <a:graphicFrameLocks noGrp="1"/>
          </p:cNvGraphicFramePr>
          <p:nvPr>
            <p:extLst>
              <p:ext uri="{D42A27DB-BD31-4B8C-83A1-F6EECF244321}">
                <p14:modId xmlns:p14="http://schemas.microsoft.com/office/powerpoint/2010/main" val="3643858321"/>
              </p:ext>
            </p:extLst>
          </p:nvPr>
        </p:nvGraphicFramePr>
        <p:xfrm>
          <a:off x="3100821" y="4052807"/>
          <a:ext cx="4940935" cy="2225672"/>
        </p:xfrm>
        <a:graphic>
          <a:graphicData uri="http://schemas.openxmlformats.org/drawingml/2006/table">
            <a:tbl>
              <a:tblPr firstRow="1" bandRow="1">
                <a:tableStyleId>{2D5ABB26-0587-4C30-8999-92F81FD0307C}</a:tableStyleId>
              </a:tblPr>
              <a:tblGrid>
                <a:gridCol w="2060575">
                  <a:extLst>
                    <a:ext uri="{9D8B030D-6E8A-4147-A177-3AD203B41FA5}">
                      <a16:colId xmlns:a16="http://schemas.microsoft.com/office/drawing/2014/main" val="20000"/>
                    </a:ext>
                  </a:extLst>
                </a:gridCol>
                <a:gridCol w="2880360">
                  <a:extLst>
                    <a:ext uri="{9D8B030D-6E8A-4147-A177-3AD203B41FA5}">
                      <a16:colId xmlns:a16="http://schemas.microsoft.com/office/drawing/2014/main" val="20001"/>
                    </a:ext>
                  </a:extLst>
                </a:gridCol>
              </a:tblGrid>
              <a:tr h="370967">
                <a:tc>
                  <a:txBody>
                    <a:bodyPr/>
                    <a:lstStyle/>
                    <a:p>
                      <a:pPr marL="1905" algn="ctr">
                        <a:lnSpc>
                          <a:spcPct val="100000"/>
                        </a:lnSpc>
                        <a:spcBef>
                          <a:spcPts val="305"/>
                        </a:spcBef>
                      </a:pPr>
                      <a:r>
                        <a:rPr sz="1800" dirty="0">
                          <a:solidFill>
                            <a:srgbClr val="C00000"/>
                          </a:solidFill>
                          <a:latin typeface="Times New Roman"/>
                          <a:cs typeface="Times New Roman"/>
                        </a:rPr>
                        <a:t>Atom</a:t>
                      </a:r>
                      <a:endParaRPr sz="1800">
                        <a:latin typeface="Times New Roman"/>
                        <a:cs typeface="Times New Roman"/>
                      </a:endParaRPr>
                    </a:p>
                  </a:txBody>
                  <a:tcPr marL="0" marR="0" marT="38735" marB="0">
                    <a:lnL w="12700">
                      <a:solidFill>
                        <a:srgbClr val="003366"/>
                      </a:solidFill>
                      <a:prstDash val="solid"/>
                    </a:lnL>
                    <a:lnR w="12700">
                      <a:solidFill>
                        <a:srgbClr val="003366"/>
                      </a:solidFill>
                      <a:prstDash val="solid"/>
                    </a:lnR>
                    <a:lnT w="12700">
                      <a:solidFill>
                        <a:srgbClr val="003366"/>
                      </a:solidFill>
                      <a:prstDash val="solid"/>
                    </a:lnT>
                    <a:lnB w="12700">
                      <a:solidFill>
                        <a:srgbClr val="003366"/>
                      </a:solidFill>
                      <a:prstDash val="solid"/>
                    </a:lnB>
                    <a:solidFill>
                      <a:srgbClr val="B8CFE7"/>
                    </a:solidFill>
                  </a:tcPr>
                </a:tc>
                <a:tc>
                  <a:txBody>
                    <a:bodyPr/>
                    <a:lstStyle/>
                    <a:p>
                      <a:pPr marL="635" algn="ctr">
                        <a:lnSpc>
                          <a:spcPct val="100000"/>
                        </a:lnSpc>
                        <a:spcBef>
                          <a:spcPts val="305"/>
                        </a:spcBef>
                      </a:pPr>
                      <a:r>
                        <a:rPr sz="1800" spc="-5" dirty="0">
                          <a:solidFill>
                            <a:srgbClr val="C00000"/>
                          </a:solidFill>
                          <a:latin typeface="Times New Roman"/>
                          <a:cs typeface="Times New Roman"/>
                        </a:rPr>
                        <a:t>Prefix</a:t>
                      </a:r>
                      <a:endParaRPr sz="1800">
                        <a:latin typeface="Times New Roman"/>
                        <a:cs typeface="Times New Roman"/>
                      </a:endParaRPr>
                    </a:p>
                  </a:txBody>
                  <a:tcPr marL="0" marR="0" marT="38735" marB="0">
                    <a:lnL w="12700">
                      <a:solidFill>
                        <a:srgbClr val="003366"/>
                      </a:solidFill>
                      <a:prstDash val="solid"/>
                    </a:lnL>
                    <a:lnR w="12700">
                      <a:solidFill>
                        <a:srgbClr val="003366"/>
                      </a:solidFill>
                      <a:prstDash val="solid"/>
                    </a:lnR>
                    <a:lnT w="12700">
                      <a:solidFill>
                        <a:srgbClr val="003366"/>
                      </a:solidFill>
                      <a:prstDash val="solid"/>
                    </a:lnT>
                    <a:lnB w="12700">
                      <a:solidFill>
                        <a:srgbClr val="003366"/>
                      </a:solidFill>
                      <a:prstDash val="solid"/>
                    </a:lnB>
                    <a:solidFill>
                      <a:srgbClr val="B8CFE7"/>
                    </a:solidFill>
                  </a:tcPr>
                </a:tc>
                <a:extLst>
                  <a:ext uri="{0D108BD9-81ED-4DB2-BD59-A6C34878D82A}">
                    <a16:rowId xmlns:a16="http://schemas.microsoft.com/office/drawing/2014/main" val="10000"/>
                  </a:ext>
                </a:extLst>
              </a:tr>
              <a:tr h="370966">
                <a:tc>
                  <a:txBody>
                    <a:bodyPr/>
                    <a:lstStyle/>
                    <a:p>
                      <a:pPr algn="ctr">
                        <a:lnSpc>
                          <a:spcPct val="100000"/>
                        </a:lnSpc>
                        <a:spcBef>
                          <a:spcPts val="305"/>
                        </a:spcBef>
                      </a:pPr>
                      <a:r>
                        <a:rPr sz="1800" dirty="0">
                          <a:solidFill>
                            <a:srgbClr val="003366"/>
                          </a:solidFill>
                          <a:latin typeface="Times New Roman"/>
                          <a:cs typeface="Times New Roman"/>
                        </a:rPr>
                        <a:t>O</a:t>
                      </a:r>
                      <a:endParaRPr sz="1800">
                        <a:latin typeface="Times New Roman"/>
                        <a:cs typeface="Times New Roman"/>
                      </a:endParaRPr>
                    </a:p>
                  </a:txBody>
                  <a:tcPr marL="0" marR="0" marT="38735" marB="0">
                    <a:lnL w="12700">
                      <a:solidFill>
                        <a:srgbClr val="003366"/>
                      </a:solidFill>
                      <a:prstDash val="solid"/>
                    </a:lnL>
                    <a:lnR w="12700">
                      <a:solidFill>
                        <a:srgbClr val="003366"/>
                      </a:solidFill>
                      <a:prstDash val="solid"/>
                    </a:lnR>
                    <a:lnT w="12700">
                      <a:solidFill>
                        <a:srgbClr val="003366"/>
                      </a:solidFill>
                      <a:prstDash val="solid"/>
                    </a:lnT>
                    <a:lnB w="12700">
                      <a:solidFill>
                        <a:srgbClr val="003366"/>
                      </a:solidFill>
                      <a:prstDash val="solid"/>
                    </a:lnB>
                  </a:tcPr>
                </a:tc>
                <a:tc>
                  <a:txBody>
                    <a:bodyPr/>
                    <a:lstStyle/>
                    <a:p>
                      <a:pPr marL="635" algn="ctr">
                        <a:lnSpc>
                          <a:spcPct val="100000"/>
                        </a:lnSpc>
                        <a:spcBef>
                          <a:spcPts val="305"/>
                        </a:spcBef>
                      </a:pPr>
                      <a:r>
                        <a:rPr sz="1800" dirty="0">
                          <a:solidFill>
                            <a:srgbClr val="003366"/>
                          </a:solidFill>
                          <a:latin typeface="Times New Roman"/>
                          <a:cs typeface="Times New Roman"/>
                        </a:rPr>
                        <a:t>oxa</a:t>
                      </a:r>
                      <a:endParaRPr sz="1800">
                        <a:latin typeface="Times New Roman"/>
                        <a:cs typeface="Times New Roman"/>
                      </a:endParaRPr>
                    </a:p>
                  </a:txBody>
                  <a:tcPr marL="0" marR="0" marT="38735" marB="0">
                    <a:lnL w="12700">
                      <a:solidFill>
                        <a:srgbClr val="003366"/>
                      </a:solidFill>
                      <a:prstDash val="solid"/>
                    </a:lnL>
                    <a:lnR w="12700">
                      <a:solidFill>
                        <a:srgbClr val="003366"/>
                      </a:solidFill>
                      <a:prstDash val="solid"/>
                    </a:lnR>
                    <a:lnT w="12700">
                      <a:solidFill>
                        <a:srgbClr val="003366"/>
                      </a:solidFill>
                      <a:prstDash val="solid"/>
                    </a:lnT>
                    <a:lnB w="12700">
                      <a:solidFill>
                        <a:srgbClr val="003366"/>
                      </a:solidFill>
                      <a:prstDash val="solid"/>
                    </a:lnB>
                  </a:tcPr>
                </a:tc>
                <a:extLst>
                  <a:ext uri="{0D108BD9-81ED-4DB2-BD59-A6C34878D82A}">
                    <a16:rowId xmlns:a16="http://schemas.microsoft.com/office/drawing/2014/main" val="10001"/>
                  </a:ext>
                </a:extLst>
              </a:tr>
              <a:tr h="370840">
                <a:tc>
                  <a:txBody>
                    <a:bodyPr/>
                    <a:lstStyle/>
                    <a:p>
                      <a:pPr algn="ctr">
                        <a:lnSpc>
                          <a:spcPct val="100000"/>
                        </a:lnSpc>
                        <a:spcBef>
                          <a:spcPts val="305"/>
                        </a:spcBef>
                      </a:pPr>
                      <a:r>
                        <a:rPr sz="1800" spc="-10" dirty="0">
                          <a:solidFill>
                            <a:srgbClr val="003366"/>
                          </a:solidFill>
                          <a:latin typeface="Times New Roman"/>
                          <a:cs typeface="Times New Roman"/>
                        </a:rPr>
                        <a:t>Se</a:t>
                      </a:r>
                      <a:endParaRPr sz="1800">
                        <a:latin typeface="Times New Roman"/>
                        <a:cs typeface="Times New Roman"/>
                      </a:endParaRPr>
                    </a:p>
                  </a:txBody>
                  <a:tcPr marL="0" marR="0" marT="38735" marB="0">
                    <a:lnL w="12700">
                      <a:solidFill>
                        <a:srgbClr val="003366"/>
                      </a:solidFill>
                      <a:prstDash val="solid"/>
                    </a:lnL>
                    <a:lnR w="12700">
                      <a:solidFill>
                        <a:srgbClr val="003366"/>
                      </a:solidFill>
                      <a:prstDash val="solid"/>
                    </a:lnR>
                    <a:lnT w="12700">
                      <a:solidFill>
                        <a:srgbClr val="003366"/>
                      </a:solidFill>
                      <a:prstDash val="solid"/>
                    </a:lnT>
                    <a:lnB w="12700">
                      <a:solidFill>
                        <a:srgbClr val="003366"/>
                      </a:solidFill>
                      <a:prstDash val="solid"/>
                    </a:lnB>
                  </a:tcPr>
                </a:tc>
                <a:tc>
                  <a:txBody>
                    <a:bodyPr/>
                    <a:lstStyle/>
                    <a:p>
                      <a:pPr algn="ctr">
                        <a:lnSpc>
                          <a:spcPct val="100000"/>
                        </a:lnSpc>
                        <a:spcBef>
                          <a:spcPts val="305"/>
                        </a:spcBef>
                      </a:pPr>
                      <a:r>
                        <a:rPr sz="1800" dirty="0">
                          <a:solidFill>
                            <a:srgbClr val="003366"/>
                          </a:solidFill>
                          <a:latin typeface="Times New Roman"/>
                          <a:cs typeface="Times New Roman"/>
                        </a:rPr>
                        <a:t>selena</a:t>
                      </a:r>
                      <a:endParaRPr sz="1800">
                        <a:latin typeface="Times New Roman"/>
                        <a:cs typeface="Times New Roman"/>
                      </a:endParaRPr>
                    </a:p>
                  </a:txBody>
                  <a:tcPr marL="0" marR="0" marT="38735" marB="0">
                    <a:lnL w="12700">
                      <a:solidFill>
                        <a:srgbClr val="003366"/>
                      </a:solidFill>
                      <a:prstDash val="solid"/>
                    </a:lnL>
                    <a:lnR w="12700">
                      <a:solidFill>
                        <a:srgbClr val="003366"/>
                      </a:solidFill>
                      <a:prstDash val="solid"/>
                    </a:lnR>
                    <a:lnT w="12700">
                      <a:solidFill>
                        <a:srgbClr val="003366"/>
                      </a:solidFill>
                      <a:prstDash val="solid"/>
                    </a:lnT>
                    <a:lnB w="12700">
                      <a:solidFill>
                        <a:srgbClr val="003366"/>
                      </a:solidFill>
                      <a:prstDash val="solid"/>
                    </a:lnB>
                  </a:tcPr>
                </a:tc>
                <a:extLst>
                  <a:ext uri="{0D108BD9-81ED-4DB2-BD59-A6C34878D82A}">
                    <a16:rowId xmlns:a16="http://schemas.microsoft.com/office/drawing/2014/main" val="10002"/>
                  </a:ext>
                </a:extLst>
              </a:tr>
              <a:tr h="370966">
                <a:tc>
                  <a:txBody>
                    <a:bodyPr/>
                    <a:lstStyle/>
                    <a:p>
                      <a:pPr marL="1270" algn="ctr">
                        <a:lnSpc>
                          <a:spcPct val="100000"/>
                        </a:lnSpc>
                        <a:spcBef>
                          <a:spcPts val="310"/>
                        </a:spcBef>
                      </a:pPr>
                      <a:r>
                        <a:rPr sz="1800" dirty="0">
                          <a:solidFill>
                            <a:srgbClr val="003366"/>
                          </a:solidFill>
                          <a:latin typeface="Times New Roman"/>
                          <a:cs typeface="Times New Roman"/>
                        </a:rPr>
                        <a:t>S</a:t>
                      </a:r>
                      <a:endParaRPr sz="1800">
                        <a:latin typeface="Times New Roman"/>
                        <a:cs typeface="Times New Roman"/>
                      </a:endParaRPr>
                    </a:p>
                  </a:txBody>
                  <a:tcPr marL="0" marR="0" marT="39370" marB="0">
                    <a:lnL w="12700">
                      <a:solidFill>
                        <a:srgbClr val="003366"/>
                      </a:solidFill>
                      <a:prstDash val="solid"/>
                    </a:lnL>
                    <a:lnR w="12700">
                      <a:solidFill>
                        <a:srgbClr val="003366"/>
                      </a:solidFill>
                      <a:prstDash val="solid"/>
                    </a:lnR>
                    <a:lnT w="12700">
                      <a:solidFill>
                        <a:srgbClr val="003366"/>
                      </a:solidFill>
                      <a:prstDash val="solid"/>
                    </a:lnT>
                    <a:lnB w="12700">
                      <a:solidFill>
                        <a:srgbClr val="003366"/>
                      </a:solidFill>
                      <a:prstDash val="solid"/>
                    </a:lnB>
                  </a:tcPr>
                </a:tc>
                <a:tc>
                  <a:txBody>
                    <a:bodyPr/>
                    <a:lstStyle/>
                    <a:p>
                      <a:pPr algn="ctr">
                        <a:lnSpc>
                          <a:spcPct val="100000"/>
                        </a:lnSpc>
                        <a:spcBef>
                          <a:spcPts val="310"/>
                        </a:spcBef>
                      </a:pPr>
                      <a:r>
                        <a:rPr sz="1800" dirty="0">
                          <a:solidFill>
                            <a:srgbClr val="003366"/>
                          </a:solidFill>
                          <a:latin typeface="Times New Roman"/>
                          <a:cs typeface="Times New Roman"/>
                        </a:rPr>
                        <a:t>thia</a:t>
                      </a:r>
                      <a:endParaRPr sz="1800">
                        <a:latin typeface="Times New Roman"/>
                        <a:cs typeface="Times New Roman"/>
                      </a:endParaRPr>
                    </a:p>
                  </a:txBody>
                  <a:tcPr marL="0" marR="0" marT="39370" marB="0">
                    <a:lnL w="12700">
                      <a:solidFill>
                        <a:srgbClr val="003366"/>
                      </a:solidFill>
                      <a:prstDash val="solid"/>
                    </a:lnL>
                    <a:lnR w="12700">
                      <a:solidFill>
                        <a:srgbClr val="003366"/>
                      </a:solidFill>
                      <a:prstDash val="solid"/>
                    </a:lnR>
                    <a:lnT w="12700">
                      <a:solidFill>
                        <a:srgbClr val="003366"/>
                      </a:solidFill>
                      <a:prstDash val="solid"/>
                    </a:lnT>
                    <a:lnB w="12700">
                      <a:solidFill>
                        <a:srgbClr val="003366"/>
                      </a:solidFill>
                      <a:prstDash val="solid"/>
                    </a:lnB>
                  </a:tcPr>
                </a:tc>
                <a:extLst>
                  <a:ext uri="{0D108BD9-81ED-4DB2-BD59-A6C34878D82A}">
                    <a16:rowId xmlns:a16="http://schemas.microsoft.com/office/drawing/2014/main" val="10003"/>
                  </a:ext>
                </a:extLst>
              </a:tr>
              <a:tr h="370992">
                <a:tc>
                  <a:txBody>
                    <a:bodyPr/>
                    <a:lstStyle/>
                    <a:p>
                      <a:pPr algn="ctr">
                        <a:lnSpc>
                          <a:spcPct val="100000"/>
                        </a:lnSpc>
                        <a:spcBef>
                          <a:spcPts val="309"/>
                        </a:spcBef>
                      </a:pPr>
                      <a:r>
                        <a:rPr sz="1800" dirty="0">
                          <a:solidFill>
                            <a:srgbClr val="003366"/>
                          </a:solidFill>
                          <a:latin typeface="Times New Roman"/>
                          <a:cs typeface="Times New Roman"/>
                        </a:rPr>
                        <a:t>N</a:t>
                      </a:r>
                      <a:endParaRPr sz="1800">
                        <a:latin typeface="Times New Roman"/>
                        <a:cs typeface="Times New Roman"/>
                      </a:endParaRPr>
                    </a:p>
                  </a:txBody>
                  <a:tcPr marL="0" marR="0" marT="39369" marB="0">
                    <a:lnL w="12700">
                      <a:solidFill>
                        <a:srgbClr val="003366"/>
                      </a:solidFill>
                      <a:prstDash val="solid"/>
                    </a:lnL>
                    <a:lnR w="12700">
                      <a:solidFill>
                        <a:srgbClr val="003366"/>
                      </a:solidFill>
                      <a:prstDash val="solid"/>
                    </a:lnR>
                    <a:lnT w="12700">
                      <a:solidFill>
                        <a:srgbClr val="003366"/>
                      </a:solidFill>
                      <a:prstDash val="solid"/>
                    </a:lnT>
                    <a:lnB w="12700">
                      <a:solidFill>
                        <a:srgbClr val="003366"/>
                      </a:solidFill>
                      <a:prstDash val="solid"/>
                    </a:lnB>
                  </a:tcPr>
                </a:tc>
                <a:tc>
                  <a:txBody>
                    <a:bodyPr/>
                    <a:lstStyle/>
                    <a:p>
                      <a:pPr marL="1270" algn="ctr">
                        <a:lnSpc>
                          <a:spcPct val="100000"/>
                        </a:lnSpc>
                        <a:spcBef>
                          <a:spcPts val="309"/>
                        </a:spcBef>
                      </a:pPr>
                      <a:r>
                        <a:rPr sz="1800" dirty="0">
                          <a:solidFill>
                            <a:srgbClr val="003366"/>
                          </a:solidFill>
                          <a:latin typeface="Times New Roman"/>
                          <a:cs typeface="Times New Roman"/>
                        </a:rPr>
                        <a:t>aza</a:t>
                      </a:r>
                      <a:endParaRPr sz="1800">
                        <a:latin typeface="Times New Roman"/>
                        <a:cs typeface="Times New Roman"/>
                      </a:endParaRPr>
                    </a:p>
                  </a:txBody>
                  <a:tcPr marL="0" marR="0" marT="39369" marB="0">
                    <a:lnL w="12700">
                      <a:solidFill>
                        <a:srgbClr val="003366"/>
                      </a:solidFill>
                      <a:prstDash val="solid"/>
                    </a:lnL>
                    <a:lnR w="12700">
                      <a:solidFill>
                        <a:srgbClr val="003366"/>
                      </a:solidFill>
                      <a:prstDash val="solid"/>
                    </a:lnR>
                    <a:lnT w="12700">
                      <a:solidFill>
                        <a:srgbClr val="003366"/>
                      </a:solidFill>
                      <a:prstDash val="solid"/>
                    </a:lnT>
                    <a:lnB w="12700">
                      <a:solidFill>
                        <a:srgbClr val="003366"/>
                      </a:solidFill>
                      <a:prstDash val="solid"/>
                    </a:lnB>
                  </a:tcPr>
                </a:tc>
                <a:extLst>
                  <a:ext uri="{0D108BD9-81ED-4DB2-BD59-A6C34878D82A}">
                    <a16:rowId xmlns:a16="http://schemas.microsoft.com/office/drawing/2014/main" val="10004"/>
                  </a:ext>
                </a:extLst>
              </a:tr>
              <a:tr h="370941">
                <a:tc>
                  <a:txBody>
                    <a:bodyPr/>
                    <a:lstStyle/>
                    <a:p>
                      <a:pPr marL="1270" algn="ctr">
                        <a:lnSpc>
                          <a:spcPct val="100000"/>
                        </a:lnSpc>
                        <a:spcBef>
                          <a:spcPts val="309"/>
                        </a:spcBef>
                      </a:pPr>
                      <a:r>
                        <a:rPr sz="1800" dirty="0">
                          <a:solidFill>
                            <a:srgbClr val="003366"/>
                          </a:solidFill>
                          <a:latin typeface="Times New Roman"/>
                          <a:cs typeface="Times New Roman"/>
                        </a:rPr>
                        <a:t>P</a:t>
                      </a:r>
                      <a:endParaRPr sz="1800" dirty="0">
                        <a:latin typeface="Times New Roman"/>
                        <a:cs typeface="Times New Roman"/>
                      </a:endParaRPr>
                    </a:p>
                  </a:txBody>
                  <a:tcPr marL="0" marR="0" marT="39369" marB="0">
                    <a:lnL w="12700">
                      <a:solidFill>
                        <a:srgbClr val="003366"/>
                      </a:solidFill>
                      <a:prstDash val="solid"/>
                    </a:lnL>
                    <a:lnR w="12700">
                      <a:solidFill>
                        <a:srgbClr val="003366"/>
                      </a:solidFill>
                      <a:prstDash val="solid"/>
                    </a:lnR>
                    <a:lnT w="12700">
                      <a:solidFill>
                        <a:srgbClr val="003366"/>
                      </a:solidFill>
                      <a:prstDash val="solid"/>
                    </a:lnT>
                    <a:lnB w="12700">
                      <a:solidFill>
                        <a:srgbClr val="003366"/>
                      </a:solidFill>
                      <a:prstDash val="solid"/>
                    </a:lnB>
                  </a:tcPr>
                </a:tc>
                <a:tc>
                  <a:txBody>
                    <a:bodyPr/>
                    <a:lstStyle/>
                    <a:p>
                      <a:pPr algn="ctr">
                        <a:lnSpc>
                          <a:spcPct val="100000"/>
                        </a:lnSpc>
                        <a:spcBef>
                          <a:spcPts val="309"/>
                        </a:spcBef>
                      </a:pPr>
                      <a:r>
                        <a:rPr sz="1800" spc="-5" dirty="0">
                          <a:solidFill>
                            <a:srgbClr val="003366"/>
                          </a:solidFill>
                          <a:latin typeface="Times New Roman"/>
                          <a:cs typeface="Times New Roman"/>
                        </a:rPr>
                        <a:t>phospha</a:t>
                      </a:r>
                      <a:endParaRPr sz="1800" dirty="0">
                        <a:latin typeface="Times New Roman"/>
                        <a:cs typeface="Times New Roman"/>
                      </a:endParaRPr>
                    </a:p>
                  </a:txBody>
                  <a:tcPr marL="0" marR="0" marT="39369" marB="0">
                    <a:lnL w="12700">
                      <a:solidFill>
                        <a:srgbClr val="003366"/>
                      </a:solidFill>
                      <a:prstDash val="solid"/>
                    </a:lnL>
                    <a:lnR w="12700">
                      <a:solidFill>
                        <a:srgbClr val="003366"/>
                      </a:solidFill>
                      <a:prstDash val="solid"/>
                    </a:lnR>
                    <a:lnT w="12700">
                      <a:solidFill>
                        <a:srgbClr val="003366"/>
                      </a:solidFill>
                      <a:prstDash val="solid"/>
                    </a:lnT>
                    <a:lnB w="12700">
                      <a:solidFill>
                        <a:srgbClr val="003366"/>
                      </a:solidFill>
                      <a:prstDash val="solid"/>
                    </a:lnB>
                  </a:tcPr>
                </a:tc>
                <a:extLst>
                  <a:ext uri="{0D108BD9-81ED-4DB2-BD59-A6C34878D82A}">
                    <a16:rowId xmlns:a16="http://schemas.microsoft.com/office/drawing/2014/main" val="10005"/>
                  </a:ext>
                </a:extLst>
              </a:tr>
            </a:tbl>
          </a:graphicData>
        </a:graphic>
      </p:graphicFrame>
      <p:grpSp>
        <p:nvGrpSpPr>
          <p:cNvPr id="5" name="object 5"/>
          <p:cNvGrpSpPr/>
          <p:nvPr/>
        </p:nvGrpSpPr>
        <p:grpSpPr>
          <a:xfrm>
            <a:off x="2887543" y="4455227"/>
            <a:ext cx="242570" cy="1748155"/>
            <a:chOff x="1787651" y="4300728"/>
            <a:chExt cx="242570" cy="1748155"/>
          </a:xfrm>
        </p:grpSpPr>
        <p:pic>
          <p:nvPicPr>
            <p:cNvPr id="6" name="object 6"/>
            <p:cNvPicPr/>
            <p:nvPr/>
          </p:nvPicPr>
          <p:blipFill>
            <a:blip r:embed="rId2" cstate="print"/>
            <a:stretch>
              <a:fillRect/>
            </a:stretch>
          </p:blipFill>
          <p:spPr>
            <a:xfrm>
              <a:off x="1787651" y="4300728"/>
              <a:ext cx="242315" cy="1748027"/>
            </a:xfrm>
            <a:prstGeom prst="rect">
              <a:avLst/>
            </a:prstGeom>
          </p:spPr>
        </p:pic>
        <p:sp>
          <p:nvSpPr>
            <p:cNvPr id="7" name="object 7"/>
            <p:cNvSpPr/>
            <p:nvPr/>
          </p:nvSpPr>
          <p:spPr>
            <a:xfrm>
              <a:off x="1869947" y="4322826"/>
              <a:ext cx="78105" cy="1584325"/>
            </a:xfrm>
            <a:custGeom>
              <a:avLst/>
              <a:gdLst/>
              <a:ahLst/>
              <a:cxnLst/>
              <a:rect l="l" t="t" r="r" b="b"/>
              <a:pathLst>
                <a:path w="78105" h="1584325">
                  <a:moveTo>
                    <a:pt x="25907" y="1506601"/>
                  </a:moveTo>
                  <a:lnTo>
                    <a:pt x="0" y="1506601"/>
                  </a:lnTo>
                  <a:lnTo>
                    <a:pt x="38862" y="1584325"/>
                  </a:lnTo>
                  <a:lnTo>
                    <a:pt x="71247" y="1519555"/>
                  </a:lnTo>
                  <a:lnTo>
                    <a:pt x="25907" y="1519555"/>
                  </a:lnTo>
                  <a:lnTo>
                    <a:pt x="25907" y="1506601"/>
                  </a:lnTo>
                  <a:close/>
                </a:path>
                <a:path w="78105" h="1584325">
                  <a:moveTo>
                    <a:pt x="51815" y="0"/>
                  </a:moveTo>
                  <a:lnTo>
                    <a:pt x="25907" y="0"/>
                  </a:lnTo>
                  <a:lnTo>
                    <a:pt x="25907" y="1519555"/>
                  </a:lnTo>
                  <a:lnTo>
                    <a:pt x="51815" y="1519555"/>
                  </a:lnTo>
                  <a:lnTo>
                    <a:pt x="51815" y="0"/>
                  </a:lnTo>
                  <a:close/>
                </a:path>
                <a:path w="78105" h="1584325">
                  <a:moveTo>
                    <a:pt x="77724" y="1506601"/>
                  </a:moveTo>
                  <a:lnTo>
                    <a:pt x="51815" y="1506601"/>
                  </a:lnTo>
                  <a:lnTo>
                    <a:pt x="51815" y="1519555"/>
                  </a:lnTo>
                  <a:lnTo>
                    <a:pt x="71247" y="1519555"/>
                  </a:lnTo>
                  <a:lnTo>
                    <a:pt x="77724" y="1506601"/>
                  </a:lnTo>
                  <a:close/>
                </a:path>
              </a:pathLst>
            </a:custGeom>
            <a:solidFill>
              <a:srgbClr val="C00000"/>
            </a:solidFill>
          </p:spPr>
          <p:txBody>
            <a:bodyPr wrap="square" lIns="0" tIns="0" rIns="0" bIns="0" rtlCol="0"/>
            <a:lstStyle/>
            <a:p>
              <a:endParaRPr/>
            </a:p>
          </p:txBody>
        </p:sp>
      </p:grpSp>
      <p:sp>
        <p:nvSpPr>
          <p:cNvPr id="8" name="object 8"/>
          <p:cNvSpPr txBox="1"/>
          <p:nvPr/>
        </p:nvSpPr>
        <p:spPr>
          <a:xfrm>
            <a:off x="405686" y="1188699"/>
            <a:ext cx="11307648" cy="3216265"/>
          </a:xfrm>
          <a:prstGeom prst="rect">
            <a:avLst/>
          </a:prstGeom>
        </p:spPr>
        <p:txBody>
          <a:bodyPr vert="horz" wrap="square" lIns="0" tIns="12065" rIns="0" bIns="0" rtlCol="0">
            <a:spAutoFit/>
          </a:bodyPr>
          <a:lstStyle/>
          <a:p>
            <a:pPr indent="-285750" algn="just">
              <a:spcBef>
                <a:spcPts val="600"/>
              </a:spcBef>
              <a:spcAft>
                <a:spcPts val="600"/>
              </a:spcAft>
              <a:buFont typeface="Arial" panose="020B0604020202020204" pitchFamily="34" charset="0"/>
              <a:buChar char="•"/>
            </a:pPr>
            <a:r>
              <a:rPr lang="en-GB" dirty="0">
                <a:cs typeface="Times New Roman"/>
              </a:rPr>
              <a:t>In replacement nomenclature, the heterocycle’s name is composed of the corresponding </a:t>
            </a:r>
            <a:r>
              <a:rPr lang="en-GB" b="1" dirty="0">
                <a:cs typeface="Times New Roman"/>
              </a:rPr>
              <a:t>carbocycle’s name </a:t>
            </a:r>
            <a:r>
              <a:rPr lang="en-GB" dirty="0">
                <a:cs typeface="Times New Roman"/>
              </a:rPr>
              <a:t>and an </a:t>
            </a:r>
            <a:r>
              <a:rPr lang="en-GB" b="1" dirty="0">
                <a:cs typeface="Times New Roman"/>
              </a:rPr>
              <a:t>elemental prefix for the heteroatom </a:t>
            </a:r>
            <a:r>
              <a:rPr lang="en-GB" dirty="0">
                <a:cs typeface="Times New Roman"/>
              </a:rPr>
              <a:t>introduced (if more than one heteroatom is present, they should be listed according to the priority order shown in table (A). </a:t>
            </a:r>
          </a:p>
          <a:p>
            <a:pPr indent="-285750" algn="just">
              <a:spcBef>
                <a:spcPts val="600"/>
              </a:spcBef>
              <a:spcAft>
                <a:spcPts val="600"/>
              </a:spcAft>
              <a:buFont typeface="Arial" panose="020B0604020202020204" pitchFamily="34" charset="0"/>
              <a:buChar char="•"/>
            </a:pPr>
            <a:r>
              <a:rPr lang="en-GB" dirty="0">
                <a:cs typeface="Times New Roman"/>
              </a:rPr>
              <a:t>This system is based on the fact that the heterocyclic compounds are derivatives of carbocyclic compounds.  Therefore, the nomenclature rules are similar to those applied to the carbocyclic compounds.</a:t>
            </a:r>
          </a:p>
          <a:p>
            <a:pPr algn="just">
              <a:spcBef>
                <a:spcPts val="600"/>
              </a:spcBef>
              <a:spcAft>
                <a:spcPts val="600"/>
              </a:spcAft>
            </a:pPr>
            <a:r>
              <a:rPr lang="en-GB" b="1" dirty="0">
                <a:solidFill>
                  <a:srgbClr val="00B0F0"/>
                </a:solidFill>
                <a:cs typeface="Times New Roman"/>
              </a:rPr>
              <a:t>It is used for the heterocycles containing unusual heteroatom(s), spiro-, and bridged heterocyclic systems, and other heterocycles greater than 10 membered</a:t>
            </a:r>
            <a:r>
              <a:rPr lang="uk-UA" b="1" dirty="0">
                <a:solidFill>
                  <a:srgbClr val="00B0F0"/>
                </a:solidFill>
                <a:cs typeface="Times New Roman"/>
              </a:rPr>
              <a:t>.</a:t>
            </a:r>
            <a:endParaRPr lang="en-GB" b="1" dirty="0">
              <a:solidFill>
                <a:srgbClr val="00B0F0"/>
              </a:solidFill>
              <a:cs typeface="Times New Roman"/>
            </a:endParaRPr>
          </a:p>
          <a:p>
            <a:pPr indent="-285750" algn="just">
              <a:spcBef>
                <a:spcPts val="600"/>
              </a:spcBef>
              <a:spcAft>
                <a:spcPts val="600"/>
              </a:spcAft>
              <a:buFont typeface="Arial" panose="020B0604020202020204" pitchFamily="34" charset="0"/>
              <a:buChar char="•"/>
            </a:pPr>
            <a:r>
              <a:rPr lang="en-GB" dirty="0">
                <a:cs typeface="Times New Roman"/>
              </a:rPr>
              <a:t>According to this nomenclature, tetrahydrofuran, for instance, is called </a:t>
            </a:r>
            <a:r>
              <a:rPr lang="en-GB" dirty="0" err="1">
                <a:cs typeface="Times New Roman"/>
              </a:rPr>
              <a:t>oxacyclopentane</a:t>
            </a:r>
            <a:r>
              <a:rPr lang="en-GB" dirty="0">
                <a:cs typeface="Times New Roman"/>
              </a:rPr>
              <a:t>.</a:t>
            </a:r>
          </a:p>
          <a:p>
            <a:pPr marR="5080" algn="just">
              <a:lnSpc>
                <a:spcPct val="150000"/>
              </a:lnSpc>
              <a:spcBef>
                <a:spcPts val="600"/>
              </a:spcBef>
              <a:tabLst>
                <a:tab pos="355600" algn="l"/>
              </a:tabLst>
            </a:pPr>
            <a:r>
              <a:rPr lang="en-GB" spc="-20" dirty="0">
                <a:solidFill>
                  <a:srgbClr val="C00000"/>
                </a:solidFill>
                <a:cs typeface="Times New Roman"/>
              </a:rPr>
              <a:t>				</a:t>
            </a:r>
            <a:r>
              <a:rPr spc="-20" dirty="0">
                <a:solidFill>
                  <a:srgbClr val="C00000"/>
                </a:solidFill>
                <a:cs typeface="Times New Roman"/>
              </a:rPr>
              <a:t>Table-</a:t>
            </a:r>
            <a:r>
              <a:rPr lang="en-GB" spc="-20" dirty="0">
                <a:solidFill>
                  <a:srgbClr val="C00000"/>
                </a:solidFill>
                <a:cs typeface="Times New Roman"/>
              </a:rPr>
              <a:t>A</a:t>
            </a:r>
            <a:endParaRPr dirty="0">
              <a:cs typeface="Times New Roman"/>
            </a:endParaRPr>
          </a:p>
        </p:txBody>
      </p:sp>
      <p:sp>
        <p:nvSpPr>
          <p:cNvPr id="10" name="TextBox 9">
            <a:extLst>
              <a:ext uri="{FF2B5EF4-FFF2-40B4-BE49-F238E27FC236}">
                <a16:creationId xmlns:a16="http://schemas.microsoft.com/office/drawing/2014/main" id="{4F992DFF-EFB0-4C48-A64E-0FE461DFD7C8}"/>
              </a:ext>
            </a:extLst>
          </p:cNvPr>
          <p:cNvSpPr txBox="1"/>
          <p:nvPr/>
        </p:nvSpPr>
        <p:spPr>
          <a:xfrm>
            <a:off x="7770412" y="6476801"/>
            <a:ext cx="4228106" cy="276999"/>
          </a:xfrm>
          <a:prstGeom prst="rect">
            <a:avLst/>
          </a:prstGeom>
          <a:noFill/>
        </p:spPr>
        <p:txBody>
          <a:bodyPr wrap="square">
            <a:spAutoFit/>
          </a:bodyPr>
          <a:lstStyle/>
          <a:p>
            <a:r>
              <a:rPr lang="en-GB" sz="1200" b="1" i="0" u="none" strike="noStrike" baseline="0" dirty="0"/>
              <a:t>Heterocyclic Chemistry</a:t>
            </a:r>
            <a:r>
              <a:rPr lang="uk-UA" sz="1200" b="1" i="0" u="none" strike="noStrike" baseline="0" dirty="0"/>
              <a:t>, </a:t>
            </a:r>
            <a:r>
              <a:rPr lang="sv-SE" sz="1200" dirty="0"/>
              <a:t>R. R. Gupta, M. Kumar, V. Gupta</a:t>
            </a:r>
            <a:r>
              <a:rPr lang="uk-UA" sz="1200" dirty="0"/>
              <a:t>, 1998</a:t>
            </a:r>
            <a:endParaRPr lang="en-GB" sz="1200" b="1" i="0" u="none" strike="noStrike" baseline="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a:extLst>
              <a:ext uri="{FF2B5EF4-FFF2-40B4-BE49-F238E27FC236}">
                <a16:creationId xmlns:a16="http://schemas.microsoft.com/office/drawing/2014/main" id="{2298E3F1-C2B4-4EA1-8D11-00CD18B68522}"/>
              </a:ext>
            </a:extLst>
          </p:cNvPr>
          <p:cNvSpPr>
            <a:spLocks noGrp="1"/>
          </p:cNvSpPr>
          <p:nvPr>
            <p:ph type="sldNum" sz="quarter" idx="12"/>
          </p:nvPr>
        </p:nvSpPr>
        <p:spPr/>
        <p:txBody>
          <a:bodyPr/>
          <a:lstStyle/>
          <a:p>
            <a:fld id="{93C419CB-0CF1-4F10-90F9-42551F8968FF}" type="slidenum">
              <a:rPr lang="en-GB" smtClean="0"/>
              <a:t>59</a:t>
            </a:fld>
            <a:endParaRPr lang="en-GB"/>
          </a:p>
        </p:txBody>
      </p:sp>
      <p:pic>
        <p:nvPicPr>
          <p:cNvPr id="4" name="Рисунок 3">
            <a:extLst>
              <a:ext uri="{FF2B5EF4-FFF2-40B4-BE49-F238E27FC236}">
                <a16:creationId xmlns:a16="http://schemas.microsoft.com/office/drawing/2014/main" id="{263E7DA6-2F06-4E8A-B8C8-D13189C32D2A}"/>
              </a:ext>
            </a:extLst>
          </p:cNvPr>
          <p:cNvPicPr>
            <a:picLocks noChangeAspect="1"/>
          </p:cNvPicPr>
          <p:nvPr/>
        </p:nvPicPr>
        <p:blipFill>
          <a:blip r:embed="rId2"/>
          <a:stretch>
            <a:fillRect/>
          </a:stretch>
        </p:blipFill>
        <p:spPr>
          <a:xfrm>
            <a:off x="2298032" y="293524"/>
            <a:ext cx="7064663" cy="6062828"/>
          </a:xfrm>
          <a:prstGeom prst="rect">
            <a:avLst/>
          </a:prstGeom>
        </p:spPr>
      </p:pic>
      <p:sp>
        <p:nvSpPr>
          <p:cNvPr id="7" name="TextBox 6">
            <a:extLst>
              <a:ext uri="{FF2B5EF4-FFF2-40B4-BE49-F238E27FC236}">
                <a16:creationId xmlns:a16="http://schemas.microsoft.com/office/drawing/2014/main" id="{10CA0E62-CB1A-4670-A76B-6593239B3D02}"/>
              </a:ext>
            </a:extLst>
          </p:cNvPr>
          <p:cNvSpPr txBox="1"/>
          <p:nvPr/>
        </p:nvSpPr>
        <p:spPr>
          <a:xfrm>
            <a:off x="7770412" y="6476801"/>
            <a:ext cx="4228106" cy="276999"/>
          </a:xfrm>
          <a:prstGeom prst="rect">
            <a:avLst/>
          </a:prstGeom>
          <a:noFill/>
        </p:spPr>
        <p:txBody>
          <a:bodyPr wrap="square">
            <a:spAutoFit/>
          </a:bodyPr>
          <a:lstStyle/>
          <a:p>
            <a:r>
              <a:rPr lang="en-GB" sz="1200" b="1" i="0" u="none" strike="noStrike" baseline="0" dirty="0"/>
              <a:t>Heterocyclic Chemistry</a:t>
            </a:r>
            <a:r>
              <a:rPr lang="uk-UA" sz="1200" b="1" i="0" u="none" strike="noStrike" baseline="0" dirty="0"/>
              <a:t>, </a:t>
            </a:r>
            <a:r>
              <a:rPr lang="sv-SE" sz="1200" dirty="0"/>
              <a:t>R. R. Gupta, M. Kumar, V. Gupta</a:t>
            </a:r>
            <a:r>
              <a:rPr lang="uk-UA" sz="1200" dirty="0"/>
              <a:t>, 1998</a:t>
            </a:r>
            <a:endParaRPr lang="en-GB" sz="1200" b="1" i="0" u="none" strike="noStrike" baseline="0" dirty="0"/>
          </a:p>
        </p:txBody>
      </p:sp>
    </p:spTree>
    <p:extLst>
      <p:ext uri="{BB962C8B-B14F-4D97-AF65-F5344CB8AC3E}">
        <p14:creationId xmlns:p14="http://schemas.microsoft.com/office/powerpoint/2010/main" val="161364856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5392812" y="4223143"/>
            <a:ext cx="160655" cy="205184"/>
          </a:xfrm>
          <a:prstGeom prst="rect">
            <a:avLst/>
          </a:prstGeom>
        </p:spPr>
        <p:txBody>
          <a:bodyPr vert="horz" wrap="square" lIns="0" tIns="12700" rIns="0" bIns="0" rtlCol="0">
            <a:spAutoFit/>
          </a:bodyPr>
          <a:lstStyle/>
          <a:p>
            <a:pPr marL="12700">
              <a:spcBef>
                <a:spcPts val="100"/>
              </a:spcBef>
            </a:pPr>
            <a:r>
              <a:rPr sz="1250" spc="85" dirty="0">
                <a:solidFill>
                  <a:srgbClr val="FF0000"/>
                </a:solidFill>
                <a:latin typeface="Arial MT"/>
                <a:cs typeface="Arial MT"/>
              </a:rPr>
              <a:t>O</a:t>
            </a:r>
            <a:endParaRPr sz="1250">
              <a:latin typeface="Arial MT"/>
              <a:cs typeface="Arial MT"/>
            </a:endParaRPr>
          </a:p>
        </p:txBody>
      </p:sp>
      <p:sp>
        <p:nvSpPr>
          <p:cNvPr id="4" name="object 4"/>
          <p:cNvSpPr txBox="1"/>
          <p:nvPr/>
        </p:nvSpPr>
        <p:spPr>
          <a:xfrm>
            <a:off x="5610217" y="3889178"/>
            <a:ext cx="150495" cy="205184"/>
          </a:xfrm>
          <a:prstGeom prst="rect">
            <a:avLst/>
          </a:prstGeom>
        </p:spPr>
        <p:txBody>
          <a:bodyPr vert="horz" wrap="square" lIns="0" tIns="12700" rIns="0" bIns="0" rtlCol="0">
            <a:spAutoFit/>
          </a:bodyPr>
          <a:lstStyle/>
          <a:p>
            <a:pPr marL="12700">
              <a:spcBef>
                <a:spcPts val="100"/>
              </a:spcBef>
            </a:pPr>
            <a:r>
              <a:rPr sz="1250" spc="80" dirty="0">
                <a:solidFill>
                  <a:srgbClr val="0000FF"/>
                </a:solidFill>
                <a:latin typeface="Arial MT"/>
                <a:cs typeface="Arial MT"/>
              </a:rPr>
              <a:t>N</a:t>
            </a:r>
            <a:endParaRPr sz="1250">
              <a:latin typeface="Arial MT"/>
              <a:cs typeface="Arial MT"/>
            </a:endParaRPr>
          </a:p>
        </p:txBody>
      </p:sp>
      <p:sp>
        <p:nvSpPr>
          <p:cNvPr id="5" name="object 5"/>
          <p:cNvSpPr/>
          <p:nvPr/>
        </p:nvSpPr>
        <p:spPr>
          <a:xfrm>
            <a:off x="5263068" y="3999553"/>
            <a:ext cx="362585" cy="257810"/>
          </a:xfrm>
          <a:custGeom>
            <a:avLst/>
            <a:gdLst/>
            <a:ahLst/>
            <a:cxnLst/>
            <a:rect l="l" t="t" r="r" b="b"/>
            <a:pathLst>
              <a:path w="362585" h="257810">
                <a:moveTo>
                  <a:pt x="257581" y="257387"/>
                </a:moveTo>
                <a:lnTo>
                  <a:pt x="362109" y="90325"/>
                </a:lnTo>
              </a:path>
              <a:path w="362585" h="257810">
                <a:moveTo>
                  <a:pt x="339325" y="0"/>
                </a:moveTo>
                <a:lnTo>
                  <a:pt x="0" y="0"/>
                </a:lnTo>
              </a:path>
              <a:path w="362585" h="257810">
                <a:moveTo>
                  <a:pt x="268016" y="46042"/>
                </a:moveTo>
                <a:lnTo>
                  <a:pt x="88005" y="46042"/>
                </a:lnTo>
              </a:path>
              <a:path w="362585" h="257810">
                <a:moveTo>
                  <a:pt x="0" y="0"/>
                </a:moveTo>
                <a:lnTo>
                  <a:pt x="163488" y="255469"/>
                </a:lnTo>
              </a:path>
            </a:pathLst>
          </a:custGeom>
          <a:ln w="16177">
            <a:solidFill>
              <a:srgbClr val="000000"/>
            </a:solidFill>
          </a:ln>
        </p:spPr>
        <p:txBody>
          <a:bodyPr wrap="square" lIns="0" tIns="0" rIns="0" bIns="0" rtlCol="0"/>
          <a:lstStyle/>
          <a:p>
            <a:endParaRPr/>
          </a:p>
        </p:txBody>
      </p:sp>
      <p:sp>
        <p:nvSpPr>
          <p:cNvPr id="6" name="object 6"/>
          <p:cNvSpPr txBox="1"/>
          <p:nvPr/>
        </p:nvSpPr>
        <p:spPr>
          <a:xfrm>
            <a:off x="5434554" y="2239659"/>
            <a:ext cx="160655" cy="205184"/>
          </a:xfrm>
          <a:prstGeom prst="rect">
            <a:avLst/>
          </a:prstGeom>
        </p:spPr>
        <p:txBody>
          <a:bodyPr vert="horz" wrap="square" lIns="0" tIns="12700" rIns="0" bIns="0" rtlCol="0">
            <a:spAutoFit/>
          </a:bodyPr>
          <a:lstStyle/>
          <a:p>
            <a:pPr marL="12700">
              <a:spcBef>
                <a:spcPts val="100"/>
              </a:spcBef>
            </a:pPr>
            <a:r>
              <a:rPr sz="1250" spc="85" dirty="0">
                <a:solidFill>
                  <a:srgbClr val="FF0000"/>
                </a:solidFill>
                <a:latin typeface="Arial MT"/>
                <a:cs typeface="Arial MT"/>
              </a:rPr>
              <a:t>O</a:t>
            </a:r>
            <a:endParaRPr sz="1250">
              <a:latin typeface="Arial MT"/>
              <a:cs typeface="Arial MT"/>
            </a:endParaRPr>
          </a:p>
        </p:txBody>
      </p:sp>
      <p:pic>
        <p:nvPicPr>
          <p:cNvPr id="7" name="object 7"/>
          <p:cNvPicPr/>
          <p:nvPr/>
        </p:nvPicPr>
        <p:blipFill>
          <a:blip r:embed="rId2" cstate="print"/>
          <a:stretch>
            <a:fillRect/>
          </a:stretch>
        </p:blipFill>
        <p:spPr>
          <a:xfrm>
            <a:off x="5334358" y="2036799"/>
            <a:ext cx="364056" cy="269579"/>
          </a:xfrm>
          <a:prstGeom prst="rect">
            <a:avLst/>
          </a:prstGeom>
        </p:spPr>
      </p:pic>
      <p:pic>
        <p:nvPicPr>
          <p:cNvPr id="8" name="object 8"/>
          <p:cNvPicPr/>
          <p:nvPr/>
        </p:nvPicPr>
        <p:blipFill>
          <a:blip r:embed="rId3" cstate="print"/>
          <a:stretch>
            <a:fillRect/>
          </a:stretch>
        </p:blipFill>
        <p:spPr>
          <a:xfrm>
            <a:off x="5273663" y="4709316"/>
            <a:ext cx="361966" cy="296795"/>
          </a:xfrm>
          <a:prstGeom prst="rect">
            <a:avLst/>
          </a:prstGeom>
        </p:spPr>
      </p:pic>
      <p:sp>
        <p:nvSpPr>
          <p:cNvPr id="9" name="object 9"/>
          <p:cNvSpPr txBox="1"/>
          <p:nvPr/>
        </p:nvSpPr>
        <p:spPr>
          <a:xfrm>
            <a:off x="5566388" y="2604638"/>
            <a:ext cx="150495" cy="205184"/>
          </a:xfrm>
          <a:prstGeom prst="rect">
            <a:avLst/>
          </a:prstGeom>
        </p:spPr>
        <p:txBody>
          <a:bodyPr vert="horz" wrap="square" lIns="0" tIns="12700" rIns="0" bIns="0" rtlCol="0">
            <a:spAutoFit/>
          </a:bodyPr>
          <a:lstStyle/>
          <a:p>
            <a:pPr marL="12700">
              <a:spcBef>
                <a:spcPts val="100"/>
              </a:spcBef>
            </a:pPr>
            <a:r>
              <a:rPr sz="1250" spc="80" dirty="0">
                <a:solidFill>
                  <a:srgbClr val="0000FF"/>
                </a:solidFill>
                <a:latin typeface="Arial MT"/>
                <a:cs typeface="Arial MT"/>
              </a:rPr>
              <a:t>N</a:t>
            </a:r>
            <a:endParaRPr sz="1250">
              <a:latin typeface="Arial MT"/>
              <a:cs typeface="Arial MT"/>
            </a:endParaRPr>
          </a:p>
        </p:txBody>
      </p:sp>
      <p:sp>
        <p:nvSpPr>
          <p:cNvPr id="10" name="object 10"/>
          <p:cNvSpPr txBox="1"/>
          <p:nvPr/>
        </p:nvSpPr>
        <p:spPr>
          <a:xfrm>
            <a:off x="5434554" y="2957787"/>
            <a:ext cx="160655" cy="205184"/>
          </a:xfrm>
          <a:prstGeom prst="rect">
            <a:avLst/>
          </a:prstGeom>
        </p:spPr>
        <p:txBody>
          <a:bodyPr vert="horz" wrap="square" lIns="0" tIns="12700" rIns="0" bIns="0" rtlCol="0">
            <a:spAutoFit/>
          </a:bodyPr>
          <a:lstStyle/>
          <a:p>
            <a:pPr marL="12700">
              <a:spcBef>
                <a:spcPts val="100"/>
              </a:spcBef>
            </a:pPr>
            <a:r>
              <a:rPr sz="1250" spc="85" dirty="0">
                <a:solidFill>
                  <a:srgbClr val="FF0000"/>
                </a:solidFill>
                <a:latin typeface="Arial MT"/>
                <a:cs typeface="Arial MT"/>
              </a:rPr>
              <a:t>O</a:t>
            </a:r>
            <a:endParaRPr sz="1250">
              <a:latin typeface="Arial MT"/>
              <a:cs typeface="Arial MT"/>
            </a:endParaRPr>
          </a:p>
        </p:txBody>
      </p:sp>
      <p:sp>
        <p:nvSpPr>
          <p:cNvPr id="11" name="object 11"/>
          <p:cNvSpPr/>
          <p:nvPr/>
        </p:nvSpPr>
        <p:spPr>
          <a:xfrm>
            <a:off x="5313679" y="2715173"/>
            <a:ext cx="403860" cy="301625"/>
          </a:xfrm>
          <a:custGeom>
            <a:avLst/>
            <a:gdLst/>
            <a:ahLst/>
            <a:cxnLst/>
            <a:rect l="l" t="t" r="r" b="b"/>
            <a:pathLst>
              <a:path w="403860" h="301625">
                <a:moveTo>
                  <a:pt x="403677" y="216781"/>
                </a:moveTo>
                <a:lnTo>
                  <a:pt x="361587" y="97839"/>
                </a:lnTo>
              </a:path>
              <a:path w="403860" h="301625">
                <a:moveTo>
                  <a:pt x="353587" y="201753"/>
                </a:moveTo>
                <a:lnTo>
                  <a:pt x="319845" y="109349"/>
                </a:lnTo>
              </a:path>
              <a:path w="403860" h="301625">
                <a:moveTo>
                  <a:pt x="244362" y="0"/>
                </a:moveTo>
                <a:lnTo>
                  <a:pt x="77048" y="0"/>
                </a:lnTo>
              </a:path>
              <a:path w="403860" h="301625">
                <a:moveTo>
                  <a:pt x="77048" y="0"/>
                </a:moveTo>
                <a:lnTo>
                  <a:pt x="0" y="216781"/>
                </a:lnTo>
              </a:path>
              <a:path w="403860" h="301625">
                <a:moveTo>
                  <a:pt x="108702" y="40446"/>
                </a:moveTo>
                <a:lnTo>
                  <a:pt x="52177" y="201753"/>
                </a:lnTo>
              </a:path>
              <a:path w="403860" h="301625">
                <a:moveTo>
                  <a:pt x="0" y="216781"/>
                </a:moveTo>
                <a:lnTo>
                  <a:pt x="125051" y="299433"/>
                </a:lnTo>
              </a:path>
              <a:path w="403860" h="301625">
                <a:moveTo>
                  <a:pt x="278104" y="301351"/>
                </a:moveTo>
                <a:lnTo>
                  <a:pt x="403677" y="216781"/>
                </a:lnTo>
              </a:path>
            </a:pathLst>
          </a:custGeom>
          <a:ln w="16177">
            <a:solidFill>
              <a:srgbClr val="000000"/>
            </a:solidFill>
          </a:ln>
        </p:spPr>
        <p:txBody>
          <a:bodyPr wrap="square" lIns="0" tIns="0" rIns="0" bIns="0" rtlCol="0"/>
          <a:lstStyle/>
          <a:p>
            <a:endParaRPr/>
          </a:p>
        </p:txBody>
      </p:sp>
      <p:sp>
        <p:nvSpPr>
          <p:cNvPr id="12" name="object 12"/>
          <p:cNvSpPr txBox="1"/>
          <p:nvPr/>
        </p:nvSpPr>
        <p:spPr>
          <a:xfrm>
            <a:off x="5430380" y="1149198"/>
            <a:ext cx="150495" cy="205184"/>
          </a:xfrm>
          <a:prstGeom prst="rect">
            <a:avLst/>
          </a:prstGeom>
        </p:spPr>
        <p:txBody>
          <a:bodyPr vert="horz" wrap="square" lIns="0" tIns="12700" rIns="0" bIns="0" rtlCol="0">
            <a:spAutoFit/>
          </a:bodyPr>
          <a:lstStyle/>
          <a:p>
            <a:pPr marL="12700">
              <a:spcBef>
                <a:spcPts val="100"/>
              </a:spcBef>
            </a:pPr>
            <a:r>
              <a:rPr sz="1250" spc="80" dirty="0">
                <a:solidFill>
                  <a:srgbClr val="0000FF"/>
                </a:solidFill>
                <a:latin typeface="Arial MT"/>
                <a:cs typeface="Arial MT"/>
              </a:rPr>
              <a:t>N</a:t>
            </a:r>
            <a:endParaRPr sz="1250">
              <a:latin typeface="Arial MT"/>
              <a:cs typeface="Arial MT"/>
            </a:endParaRPr>
          </a:p>
        </p:txBody>
      </p:sp>
      <p:sp>
        <p:nvSpPr>
          <p:cNvPr id="13" name="object 13"/>
          <p:cNvSpPr txBox="1"/>
          <p:nvPr/>
        </p:nvSpPr>
        <p:spPr>
          <a:xfrm>
            <a:off x="5430380" y="1521531"/>
            <a:ext cx="150495" cy="205184"/>
          </a:xfrm>
          <a:prstGeom prst="rect">
            <a:avLst/>
          </a:prstGeom>
        </p:spPr>
        <p:txBody>
          <a:bodyPr vert="horz" wrap="square" lIns="0" tIns="12700" rIns="0" bIns="0" rtlCol="0">
            <a:spAutoFit/>
          </a:bodyPr>
          <a:lstStyle/>
          <a:p>
            <a:pPr marL="12700">
              <a:spcBef>
                <a:spcPts val="100"/>
              </a:spcBef>
            </a:pPr>
            <a:r>
              <a:rPr sz="1250" spc="80" dirty="0">
                <a:solidFill>
                  <a:srgbClr val="0000FF"/>
                </a:solidFill>
                <a:latin typeface="Arial MT"/>
                <a:cs typeface="Arial MT"/>
              </a:rPr>
              <a:t>N</a:t>
            </a:r>
            <a:endParaRPr sz="1250">
              <a:latin typeface="Arial MT"/>
              <a:cs typeface="Arial MT"/>
            </a:endParaRPr>
          </a:p>
        </p:txBody>
      </p:sp>
      <p:sp>
        <p:nvSpPr>
          <p:cNvPr id="14" name="object 14"/>
          <p:cNvSpPr/>
          <p:nvPr/>
        </p:nvSpPr>
        <p:spPr>
          <a:xfrm>
            <a:off x="5327941" y="1309612"/>
            <a:ext cx="109220" cy="274955"/>
          </a:xfrm>
          <a:custGeom>
            <a:avLst/>
            <a:gdLst/>
            <a:ahLst/>
            <a:cxnLst/>
            <a:rect l="l" t="t" r="r" b="b"/>
            <a:pathLst>
              <a:path w="109220" h="274955">
                <a:moveTo>
                  <a:pt x="83831" y="0"/>
                </a:moveTo>
                <a:lnTo>
                  <a:pt x="0" y="42205"/>
                </a:lnTo>
              </a:path>
              <a:path w="109220" h="274955">
                <a:moveTo>
                  <a:pt x="104876" y="34531"/>
                </a:moveTo>
                <a:lnTo>
                  <a:pt x="44350" y="65545"/>
                </a:lnTo>
              </a:path>
              <a:path w="109220" h="274955">
                <a:moveTo>
                  <a:pt x="0" y="42205"/>
                </a:moveTo>
                <a:lnTo>
                  <a:pt x="0" y="228291"/>
                </a:lnTo>
              </a:path>
              <a:path w="109220" h="274955">
                <a:moveTo>
                  <a:pt x="0" y="228291"/>
                </a:moveTo>
                <a:lnTo>
                  <a:pt x="85918" y="274493"/>
                </a:lnTo>
              </a:path>
              <a:path w="109220" h="274955">
                <a:moveTo>
                  <a:pt x="44350" y="205430"/>
                </a:moveTo>
                <a:lnTo>
                  <a:pt x="108702" y="239962"/>
                </a:lnTo>
              </a:path>
            </a:pathLst>
          </a:custGeom>
          <a:ln w="16177">
            <a:solidFill>
              <a:srgbClr val="000000"/>
            </a:solidFill>
          </a:ln>
        </p:spPr>
        <p:txBody>
          <a:bodyPr wrap="square" lIns="0" tIns="0" rIns="0" bIns="0" rtlCol="0"/>
          <a:lstStyle/>
          <a:p>
            <a:endParaRPr/>
          </a:p>
        </p:txBody>
      </p:sp>
      <p:sp>
        <p:nvSpPr>
          <p:cNvPr id="15" name="object 15"/>
          <p:cNvSpPr/>
          <p:nvPr/>
        </p:nvSpPr>
        <p:spPr>
          <a:xfrm>
            <a:off x="5595958" y="1309612"/>
            <a:ext cx="83820" cy="274955"/>
          </a:xfrm>
          <a:custGeom>
            <a:avLst/>
            <a:gdLst/>
            <a:ahLst/>
            <a:cxnLst/>
            <a:rect l="l" t="t" r="r" b="b"/>
            <a:pathLst>
              <a:path w="83820" h="274955">
                <a:moveTo>
                  <a:pt x="0" y="274493"/>
                </a:moveTo>
                <a:lnTo>
                  <a:pt x="83483" y="228291"/>
                </a:lnTo>
              </a:path>
              <a:path w="83820" h="274955">
                <a:moveTo>
                  <a:pt x="83483" y="228291"/>
                </a:moveTo>
                <a:lnTo>
                  <a:pt x="83483" y="42205"/>
                </a:lnTo>
              </a:path>
              <a:path w="83820" h="274955">
                <a:moveTo>
                  <a:pt x="39654" y="205430"/>
                </a:moveTo>
                <a:lnTo>
                  <a:pt x="39654" y="65545"/>
                </a:lnTo>
              </a:path>
              <a:path w="83820" h="274955">
                <a:moveTo>
                  <a:pt x="83483" y="42205"/>
                </a:moveTo>
                <a:lnTo>
                  <a:pt x="2087" y="0"/>
                </a:lnTo>
              </a:path>
            </a:pathLst>
          </a:custGeom>
          <a:ln w="16177">
            <a:solidFill>
              <a:srgbClr val="000000"/>
            </a:solidFill>
          </a:ln>
        </p:spPr>
        <p:txBody>
          <a:bodyPr wrap="square" lIns="0" tIns="0" rIns="0" bIns="0" rtlCol="0"/>
          <a:lstStyle/>
          <a:p>
            <a:endParaRPr/>
          </a:p>
        </p:txBody>
      </p:sp>
      <p:sp>
        <p:nvSpPr>
          <p:cNvPr id="16" name="object 16"/>
          <p:cNvSpPr txBox="1"/>
          <p:nvPr/>
        </p:nvSpPr>
        <p:spPr>
          <a:xfrm>
            <a:off x="5401159" y="4810978"/>
            <a:ext cx="335280" cy="675640"/>
          </a:xfrm>
          <a:prstGeom prst="rect">
            <a:avLst/>
          </a:prstGeom>
        </p:spPr>
        <p:txBody>
          <a:bodyPr vert="horz" wrap="square" lIns="0" tIns="12700" rIns="0" bIns="0" rtlCol="0">
            <a:spAutoFit/>
          </a:bodyPr>
          <a:lstStyle/>
          <a:p>
            <a:pPr marL="196850">
              <a:lnSpc>
                <a:spcPts val="1250"/>
              </a:lnSpc>
              <a:spcBef>
                <a:spcPts val="100"/>
              </a:spcBef>
            </a:pPr>
            <a:r>
              <a:rPr sz="1250" spc="80" dirty="0">
                <a:solidFill>
                  <a:srgbClr val="0000FF"/>
                </a:solidFill>
                <a:latin typeface="Arial MT"/>
                <a:cs typeface="Arial MT"/>
              </a:rPr>
              <a:t>N</a:t>
            </a:r>
            <a:endParaRPr sz="1250">
              <a:latin typeface="Arial MT"/>
              <a:cs typeface="Arial MT"/>
            </a:endParaRPr>
          </a:p>
          <a:p>
            <a:pPr marL="12700">
              <a:lnSpc>
                <a:spcPts val="1250"/>
              </a:lnSpc>
            </a:pPr>
            <a:r>
              <a:rPr sz="1250" spc="75" dirty="0">
                <a:solidFill>
                  <a:srgbClr val="FF0000"/>
                </a:solidFill>
                <a:latin typeface="Arial MT"/>
                <a:cs typeface="Arial MT"/>
              </a:rPr>
              <a:t>S</a:t>
            </a:r>
            <a:endParaRPr sz="1250">
              <a:latin typeface="Arial MT"/>
              <a:cs typeface="Arial MT"/>
            </a:endParaRPr>
          </a:p>
          <a:p>
            <a:pPr marL="20955">
              <a:spcBef>
                <a:spcPts val="1115"/>
              </a:spcBef>
            </a:pPr>
            <a:r>
              <a:rPr sz="1250" spc="85" dirty="0">
                <a:solidFill>
                  <a:srgbClr val="FF0000"/>
                </a:solidFill>
                <a:latin typeface="Arial MT"/>
                <a:cs typeface="Arial MT"/>
              </a:rPr>
              <a:t>O</a:t>
            </a:r>
            <a:endParaRPr sz="1250">
              <a:latin typeface="Arial MT"/>
              <a:cs typeface="Arial MT"/>
            </a:endParaRPr>
          </a:p>
        </p:txBody>
      </p:sp>
      <p:sp>
        <p:nvSpPr>
          <p:cNvPr id="17" name="object 17"/>
          <p:cNvSpPr txBox="1"/>
          <p:nvPr/>
        </p:nvSpPr>
        <p:spPr>
          <a:xfrm>
            <a:off x="5415944" y="5624915"/>
            <a:ext cx="150495" cy="349250"/>
          </a:xfrm>
          <a:prstGeom prst="rect">
            <a:avLst/>
          </a:prstGeom>
        </p:spPr>
        <p:txBody>
          <a:bodyPr vert="horz" wrap="square" lIns="0" tIns="71120" rIns="0" bIns="0" rtlCol="0">
            <a:spAutoFit/>
          </a:bodyPr>
          <a:lstStyle/>
          <a:p>
            <a:pPr marL="12700" marR="5080">
              <a:lnSpc>
                <a:spcPct val="69600"/>
              </a:lnSpc>
              <a:spcBef>
                <a:spcPts val="560"/>
              </a:spcBef>
            </a:pPr>
            <a:r>
              <a:rPr sz="1250" spc="55" dirty="0">
                <a:solidFill>
                  <a:srgbClr val="0000FF"/>
                </a:solidFill>
                <a:latin typeface="Arial MT"/>
                <a:cs typeface="Arial MT"/>
              </a:rPr>
              <a:t>N  H</a:t>
            </a:r>
            <a:endParaRPr sz="1250">
              <a:latin typeface="Arial MT"/>
              <a:cs typeface="Arial MT"/>
            </a:endParaRPr>
          </a:p>
        </p:txBody>
      </p:sp>
      <p:sp>
        <p:nvSpPr>
          <p:cNvPr id="18" name="object 18"/>
          <p:cNvSpPr/>
          <p:nvPr/>
        </p:nvSpPr>
        <p:spPr>
          <a:xfrm>
            <a:off x="5321681" y="5426521"/>
            <a:ext cx="81915" cy="260985"/>
          </a:xfrm>
          <a:custGeom>
            <a:avLst/>
            <a:gdLst/>
            <a:ahLst/>
            <a:cxnLst/>
            <a:rect l="l" t="t" r="r" b="b"/>
            <a:pathLst>
              <a:path w="81914" h="260985">
                <a:moveTo>
                  <a:pt x="81744" y="0"/>
                </a:moveTo>
                <a:lnTo>
                  <a:pt x="0" y="41869"/>
                </a:lnTo>
              </a:path>
              <a:path w="81914" h="260985">
                <a:moveTo>
                  <a:pt x="0" y="41869"/>
                </a:moveTo>
                <a:lnTo>
                  <a:pt x="0" y="220634"/>
                </a:lnTo>
              </a:path>
              <a:path w="81914" h="260985">
                <a:moveTo>
                  <a:pt x="0" y="220634"/>
                </a:moveTo>
                <a:lnTo>
                  <a:pt x="77570" y="260968"/>
                </a:lnTo>
              </a:path>
            </a:pathLst>
          </a:custGeom>
          <a:ln w="16177">
            <a:solidFill>
              <a:srgbClr val="000000"/>
            </a:solidFill>
          </a:ln>
        </p:spPr>
        <p:txBody>
          <a:bodyPr wrap="square" lIns="0" tIns="0" rIns="0" bIns="0" rtlCol="0"/>
          <a:lstStyle/>
          <a:p>
            <a:endParaRPr/>
          </a:p>
        </p:txBody>
      </p:sp>
      <p:sp>
        <p:nvSpPr>
          <p:cNvPr id="19" name="object 19"/>
          <p:cNvSpPr/>
          <p:nvPr/>
        </p:nvSpPr>
        <p:spPr>
          <a:xfrm>
            <a:off x="5574914" y="5424587"/>
            <a:ext cx="84455" cy="263525"/>
          </a:xfrm>
          <a:custGeom>
            <a:avLst/>
            <a:gdLst/>
            <a:ahLst/>
            <a:cxnLst/>
            <a:rect l="l" t="t" r="r" b="b"/>
            <a:pathLst>
              <a:path w="84454" h="263525">
                <a:moveTo>
                  <a:pt x="6261" y="262903"/>
                </a:moveTo>
                <a:lnTo>
                  <a:pt x="83831" y="222568"/>
                </a:lnTo>
              </a:path>
              <a:path w="84454" h="263525">
                <a:moveTo>
                  <a:pt x="83831" y="222568"/>
                </a:moveTo>
                <a:lnTo>
                  <a:pt x="83831" y="43803"/>
                </a:lnTo>
              </a:path>
              <a:path w="84454" h="263525">
                <a:moveTo>
                  <a:pt x="83831" y="43803"/>
                </a:moveTo>
                <a:lnTo>
                  <a:pt x="0" y="0"/>
                </a:lnTo>
              </a:path>
            </a:pathLst>
          </a:custGeom>
          <a:ln w="16177">
            <a:solidFill>
              <a:srgbClr val="000000"/>
            </a:solidFill>
          </a:ln>
        </p:spPr>
        <p:txBody>
          <a:bodyPr wrap="square" lIns="0" tIns="0" rIns="0" bIns="0" rtlCol="0"/>
          <a:lstStyle/>
          <a:p>
            <a:endParaRPr/>
          </a:p>
        </p:txBody>
      </p:sp>
      <p:sp>
        <p:nvSpPr>
          <p:cNvPr id="20" name="object 20"/>
          <p:cNvSpPr/>
          <p:nvPr/>
        </p:nvSpPr>
        <p:spPr>
          <a:xfrm>
            <a:off x="2023639" y="3978611"/>
            <a:ext cx="419100" cy="332740"/>
          </a:xfrm>
          <a:custGeom>
            <a:avLst/>
            <a:gdLst/>
            <a:ahLst/>
            <a:cxnLst/>
            <a:rect l="l" t="t" r="r" b="b"/>
            <a:pathLst>
              <a:path w="419100" h="332739">
                <a:moveTo>
                  <a:pt x="209466" y="332365"/>
                </a:moveTo>
                <a:lnTo>
                  <a:pt x="418523" y="0"/>
                </a:lnTo>
              </a:path>
              <a:path w="419100" h="332739">
                <a:moveTo>
                  <a:pt x="418523" y="0"/>
                </a:moveTo>
                <a:lnTo>
                  <a:pt x="0" y="0"/>
                </a:lnTo>
              </a:path>
              <a:path w="419100" h="332739">
                <a:moveTo>
                  <a:pt x="332952" y="46042"/>
                </a:moveTo>
                <a:lnTo>
                  <a:pt x="85979" y="46042"/>
                </a:lnTo>
              </a:path>
              <a:path w="419100" h="332739">
                <a:moveTo>
                  <a:pt x="0" y="0"/>
                </a:moveTo>
                <a:lnTo>
                  <a:pt x="209466" y="332365"/>
                </a:lnTo>
              </a:path>
            </a:pathLst>
          </a:custGeom>
          <a:ln w="16177">
            <a:solidFill>
              <a:srgbClr val="000000"/>
            </a:solidFill>
          </a:ln>
        </p:spPr>
        <p:txBody>
          <a:bodyPr wrap="square" lIns="0" tIns="0" rIns="0" bIns="0" rtlCol="0"/>
          <a:lstStyle/>
          <a:p>
            <a:endParaRPr/>
          </a:p>
        </p:txBody>
      </p:sp>
      <p:pic>
        <p:nvPicPr>
          <p:cNvPr id="21" name="object 21"/>
          <p:cNvPicPr/>
          <p:nvPr/>
        </p:nvPicPr>
        <p:blipFill>
          <a:blip r:embed="rId4" cstate="print"/>
          <a:stretch>
            <a:fillRect/>
          </a:stretch>
        </p:blipFill>
        <p:spPr>
          <a:xfrm>
            <a:off x="2092827" y="2015540"/>
            <a:ext cx="364012" cy="319935"/>
          </a:xfrm>
          <a:prstGeom prst="rect">
            <a:avLst/>
          </a:prstGeom>
        </p:spPr>
      </p:pic>
      <p:pic>
        <p:nvPicPr>
          <p:cNvPr id="22" name="object 22"/>
          <p:cNvPicPr/>
          <p:nvPr/>
        </p:nvPicPr>
        <p:blipFill>
          <a:blip r:embed="rId5" cstate="print"/>
          <a:stretch>
            <a:fillRect/>
          </a:stretch>
        </p:blipFill>
        <p:spPr>
          <a:xfrm>
            <a:off x="2034241" y="4688377"/>
            <a:ext cx="393517" cy="346795"/>
          </a:xfrm>
          <a:prstGeom prst="rect">
            <a:avLst/>
          </a:prstGeom>
        </p:spPr>
      </p:pic>
      <p:pic>
        <p:nvPicPr>
          <p:cNvPr id="23" name="object 23"/>
          <p:cNvPicPr/>
          <p:nvPr/>
        </p:nvPicPr>
        <p:blipFill>
          <a:blip r:embed="rId6" cstate="print"/>
          <a:stretch>
            <a:fillRect/>
          </a:stretch>
        </p:blipFill>
        <p:spPr>
          <a:xfrm>
            <a:off x="2065849" y="2685543"/>
            <a:ext cx="384676" cy="337047"/>
          </a:xfrm>
          <a:prstGeom prst="rect">
            <a:avLst/>
          </a:prstGeom>
        </p:spPr>
      </p:pic>
      <p:pic>
        <p:nvPicPr>
          <p:cNvPr id="24" name="object 24"/>
          <p:cNvPicPr/>
          <p:nvPr/>
        </p:nvPicPr>
        <p:blipFill>
          <a:blip r:embed="rId7" cstate="print"/>
          <a:stretch>
            <a:fillRect/>
          </a:stretch>
        </p:blipFill>
        <p:spPr>
          <a:xfrm>
            <a:off x="2090654" y="1219040"/>
            <a:ext cx="368357" cy="388489"/>
          </a:xfrm>
          <a:prstGeom prst="rect">
            <a:avLst/>
          </a:prstGeom>
        </p:spPr>
      </p:pic>
      <p:pic>
        <p:nvPicPr>
          <p:cNvPr id="25" name="object 25"/>
          <p:cNvPicPr/>
          <p:nvPr/>
        </p:nvPicPr>
        <p:blipFill>
          <a:blip r:embed="rId8" cstate="print"/>
          <a:stretch>
            <a:fillRect/>
          </a:stretch>
        </p:blipFill>
        <p:spPr>
          <a:xfrm>
            <a:off x="2072110" y="5351122"/>
            <a:ext cx="353611" cy="371044"/>
          </a:xfrm>
          <a:prstGeom prst="rect">
            <a:avLst/>
          </a:prstGeom>
        </p:spPr>
      </p:pic>
      <p:sp>
        <p:nvSpPr>
          <p:cNvPr id="26" name="object 26"/>
          <p:cNvSpPr txBox="1"/>
          <p:nvPr/>
        </p:nvSpPr>
        <p:spPr>
          <a:xfrm>
            <a:off x="2938172" y="1301005"/>
            <a:ext cx="739140" cy="243015"/>
          </a:xfrm>
          <a:prstGeom prst="rect">
            <a:avLst/>
          </a:prstGeom>
        </p:spPr>
        <p:txBody>
          <a:bodyPr vert="horz" wrap="square" lIns="0" tIns="12065" rIns="0" bIns="0" rtlCol="0">
            <a:spAutoFit/>
          </a:bodyPr>
          <a:lstStyle/>
          <a:p>
            <a:pPr marL="12700">
              <a:spcBef>
                <a:spcPts val="95"/>
              </a:spcBef>
            </a:pPr>
            <a:r>
              <a:rPr sz="1500" spc="70" dirty="0">
                <a:latin typeface="Times New Roman"/>
                <a:cs typeface="Times New Roman"/>
              </a:rPr>
              <a:t>Ben</a:t>
            </a:r>
            <a:r>
              <a:rPr sz="1500" spc="40" dirty="0">
                <a:latin typeface="Times New Roman"/>
                <a:cs typeface="Times New Roman"/>
              </a:rPr>
              <a:t>z</a:t>
            </a:r>
            <a:r>
              <a:rPr sz="1500" spc="55" dirty="0">
                <a:latin typeface="Times New Roman"/>
                <a:cs typeface="Times New Roman"/>
              </a:rPr>
              <a:t>e</a:t>
            </a:r>
            <a:r>
              <a:rPr sz="1500" spc="70" dirty="0">
                <a:latin typeface="Times New Roman"/>
                <a:cs typeface="Times New Roman"/>
              </a:rPr>
              <a:t>n</a:t>
            </a:r>
            <a:r>
              <a:rPr sz="1500" spc="55" dirty="0">
                <a:latin typeface="Times New Roman"/>
                <a:cs typeface="Times New Roman"/>
              </a:rPr>
              <a:t>e</a:t>
            </a:r>
            <a:endParaRPr sz="1500">
              <a:latin typeface="Times New Roman"/>
              <a:cs typeface="Times New Roman"/>
            </a:endParaRPr>
          </a:p>
        </p:txBody>
      </p:sp>
      <p:sp>
        <p:nvSpPr>
          <p:cNvPr id="27" name="object 27"/>
          <p:cNvSpPr txBox="1"/>
          <p:nvPr/>
        </p:nvSpPr>
        <p:spPr>
          <a:xfrm>
            <a:off x="2745552" y="2720155"/>
            <a:ext cx="1745614" cy="243015"/>
          </a:xfrm>
          <a:prstGeom prst="rect">
            <a:avLst/>
          </a:prstGeom>
        </p:spPr>
        <p:txBody>
          <a:bodyPr vert="horz" wrap="square" lIns="0" tIns="12065" rIns="0" bIns="0" rtlCol="0">
            <a:spAutoFit/>
          </a:bodyPr>
          <a:lstStyle/>
          <a:p>
            <a:pPr marL="12700">
              <a:spcBef>
                <a:spcPts val="95"/>
              </a:spcBef>
            </a:pPr>
            <a:r>
              <a:rPr sz="1500" spc="55" dirty="0">
                <a:latin typeface="Times New Roman"/>
                <a:cs typeface="Times New Roman"/>
              </a:rPr>
              <a:t>1,3-Cyclopentadiene</a:t>
            </a:r>
            <a:endParaRPr sz="1500">
              <a:latin typeface="Times New Roman"/>
              <a:cs typeface="Times New Roman"/>
            </a:endParaRPr>
          </a:p>
        </p:txBody>
      </p:sp>
      <p:sp>
        <p:nvSpPr>
          <p:cNvPr id="28" name="object 28"/>
          <p:cNvSpPr txBox="1"/>
          <p:nvPr/>
        </p:nvSpPr>
        <p:spPr>
          <a:xfrm>
            <a:off x="2940277" y="3866409"/>
            <a:ext cx="1188720" cy="243015"/>
          </a:xfrm>
          <a:prstGeom prst="rect">
            <a:avLst/>
          </a:prstGeom>
        </p:spPr>
        <p:txBody>
          <a:bodyPr vert="horz" wrap="square" lIns="0" tIns="12065" rIns="0" bIns="0" rtlCol="0">
            <a:spAutoFit/>
          </a:bodyPr>
          <a:lstStyle/>
          <a:p>
            <a:pPr marL="12700">
              <a:spcBef>
                <a:spcPts val="95"/>
              </a:spcBef>
            </a:pPr>
            <a:r>
              <a:rPr sz="1500" spc="55" dirty="0">
                <a:latin typeface="Times New Roman"/>
                <a:cs typeface="Times New Roman"/>
              </a:rPr>
              <a:t>Cyclopropene</a:t>
            </a:r>
            <a:endParaRPr sz="1500">
              <a:latin typeface="Times New Roman"/>
              <a:cs typeface="Times New Roman"/>
            </a:endParaRPr>
          </a:p>
        </p:txBody>
      </p:sp>
      <p:sp>
        <p:nvSpPr>
          <p:cNvPr id="29" name="object 29"/>
          <p:cNvSpPr txBox="1"/>
          <p:nvPr/>
        </p:nvSpPr>
        <p:spPr>
          <a:xfrm>
            <a:off x="2777171" y="4684295"/>
            <a:ext cx="1744980" cy="243015"/>
          </a:xfrm>
          <a:prstGeom prst="rect">
            <a:avLst/>
          </a:prstGeom>
        </p:spPr>
        <p:txBody>
          <a:bodyPr vert="horz" wrap="square" lIns="0" tIns="12065" rIns="0" bIns="0" rtlCol="0">
            <a:spAutoFit/>
          </a:bodyPr>
          <a:lstStyle/>
          <a:p>
            <a:pPr marL="12700">
              <a:spcBef>
                <a:spcPts val="95"/>
              </a:spcBef>
            </a:pPr>
            <a:r>
              <a:rPr sz="1500" spc="70" dirty="0">
                <a:latin typeface="Times New Roman"/>
                <a:cs typeface="Times New Roman"/>
              </a:rPr>
              <a:t>1</a:t>
            </a:r>
            <a:r>
              <a:rPr sz="1500" spc="15" dirty="0">
                <a:latin typeface="Times New Roman"/>
                <a:cs typeface="Times New Roman"/>
              </a:rPr>
              <a:t>,</a:t>
            </a:r>
            <a:r>
              <a:rPr sz="1500" spc="70" dirty="0">
                <a:latin typeface="Times New Roman"/>
                <a:cs typeface="Times New Roman"/>
              </a:rPr>
              <a:t>3</a:t>
            </a:r>
            <a:r>
              <a:rPr sz="1500" spc="60" dirty="0">
                <a:latin typeface="Times New Roman"/>
                <a:cs typeface="Times New Roman"/>
              </a:rPr>
              <a:t>-C</a:t>
            </a:r>
            <a:r>
              <a:rPr sz="1500" spc="50" dirty="0">
                <a:latin typeface="Times New Roman"/>
                <a:cs typeface="Times New Roman"/>
              </a:rPr>
              <a:t>y</a:t>
            </a:r>
            <a:r>
              <a:rPr sz="1500" spc="60" dirty="0">
                <a:latin typeface="Times New Roman"/>
                <a:cs typeface="Times New Roman"/>
              </a:rPr>
              <a:t>c</a:t>
            </a:r>
            <a:r>
              <a:rPr sz="1500" spc="25" dirty="0">
                <a:latin typeface="Times New Roman"/>
                <a:cs typeface="Times New Roman"/>
              </a:rPr>
              <a:t>l</a:t>
            </a:r>
            <a:r>
              <a:rPr sz="1500" spc="65" dirty="0">
                <a:latin typeface="Times New Roman"/>
                <a:cs typeface="Times New Roman"/>
              </a:rPr>
              <a:t>o</a:t>
            </a:r>
            <a:r>
              <a:rPr sz="1500" spc="70" dirty="0">
                <a:latin typeface="Times New Roman"/>
                <a:cs typeface="Times New Roman"/>
              </a:rPr>
              <a:t>p</a:t>
            </a:r>
            <a:r>
              <a:rPr sz="1500" spc="40" dirty="0">
                <a:latin typeface="Times New Roman"/>
                <a:cs typeface="Times New Roman"/>
              </a:rPr>
              <a:t>e</a:t>
            </a:r>
            <a:r>
              <a:rPr sz="1500" spc="70" dirty="0">
                <a:latin typeface="Times New Roman"/>
                <a:cs typeface="Times New Roman"/>
              </a:rPr>
              <a:t>n</a:t>
            </a:r>
            <a:r>
              <a:rPr sz="1500" spc="25" dirty="0">
                <a:latin typeface="Times New Roman"/>
                <a:cs typeface="Times New Roman"/>
              </a:rPr>
              <a:t>t</a:t>
            </a:r>
            <a:r>
              <a:rPr sz="1500" spc="55" dirty="0">
                <a:latin typeface="Times New Roman"/>
                <a:cs typeface="Times New Roman"/>
              </a:rPr>
              <a:t>a</a:t>
            </a:r>
            <a:r>
              <a:rPr sz="1500" spc="70" dirty="0">
                <a:latin typeface="Times New Roman"/>
                <a:cs typeface="Times New Roman"/>
              </a:rPr>
              <a:t>d</a:t>
            </a:r>
            <a:r>
              <a:rPr sz="1500" spc="25" dirty="0">
                <a:latin typeface="Times New Roman"/>
                <a:cs typeface="Times New Roman"/>
              </a:rPr>
              <a:t>i</a:t>
            </a:r>
            <a:r>
              <a:rPr sz="1500" spc="55" dirty="0">
                <a:latin typeface="Times New Roman"/>
                <a:cs typeface="Times New Roman"/>
              </a:rPr>
              <a:t>e</a:t>
            </a:r>
            <a:r>
              <a:rPr sz="1500" spc="70" dirty="0">
                <a:latin typeface="Times New Roman"/>
                <a:cs typeface="Times New Roman"/>
              </a:rPr>
              <a:t>n</a:t>
            </a:r>
            <a:r>
              <a:rPr sz="1500" spc="55" dirty="0">
                <a:latin typeface="Times New Roman"/>
                <a:cs typeface="Times New Roman"/>
              </a:rPr>
              <a:t>e</a:t>
            </a:r>
            <a:endParaRPr sz="1500">
              <a:latin typeface="Times New Roman"/>
              <a:cs typeface="Times New Roman"/>
            </a:endParaRPr>
          </a:p>
        </p:txBody>
      </p:sp>
      <p:sp>
        <p:nvSpPr>
          <p:cNvPr id="30" name="object 30"/>
          <p:cNvSpPr txBox="1"/>
          <p:nvPr/>
        </p:nvSpPr>
        <p:spPr>
          <a:xfrm>
            <a:off x="2940278" y="5329459"/>
            <a:ext cx="1106805" cy="243015"/>
          </a:xfrm>
          <a:prstGeom prst="rect">
            <a:avLst/>
          </a:prstGeom>
        </p:spPr>
        <p:txBody>
          <a:bodyPr vert="horz" wrap="square" lIns="0" tIns="12065" rIns="0" bIns="0" rtlCol="0">
            <a:spAutoFit/>
          </a:bodyPr>
          <a:lstStyle/>
          <a:p>
            <a:pPr marL="12700">
              <a:spcBef>
                <a:spcPts val="95"/>
              </a:spcBef>
            </a:pPr>
            <a:r>
              <a:rPr sz="1500" spc="80" dirty="0">
                <a:latin typeface="Times New Roman"/>
                <a:cs typeface="Times New Roman"/>
              </a:rPr>
              <a:t>C</a:t>
            </a:r>
            <a:r>
              <a:rPr sz="1500" spc="50" dirty="0">
                <a:latin typeface="Times New Roman"/>
                <a:cs typeface="Times New Roman"/>
              </a:rPr>
              <a:t>y</a:t>
            </a:r>
            <a:r>
              <a:rPr sz="1500" spc="55" dirty="0">
                <a:latin typeface="Times New Roman"/>
                <a:cs typeface="Times New Roman"/>
              </a:rPr>
              <a:t>c</a:t>
            </a:r>
            <a:r>
              <a:rPr sz="1500" spc="40" dirty="0">
                <a:latin typeface="Times New Roman"/>
                <a:cs typeface="Times New Roman"/>
              </a:rPr>
              <a:t>l</a:t>
            </a:r>
            <a:r>
              <a:rPr sz="1500" spc="55" dirty="0">
                <a:latin typeface="Times New Roman"/>
                <a:cs typeface="Times New Roman"/>
              </a:rPr>
              <a:t>o</a:t>
            </a:r>
            <a:r>
              <a:rPr sz="1500" spc="70" dirty="0">
                <a:latin typeface="Times New Roman"/>
                <a:cs typeface="Times New Roman"/>
              </a:rPr>
              <a:t>h</a:t>
            </a:r>
            <a:r>
              <a:rPr sz="1500" spc="55" dirty="0">
                <a:latin typeface="Times New Roman"/>
                <a:cs typeface="Times New Roman"/>
              </a:rPr>
              <a:t>exa</a:t>
            </a:r>
            <a:r>
              <a:rPr sz="1500" spc="70" dirty="0">
                <a:latin typeface="Times New Roman"/>
                <a:cs typeface="Times New Roman"/>
              </a:rPr>
              <a:t>n</a:t>
            </a:r>
            <a:r>
              <a:rPr sz="1500" spc="55" dirty="0">
                <a:latin typeface="Times New Roman"/>
                <a:cs typeface="Times New Roman"/>
              </a:rPr>
              <a:t>e</a:t>
            </a:r>
            <a:endParaRPr sz="1500">
              <a:latin typeface="Times New Roman"/>
              <a:cs typeface="Times New Roman"/>
            </a:endParaRPr>
          </a:p>
        </p:txBody>
      </p:sp>
      <p:sp>
        <p:nvSpPr>
          <p:cNvPr id="31" name="object 31"/>
          <p:cNvSpPr txBox="1"/>
          <p:nvPr/>
        </p:nvSpPr>
        <p:spPr>
          <a:xfrm>
            <a:off x="6439312" y="1285817"/>
            <a:ext cx="1513205" cy="243015"/>
          </a:xfrm>
          <a:prstGeom prst="rect">
            <a:avLst/>
          </a:prstGeom>
        </p:spPr>
        <p:txBody>
          <a:bodyPr vert="horz" wrap="square" lIns="0" tIns="12065" rIns="0" bIns="0" rtlCol="0">
            <a:spAutoFit/>
          </a:bodyPr>
          <a:lstStyle/>
          <a:p>
            <a:pPr marL="12700">
              <a:spcBef>
                <a:spcPts val="95"/>
              </a:spcBef>
            </a:pPr>
            <a:r>
              <a:rPr sz="1500" spc="55" dirty="0">
                <a:latin typeface="Times New Roman"/>
                <a:cs typeface="Times New Roman"/>
              </a:rPr>
              <a:t>1,4-Diazabenzene</a:t>
            </a:r>
            <a:endParaRPr sz="1500">
              <a:latin typeface="Times New Roman"/>
              <a:cs typeface="Times New Roman"/>
            </a:endParaRPr>
          </a:p>
        </p:txBody>
      </p:sp>
      <p:sp>
        <p:nvSpPr>
          <p:cNvPr id="32" name="object 32"/>
          <p:cNvSpPr txBox="1"/>
          <p:nvPr/>
        </p:nvSpPr>
        <p:spPr>
          <a:xfrm>
            <a:off x="6443137" y="2078764"/>
            <a:ext cx="2109470" cy="243015"/>
          </a:xfrm>
          <a:prstGeom prst="rect">
            <a:avLst/>
          </a:prstGeom>
        </p:spPr>
        <p:txBody>
          <a:bodyPr vert="horz" wrap="square" lIns="0" tIns="12065" rIns="0" bIns="0" rtlCol="0">
            <a:spAutoFit/>
          </a:bodyPr>
          <a:lstStyle/>
          <a:p>
            <a:pPr marL="12700">
              <a:spcBef>
                <a:spcPts val="95"/>
              </a:spcBef>
            </a:pPr>
            <a:r>
              <a:rPr sz="1500" spc="50" dirty="0">
                <a:latin typeface="Times New Roman"/>
                <a:cs typeface="Times New Roman"/>
              </a:rPr>
              <a:t>Oxacyclopenta-2,4-diene</a:t>
            </a:r>
            <a:endParaRPr sz="1500">
              <a:latin typeface="Times New Roman"/>
              <a:cs typeface="Times New Roman"/>
            </a:endParaRPr>
          </a:p>
        </p:txBody>
      </p:sp>
      <p:sp>
        <p:nvSpPr>
          <p:cNvPr id="33" name="object 33"/>
          <p:cNvSpPr txBox="1"/>
          <p:nvPr/>
        </p:nvSpPr>
        <p:spPr>
          <a:xfrm>
            <a:off x="6445224" y="2750849"/>
            <a:ext cx="2800350" cy="243015"/>
          </a:xfrm>
          <a:prstGeom prst="rect">
            <a:avLst/>
          </a:prstGeom>
        </p:spPr>
        <p:txBody>
          <a:bodyPr vert="horz" wrap="square" lIns="0" tIns="12065" rIns="0" bIns="0" rtlCol="0">
            <a:spAutoFit/>
          </a:bodyPr>
          <a:lstStyle/>
          <a:p>
            <a:pPr marL="12700">
              <a:spcBef>
                <a:spcPts val="95"/>
              </a:spcBef>
            </a:pPr>
            <a:r>
              <a:rPr sz="1500" spc="50" dirty="0">
                <a:latin typeface="Times New Roman"/>
                <a:cs typeface="Times New Roman"/>
              </a:rPr>
              <a:t>1-Oxa-3-azacyclopenta-2,4-diene</a:t>
            </a:r>
            <a:endParaRPr sz="1500">
              <a:latin typeface="Times New Roman"/>
              <a:cs typeface="Times New Roman"/>
            </a:endParaRPr>
          </a:p>
        </p:txBody>
      </p:sp>
      <p:sp>
        <p:nvSpPr>
          <p:cNvPr id="34" name="object 34"/>
          <p:cNvSpPr txBox="1"/>
          <p:nvPr/>
        </p:nvSpPr>
        <p:spPr>
          <a:xfrm>
            <a:off x="6441051" y="3983593"/>
            <a:ext cx="1668145" cy="243015"/>
          </a:xfrm>
          <a:prstGeom prst="rect">
            <a:avLst/>
          </a:prstGeom>
        </p:spPr>
        <p:txBody>
          <a:bodyPr vert="horz" wrap="square" lIns="0" tIns="12065" rIns="0" bIns="0" rtlCol="0">
            <a:spAutoFit/>
          </a:bodyPr>
          <a:lstStyle/>
          <a:p>
            <a:pPr marL="12700">
              <a:spcBef>
                <a:spcPts val="95"/>
              </a:spcBef>
            </a:pPr>
            <a:r>
              <a:rPr sz="1500" spc="55" dirty="0">
                <a:latin typeface="Times New Roman"/>
                <a:cs typeface="Times New Roman"/>
              </a:rPr>
              <a:t>Oxazacyclopropene</a:t>
            </a:r>
            <a:endParaRPr sz="1500">
              <a:latin typeface="Times New Roman"/>
              <a:cs typeface="Times New Roman"/>
            </a:endParaRPr>
          </a:p>
        </p:txBody>
      </p:sp>
      <p:sp>
        <p:nvSpPr>
          <p:cNvPr id="35" name="object 35"/>
          <p:cNvSpPr txBox="1"/>
          <p:nvPr/>
        </p:nvSpPr>
        <p:spPr>
          <a:xfrm>
            <a:off x="6445224" y="4753198"/>
            <a:ext cx="2835910" cy="243015"/>
          </a:xfrm>
          <a:prstGeom prst="rect">
            <a:avLst/>
          </a:prstGeom>
        </p:spPr>
        <p:txBody>
          <a:bodyPr vert="horz" wrap="square" lIns="0" tIns="12065" rIns="0" bIns="0" rtlCol="0">
            <a:spAutoFit/>
          </a:bodyPr>
          <a:lstStyle/>
          <a:p>
            <a:pPr marL="12700">
              <a:spcBef>
                <a:spcPts val="95"/>
              </a:spcBef>
            </a:pPr>
            <a:r>
              <a:rPr sz="1500" spc="50" dirty="0">
                <a:latin typeface="Times New Roman"/>
                <a:cs typeface="Times New Roman"/>
              </a:rPr>
              <a:t>1-Thia-2-azacyclopenta-2,4-diene</a:t>
            </a:r>
            <a:endParaRPr sz="1500">
              <a:latin typeface="Times New Roman"/>
              <a:cs typeface="Times New Roman"/>
            </a:endParaRPr>
          </a:p>
        </p:txBody>
      </p:sp>
      <p:sp>
        <p:nvSpPr>
          <p:cNvPr id="36" name="object 36"/>
          <p:cNvSpPr txBox="1"/>
          <p:nvPr/>
        </p:nvSpPr>
        <p:spPr>
          <a:xfrm>
            <a:off x="6443137" y="5412063"/>
            <a:ext cx="2092960" cy="243015"/>
          </a:xfrm>
          <a:prstGeom prst="rect">
            <a:avLst/>
          </a:prstGeom>
        </p:spPr>
        <p:txBody>
          <a:bodyPr vert="horz" wrap="square" lIns="0" tIns="12065" rIns="0" bIns="0" rtlCol="0">
            <a:spAutoFit/>
          </a:bodyPr>
          <a:lstStyle/>
          <a:p>
            <a:pPr marL="12700">
              <a:spcBef>
                <a:spcPts val="95"/>
              </a:spcBef>
            </a:pPr>
            <a:r>
              <a:rPr sz="1500" spc="55" dirty="0">
                <a:latin typeface="Times New Roman"/>
                <a:cs typeface="Times New Roman"/>
              </a:rPr>
              <a:t>1-Oxa-4-azacyclohexane</a:t>
            </a:r>
            <a:endParaRPr sz="1500">
              <a:latin typeface="Times New Roman"/>
              <a:cs typeface="Times New Roman"/>
            </a:endParaRPr>
          </a:p>
        </p:txBody>
      </p:sp>
      <p:sp>
        <p:nvSpPr>
          <p:cNvPr id="37" name="object 37"/>
          <p:cNvSpPr/>
          <p:nvPr/>
        </p:nvSpPr>
        <p:spPr>
          <a:xfrm>
            <a:off x="5336464" y="6111715"/>
            <a:ext cx="431165" cy="411480"/>
          </a:xfrm>
          <a:custGeom>
            <a:avLst/>
            <a:gdLst/>
            <a:ahLst/>
            <a:cxnLst/>
            <a:rect l="l" t="t" r="r" b="b"/>
            <a:pathLst>
              <a:path w="431164" h="411479">
                <a:moveTo>
                  <a:pt x="0" y="101979"/>
                </a:moveTo>
                <a:lnTo>
                  <a:pt x="0" y="307490"/>
                </a:lnTo>
              </a:path>
              <a:path w="431164" h="411479">
                <a:moveTo>
                  <a:pt x="0" y="307490"/>
                </a:moveTo>
                <a:lnTo>
                  <a:pt x="194620" y="411021"/>
                </a:lnTo>
              </a:path>
              <a:path w="431164" h="411479">
                <a:moveTo>
                  <a:pt x="41567" y="284229"/>
                </a:moveTo>
                <a:lnTo>
                  <a:pt x="194620" y="364883"/>
                </a:lnTo>
              </a:path>
              <a:path w="431164" h="411479">
                <a:moveTo>
                  <a:pt x="194620" y="411021"/>
                </a:moveTo>
                <a:lnTo>
                  <a:pt x="387328" y="307490"/>
                </a:lnTo>
              </a:path>
              <a:path w="431164" h="411479">
                <a:moveTo>
                  <a:pt x="387328" y="307490"/>
                </a:moveTo>
                <a:lnTo>
                  <a:pt x="387328" y="101979"/>
                </a:lnTo>
              </a:path>
              <a:path w="431164" h="411479">
                <a:moveTo>
                  <a:pt x="431157" y="284229"/>
                </a:moveTo>
                <a:lnTo>
                  <a:pt x="431157" y="124857"/>
                </a:lnTo>
              </a:path>
              <a:path w="431164" h="411479">
                <a:moveTo>
                  <a:pt x="387328" y="101979"/>
                </a:moveTo>
                <a:lnTo>
                  <a:pt x="194620" y="0"/>
                </a:lnTo>
              </a:path>
              <a:path w="431164" h="411479">
                <a:moveTo>
                  <a:pt x="194620" y="0"/>
                </a:moveTo>
                <a:lnTo>
                  <a:pt x="0" y="101979"/>
                </a:lnTo>
              </a:path>
              <a:path w="431164" h="411479">
                <a:moveTo>
                  <a:pt x="194620" y="46137"/>
                </a:moveTo>
                <a:lnTo>
                  <a:pt x="41567" y="124857"/>
                </a:lnTo>
              </a:path>
            </a:pathLst>
          </a:custGeom>
          <a:ln w="16177">
            <a:solidFill>
              <a:srgbClr val="000000"/>
            </a:solidFill>
          </a:ln>
        </p:spPr>
        <p:txBody>
          <a:bodyPr wrap="square" lIns="0" tIns="0" rIns="0" bIns="0" rtlCol="0"/>
          <a:lstStyle/>
          <a:p>
            <a:endParaRPr/>
          </a:p>
        </p:txBody>
      </p:sp>
      <p:sp>
        <p:nvSpPr>
          <p:cNvPr id="38" name="object 38"/>
          <p:cNvSpPr txBox="1"/>
          <p:nvPr/>
        </p:nvSpPr>
        <p:spPr>
          <a:xfrm>
            <a:off x="6039287" y="6310494"/>
            <a:ext cx="150495" cy="205184"/>
          </a:xfrm>
          <a:prstGeom prst="rect">
            <a:avLst/>
          </a:prstGeom>
        </p:spPr>
        <p:txBody>
          <a:bodyPr vert="horz" wrap="square" lIns="0" tIns="12700" rIns="0" bIns="0" rtlCol="0">
            <a:spAutoFit/>
          </a:bodyPr>
          <a:lstStyle/>
          <a:p>
            <a:pPr marL="12700">
              <a:spcBef>
                <a:spcPts val="100"/>
              </a:spcBef>
            </a:pPr>
            <a:r>
              <a:rPr sz="1250" spc="80" dirty="0">
                <a:solidFill>
                  <a:srgbClr val="0000FF"/>
                </a:solidFill>
                <a:latin typeface="Arial MT"/>
                <a:cs typeface="Arial MT"/>
              </a:rPr>
              <a:t>N</a:t>
            </a:r>
            <a:endParaRPr sz="1250">
              <a:latin typeface="Arial MT"/>
              <a:cs typeface="Arial MT"/>
            </a:endParaRPr>
          </a:p>
        </p:txBody>
      </p:sp>
      <p:sp>
        <p:nvSpPr>
          <p:cNvPr id="39" name="object 39"/>
          <p:cNvSpPr/>
          <p:nvPr/>
        </p:nvSpPr>
        <p:spPr>
          <a:xfrm>
            <a:off x="5723793" y="6111715"/>
            <a:ext cx="389255" cy="411480"/>
          </a:xfrm>
          <a:custGeom>
            <a:avLst/>
            <a:gdLst/>
            <a:ahLst/>
            <a:cxnLst/>
            <a:rect l="l" t="t" r="r" b="b"/>
            <a:pathLst>
              <a:path w="389254" h="411479">
                <a:moveTo>
                  <a:pt x="0" y="307490"/>
                </a:moveTo>
                <a:lnTo>
                  <a:pt x="194272" y="411021"/>
                </a:lnTo>
              </a:path>
              <a:path w="389254" h="411479">
                <a:moveTo>
                  <a:pt x="194272" y="411021"/>
                </a:moveTo>
                <a:lnTo>
                  <a:pt x="294974" y="357129"/>
                </a:lnTo>
              </a:path>
              <a:path w="389254" h="411479">
                <a:moveTo>
                  <a:pt x="194272" y="364883"/>
                </a:moveTo>
                <a:lnTo>
                  <a:pt x="273929" y="322613"/>
                </a:lnTo>
              </a:path>
              <a:path w="389254" h="411479">
                <a:moveTo>
                  <a:pt x="388893" y="222952"/>
                </a:moveTo>
                <a:lnTo>
                  <a:pt x="388893" y="101979"/>
                </a:lnTo>
              </a:path>
              <a:path w="389254" h="411479">
                <a:moveTo>
                  <a:pt x="388893" y="101979"/>
                </a:moveTo>
                <a:lnTo>
                  <a:pt x="194272" y="0"/>
                </a:lnTo>
              </a:path>
              <a:path w="389254" h="411479">
                <a:moveTo>
                  <a:pt x="345064" y="124857"/>
                </a:moveTo>
                <a:lnTo>
                  <a:pt x="194272" y="46137"/>
                </a:lnTo>
              </a:path>
              <a:path w="389254" h="411479">
                <a:moveTo>
                  <a:pt x="194272" y="0"/>
                </a:moveTo>
                <a:lnTo>
                  <a:pt x="0" y="101979"/>
                </a:lnTo>
              </a:path>
            </a:pathLst>
          </a:custGeom>
          <a:ln w="16177">
            <a:solidFill>
              <a:srgbClr val="000000"/>
            </a:solidFill>
          </a:ln>
        </p:spPr>
        <p:txBody>
          <a:bodyPr wrap="square" lIns="0" tIns="0" rIns="0" bIns="0" rtlCol="0"/>
          <a:lstStyle/>
          <a:p>
            <a:endParaRPr/>
          </a:p>
        </p:txBody>
      </p:sp>
      <p:sp>
        <p:nvSpPr>
          <p:cNvPr id="40" name="object 40"/>
          <p:cNvSpPr txBox="1"/>
          <p:nvPr/>
        </p:nvSpPr>
        <p:spPr>
          <a:xfrm>
            <a:off x="5392812" y="3599177"/>
            <a:ext cx="160655" cy="205184"/>
          </a:xfrm>
          <a:prstGeom prst="rect">
            <a:avLst/>
          </a:prstGeom>
        </p:spPr>
        <p:txBody>
          <a:bodyPr vert="horz" wrap="square" lIns="0" tIns="12700" rIns="0" bIns="0" rtlCol="0">
            <a:spAutoFit/>
          </a:bodyPr>
          <a:lstStyle/>
          <a:p>
            <a:pPr marL="12700">
              <a:spcBef>
                <a:spcPts val="100"/>
              </a:spcBef>
            </a:pPr>
            <a:r>
              <a:rPr sz="1250" spc="85" dirty="0">
                <a:solidFill>
                  <a:srgbClr val="0000FF"/>
                </a:solidFill>
                <a:latin typeface="Arial MT"/>
                <a:cs typeface="Arial MT"/>
              </a:rPr>
              <a:t>O</a:t>
            </a:r>
            <a:endParaRPr sz="1250">
              <a:latin typeface="Arial MT"/>
              <a:cs typeface="Arial MT"/>
            </a:endParaRPr>
          </a:p>
        </p:txBody>
      </p:sp>
      <p:sp>
        <p:nvSpPr>
          <p:cNvPr id="41" name="object 41"/>
          <p:cNvSpPr/>
          <p:nvPr/>
        </p:nvSpPr>
        <p:spPr>
          <a:xfrm>
            <a:off x="5263068" y="3375588"/>
            <a:ext cx="421005" cy="257810"/>
          </a:xfrm>
          <a:custGeom>
            <a:avLst/>
            <a:gdLst/>
            <a:ahLst/>
            <a:cxnLst/>
            <a:rect l="l" t="t" r="r" b="b"/>
            <a:pathLst>
              <a:path w="421004" h="257810">
                <a:moveTo>
                  <a:pt x="257581" y="257547"/>
                </a:moveTo>
                <a:lnTo>
                  <a:pt x="420547" y="0"/>
                </a:lnTo>
              </a:path>
              <a:path w="421004" h="257810">
                <a:moveTo>
                  <a:pt x="420547" y="0"/>
                </a:moveTo>
                <a:lnTo>
                  <a:pt x="0" y="0"/>
                </a:lnTo>
              </a:path>
              <a:path w="421004" h="257810">
                <a:moveTo>
                  <a:pt x="0" y="0"/>
                </a:moveTo>
                <a:lnTo>
                  <a:pt x="163488" y="255629"/>
                </a:lnTo>
              </a:path>
            </a:pathLst>
          </a:custGeom>
          <a:ln w="16177">
            <a:solidFill>
              <a:srgbClr val="000000"/>
            </a:solidFill>
          </a:ln>
        </p:spPr>
        <p:txBody>
          <a:bodyPr wrap="square" lIns="0" tIns="0" rIns="0" bIns="0" rtlCol="0"/>
          <a:lstStyle/>
          <a:p>
            <a:endParaRPr/>
          </a:p>
        </p:txBody>
      </p:sp>
      <p:sp>
        <p:nvSpPr>
          <p:cNvPr id="42" name="object 42"/>
          <p:cNvSpPr/>
          <p:nvPr/>
        </p:nvSpPr>
        <p:spPr>
          <a:xfrm>
            <a:off x="2023639" y="3354646"/>
            <a:ext cx="419100" cy="332105"/>
          </a:xfrm>
          <a:custGeom>
            <a:avLst/>
            <a:gdLst/>
            <a:ahLst/>
            <a:cxnLst/>
            <a:rect l="l" t="t" r="r" b="b"/>
            <a:pathLst>
              <a:path w="419100" h="332104">
                <a:moveTo>
                  <a:pt x="209466" y="331886"/>
                </a:moveTo>
                <a:lnTo>
                  <a:pt x="418523" y="0"/>
                </a:lnTo>
              </a:path>
              <a:path w="419100" h="332104">
                <a:moveTo>
                  <a:pt x="418523" y="0"/>
                </a:moveTo>
                <a:lnTo>
                  <a:pt x="0" y="0"/>
                </a:lnTo>
              </a:path>
              <a:path w="419100" h="332104">
                <a:moveTo>
                  <a:pt x="0" y="0"/>
                </a:moveTo>
                <a:lnTo>
                  <a:pt x="209466" y="331886"/>
                </a:lnTo>
              </a:path>
            </a:pathLst>
          </a:custGeom>
          <a:ln w="16177">
            <a:solidFill>
              <a:srgbClr val="000000"/>
            </a:solidFill>
          </a:ln>
        </p:spPr>
        <p:txBody>
          <a:bodyPr wrap="square" lIns="0" tIns="0" rIns="0" bIns="0" rtlCol="0"/>
          <a:lstStyle/>
          <a:p>
            <a:endParaRPr/>
          </a:p>
        </p:txBody>
      </p:sp>
      <p:sp>
        <p:nvSpPr>
          <p:cNvPr id="43" name="object 43"/>
          <p:cNvSpPr txBox="1"/>
          <p:nvPr/>
        </p:nvSpPr>
        <p:spPr>
          <a:xfrm>
            <a:off x="2940277" y="3242125"/>
            <a:ext cx="1188720" cy="243015"/>
          </a:xfrm>
          <a:prstGeom prst="rect">
            <a:avLst/>
          </a:prstGeom>
        </p:spPr>
        <p:txBody>
          <a:bodyPr vert="horz" wrap="square" lIns="0" tIns="12065" rIns="0" bIns="0" rtlCol="0">
            <a:spAutoFit/>
          </a:bodyPr>
          <a:lstStyle/>
          <a:p>
            <a:pPr marL="12700">
              <a:spcBef>
                <a:spcPts val="95"/>
              </a:spcBef>
            </a:pPr>
            <a:r>
              <a:rPr sz="1500" spc="55" dirty="0">
                <a:latin typeface="Times New Roman"/>
                <a:cs typeface="Times New Roman"/>
              </a:rPr>
              <a:t>Cyclopropane</a:t>
            </a:r>
            <a:endParaRPr sz="1500">
              <a:latin typeface="Times New Roman"/>
              <a:cs typeface="Times New Roman"/>
            </a:endParaRPr>
          </a:p>
        </p:txBody>
      </p:sp>
      <p:sp>
        <p:nvSpPr>
          <p:cNvPr id="44" name="object 44"/>
          <p:cNvSpPr txBox="1"/>
          <p:nvPr/>
        </p:nvSpPr>
        <p:spPr>
          <a:xfrm>
            <a:off x="6531142" y="3322698"/>
            <a:ext cx="1485900" cy="243015"/>
          </a:xfrm>
          <a:prstGeom prst="rect">
            <a:avLst/>
          </a:prstGeom>
        </p:spPr>
        <p:txBody>
          <a:bodyPr vert="horz" wrap="square" lIns="0" tIns="12065" rIns="0" bIns="0" rtlCol="0">
            <a:spAutoFit/>
          </a:bodyPr>
          <a:lstStyle/>
          <a:p>
            <a:pPr marL="12700">
              <a:spcBef>
                <a:spcPts val="95"/>
              </a:spcBef>
            </a:pPr>
            <a:r>
              <a:rPr sz="1500" spc="55" dirty="0">
                <a:latin typeface="Times New Roman"/>
                <a:cs typeface="Times New Roman"/>
              </a:rPr>
              <a:t>Oxacyclopropane</a:t>
            </a:r>
            <a:endParaRPr sz="1500">
              <a:latin typeface="Times New Roman"/>
              <a:cs typeface="Times New Roman"/>
            </a:endParaRPr>
          </a:p>
        </p:txBody>
      </p:sp>
      <p:sp>
        <p:nvSpPr>
          <p:cNvPr id="45" name="object 45"/>
          <p:cNvSpPr txBox="1"/>
          <p:nvPr/>
        </p:nvSpPr>
        <p:spPr>
          <a:xfrm>
            <a:off x="6437225" y="6141461"/>
            <a:ext cx="1542415" cy="243015"/>
          </a:xfrm>
          <a:prstGeom prst="rect">
            <a:avLst/>
          </a:prstGeom>
        </p:spPr>
        <p:txBody>
          <a:bodyPr vert="horz" wrap="square" lIns="0" tIns="12065" rIns="0" bIns="0" rtlCol="0">
            <a:spAutoFit/>
          </a:bodyPr>
          <a:lstStyle/>
          <a:p>
            <a:pPr marL="12700">
              <a:spcBef>
                <a:spcPts val="95"/>
              </a:spcBef>
            </a:pPr>
            <a:r>
              <a:rPr sz="1500" spc="60" dirty="0">
                <a:latin typeface="Times New Roman"/>
                <a:cs typeface="Times New Roman"/>
              </a:rPr>
              <a:t>2-Azanaphthalene</a:t>
            </a:r>
            <a:endParaRPr sz="1500">
              <a:latin typeface="Times New Roman"/>
              <a:cs typeface="Times New Roman"/>
            </a:endParaRPr>
          </a:p>
        </p:txBody>
      </p:sp>
      <p:sp>
        <p:nvSpPr>
          <p:cNvPr id="46" name="object 46"/>
          <p:cNvSpPr/>
          <p:nvPr/>
        </p:nvSpPr>
        <p:spPr>
          <a:xfrm>
            <a:off x="2139122" y="6090773"/>
            <a:ext cx="814069" cy="430530"/>
          </a:xfrm>
          <a:custGeom>
            <a:avLst/>
            <a:gdLst/>
            <a:ahLst/>
            <a:cxnLst/>
            <a:rect l="l" t="t" r="r" b="b"/>
            <a:pathLst>
              <a:path w="814069" h="430529">
                <a:moveTo>
                  <a:pt x="202722" y="0"/>
                </a:moveTo>
                <a:lnTo>
                  <a:pt x="0" y="107399"/>
                </a:lnTo>
              </a:path>
              <a:path w="814069" h="430529">
                <a:moveTo>
                  <a:pt x="202722" y="46137"/>
                </a:moveTo>
                <a:lnTo>
                  <a:pt x="43825" y="130676"/>
                </a:lnTo>
              </a:path>
              <a:path w="814069" h="430529">
                <a:moveTo>
                  <a:pt x="0" y="107399"/>
                </a:moveTo>
                <a:lnTo>
                  <a:pt x="0" y="322613"/>
                </a:lnTo>
              </a:path>
              <a:path w="814069" h="430529">
                <a:moveTo>
                  <a:pt x="0" y="322613"/>
                </a:moveTo>
                <a:lnTo>
                  <a:pt x="202722" y="430029"/>
                </a:lnTo>
              </a:path>
              <a:path w="814069" h="430529">
                <a:moveTo>
                  <a:pt x="43825" y="299353"/>
                </a:moveTo>
                <a:lnTo>
                  <a:pt x="202722" y="383891"/>
                </a:lnTo>
              </a:path>
              <a:path w="814069" h="430529">
                <a:moveTo>
                  <a:pt x="202722" y="430029"/>
                </a:moveTo>
                <a:lnTo>
                  <a:pt x="407986" y="322613"/>
                </a:lnTo>
              </a:path>
              <a:path w="814069" h="430529">
                <a:moveTo>
                  <a:pt x="407986" y="322613"/>
                </a:moveTo>
                <a:lnTo>
                  <a:pt x="407986" y="107399"/>
                </a:lnTo>
              </a:path>
              <a:path w="814069" h="430529">
                <a:moveTo>
                  <a:pt x="407986" y="107399"/>
                </a:moveTo>
                <a:lnTo>
                  <a:pt x="202722" y="0"/>
                </a:lnTo>
              </a:path>
              <a:path w="814069" h="430529">
                <a:moveTo>
                  <a:pt x="407986" y="322613"/>
                </a:moveTo>
                <a:lnTo>
                  <a:pt x="610712" y="430029"/>
                </a:lnTo>
              </a:path>
              <a:path w="814069" h="430529">
                <a:moveTo>
                  <a:pt x="451815" y="299353"/>
                </a:moveTo>
                <a:lnTo>
                  <a:pt x="610712" y="383891"/>
                </a:lnTo>
              </a:path>
              <a:path w="814069" h="430529">
                <a:moveTo>
                  <a:pt x="610712" y="430029"/>
                </a:moveTo>
                <a:lnTo>
                  <a:pt x="813855" y="322613"/>
                </a:lnTo>
              </a:path>
              <a:path w="814069" h="430529">
                <a:moveTo>
                  <a:pt x="813855" y="322613"/>
                </a:moveTo>
                <a:lnTo>
                  <a:pt x="813855" y="107399"/>
                </a:lnTo>
              </a:path>
              <a:path w="814069" h="430529">
                <a:moveTo>
                  <a:pt x="770026" y="299353"/>
                </a:moveTo>
                <a:lnTo>
                  <a:pt x="770026" y="130676"/>
                </a:lnTo>
              </a:path>
              <a:path w="814069" h="430529">
                <a:moveTo>
                  <a:pt x="813855" y="107399"/>
                </a:moveTo>
                <a:lnTo>
                  <a:pt x="610712" y="0"/>
                </a:lnTo>
              </a:path>
              <a:path w="814069" h="430529">
                <a:moveTo>
                  <a:pt x="610712" y="0"/>
                </a:moveTo>
                <a:lnTo>
                  <a:pt x="407986" y="107399"/>
                </a:lnTo>
              </a:path>
              <a:path w="814069" h="430529">
                <a:moveTo>
                  <a:pt x="610712" y="46137"/>
                </a:moveTo>
                <a:lnTo>
                  <a:pt x="451815" y="130676"/>
                </a:lnTo>
              </a:path>
            </a:pathLst>
          </a:custGeom>
          <a:ln w="16177">
            <a:solidFill>
              <a:srgbClr val="000000"/>
            </a:solidFill>
          </a:ln>
        </p:spPr>
        <p:txBody>
          <a:bodyPr wrap="square" lIns="0" tIns="0" rIns="0" bIns="0" rtlCol="0"/>
          <a:lstStyle/>
          <a:p>
            <a:endParaRPr/>
          </a:p>
        </p:txBody>
      </p:sp>
      <p:sp>
        <p:nvSpPr>
          <p:cNvPr id="47" name="object 47"/>
          <p:cNvSpPr txBox="1"/>
          <p:nvPr/>
        </p:nvSpPr>
        <p:spPr>
          <a:xfrm>
            <a:off x="2496477" y="6446562"/>
            <a:ext cx="159385" cy="160940"/>
          </a:xfrm>
          <a:prstGeom prst="rect">
            <a:avLst/>
          </a:prstGeom>
        </p:spPr>
        <p:txBody>
          <a:bodyPr vert="horz" wrap="square" lIns="0" tIns="14604" rIns="0" bIns="0" rtlCol="0">
            <a:spAutoFit/>
          </a:bodyPr>
          <a:lstStyle/>
          <a:p>
            <a:pPr marL="12700">
              <a:spcBef>
                <a:spcPts val="114"/>
              </a:spcBef>
            </a:pPr>
            <a:r>
              <a:rPr sz="950" b="1" spc="50" dirty="0">
                <a:solidFill>
                  <a:srgbClr val="FF0000"/>
                </a:solidFill>
                <a:latin typeface="Times New Roman"/>
                <a:cs typeface="Times New Roman"/>
              </a:rPr>
              <a:t>8a</a:t>
            </a:r>
            <a:endParaRPr sz="950">
              <a:latin typeface="Times New Roman"/>
              <a:cs typeface="Times New Roman"/>
            </a:endParaRPr>
          </a:p>
        </p:txBody>
      </p:sp>
      <p:sp>
        <p:nvSpPr>
          <p:cNvPr id="48" name="object 48"/>
          <p:cNvSpPr txBox="1"/>
          <p:nvPr/>
        </p:nvSpPr>
        <p:spPr>
          <a:xfrm>
            <a:off x="2722803" y="6554361"/>
            <a:ext cx="91440" cy="159018"/>
          </a:xfrm>
          <a:prstGeom prst="rect">
            <a:avLst/>
          </a:prstGeom>
        </p:spPr>
        <p:txBody>
          <a:bodyPr vert="horz" wrap="square" lIns="0" tIns="12700" rIns="0" bIns="0" rtlCol="0">
            <a:spAutoFit/>
          </a:bodyPr>
          <a:lstStyle/>
          <a:p>
            <a:pPr marL="12700">
              <a:spcBef>
                <a:spcPts val="100"/>
              </a:spcBef>
            </a:pPr>
            <a:r>
              <a:rPr sz="950" b="1" spc="40" dirty="0">
                <a:solidFill>
                  <a:srgbClr val="FF0000"/>
                </a:solidFill>
                <a:latin typeface="Times New Roman"/>
                <a:cs typeface="Times New Roman"/>
              </a:rPr>
              <a:t>1</a:t>
            </a:r>
            <a:endParaRPr sz="950">
              <a:latin typeface="Times New Roman"/>
              <a:cs typeface="Times New Roman"/>
            </a:endParaRPr>
          </a:p>
        </p:txBody>
      </p:sp>
      <p:sp>
        <p:nvSpPr>
          <p:cNvPr id="49" name="object 49"/>
          <p:cNvSpPr txBox="1"/>
          <p:nvPr/>
        </p:nvSpPr>
        <p:spPr>
          <a:xfrm>
            <a:off x="2979898" y="6047543"/>
            <a:ext cx="1104265" cy="475615"/>
          </a:xfrm>
          <a:prstGeom prst="rect">
            <a:avLst/>
          </a:prstGeom>
        </p:spPr>
        <p:txBody>
          <a:bodyPr vert="horz" wrap="square" lIns="0" tIns="12700" rIns="0" bIns="0" rtlCol="0">
            <a:spAutoFit/>
          </a:bodyPr>
          <a:lstStyle/>
          <a:p>
            <a:pPr marL="12700">
              <a:lnSpc>
                <a:spcPts val="855"/>
              </a:lnSpc>
              <a:spcBef>
                <a:spcPts val="100"/>
              </a:spcBef>
            </a:pPr>
            <a:r>
              <a:rPr sz="950" b="1" spc="40" dirty="0">
                <a:solidFill>
                  <a:srgbClr val="FF0000"/>
                </a:solidFill>
                <a:latin typeface="Times New Roman"/>
                <a:cs typeface="Times New Roman"/>
              </a:rPr>
              <a:t>3</a:t>
            </a:r>
            <a:endParaRPr sz="950">
              <a:latin typeface="Times New Roman"/>
              <a:cs typeface="Times New Roman"/>
            </a:endParaRPr>
          </a:p>
          <a:p>
            <a:pPr marL="92075">
              <a:lnSpc>
                <a:spcPts val="1455"/>
              </a:lnSpc>
            </a:pPr>
            <a:r>
              <a:rPr sz="1450" spc="90" dirty="0">
                <a:latin typeface="Times New Roman"/>
                <a:cs typeface="Times New Roman"/>
              </a:rPr>
              <a:t>n</a:t>
            </a:r>
            <a:r>
              <a:rPr sz="1450" spc="80" dirty="0">
                <a:latin typeface="Times New Roman"/>
                <a:cs typeface="Times New Roman"/>
              </a:rPr>
              <a:t>a</a:t>
            </a:r>
            <a:r>
              <a:rPr sz="1450" spc="75" dirty="0">
                <a:latin typeface="Times New Roman"/>
                <a:cs typeface="Times New Roman"/>
              </a:rPr>
              <a:t>p</a:t>
            </a:r>
            <a:r>
              <a:rPr sz="1450" spc="90" dirty="0">
                <a:latin typeface="Times New Roman"/>
                <a:cs typeface="Times New Roman"/>
              </a:rPr>
              <a:t>h</a:t>
            </a:r>
            <a:r>
              <a:rPr sz="1450" spc="35" dirty="0">
                <a:latin typeface="Times New Roman"/>
                <a:cs typeface="Times New Roman"/>
              </a:rPr>
              <a:t>t</a:t>
            </a:r>
            <a:r>
              <a:rPr sz="1450" spc="95" dirty="0">
                <a:latin typeface="Times New Roman"/>
                <a:cs typeface="Times New Roman"/>
              </a:rPr>
              <a:t>h</a:t>
            </a:r>
            <a:r>
              <a:rPr sz="1450" spc="75" dirty="0">
                <a:latin typeface="Times New Roman"/>
                <a:cs typeface="Times New Roman"/>
              </a:rPr>
              <a:t>a</a:t>
            </a:r>
            <a:r>
              <a:rPr sz="1450" spc="35" dirty="0">
                <a:latin typeface="Times New Roman"/>
                <a:cs typeface="Times New Roman"/>
              </a:rPr>
              <a:t>l</a:t>
            </a:r>
            <a:r>
              <a:rPr sz="1450" spc="80" dirty="0">
                <a:latin typeface="Times New Roman"/>
                <a:cs typeface="Times New Roman"/>
              </a:rPr>
              <a:t>e</a:t>
            </a:r>
            <a:r>
              <a:rPr sz="1450" spc="75" dirty="0">
                <a:latin typeface="Times New Roman"/>
                <a:cs typeface="Times New Roman"/>
              </a:rPr>
              <a:t>ne</a:t>
            </a:r>
            <a:endParaRPr sz="1450">
              <a:latin typeface="Times New Roman"/>
              <a:cs typeface="Times New Roman"/>
            </a:endParaRPr>
          </a:p>
          <a:p>
            <a:pPr marL="33655">
              <a:spcBef>
                <a:spcPts val="90"/>
              </a:spcBef>
            </a:pPr>
            <a:r>
              <a:rPr sz="950" b="1" spc="40" dirty="0">
                <a:solidFill>
                  <a:srgbClr val="FF0000"/>
                </a:solidFill>
                <a:latin typeface="Times New Roman"/>
                <a:cs typeface="Times New Roman"/>
              </a:rPr>
              <a:t>2</a:t>
            </a:r>
            <a:endParaRPr sz="950">
              <a:latin typeface="Times New Roman"/>
              <a:cs typeface="Times New Roman"/>
            </a:endParaRPr>
          </a:p>
        </p:txBody>
      </p:sp>
      <p:sp>
        <p:nvSpPr>
          <p:cNvPr id="50" name="object 50"/>
          <p:cNvSpPr txBox="1"/>
          <p:nvPr/>
        </p:nvSpPr>
        <p:spPr>
          <a:xfrm>
            <a:off x="2705949" y="5912997"/>
            <a:ext cx="91440" cy="159018"/>
          </a:xfrm>
          <a:prstGeom prst="rect">
            <a:avLst/>
          </a:prstGeom>
        </p:spPr>
        <p:txBody>
          <a:bodyPr vert="horz" wrap="square" lIns="0" tIns="12700" rIns="0" bIns="0" rtlCol="0">
            <a:spAutoFit/>
          </a:bodyPr>
          <a:lstStyle/>
          <a:p>
            <a:pPr marL="12700">
              <a:spcBef>
                <a:spcPts val="100"/>
              </a:spcBef>
            </a:pPr>
            <a:r>
              <a:rPr sz="950" b="1" spc="40" dirty="0">
                <a:solidFill>
                  <a:srgbClr val="FF0000"/>
                </a:solidFill>
                <a:latin typeface="Times New Roman"/>
                <a:cs typeface="Times New Roman"/>
              </a:rPr>
              <a:t>4</a:t>
            </a:r>
            <a:endParaRPr sz="950">
              <a:latin typeface="Times New Roman"/>
              <a:cs typeface="Times New Roman"/>
            </a:endParaRPr>
          </a:p>
        </p:txBody>
      </p:sp>
      <p:sp>
        <p:nvSpPr>
          <p:cNvPr id="51" name="object 51"/>
          <p:cNvSpPr txBox="1"/>
          <p:nvPr/>
        </p:nvSpPr>
        <p:spPr>
          <a:xfrm>
            <a:off x="2312290" y="5907178"/>
            <a:ext cx="91440" cy="159018"/>
          </a:xfrm>
          <a:prstGeom prst="rect">
            <a:avLst/>
          </a:prstGeom>
        </p:spPr>
        <p:txBody>
          <a:bodyPr vert="horz" wrap="square" lIns="0" tIns="12700" rIns="0" bIns="0" rtlCol="0">
            <a:spAutoFit/>
          </a:bodyPr>
          <a:lstStyle/>
          <a:p>
            <a:pPr marL="12700">
              <a:spcBef>
                <a:spcPts val="100"/>
              </a:spcBef>
            </a:pPr>
            <a:r>
              <a:rPr sz="950" b="1" spc="40" dirty="0">
                <a:solidFill>
                  <a:srgbClr val="FF0000"/>
                </a:solidFill>
                <a:latin typeface="Times New Roman"/>
                <a:cs typeface="Times New Roman"/>
              </a:rPr>
              <a:t>5</a:t>
            </a:r>
            <a:endParaRPr sz="950">
              <a:latin typeface="Times New Roman"/>
              <a:cs typeface="Times New Roman"/>
            </a:endParaRPr>
          </a:p>
        </p:txBody>
      </p:sp>
      <p:sp>
        <p:nvSpPr>
          <p:cNvPr id="52" name="object 52"/>
          <p:cNvSpPr txBox="1"/>
          <p:nvPr/>
        </p:nvSpPr>
        <p:spPr>
          <a:xfrm>
            <a:off x="2005038" y="6072370"/>
            <a:ext cx="91440" cy="159018"/>
          </a:xfrm>
          <a:prstGeom prst="rect">
            <a:avLst/>
          </a:prstGeom>
        </p:spPr>
        <p:txBody>
          <a:bodyPr vert="horz" wrap="square" lIns="0" tIns="12700" rIns="0" bIns="0" rtlCol="0">
            <a:spAutoFit/>
          </a:bodyPr>
          <a:lstStyle/>
          <a:p>
            <a:pPr marL="12700">
              <a:spcBef>
                <a:spcPts val="100"/>
              </a:spcBef>
            </a:pPr>
            <a:r>
              <a:rPr sz="950" b="1" spc="40" dirty="0">
                <a:solidFill>
                  <a:srgbClr val="FF0000"/>
                </a:solidFill>
                <a:latin typeface="Times New Roman"/>
                <a:cs typeface="Times New Roman"/>
              </a:rPr>
              <a:t>6</a:t>
            </a:r>
            <a:endParaRPr sz="950">
              <a:latin typeface="Times New Roman"/>
              <a:cs typeface="Times New Roman"/>
            </a:endParaRPr>
          </a:p>
        </p:txBody>
      </p:sp>
      <p:sp>
        <p:nvSpPr>
          <p:cNvPr id="53" name="object 53"/>
          <p:cNvSpPr txBox="1"/>
          <p:nvPr/>
        </p:nvSpPr>
        <p:spPr>
          <a:xfrm>
            <a:off x="2019370" y="6358534"/>
            <a:ext cx="91440" cy="159018"/>
          </a:xfrm>
          <a:prstGeom prst="rect">
            <a:avLst/>
          </a:prstGeom>
        </p:spPr>
        <p:txBody>
          <a:bodyPr vert="horz" wrap="square" lIns="0" tIns="12700" rIns="0" bIns="0" rtlCol="0">
            <a:spAutoFit/>
          </a:bodyPr>
          <a:lstStyle/>
          <a:p>
            <a:pPr marL="12700">
              <a:spcBef>
                <a:spcPts val="100"/>
              </a:spcBef>
            </a:pPr>
            <a:r>
              <a:rPr sz="950" b="1" spc="40" dirty="0">
                <a:solidFill>
                  <a:srgbClr val="FF0000"/>
                </a:solidFill>
                <a:latin typeface="Times New Roman"/>
                <a:cs typeface="Times New Roman"/>
              </a:rPr>
              <a:t>7</a:t>
            </a:r>
            <a:endParaRPr sz="950">
              <a:latin typeface="Times New Roman"/>
              <a:cs typeface="Times New Roman"/>
            </a:endParaRPr>
          </a:p>
        </p:txBody>
      </p:sp>
      <p:sp>
        <p:nvSpPr>
          <p:cNvPr id="54" name="object 54"/>
          <p:cNvSpPr txBox="1"/>
          <p:nvPr/>
        </p:nvSpPr>
        <p:spPr>
          <a:xfrm>
            <a:off x="2318604" y="6533033"/>
            <a:ext cx="91440" cy="159018"/>
          </a:xfrm>
          <a:prstGeom prst="rect">
            <a:avLst/>
          </a:prstGeom>
        </p:spPr>
        <p:txBody>
          <a:bodyPr vert="horz" wrap="square" lIns="0" tIns="12700" rIns="0" bIns="0" rtlCol="0">
            <a:spAutoFit/>
          </a:bodyPr>
          <a:lstStyle/>
          <a:p>
            <a:pPr marL="12700">
              <a:spcBef>
                <a:spcPts val="100"/>
              </a:spcBef>
            </a:pPr>
            <a:r>
              <a:rPr sz="950" b="1" spc="40" dirty="0">
                <a:solidFill>
                  <a:srgbClr val="FF0000"/>
                </a:solidFill>
                <a:latin typeface="Times New Roman"/>
                <a:cs typeface="Times New Roman"/>
              </a:rPr>
              <a:t>8</a:t>
            </a:r>
            <a:endParaRPr sz="950">
              <a:latin typeface="Times New Roman"/>
              <a:cs typeface="Times New Roman"/>
            </a:endParaRPr>
          </a:p>
        </p:txBody>
      </p:sp>
      <p:sp>
        <p:nvSpPr>
          <p:cNvPr id="55" name="object 55"/>
          <p:cNvSpPr txBox="1"/>
          <p:nvPr/>
        </p:nvSpPr>
        <p:spPr>
          <a:xfrm>
            <a:off x="2473710" y="5978117"/>
            <a:ext cx="123825" cy="123752"/>
          </a:xfrm>
          <a:prstGeom prst="rect">
            <a:avLst/>
          </a:prstGeom>
        </p:spPr>
        <p:txBody>
          <a:bodyPr vert="horz" wrap="square" lIns="0" tIns="15875" rIns="0" bIns="0" rtlCol="0">
            <a:spAutoFit/>
          </a:bodyPr>
          <a:lstStyle/>
          <a:p>
            <a:pPr marL="12700">
              <a:spcBef>
                <a:spcPts val="125"/>
              </a:spcBef>
            </a:pPr>
            <a:r>
              <a:rPr sz="700" b="1" spc="20" dirty="0">
                <a:solidFill>
                  <a:srgbClr val="FF0000"/>
                </a:solidFill>
                <a:latin typeface="Times New Roman"/>
                <a:cs typeface="Times New Roman"/>
              </a:rPr>
              <a:t>4</a:t>
            </a:r>
            <a:r>
              <a:rPr sz="700" b="1" spc="40" dirty="0">
                <a:solidFill>
                  <a:srgbClr val="FF0000"/>
                </a:solidFill>
                <a:latin typeface="Times New Roman"/>
                <a:cs typeface="Times New Roman"/>
              </a:rPr>
              <a:t>a</a:t>
            </a:r>
            <a:endParaRPr sz="700">
              <a:latin typeface="Times New Roman"/>
              <a:cs typeface="Times New Roman"/>
            </a:endParaRPr>
          </a:p>
        </p:txBody>
      </p:sp>
      <p:sp>
        <p:nvSpPr>
          <p:cNvPr id="56" name="object 56"/>
          <p:cNvSpPr txBox="1"/>
          <p:nvPr/>
        </p:nvSpPr>
        <p:spPr>
          <a:xfrm>
            <a:off x="2714368" y="2030659"/>
            <a:ext cx="1744345" cy="239809"/>
          </a:xfrm>
          <a:prstGeom prst="rect">
            <a:avLst/>
          </a:prstGeom>
        </p:spPr>
        <p:txBody>
          <a:bodyPr vert="horz" wrap="square" lIns="0" tIns="16510" rIns="0" bIns="0" rtlCol="0">
            <a:spAutoFit/>
          </a:bodyPr>
          <a:lstStyle/>
          <a:p>
            <a:pPr marL="12700">
              <a:spcBef>
                <a:spcPts val="130"/>
              </a:spcBef>
            </a:pPr>
            <a:r>
              <a:rPr sz="1450" spc="75" dirty="0">
                <a:latin typeface="Times New Roman"/>
                <a:cs typeface="Times New Roman"/>
              </a:rPr>
              <a:t>1,3-Cyclopentadiene</a:t>
            </a:r>
            <a:endParaRPr sz="1450">
              <a:latin typeface="Times New Roman"/>
              <a:cs typeface="Times New Roman"/>
            </a:endParaRPr>
          </a:p>
        </p:txBody>
      </p:sp>
      <p:sp>
        <p:nvSpPr>
          <p:cNvPr id="57" name="object 2">
            <a:extLst>
              <a:ext uri="{FF2B5EF4-FFF2-40B4-BE49-F238E27FC236}">
                <a16:creationId xmlns:a16="http://schemas.microsoft.com/office/drawing/2014/main" id="{A5428614-C475-427E-846D-CCC5FB13E53E}"/>
              </a:ext>
            </a:extLst>
          </p:cNvPr>
          <p:cNvSpPr txBox="1">
            <a:spLocks/>
          </p:cNvSpPr>
          <p:nvPr/>
        </p:nvSpPr>
        <p:spPr>
          <a:xfrm>
            <a:off x="264595" y="101597"/>
            <a:ext cx="11307649" cy="813684"/>
          </a:xfrm>
          <a:prstGeom prst="rect">
            <a:avLst/>
          </a:prstGeom>
        </p:spPr>
        <p:style>
          <a:lnRef idx="1">
            <a:schemeClr val="accent1"/>
          </a:lnRef>
          <a:fillRef idx="2">
            <a:schemeClr val="accent1"/>
          </a:fillRef>
          <a:effectRef idx="1">
            <a:schemeClr val="accent1"/>
          </a:effectRef>
          <a:fontRef idx="minor">
            <a:schemeClr val="dk1"/>
          </a:fontRef>
        </p:style>
        <p:txBody>
          <a:bodyPr vert="horz" wrap="square" lIns="0" tIns="13335" rIns="0" bIns="0" rtlCol="0" anchor="ctr">
            <a:spAutoFit/>
          </a:bodyPr>
          <a:lstStyle>
            <a:lvl1pPr algn="l" defTabSz="914377" rtl="0" eaLnBrk="1" latinLnBrk="0" hangingPunct="1">
              <a:lnSpc>
                <a:spcPct val="90000"/>
              </a:lnSpc>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ctr">
              <a:lnSpc>
                <a:spcPct val="100000"/>
              </a:lnSpc>
            </a:pPr>
            <a:r>
              <a:rPr lang="en-GB" sz="2600" b="1"/>
              <a:t>III. Carbon-Framework Substitution Nomenclature </a:t>
            </a:r>
            <a:br>
              <a:rPr lang="en-GB" sz="2600" b="1"/>
            </a:br>
            <a:r>
              <a:rPr lang="en-GB" sz="2600"/>
              <a:t>(Replacement Nomenclature)</a:t>
            </a:r>
            <a:endParaRPr lang="en-GB" sz="26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5526530" y="2186764"/>
            <a:ext cx="139065" cy="217367"/>
          </a:xfrm>
          <a:prstGeom prst="rect">
            <a:avLst/>
          </a:prstGeom>
        </p:spPr>
        <p:txBody>
          <a:bodyPr vert="horz" wrap="square" lIns="0" tIns="17145" rIns="0" bIns="0" rtlCol="0">
            <a:spAutoFit/>
          </a:bodyPr>
          <a:lstStyle/>
          <a:p>
            <a:pPr marL="12700">
              <a:spcBef>
                <a:spcPts val="135"/>
              </a:spcBef>
            </a:pPr>
            <a:r>
              <a:rPr sz="1300" spc="25" dirty="0">
                <a:solidFill>
                  <a:srgbClr val="FF00FF"/>
                </a:solidFill>
                <a:latin typeface="Arial MT"/>
                <a:cs typeface="Arial MT"/>
              </a:rPr>
              <a:t>S</a:t>
            </a:r>
            <a:endParaRPr sz="1300">
              <a:latin typeface="Arial MT"/>
              <a:cs typeface="Arial MT"/>
            </a:endParaRPr>
          </a:p>
        </p:txBody>
      </p:sp>
      <p:pic>
        <p:nvPicPr>
          <p:cNvPr id="4" name="object 4"/>
          <p:cNvPicPr/>
          <p:nvPr/>
        </p:nvPicPr>
        <p:blipFill>
          <a:blip r:embed="rId2" cstate="print"/>
          <a:stretch>
            <a:fillRect/>
          </a:stretch>
        </p:blipFill>
        <p:spPr>
          <a:xfrm>
            <a:off x="5410356" y="1886886"/>
            <a:ext cx="370229" cy="380272"/>
          </a:xfrm>
          <a:prstGeom prst="rect">
            <a:avLst/>
          </a:prstGeom>
        </p:spPr>
      </p:pic>
      <p:sp>
        <p:nvSpPr>
          <p:cNvPr id="5" name="object 5"/>
          <p:cNvSpPr/>
          <p:nvPr/>
        </p:nvSpPr>
        <p:spPr>
          <a:xfrm>
            <a:off x="5166949" y="5078328"/>
            <a:ext cx="351790" cy="502920"/>
          </a:xfrm>
          <a:custGeom>
            <a:avLst/>
            <a:gdLst/>
            <a:ahLst/>
            <a:cxnLst/>
            <a:rect l="l" t="t" r="r" b="b"/>
            <a:pathLst>
              <a:path w="351789" h="502920">
                <a:moveTo>
                  <a:pt x="0" y="375849"/>
                </a:moveTo>
                <a:lnTo>
                  <a:pt x="216639" y="502515"/>
                </a:lnTo>
              </a:path>
              <a:path w="351789" h="502920">
                <a:moveTo>
                  <a:pt x="216639" y="502515"/>
                </a:moveTo>
                <a:lnTo>
                  <a:pt x="351720" y="424795"/>
                </a:lnTo>
              </a:path>
              <a:path w="351789" h="502920">
                <a:moveTo>
                  <a:pt x="347642" y="73613"/>
                </a:moveTo>
                <a:lnTo>
                  <a:pt x="216639" y="0"/>
                </a:lnTo>
              </a:path>
              <a:path w="351789" h="502920">
                <a:moveTo>
                  <a:pt x="326913" y="110200"/>
                </a:moveTo>
                <a:lnTo>
                  <a:pt x="216639" y="48928"/>
                </a:lnTo>
              </a:path>
              <a:path w="351789" h="502920">
                <a:moveTo>
                  <a:pt x="216639" y="0"/>
                </a:moveTo>
                <a:lnTo>
                  <a:pt x="0" y="124593"/>
                </a:lnTo>
              </a:path>
              <a:path w="351789" h="502920">
                <a:moveTo>
                  <a:pt x="0" y="124593"/>
                </a:moveTo>
                <a:lnTo>
                  <a:pt x="0" y="375849"/>
                </a:lnTo>
              </a:path>
            </a:pathLst>
          </a:custGeom>
          <a:ln w="16451">
            <a:solidFill>
              <a:srgbClr val="000000"/>
            </a:solidFill>
          </a:ln>
        </p:spPr>
        <p:txBody>
          <a:bodyPr wrap="square" lIns="0" tIns="0" rIns="0" bIns="0" rtlCol="0"/>
          <a:lstStyle/>
          <a:p>
            <a:endParaRPr/>
          </a:p>
        </p:txBody>
      </p:sp>
      <p:sp>
        <p:nvSpPr>
          <p:cNvPr id="6" name="object 6"/>
          <p:cNvSpPr/>
          <p:nvPr/>
        </p:nvSpPr>
        <p:spPr>
          <a:xfrm>
            <a:off x="5692492" y="5454178"/>
            <a:ext cx="81915" cy="0"/>
          </a:xfrm>
          <a:custGeom>
            <a:avLst/>
            <a:gdLst/>
            <a:ahLst/>
            <a:cxnLst/>
            <a:rect l="l" t="t" r="r" b="b"/>
            <a:pathLst>
              <a:path w="81914">
                <a:moveTo>
                  <a:pt x="0" y="0"/>
                </a:moveTo>
                <a:lnTo>
                  <a:pt x="81898" y="0"/>
                </a:lnTo>
              </a:path>
            </a:pathLst>
          </a:custGeom>
          <a:ln w="16433">
            <a:solidFill>
              <a:srgbClr val="000000"/>
            </a:solidFill>
          </a:ln>
        </p:spPr>
        <p:txBody>
          <a:bodyPr wrap="square" lIns="0" tIns="0" rIns="0" bIns="0" rtlCol="0"/>
          <a:lstStyle/>
          <a:p>
            <a:endParaRPr/>
          </a:p>
        </p:txBody>
      </p:sp>
      <p:sp>
        <p:nvSpPr>
          <p:cNvPr id="7" name="object 7"/>
          <p:cNvSpPr/>
          <p:nvPr/>
        </p:nvSpPr>
        <p:spPr>
          <a:xfrm>
            <a:off x="5682126" y="5202922"/>
            <a:ext cx="80010" cy="0"/>
          </a:xfrm>
          <a:custGeom>
            <a:avLst/>
            <a:gdLst/>
            <a:ahLst/>
            <a:cxnLst/>
            <a:rect l="l" t="t" r="r" b="b"/>
            <a:pathLst>
              <a:path w="80010">
                <a:moveTo>
                  <a:pt x="79859" y="0"/>
                </a:moveTo>
                <a:lnTo>
                  <a:pt x="0" y="0"/>
                </a:lnTo>
              </a:path>
            </a:pathLst>
          </a:custGeom>
          <a:ln w="16433">
            <a:solidFill>
              <a:srgbClr val="000000"/>
            </a:solidFill>
          </a:ln>
        </p:spPr>
        <p:txBody>
          <a:bodyPr wrap="square" lIns="0" tIns="0" rIns="0" bIns="0" rtlCol="0"/>
          <a:lstStyle/>
          <a:p>
            <a:endParaRPr/>
          </a:p>
        </p:txBody>
      </p:sp>
      <p:sp>
        <p:nvSpPr>
          <p:cNvPr id="8" name="object 8"/>
          <p:cNvSpPr/>
          <p:nvPr/>
        </p:nvSpPr>
        <p:spPr>
          <a:xfrm>
            <a:off x="5933768" y="5078328"/>
            <a:ext cx="358140" cy="502920"/>
          </a:xfrm>
          <a:custGeom>
            <a:avLst/>
            <a:gdLst/>
            <a:ahLst/>
            <a:cxnLst/>
            <a:rect l="l" t="t" r="r" b="b"/>
            <a:pathLst>
              <a:path w="358139" h="502920">
                <a:moveTo>
                  <a:pt x="12233" y="428898"/>
                </a:moveTo>
                <a:lnTo>
                  <a:pt x="139159" y="502515"/>
                </a:lnTo>
              </a:path>
              <a:path w="358139" h="502920">
                <a:moveTo>
                  <a:pt x="34492" y="392312"/>
                </a:moveTo>
                <a:lnTo>
                  <a:pt x="139159" y="453583"/>
                </a:lnTo>
              </a:path>
              <a:path w="358139" h="502920">
                <a:moveTo>
                  <a:pt x="139159" y="502515"/>
                </a:moveTo>
                <a:lnTo>
                  <a:pt x="357667" y="375849"/>
                </a:lnTo>
              </a:path>
              <a:path w="358139" h="502920">
                <a:moveTo>
                  <a:pt x="357667" y="375849"/>
                </a:moveTo>
                <a:lnTo>
                  <a:pt x="357667" y="124593"/>
                </a:lnTo>
              </a:path>
              <a:path w="358139" h="502920">
                <a:moveTo>
                  <a:pt x="357667" y="124593"/>
                </a:moveTo>
                <a:lnTo>
                  <a:pt x="139159" y="0"/>
                </a:lnTo>
              </a:path>
              <a:path w="358139" h="502920">
                <a:moveTo>
                  <a:pt x="139159" y="0"/>
                </a:moveTo>
                <a:lnTo>
                  <a:pt x="0" y="79767"/>
                </a:lnTo>
              </a:path>
            </a:pathLst>
          </a:custGeom>
          <a:ln w="16451">
            <a:solidFill>
              <a:srgbClr val="000000"/>
            </a:solidFill>
          </a:ln>
        </p:spPr>
        <p:txBody>
          <a:bodyPr wrap="square" lIns="0" tIns="0" rIns="0" bIns="0" rtlCol="0"/>
          <a:lstStyle/>
          <a:p>
            <a:endParaRPr/>
          </a:p>
        </p:txBody>
      </p:sp>
      <p:sp>
        <p:nvSpPr>
          <p:cNvPr id="9" name="object 9"/>
          <p:cNvSpPr/>
          <p:nvPr/>
        </p:nvSpPr>
        <p:spPr>
          <a:xfrm>
            <a:off x="5275354" y="4065065"/>
            <a:ext cx="396875" cy="459740"/>
          </a:xfrm>
          <a:custGeom>
            <a:avLst/>
            <a:gdLst/>
            <a:ahLst/>
            <a:cxnLst/>
            <a:rect l="l" t="t" r="r" b="b"/>
            <a:pathLst>
              <a:path w="396875" h="459739">
                <a:moveTo>
                  <a:pt x="198458" y="0"/>
                </a:moveTo>
                <a:lnTo>
                  <a:pt x="0" y="114319"/>
                </a:lnTo>
              </a:path>
              <a:path w="396875" h="459739">
                <a:moveTo>
                  <a:pt x="198458" y="48928"/>
                </a:moveTo>
                <a:lnTo>
                  <a:pt x="43157" y="138580"/>
                </a:lnTo>
              </a:path>
              <a:path w="396875" h="459739">
                <a:moveTo>
                  <a:pt x="0" y="114319"/>
                </a:moveTo>
                <a:lnTo>
                  <a:pt x="0" y="345027"/>
                </a:lnTo>
              </a:path>
              <a:path w="396875" h="459739">
                <a:moveTo>
                  <a:pt x="0" y="345027"/>
                </a:moveTo>
                <a:lnTo>
                  <a:pt x="198458" y="459347"/>
                </a:lnTo>
              </a:path>
              <a:path w="396875" h="459739">
                <a:moveTo>
                  <a:pt x="43157" y="320749"/>
                </a:moveTo>
                <a:lnTo>
                  <a:pt x="198458" y="410401"/>
                </a:lnTo>
              </a:path>
              <a:path w="396875" h="459739">
                <a:moveTo>
                  <a:pt x="198458" y="459347"/>
                </a:moveTo>
                <a:lnTo>
                  <a:pt x="396407" y="345027"/>
                </a:lnTo>
              </a:path>
              <a:path w="396875" h="459739">
                <a:moveTo>
                  <a:pt x="396407" y="345027"/>
                </a:moveTo>
                <a:lnTo>
                  <a:pt x="396407" y="114319"/>
                </a:lnTo>
              </a:path>
              <a:path w="396875" h="459739">
                <a:moveTo>
                  <a:pt x="353589" y="320749"/>
                </a:moveTo>
                <a:lnTo>
                  <a:pt x="353589" y="138580"/>
                </a:lnTo>
              </a:path>
              <a:path w="396875" h="459739">
                <a:moveTo>
                  <a:pt x="396407" y="114319"/>
                </a:moveTo>
                <a:lnTo>
                  <a:pt x="198458" y="0"/>
                </a:lnTo>
              </a:path>
            </a:pathLst>
          </a:custGeom>
          <a:ln w="16451">
            <a:solidFill>
              <a:srgbClr val="000000"/>
            </a:solidFill>
          </a:ln>
        </p:spPr>
        <p:txBody>
          <a:bodyPr wrap="square" lIns="0" tIns="0" rIns="0" bIns="0" rtlCol="0"/>
          <a:lstStyle/>
          <a:p>
            <a:endParaRPr/>
          </a:p>
        </p:txBody>
      </p:sp>
      <p:sp>
        <p:nvSpPr>
          <p:cNvPr id="10" name="object 10"/>
          <p:cNvSpPr txBox="1"/>
          <p:nvPr/>
        </p:nvSpPr>
        <p:spPr>
          <a:xfrm>
            <a:off x="5802469" y="4407413"/>
            <a:ext cx="139065" cy="217367"/>
          </a:xfrm>
          <a:prstGeom prst="rect">
            <a:avLst/>
          </a:prstGeom>
        </p:spPr>
        <p:txBody>
          <a:bodyPr vert="horz" wrap="square" lIns="0" tIns="17145" rIns="0" bIns="0" rtlCol="0">
            <a:spAutoFit/>
          </a:bodyPr>
          <a:lstStyle/>
          <a:p>
            <a:pPr marL="12700">
              <a:spcBef>
                <a:spcPts val="135"/>
              </a:spcBef>
            </a:pPr>
            <a:r>
              <a:rPr sz="1300" spc="25" dirty="0">
                <a:solidFill>
                  <a:srgbClr val="00FF00"/>
                </a:solidFill>
                <a:latin typeface="Arial MT"/>
                <a:cs typeface="Arial MT"/>
              </a:rPr>
              <a:t>S</a:t>
            </a:r>
            <a:endParaRPr sz="1300">
              <a:latin typeface="Arial MT"/>
              <a:cs typeface="Arial MT"/>
            </a:endParaRPr>
          </a:p>
        </p:txBody>
      </p:sp>
      <p:sp>
        <p:nvSpPr>
          <p:cNvPr id="11" name="object 11"/>
          <p:cNvSpPr txBox="1"/>
          <p:nvPr/>
        </p:nvSpPr>
        <p:spPr>
          <a:xfrm>
            <a:off x="5802469" y="3950134"/>
            <a:ext cx="139065" cy="217367"/>
          </a:xfrm>
          <a:prstGeom prst="rect">
            <a:avLst/>
          </a:prstGeom>
        </p:spPr>
        <p:txBody>
          <a:bodyPr vert="horz" wrap="square" lIns="0" tIns="17145" rIns="0" bIns="0" rtlCol="0">
            <a:spAutoFit/>
          </a:bodyPr>
          <a:lstStyle/>
          <a:p>
            <a:pPr marL="12700">
              <a:spcBef>
                <a:spcPts val="135"/>
              </a:spcBef>
            </a:pPr>
            <a:r>
              <a:rPr sz="1300" spc="25" dirty="0">
                <a:solidFill>
                  <a:srgbClr val="00FF00"/>
                </a:solidFill>
                <a:latin typeface="Arial MT"/>
                <a:cs typeface="Arial MT"/>
              </a:rPr>
              <a:t>S</a:t>
            </a:r>
            <a:endParaRPr sz="1300">
              <a:latin typeface="Arial MT"/>
              <a:cs typeface="Arial MT"/>
            </a:endParaRPr>
          </a:p>
        </p:txBody>
      </p:sp>
      <p:sp>
        <p:nvSpPr>
          <p:cNvPr id="12" name="object 12"/>
          <p:cNvSpPr/>
          <p:nvPr/>
        </p:nvSpPr>
        <p:spPr>
          <a:xfrm>
            <a:off x="5948041" y="4111943"/>
            <a:ext cx="123189" cy="367665"/>
          </a:xfrm>
          <a:custGeom>
            <a:avLst/>
            <a:gdLst/>
            <a:ahLst/>
            <a:cxnLst/>
            <a:rect l="l" t="t" r="r" b="b"/>
            <a:pathLst>
              <a:path w="123189" h="367664">
                <a:moveTo>
                  <a:pt x="0" y="367644"/>
                </a:moveTo>
                <a:lnTo>
                  <a:pt x="122847" y="298150"/>
                </a:lnTo>
              </a:path>
              <a:path w="123189" h="367664">
                <a:moveTo>
                  <a:pt x="122847" y="298150"/>
                </a:moveTo>
                <a:lnTo>
                  <a:pt x="122847" y="67442"/>
                </a:lnTo>
              </a:path>
              <a:path w="123189" h="367664">
                <a:moveTo>
                  <a:pt x="79519" y="273872"/>
                </a:moveTo>
                <a:lnTo>
                  <a:pt x="79519" y="91703"/>
                </a:lnTo>
              </a:path>
              <a:path w="123189" h="367664">
                <a:moveTo>
                  <a:pt x="122847" y="67442"/>
                </a:moveTo>
                <a:lnTo>
                  <a:pt x="6286" y="0"/>
                </a:lnTo>
              </a:path>
            </a:pathLst>
          </a:custGeom>
          <a:ln w="16451">
            <a:solidFill>
              <a:srgbClr val="000000"/>
            </a:solidFill>
          </a:ln>
        </p:spPr>
        <p:txBody>
          <a:bodyPr wrap="square" lIns="0" tIns="0" rIns="0" bIns="0" rtlCol="0"/>
          <a:lstStyle/>
          <a:p>
            <a:endParaRPr/>
          </a:p>
        </p:txBody>
      </p:sp>
      <p:sp>
        <p:nvSpPr>
          <p:cNvPr id="13" name="object 13"/>
          <p:cNvSpPr/>
          <p:nvPr/>
        </p:nvSpPr>
        <p:spPr>
          <a:xfrm>
            <a:off x="5671762" y="4111943"/>
            <a:ext cx="123189" cy="367665"/>
          </a:xfrm>
          <a:custGeom>
            <a:avLst/>
            <a:gdLst/>
            <a:ahLst/>
            <a:cxnLst/>
            <a:rect l="l" t="t" r="r" b="b"/>
            <a:pathLst>
              <a:path w="123189" h="367664">
                <a:moveTo>
                  <a:pt x="0" y="298150"/>
                </a:moveTo>
                <a:lnTo>
                  <a:pt x="122677" y="367644"/>
                </a:lnTo>
              </a:path>
              <a:path w="123189" h="367664">
                <a:moveTo>
                  <a:pt x="118599" y="0"/>
                </a:moveTo>
                <a:lnTo>
                  <a:pt x="0" y="67442"/>
                </a:lnTo>
              </a:path>
            </a:pathLst>
          </a:custGeom>
          <a:ln w="16451">
            <a:solidFill>
              <a:srgbClr val="000000"/>
            </a:solidFill>
          </a:ln>
        </p:spPr>
        <p:txBody>
          <a:bodyPr wrap="square" lIns="0" tIns="0" rIns="0" bIns="0" rtlCol="0"/>
          <a:lstStyle/>
          <a:p>
            <a:endParaRPr/>
          </a:p>
        </p:txBody>
      </p:sp>
      <p:sp>
        <p:nvSpPr>
          <p:cNvPr id="14" name="object 14"/>
          <p:cNvSpPr/>
          <p:nvPr/>
        </p:nvSpPr>
        <p:spPr>
          <a:xfrm>
            <a:off x="5275354" y="2892333"/>
            <a:ext cx="795655" cy="457834"/>
          </a:xfrm>
          <a:custGeom>
            <a:avLst/>
            <a:gdLst/>
            <a:ahLst/>
            <a:cxnLst/>
            <a:rect l="l" t="t" r="r" b="b"/>
            <a:pathLst>
              <a:path w="795654" h="457835">
                <a:moveTo>
                  <a:pt x="198458" y="0"/>
                </a:moveTo>
                <a:lnTo>
                  <a:pt x="0" y="114268"/>
                </a:lnTo>
              </a:path>
              <a:path w="795654" h="457835">
                <a:moveTo>
                  <a:pt x="198458" y="48827"/>
                </a:moveTo>
                <a:lnTo>
                  <a:pt x="43157" y="138852"/>
                </a:lnTo>
              </a:path>
              <a:path w="795654" h="457835">
                <a:moveTo>
                  <a:pt x="0" y="114268"/>
                </a:moveTo>
                <a:lnTo>
                  <a:pt x="0" y="342806"/>
                </a:lnTo>
              </a:path>
              <a:path w="795654" h="457835">
                <a:moveTo>
                  <a:pt x="0" y="342806"/>
                </a:moveTo>
                <a:lnTo>
                  <a:pt x="198458" y="457584"/>
                </a:lnTo>
              </a:path>
              <a:path w="795654" h="457835">
                <a:moveTo>
                  <a:pt x="43157" y="318562"/>
                </a:moveTo>
                <a:lnTo>
                  <a:pt x="198458" y="408248"/>
                </a:lnTo>
              </a:path>
              <a:path w="795654" h="457835">
                <a:moveTo>
                  <a:pt x="198458" y="457584"/>
                </a:moveTo>
                <a:lnTo>
                  <a:pt x="304654" y="396381"/>
                </a:lnTo>
              </a:path>
              <a:path w="795654" h="457835">
                <a:moveTo>
                  <a:pt x="396407" y="253290"/>
                </a:moveTo>
                <a:lnTo>
                  <a:pt x="396407" y="114268"/>
                </a:lnTo>
              </a:path>
              <a:path w="795654" h="457835">
                <a:moveTo>
                  <a:pt x="396407" y="114268"/>
                </a:moveTo>
                <a:lnTo>
                  <a:pt x="198458" y="0"/>
                </a:lnTo>
              </a:path>
              <a:path w="795654" h="457835">
                <a:moveTo>
                  <a:pt x="488670" y="396381"/>
                </a:moveTo>
                <a:lnTo>
                  <a:pt x="596905" y="457584"/>
                </a:lnTo>
              </a:path>
              <a:path w="795654" h="457835">
                <a:moveTo>
                  <a:pt x="596905" y="457584"/>
                </a:moveTo>
                <a:lnTo>
                  <a:pt x="795534" y="342806"/>
                </a:lnTo>
              </a:path>
              <a:path w="795654" h="457835">
                <a:moveTo>
                  <a:pt x="795534" y="342806"/>
                </a:moveTo>
                <a:lnTo>
                  <a:pt x="795534" y="114268"/>
                </a:lnTo>
              </a:path>
              <a:path w="795654" h="457835">
                <a:moveTo>
                  <a:pt x="752206" y="318562"/>
                </a:moveTo>
                <a:lnTo>
                  <a:pt x="752206" y="138852"/>
                </a:lnTo>
              </a:path>
              <a:path w="795654" h="457835">
                <a:moveTo>
                  <a:pt x="795534" y="114268"/>
                </a:moveTo>
                <a:lnTo>
                  <a:pt x="596905" y="0"/>
                </a:lnTo>
              </a:path>
              <a:path w="795654" h="457835">
                <a:moveTo>
                  <a:pt x="596905" y="0"/>
                </a:moveTo>
                <a:lnTo>
                  <a:pt x="396407" y="114268"/>
                </a:lnTo>
              </a:path>
              <a:path w="795654" h="457835">
                <a:moveTo>
                  <a:pt x="596905" y="48827"/>
                </a:moveTo>
                <a:lnTo>
                  <a:pt x="439735" y="138852"/>
                </a:lnTo>
              </a:path>
            </a:pathLst>
          </a:custGeom>
          <a:ln w="16451">
            <a:solidFill>
              <a:srgbClr val="000000"/>
            </a:solidFill>
          </a:ln>
        </p:spPr>
        <p:txBody>
          <a:bodyPr wrap="square" lIns="0" tIns="0" rIns="0" bIns="0" rtlCol="0"/>
          <a:lstStyle/>
          <a:p>
            <a:endParaRPr/>
          </a:p>
        </p:txBody>
      </p:sp>
      <p:pic>
        <p:nvPicPr>
          <p:cNvPr id="15" name="object 15"/>
          <p:cNvPicPr/>
          <p:nvPr/>
        </p:nvPicPr>
        <p:blipFill>
          <a:blip r:embed="rId3" cstate="print"/>
          <a:stretch>
            <a:fillRect/>
          </a:stretch>
        </p:blipFill>
        <p:spPr>
          <a:xfrm>
            <a:off x="2245652" y="1864677"/>
            <a:ext cx="370161" cy="424691"/>
          </a:xfrm>
          <a:prstGeom prst="rect">
            <a:avLst/>
          </a:prstGeom>
        </p:spPr>
      </p:pic>
      <p:sp>
        <p:nvSpPr>
          <p:cNvPr id="16" name="object 16"/>
          <p:cNvSpPr/>
          <p:nvPr/>
        </p:nvSpPr>
        <p:spPr>
          <a:xfrm>
            <a:off x="1945480" y="5165913"/>
            <a:ext cx="1124585" cy="505459"/>
          </a:xfrm>
          <a:custGeom>
            <a:avLst/>
            <a:gdLst/>
            <a:ahLst/>
            <a:cxnLst/>
            <a:rect l="l" t="t" r="r" b="b"/>
            <a:pathLst>
              <a:path w="1124585" h="505460">
                <a:moveTo>
                  <a:pt x="0" y="378325"/>
                </a:moveTo>
                <a:lnTo>
                  <a:pt x="216586" y="504990"/>
                </a:lnTo>
              </a:path>
              <a:path w="1124585" h="505460">
                <a:moveTo>
                  <a:pt x="216586" y="504990"/>
                </a:moveTo>
                <a:lnTo>
                  <a:pt x="435214" y="378325"/>
                </a:lnTo>
              </a:path>
              <a:path w="1124585" h="505460">
                <a:moveTo>
                  <a:pt x="435214" y="127069"/>
                </a:moveTo>
                <a:lnTo>
                  <a:pt x="216586" y="0"/>
                </a:lnTo>
              </a:path>
              <a:path w="1124585" h="505460">
                <a:moveTo>
                  <a:pt x="414637" y="163672"/>
                </a:moveTo>
                <a:lnTo>
                  <a:pt x="216586" y="49352"/>
                </a:lnTo>
              </a:path>
              <a:path w="1124585" h="505460">
                <a:moveTo>
                  <a:pt x="216586" y="0"/>
                </a:moveTo>
                <a:lnTo>
                  <a:pt x="0" y="127069"/>
                </a:lnTo>
              </a:path>
              <a:path w="1124585" h="505460">
                <a:moveTo>
                  <a:pt x="0" y="127069"/>
                </a:moveTo>
                <a:lnTo>
                  <a:pt x="0" y="378325"/>
                </a:lnTo>
              </a:path>
              <a:path w="1124585" h="505460">
                <a:moveTo>
                  <a:pt x="435214" y="378325"/>
                </a:moveTo>
                <a:lnTo>
                  <a:pt x="686804" y="378325"/>
                </a:lnTo>
              </a:path>
              <a:path w="1124585" h="505460">
                <a:moveTo>
                  <a:pt x="686804" y="127069"/>
                </a:moveTo>
                <a:lnTo>
                  <a:pt x="435214" y="127069"/>
                </a:lnTo>
              </a:path>
              <a:path w="1124585" h="505460">
                <a:moveTo>
                  <a:pt x="686804" y="378325"/>
                </a:moveTo>
                <a:lnTo>
                  <a:pt x="905432" y="504990"/>
                </a:lnTo>
              </a:path>
              <a:path w="1124585" h="505460">
                <a:moveTo>
                  <a:pt x="709029" y="341314"/>
                </a:moveTo>
                <a:lnTo>
                  <a:pt x="905432" y="455643"/>
                </a:lnTo>
              </a:path>
              <a:path w="1124585" h="505460">
                <a:moveTo>
                  <a:pt x="905432" y="504990"/>
                </a:moveTo>
                <a:lnTo>
                  <a:pt x="1124076" y="378325"/>
                </a:lnTo>
              </a:path>
              <a:path w="1124585" h="505460">
                <a:moveTo>
                  <a:pt x="1124076" y="378325"/>
                </a:moveTo>
                <a:lnTo>
                  <a:pt x="1124076" y="127069"/>
                </a:lnTo>
              </a:path>
              <a:path w="1124585" h="505460">
                <a:moveTo>
                  <a:pt x="1124076" y="127069"/>
                </a:moveTo>
                <a:lnTo>
                  <a:pt x="905432" y="0"/>
                </a:lnTo>
              </a:path>
              <a:path w="1124585" h="505460">
                <a:moveTo>
                  <a:pt x="905432" y="0"/>
                </a:moveTo>
                <a:lnTo>
                  <a:pt x="686804" y="127069"/>
                </a:lnTo>
              </a:path>
            </a:pathLst>
          </a:custGeom>
          <a:ln w="16451">
            <a:solidFill>
              <a:srgbClr val="000000"/>
            </a:solidFill>
          </a:ln>
        </p:spPr>
        <p:txBody>
          <a:bodyPr wrap="square" lIns="0" tIns="0" rIns="0" bIns="0" rtlCol="0"/>
          <a:lstStyle/>
          <a:p>
            <a:endParaRPr/>
          </a:p>
        </p:txBody>
      </p:sp>
      <p:sp>
        <p:nvSpPr>
          <p:cNvPr id="17" name="object 17"/>
          <p:cNvSpPr/>
          <p:nvPr/>
        </p:nvSpPr>
        <p:spPr>
          <a:xfrm>
            <a:off x="2108951" y="2869615"/>
            <a:ext cx="795655" cy="457834"/>
          </a:xfrm>
          <a:custGeom>
            <a:avLst/>
            <a:gdLst/>
            <a:ahLst/>
            <a:cxnLst/>
            <a:rect l="l" t="t" r="r" b="b"/>
            <a:pathLst>
              <a:path w="795655" h="457835">
                <a:moveTo>
                  <a:pt x="198050" y="0"/>
                </a:moveTo>
                <a:lnTo>
                  <a:pt x="0" y="114268"/>
                </a:lnTo>
              </a:path>
              <a:path w="795655" h="457835">
                <a:moveTo>
                  <a:pt x="198050" y="48996"/>
                </a:moveTo>
                <a:lnTo>
                  <a:pt x="42818" y="139021"/>
                </a:lnTo>
              </a:path>
              <a:path w="795655" h="457835">
                <a:moveTo>
                  <a:pt x="0" y="114268"/>
                </a:moveTo>
                <a:lnTo>
                  <a:pt x="0" y="343315"/>
                </a:lnTo>
              </a:path>
              <a:path w="795655" h="457835">
                <a:moveTo>
                  <a:pt x="0" y="343315"/>
                </a:moveTo>
                <a:lnTo>
                  <a:pt x="198050" y="457753"/>
                </a:lnTo>
              </a:path>
              <a:path w="795655" h="457835">
                <a:moveTo>
                  <a:pt x="42818" y="318732"/>
                </a:moveTo>
                <a:lnTo>
                  <a:pt x="198050" y="408757"/>
                </a:lnTo>
              </a:path>
              <a:path w="795655" h="457835">
                <a:moveTo>
                  <a:pt x="198050" y="457753"/>
                </a:moveTo>
                <a:lnTo>
                  <a:pt x="398565" y="343315"/>
                </a:lnTo>
              </a:path>
              <a:path w="795655" h="457835">
                <a:moveTo>
                  <a:pt x="398565" y="343315"/>
                </a:moveTo>
                <a:lnTo>
                  <a:pt x="398565" y="114268"/>
                </a:lnTo>
              </a:path>
              <a:path w="795655" h="457835">
                <a:moveTo>
                  <a:pt x="398565" y="114268"/>
                </a:moveTo>
                <a:lnTo>
                  <a:pt x="198050" y="0"/>
                </a:lnTo>
              </a:path>
              <a:path w="795655" h="457835">
                <a:moveTo>
                  <a:pt x="398565" y="343315"/>
                </a:moveTo>
                <a:lnTo>
                  <a:pt x="596616" y="457753"/>
                </a:lnTo>
              </a:path>
              <a:path w="795655" h="457835">
                <a:moveTo>
                  <a:pt x="441383" y="318732"/>
                </a:moveTo>
                <a:lnTo>
                  <a:pt x="596616" y="408757"/>
                </a:lnTo>
              </a:path>
              <a:path w="795655" h="457835">
                <a:moveTo>
                  <a:pt x="596616" y="457753"/>
                </a:moveTo>
                <a:lnTo>
                  <a:pt x="795075" y="343315"/>
                </a:lnTo>
              </a:path>
              <a:path w="795655" h="457835">
                <a:moveTo>
                  <a:pt x="795075" y="343315"/>
                </a:moveTo>
                <a:lnTo>
                  <a:pt x="795075" y="114268"/>
                </a:lnTo>
              </a:path>
              <a:path w="795655" h="457835">
                <a:moveTo>
                  <a:pt x="752257" y="318732"/>
                </a:moveTo>
                <a:lnTo>
                  <a:pt x="752257" y="139021"/>
                </a:lnTo>
              </a:path>
              <a:path w="795655" h="457835">
                <a:moveTo>
                  <a:pt x="795075" y="114268"/>
                </a:moveTo>
                <a:lnTo>
                  <a:pt x="596616" y="0"/>
                </a:lnTo>
              </a:path>
              <a:path w="795655" h="457835">
                <a:moveTo>
                  <a:pt x="596616" y="0"/>
                </a:moveTo>
                <a:lnTo>
                  <a:pt x="398565" y="114268"/>
                </a:lnTo>
              </a:path>
              <a:path w="795655" h="457835">
                <a:moveTo>
                  <a:pt x="596616" y="48996"/>
                </a:moveTo>
                <a:lnTo>
                  <a:pt x="441383" y="139021"/>
                </a:lnTo>
              </a:path>
            </a:pathLst>
          </a:custGeom>
          <a:ln w="16451">
            <a:solidFill>
              <a:srgbClr val="000000"/>
            </a:solidFill>
          </a:ln>
        </p:spPr>
        <p:txBody>
          <a:bodyPr wrap="square" lIns="0" tIns="0" rIns="0" bIns="0" rtlCol="0"/>
          <a:lstStyle/>
          <a:p>
            <a:endParaRPr/>
          </a:p>
        </p:txBody>
      </p:sp>
      <p:sp>
        <p:nvSpPr>
          <p:cNvPr id="18" name="object 18"/>
          <p:cNvSpPr txBox="1"/>
          <p:nvPr/>
        </p:nvSpPr>
        <p:spPr>
          <a:xfrm>
            <a:off x="2930033" y="1872184"/>
            <a:ext cx="1038225" cy="267970"/>
          </a:xfrm>
          <a:prstGeom prst="rect">
            <a:avLst/>
          </a:prstGeom>
        </p:spPr>
        <p:txBody>
          <a:bodyPr vert="horz" wrap="square" lIns="0" tIns="11430" rIns="0" bIns="0" rtlCol="0">
            <a:spAutoFit/>
          </a:bodyPr>
          <a:lstStyle/>
          <a:p>
            <a:pPr marL="12700">
              <a:spcBef>
                <a:spcPts val="90"/>
              </a:spcBef>
            </a:pPr>
            <a:r>
              <a:rPr sz="1600" spc="-5" dirty="0">
                <a:latin typeface="Times New Roman"/>
                <a:cs typeface="Times New Roman"/>
              </a:rPr>
              <a:t>c</a:t>
            </a:r>
            <a:r>
              <a:rPr sz="1600" dirty="0">
                <a:latin typeface="Times New Roman"/>
                <a:cs typeface="Times New Roman"/>
              </a:rPr>
              <a:t>y</a:t>
            </a:r>
            <a:r>
              <a:rPr sz="1600" spc="-20" dirty="0">
                <a:latin typeface="Times New Roman"/>
                <a:cs typeface="Times New Roman"/>
              </a:rPr>
              <a:t>c</a:t>
            </a:r>
            <a:r>
              <a:rPr sz="1600" dirty="0">
                <a:latin typeface="Times New Roman"/>
                <a:cs typeface="Times New Roman"/>
              </a:rPr>
              <a:t>l</a:t>
            </a:r>
            <a:r>
              <a:rPr sz="1600" spc="-15" dirty="0">
                <a:latin typeface="Times New Roman"/>
                <a:cs typeface="Times New Roman"/>
              </a:rPr>
              <a:t>o</a:t>
            </a:r>
            <a:r>
              <a:rPr sz="1600" dirty="0">
                <a:latin typeface="Times New Roman"/>
                <a:cs typeface="Times New Roman"/>
              </a:rPr>
              <a:t>h</a:t>
            </a:r>
            <a:r>
              <a:rPr sz="1600" spc="-5" dirty="0">
                <a:latin typeface="Times New Roman"/>
                <a:cs typeface="Times New Roman"/>
              </a:rPr>
              <a:t>e</a:t>
            </a:r>
            <a:r>
              <a:rPr sz="1600" spc="-20" dirty="0">
                <a:latin typeface="Times New Roman"/>
                <a:cs typeface="Times New Roman"/>
              </a:rPr>
              <a:t>x</a:t>
            </a:r>
            <a:r>
              <a:rPr sz="1600" spc="-10" dirty="0">
                <a:latin typeface="Times New Roman"/>
                <a:cs typeface="Times New Roman"/>
              </a:rPr>
              <a:t>a</a:t>
            </a:r>
            <a:r>
              <a:rPr sz="1600" dirty="0">
                <a:latin typeface="Times New Roman"/>
                <a:cs typeface="Times New Roman"/>
              </a:rPr>
              <a:t>n</a:t>
            </a:r>
            <a:r>
              <a:rPr sz="1600" spc="-5" dirty="0">
                <a:latin typeface="Times New Roman"/>
                <a:cs typeface="Times New Roman"/>
              </a:rPr>
              <a:t>e</a:t>
            </a:r>
            <a:endParaRPr sz="1600">
              <a:latin typeface="Times New Roman"/>
              <a:cs typeface="Times New Roman"/>
            </a:endParaRPr>
          </a:p>
        </p:txBody>
      </p:sp>
      <p:sp>
        <p:nvSpPr>
          <p:cNvPr id="19" name="object 19"/>
          <p:cNvSpPr txBox="1"/>
          <p:nvPr/>
        </p:nvSpPr>
        <p:spPr>
          <a:xfrm>
            <a:off x="3340967" y="5222892"/>
            <a:ext cx="1473200" cy="267970"/>
          </a:xfrm>
          <a:prstGeom prst="rect">
            <a:avLst/>
          </a:prstGeom>
        </p:spPr>
        <p:txBody>
          <a:bodyPr vert="horz" wrap="square" lIns="0" tIns="11430" rIns="0" bIns="0" rtlCol="0">
            <a:spAutoFit/>
          </a:bodyPr>
          <a:lstStyle/>
          <a:p>
            <a:pPr marL="12700">
              <a:spcBef>
                <a:spcPts val="90"/>
              </a:spcBef>
            </a:pPr>
            <a:r>
              <a:rPr sz="1600" spc="-10" dirty="0">
                <a:latin typeface="Times New Roman"/>
                <a:cs typeface="Times New Roman"/>
              </a:rPr>
              <a:t>cyclododecadiene</a:t>
            </a:r>
            <a:endParaRPr sz="1600">
              <a:latin typeface="Times New Roman"/>
              <a:cs typeface="Times New Roman"/>
            </a:endParaRPr>
          </a:p>
        </p:txBody>
      </p:sp>
      <p:sp>
        <p:nvSpPr>
          <p:cNvPr id="20" name="object 20"/>
          <p:cNvSpPr txBox="1"/>
          <p:nvPr/>
        </p:nvSpPr>
        <p:spPr>
          <a:xfrm>
            <a:off x="6575234" y="1870150"/>
            <a:ext cx="1407160" cy="267970"/>
          </a:xfrm>
          <a:prstGeom prst="rect">
            <a:avLst/>
          </a:prstGeom>
        </p:spPr>
        <p:txBody>
          <a:bodyPr vert="horz" wrap="square" lIns="0" tIns="11430" rIns="0" bIns="0" rtlCol="0">
            <a:spAutoFit/>
          </a:bodyPr>
          <a:lstStyle/>
          <a:p>
            <a:pPr marL="12700">
              <a:spcBef>
                <a:spcPts val="90"/>
              </a:spcBef>
            </a:pPr>
            <a:r>
              <a:rPr sz="1600" spc="-10" dirty="0">
                <a:latin typeface="Times New Roman"/>
                <a:cs typeface="Times New Roman"/>
              </a:rPr>
              <a:t>Thiacyclohexane</a:t>
            </a:r>
            <a:endParaRPr sz="1600">
              <a:latin typeface="Times New Roman"/>
              <a:cs typeface="Times New Roman"/>
            </a:endParaRPr>
          </a:p>
        </p:txBody>
      </p:sp>
      <p:sp>
        <p:nvSpPr>
          <p:cNvPr id="21" name="object 21"/>
          <p:cNvSpPr txBox="1"/>
          <p:nvPr/>
        </p:nvSpPr>
        <p:spPr>
          <a:xfrm>
            <a:off x="6448478" y="4144254"/>
            <a:ext cx="1783714" cy="267970"/>
          </a:xfrm>
          <a:prstGeom prst="rect">
            <a:avLst/>
          </a:prstGeom>
        </p:spPr>
        <p:txBody>
          <a:bodyPr vert="horz" wrap="square" lIns="0" tIns="11430" rIns="0" bIns="0" rtlCol="0">
            <a:spAutoFit/>
          </a:bodyPr>
          <a:lstStyle/>
          <a:p>
            <a:pPr marL="12700">
              <a:spcBef>
                <a:spcPts val="90"/>
              </a:spcBef>
            </a:pPr>
            <a:r>
              <a:rPr sz="1600" spc="-10" dirty="0">
                <a:latin typeface="Times New Roman"/>
                <a:cs typeface="Times New Roman"/>
              </a:rPr>
              <a:t>1,4-dithianaphthalene</a:t>
            </a:r>
            <a:endParaRPr sz="1600">
              <a:latin typeface="Times New Roman"/>
              <a:cs typeface="Times New Roman"/>
            </a:endParaRPr>
          </a:p>
        </p:txBody>
      </p:sp>
      <p:sp>
        <p:nvSpPr>
          <p:cNvPr id="22" name="object 22"/>
          <p:cNvSpPr txBox="1"/>
          <p:nvPr/>
        </p:nvSpPr>
        <p:spPr>
          <a:xfrm>
            <a:off x="6352477" y="5155450"/>
            <a:ext cx="3488054" cy="267970"/>
          </a:xfrm>
          <a:prstGeom prst="rect">
            <a:avLst/>
          </a:prstGeom>
        </p:spPr>
        <p:txBody>
          <a:bodyPr vert="horz" wrap="square" lIns="0" tIns="11430" rIns="0" bIns="0" rtlCol="0">
            <a:spAutoFit/>
          </a:bodyPr>
          <a:lstStyle/>
          <a:p>
            <a:pPr marL="12700">
              <a:spcBef>
                <a:spcPts val="90"/>
              </a:spcBef>
            </a:pPr>
            <a:r>
              <a:rPr sz="1600" spc="-10" dirty="0">
                <a:latin typeface="Times New Roman"/>
                <a:cs typeface="Times New Roman"/>
              </a:rPr>
              <a:t>1,7-Dioxa-2,8-diazacyclododeca-2,8-diene</a:t>
            </a:r>
            <a:endParaRPr sz="1600">
              <a:latin typeface="Times New Roman"/>
              <a:cs typeface="Times New Roman"/>
            </a:endParaRPr>
          </a:p>
        </p:txBody>
      </p:sp>
      <p:sp>
        <p:nvSpPr>
          <p:cNvPr id="23" name="object 23"/>
          <p:cNvSpPr txBox="1"/>
          <p:nvPr/>
        </p:nvSpPr>
        <p:spPr>
          <a:xfrm>
            <a:off x="6795951" y="2930783"/>
            <a:ext cx="1842770" cy="267970"/>
          </a:xfrm>
          <a:prstGeom prst="rect">
            <a:avLst/>
          </a:prstGeom>
        </p:spPr>
        <p:txBody>
          <a:bodyPr vert="horz" wrap="square" lIns="0" tIns="11430" rIns="0" bIns="0" rtlCol="0">
            <a:spAutoFit/>
          </a:bodyPr>
          <a:lstStyle/>
          <a:p>
            <a:pPr marL="12700">
              <a:spcBef>
                <a:spcPts val="90"/>
              </a:spcBef>
            </a:pPr>
            <a:r>
              <a:rPr sz="1600" spc="-10" dirty="0">
                <a:latin typeface="Times New Roman"/>
                <a:cs typeface="Times New Roman"/>
              </a:rPr>
              <a:t>4</a:t>
            </a:r>
            <a:r>
              <a:rPr sz="1600" i="1" spc="-10" dirty="0">
                <a:latin typeface="Times New Roman"/>
                <a:cs typeface="Times New Roman"/>
              </a:rPr>
              <a:t>H</a:t>
            </a:r>
            <a:r>
              <a:rPr sz="1600" spc="-10" dirty="0">
                <a:latin typeface="Times New Roman"/>
                <a:cs typeface="Times New Roman"/>
              </a:rPr>
              <a:t>-4a-azanaphthalene</a:t>
            </a:r>
            <a:endParaRPr sz="1600">
              <a:latin typeface="Times New Roman"/>
              <a:cs typeface="Times New Roman"/>
            </a:endParaRPr>
          </a:p>
        </p:txBody>
      </p:sp>
      <p:sp>
        <p:nvSpPr>
          <p:cNvPr id="24" name="object 24"/>
          <p:cNvSpPr txBox="1"/>
          <p:nvPr/>
        </p:nvSpPr>
        <p:spPr>
          <a:xfrm>
            <a:off x="5851404" y="2703680"/>
            <a:ext cx="93345" cy="175689"/>
          </a:xfrm>
          <a:prstGeom prst="rect">
            <a:avLst/>
          </a:prstGeom>
        </p:spPr>
        <p:txBody>
          <a:bodyPr vert="horz" wrap="square" lIns="0" tIns="13970" rIns="0" bIns="0" rtlCol="0">
            <a:spAutoFit/>
          </a:bodyPr>
          <a:lstStyle/>
          <a:p>
            <a:pPr marL="12700">
              <a:spcBef>
                <a:spcPts val="110"/>
              </a:spcBef>
            </a:pPr>
            <a:r>
              <a:rPr sz="1050" spc="5" dirty="0">
                <a:solidFill>
                  <a:srgbClr val="FF0000"/>
                </a:solidFill>
                <a:latin typeface="Times New Roman"/>
                <a:cs typeface="Times New Roman"/>
              </a:rPr>
              <a:t>1</a:t>
            </a:r>
            <a:endParaRPr sz="1050">
              <a:latin typeface="Times New Roman"/>
              <a:cs typeface="Times New Roman"/>
            </a:endParaRPr>
          </a:p>
        </p:txBody>
      </p:sp>
      <p:sp>
        <p:nvSpPr>
          <p:cNvPr id="25" name="object 25"/>
          <p:cNvSpPr txBox="1"/>
          <p:nvPr/>
        </p:nvSpPr>
        <p:spPr>
          <a:xfrm>
            <a:off x="6094720" y="2857112"/>
            <a:ext cx="93345" cy="175689"/>
          </a:xfrm>
          <a:prstGeom prst="rect">
            <a:avLst/>
          </a:prstGeom>
        </p:spPr>
        <p:txBody>
          <a:bodyPr vert="horz" wrap="square" lIns="0" tIns="13970" rIns="0" bIns="0" rtlCol="0">
            <a:spAutoFit/>
          </a:bodyPr>
          <a:lstStyle/>
          <a:p>
            <a:pPr marL="12700">
              <a:spcBef>
                <a:spcPts val="110"/>
              </a:spcBef>
            </a:pPr>
            <a:r>
              <a:rPr sz="1050" spc="5" dirty="0">
                <a:solidFill>
                  <a:srgbClr val="FF0000"/>
                </a:solidFill>
                <a:latin typeface="Times New Roman"/>
                <a:cs typeface="Times New Roman"/>
              </a:rPr>
              <a:t>2</a:t>
            </a:r>
            <a:endParaRPr sz="1050">
              <a:latin typeface="Times New Roman"/>
              <a:cs typeface="Times New Roman"/>
            </a:endParaRPr>
          </a:p>
        </p:txBody>
      </p:sp>
      <p:sp>
        <p:nvSpPr>
          <p:cNvPr id="26" name="object 26"/>
          <p:cNvSpPr txBox="1"/>
          <p:nvPr/>
        </p:nvSpPr>
        <p:spPr>
          <a:xfrm>
            <a:off x="6096759" y="3147362"/>
            <a:ext cx="93345" cy="175689"/>
          </a:xfrm>
          <a:prstGeom prst="rect">
            <a:avLst/>
          </a:prstGeom>
        </p:spPr>
        <p:txBody>
          <a:bodyPr vert="horz" wrap="square" lIns="0" tIns="13970" rIns="0" bIns="0" rtlCol="0">
            <a:spAutoFit/>
          </a:bodyPr>
          <a:lstStyle/>
          <a:p>
            <a:pPr marL="12700">
              <a:spcBef>
                <a:spcPts val="110"/>
              </a:spcBef>
            </a:pPr>
            <a:r>
              <a:rPr sz="1050" spc="5" dirty="0">
                <a:solidFill>
                  <a:srgbClr val="FF0000"/>
                </a:solidFill>
                <a:latin typeface="Times New Roman"/>
                <a:cs typeface="Times New Roman"/>
              </a:rPr>
              <a:t>3</a:t>
            </a:r>
            <a:endParaRPr sz="1050">
              <a:latin typeface="Times New Roman"/>
              <a:cs typeface="Times New Roman"/>
            </a:endParaRPr>
          </a:p>
        </p:txBody>
      </p:sp>
      <p:sp>
        <p:nvSpPr>
          <p:cNvPr id="27" name="object 27"/>
          <p:cNvSpPr txBox="1"/>
          <p:nvPr/>
        </p:nvSpPr>
        <p:spPr>
          <a:xfrm>
            <a:off x="5853443" y="3337415"/>
            <a:ext cx="93345" cy="175689"/>
          </a:xfrm>
          <a:prstGeom prst="rect">
            <a:avLst/>
          </a:prstGeom>
        </p:spPr>
        <p:txBody>
          <a:bodyPr vert="horz" wrap="square" lIns="0" tIns="13970" rIns="0" bIns="0" rtlCol="0">
            <a:spAutoFit/>
          </a:bodyPr>
          <a:lstStyle/>
          <a:p>
            <a:pPr marL="12700">
              <a:spcBef>
                <a:spcPts val="110"/>
              </a:spcBef>
            </a:pPr>
            <a:r>
              <a:rPr sz="1050" spc="5" dirty="0">
                <a:solidFill>
                  <a:srgbClr val="FF0000"/>
                </a:solidFill>
                <a:latin typeface="Times New Roman"/>
                <a:cs typeface="Times New Roman"/>
              </a:rPr>
              <a:t>4</a:t>
            </a:r>
            <a:endParaRPr sz="1050">
              <a:latin typeface="Times New Roman"/>
              <a:cs typeface="Times New Roman"/>
            </a:endParaRPr>
          </a:p>
        </p:txBody>
      </p:sp>
      <p:sp>
        <p:nvSpPr>
          <p:cNvPr id="28" name="object 28"/>
          <p:cNvSpPr txBox="1"/>
          <p:nvPr/>
        </p:nvSpPr>
        <p:spPr>
          <a:xfrm>
            <a:off x="5599762" y="3120243"/>
            <a:ext cx="186055" cy="367665"/>
          </a:xfrm>
          <a:prstGeom prst="rect">
            <a:avLst/>
          </a:prstGeom>
        </p:spPr>
        <p:txBody>
          <a:bodyPr vert="horz" wrap="square" lIns="0" tIns="17145" rIns="0" bIns="0" rtlCol="0">
            <a:spAutoFit/>
          </a:bodyPr>
          <a:lstStyle/>
          <a:p>
            <a:pPr marL="12700">
              <a:lnSpc>
                <a:spcPts val="1475"/>
              </a:lnSpc>
              <a:spcBef>
                <a:spcPts val="135"/>
              </a:spcBef>
            </a:pPr>
            <a:r>
              <a:rPr sz="1300" spc="25" dirty="0">
                <a:solidFill>
                  <a:srgbClr val="0000FF"/>
                </a:solidFill>
                <a:latin typeface="Arial MT"/>
                <a:cs typeface="Arial MT"/>
              </a:rPr>
              <a:t>N</a:t>
            </a:r>
            <a:endParaRPr sz="1300">
              <a:latin typeface="Arial MT"/>
              <a:cs typeface="Arial MT"/>
            </a:endParaRPr>
          </a:p>
          <a:p>
            <a:pPr marL="43180">
              <a:lnSpc>
                <a:spcPts val="1175"/>
              </a:lnSpc>
            </a:pPr>
            <a:r>
              <a:rPr sz="1050" spc="20" dirty="0">
                <a:solidFill>
                  <a:srgbClr val="FF0000"/>
                </a:solidFill>
                <a:latin typeface="Times New Roman"/>
                <a:cs typeface="Times New Roman"/>
              </a:rPr>
              <a:t>4</a:t>
            </a:r>
            <a:r>
              <a:rPr sz="1050" spc="5" dirty="0">
                <a:solidFill>
                  <a:srgbClr val="FF0000"/>
                </a:solidFill>
                <a:latin typeface="Times New Roman"/>
                <a:cs typeface="Times New Roman"/>
              </a:rPr>
              <a:t>a</a:t>
            </a:r>
            <a:endParaRPr sz="1050">
              <a:latin typeface="Times New Roman"/>
              <a:cs typeface="Times New Roman"/>
            </a:endParaRPr>
          </a:p>
        </p:txBody>
      </p:sp>
      <p:sp>
        <p:nvSpPr>
          <p:cNvPr id="29" name="object 29"/>
          <p:cNvSpPr txBox="1"/>
          <p:nvPr/>
        </p:nvSpPr>
        <p:spPr>
          <a:xfrm>
            <a:off x="2437590" y="2759157"/>
            <a:ext cx="156845" cy="169918"/>
          </a:xfrm>
          <a:prstGeom prst="rect">
            <a:avLst/>
          </a:prstGeom>
        </p:spPr>
        <p:txBody>
          <a:bodyPr vert="horz" wrap="square" lIns="0" tIns="15875" rIns="0" bIns="0" rtlCol="0">
            <a:spAutoFit/>
          </a:bodyPr>
          <a:lstStyle/>
          <a:p>
            <a:pPr marL="12700">
              <a:spcBef>
                <a:spcPts val="125"/>
              </a:spcBef>
            </a:pPr>
            <a:r>
              <a:rPr sz="1000" b="1" spc="15" dirty="0">
                <a:solidFill>
                  <a:srgbClr val="FF0000"/>
                </a:solidFill>
                <a:latin typeface="Times New Roman"/>
                <a:cs typeface="Times New Roman"/>
              </a:rPr>
              <a:t>8a</a:t>
            </a:r>
            <a:endParaRPr sz="1000">
              <a:latin typeface="Times New Roman"/>
              <a:cs typeface="Times New Roman"/>
            </a:endParaRPr>
          </a:p>
        </p:txBody>
      </p:sp>
      <p:sp>
        <p:nvSpPr>
          <p:cNvPr id="30" name="object 30"/>
          <p:cNvSpPr txBox="1"/>
          <p:nvPr/>
        </p:nvSpPr>
        <p:spPr>
          <a:xfrm>
            <a:off x="2689163" y="2679326"/>
            <a:ext cx="90170" cy="167995"/>
          </a:xfrm>
          <a:prstGeom prst="rect">
            <a:avLst/>
          </a:prstGeom>
        </p:spPr>
        <p:txBody>
          <a:bodyPr vert="horz" wrap="square" lIns="0" tIns="13970" rIns="0" bIns="0" rtlCol="0">
            <a:spAutoFit/>
          </a:bodyPr>
          <a:lstStyle/>
          <a:p>
            <a:pPr marL="12700">
              <a:spcBef>
                <a:spcPts val="110"/>
              </a:spcBef>
            </a:pPr>
            <a:r>
              <a:rPr sz="1000" b="1" spc="5" dirty="0">
                <a:solidFill>
                  <a:srgbClr val="FF0000"/>
                </a:solidFill>
                <a:latin typeface="Times New Roman"/>
                <a:cs typeface="Times New Roman"/>
              </a:rPr>
              <a:t>1</a:t>
            </a:r>
            <a:endParaRPr sz="1000">
              <a:latin typeface="Times New Roman"/>
              <a:cs typeface="Times New Roman"/>
            </a:endParaRPr>
          </a:p>
        </p:txBody>
      </p:sp>
      <p:sp>
        <p:nvSpPr>
          <p:cNvPr id="31" name="object 31"/>
          <p:cNvSpPr txBox="1"/>
          <p:nvPr/>
        </p:nvSpPr>
        <p:spPr>
          <a:xfrm>
            <a:off x="2909863" y="2822586"/>
            <a:ext cx="1101090" cy="478155"/>
          </a:xfrm>
          <a:prstGeom prst="rect">
            <a:avLst/>
          </a:prstGeom>
        </p:spPr>
        <p:txBody>
          <a:bodyPr vert="horz" wrap="square" lIns="0" tIns="13970" rIns="0" bIns="0" rtlCol="0">
            <a:spAutoFit/>
          </a:bodyPr>
          <a:lstStyle/>
          <a:p>
            <a:pPr marL="12700">
              <a:lnSpc>
                <a:spcPts val="875"/>
              </a:lnSpc>
              <a:spcBef>
                <a:spcPts val="110"/>
              </a:spcBef>
            </a:pPr>
            <a:r>
              <a:rPr sz="1000" b="1" spc="5" dirty="0">
                <a:solidFill>
                  <a:srgbClr val="FF0000"/>
                </a:solidFill>
                <a:latin typeface="Times New Roman"/>
                <a:cs typeface="Times New Roman"/>
              </a:rPr>
              <a:t>2</a:t>
            </a:r>
            <a:endParaRPr sz="1000">
              <a:latin typeface="Times New Roman"/>
              <a:cs typeface="Times New Roman"/>
            </a:endParaRPr>
          </a:p>
          <a:p>
            <a:pPr marL="110489">
              <a:lnSpc>
                <a:spcPts val="1535"/>
              </a:lnSpc>
            </a:pPr>
            <a:r>
              <a:rPr sz="1600" dirty="0">
                <a:latin typeface="Times New Roman"/>
                <a:cs typeface="Times New Roman"/>
              </a:rPr>
              <a:t>n</a:t>
            </a:r>
            <a:r>
              <a:rPr sz="1600" spc="-5" dirty="0">
                <a:latin typeface="Times New Roman"/>
                <a:cs typeface="Times New Roman"/>
              </a:rPr>
              <a:t>a</a:t>
            </a:r>
            <a:r>
              <a:rPr sz="1600" spc="-15" dirty="0">
                <a:latin typeface="Times New Roman"/>
                <a:cs typeface="Times New Roman"/>
              </a:rPr>
              <a:t>p</a:t>
            </a:r>
            <a:r>
              <a:rPr sz="1600" dirty="0">
                <a:latin typeface="Times New Roman"/>
                <a:cs typeface="Times New Roman"/>
              </a:rPr>
              <a:t>h</a:t>
            </a:r>
            <a:r>
              <a:rPr sz="1600" spc="-15" dirty="0">
                <a:latin typeface="Times New Roman"/>
                <a:cs typeface="Times New Roman"/>
              </a:rPr>
              <a:t>t</a:t>
            </a:r>
            <a:r>
              <a:rPr sz="1600" dirty="0">
                <a:latin typeface="Times New Roman"/>
                <a:cs typeface="Times New Roman"/>
              </a:rPr>
              <a:t>h</a:t>
            </a:r>
            <a:r>
              <a:rPr sz="1600" spc="-10" dirty="0">
                <a:latin typeface="Times New Roman"/>
                <a:cs typeface="Times New Roman"/>
              </a:rPr>
              <a:t>a</a:t>
            </a:r>
            <a:r>
              <a:rPr sz="1600" spc="-15" dirty="0">
                <a:latin typeface="Times New Roman"/>
                <a:cs typeface="Times New Roman"/>
              </a:rPr>
              <a:t>l</a:t>
            </a:r>
            <a:r>
              <a:rPr sz="1600" spc="-5" dirty="0">
                <a:latin typeface="Times New Roman"/>
                <a:cs typeface="Times New Roman"/>
              </a:rPr>
              <a:t>e</a:t>
            </a:r>
            <a:r>
              <a:rPr sz="1600" spc="-15" dirty="0">
                <a:latin typeface="Times New Roman"/>
                <a:cs typeface="Times New Roman"/>
              </a:rPr>
              <a:t>n</a:t>
            </a:r>
            <a:r>
              <a:rPr sz="1600" spc="-5" dirty="0">
                <a:latin typeface="Times New Roman"/>
                <a:cs typeface="Times New Roman"/>
              </a:rPr>
              <a:t>e</a:t>
            </a:r>
            <a:endParaRPr sz="1600">
              <a:latin typeface="Times New Roman"/>
              <a:cs typeface="Times New Roman"/>
            </a:endParaRPr>
          </a:p>
          <a:p>
            <a:pPr marL="42545">
              <a:lnSpc>
                <a:spcPts val="1135"/>
              </a:lnSpc>
            </a:pPr>
            <a:r>
              <a:rPr sz="1000" b="1" spc="5" dirty="0">
                <a:solidFill>
                  <a:srgbClr val="FF0000"/>
                </a:solidFill>
                <a:latin typeface="Times New Roman"/>
                <a:cs typeface="Times New Roman"/>
              </a:rPr>
              <a:t>3</a:t>
            </a:r>
            <a:endParaRPr sz="1000">
              <a:latin typeface="Times New Roman"/>
              <a:cs typeface="Times New Roman"/>
            </a:endParaRPr>
          </a:p>
        </p:txBody>
      </p:sp>
      <p:sp>
        <p:nvSpPr>
          <p:cNvPr id="32" name="object 32"/>
          <p:cNvSpPr txBox="1"/>
          <p:nvPr/>
        </p:nvSpPr>
        <p:spPr>
          <a:xfrm>
            <a:off x="2703164" y="3304414"/>
            <a:ext cx="90170" cy="167995"/>
          </a:xfrm>
          <a:prstGeom prst="rect">
            <a:avLst/>
          </a:prstGeom>
        </p:spPr>
        <p:txBody>
          <a:bodyPr vert="horz" wrap="square" lIns="0" tIns="13970" rIns="0" bIns="0" rtlCol="0">
            <a:spAutoFit/>
          </a:bodyPr>
          <a:lstStyle/>
          <a:p>
            <a:pPr marL="12700">
              <a:spcBef>
                <a:spcPts val="110"/>
              </a:spcBef>
            </a:pPr>
            <a:r>
              <a:rPr sz="1000" b="1" spc="5" dirty="0">
                <a:solidFill>
                  <a:srgbClr val="FF0000"/>
                </a:solidFill>
                <a:latin typeface="Times New Roman"/>
                <a:cs typeface="Times New Roman"/>
              </a:rPr>
              <a:t>4</a:t>
            </a:r>
            <a:endParaRPr sz="1000">
              <a:latin typeface="Times New Roman"/>
              <a:cs typeface="Times New Roman"/>
            </a:endParaRPr>
          </a:p>
        </p:txBody>
      </p:sp>
      <p:sp>
        <p:nvSpPr>
          <p:cNvPr id="33" name="object 33"/>
          <p:cNvSpPr txBox="1"/>
          <p:nvPr/>
        </p:nvSpPr>
        <p:spPr>
          <a:xfrm>
            <a:off x="2267948" y="3318825"/>
            <a:ext cx="90170" cy="167995"/>
          </a:xfrm>
          <a:prstGeom prst="rect">
            <a:avLst/>
          </a:prstGeom>
        </p:spPr>
        <p:txBody>
          <a:bodyPr vert="horz" wrap="square" lIns="0" tIns="13970" rIns="0" bIns="0" rtlCol="0">
            <a:spAutoFit/>
          </a:bodyPr>
          <a:lstStyle/>
          <a:p>
            <a:pPr marL="12700">
              <a:spcBef>
                <a:spcPts val="110"/>
              </a:spcBef>
            </a:pPr>
            <a:r>
              <a:rPr sz="1000" b="1" spc="5" dirty="0">
                <a:solidFill>
                  <a:srgbClr val="FF0000"/>
                </a:solidFill>
                <a:latin typeface="Times New Roman"/>
                <a:cs typeface="Times New Roman"/>
              </a:rPr>
              <a:t>5</a:t>
            </a:r>
            <a:endParaRPr sz="1000">
              <a:latin typeface="Times New Roman"/>
              <a:cs typeface="Times New Roman"/>
            </a:endParaRPr>
          </a:p>
        </p:txBody>
      </p:sp>
      <p:sp>
        <p:nvSpPr>
          <p:cNvPr id="34" name="object 34"/>
          <p:cNvSpPr txBox="1"/>
          <p:nvPr/>
        </p:nvSpPr>
        <p:spPr>
          <a:xfrm>
            <a:off x="2028717" y="3167596"/>
            <a:ext cx="90170" cy="167995"/>
          </a:xfrm>
          <a:prstGeom prst="rect">
            <a:avLst/>
          </a:prstGeom>
        </p:spPr>
        <p:txBody>
          <a:bodyPr vert="horz" wrap="square" lIns="0" tIns="13970" rIns="0" bIns="0" rtlCol="0">
            <a:spAutoFit/>
          </a:bodyPr>
          <a:lstStyle/>
          <a:p>
            <a:pPr marL="12700">
              <a:spcBef>
                <a:spcPts val="110"/>
              </a:spcBef>
            </a:pPr>
            <a:r>
              <a:rPr sz="1000" b="1" spc="5" dirty="0">
                <a:solidFill>
                  <a:srgbClr val="FF0000"/>
                </a:solidFill>
                <a:latin typeface="Times New Roman"/>
                <a:cs typeface="Times New Roman"/>
              </a:rPr>
              <a:t>6</a:t>
            </a:r>
            <a:endParaRPr sz="1000">
              <a:latin typeface="Times New Roman"/>
              <a:cs typeface="Times New Roman"/>
            </a:endParaRPr>
          </a:p>
        </p:txBody>
      </p:sp>
      <p:sp>
        <p:nvSpPr>
          <p:cNvPr id="35" name="object 35"/>
          <p:cNvSpPr txBox="1"/>
          <p:nvPr/>
        </p:nvSpPr>
        <p:spPr>
          <a:xfrm>
            <a:off x="2022540" y="2848864"/>
            <a:ext cx="90170" cy="167995"/>
          </a:xfrm>
          <a:prstGeom prst="rect">
            <a:avLst/>
          </a:prstGeom>
        </p:spPr>
        <p:txBody>
          <a:bodyPr vert="horz" wrap="square" lIns="0" tIns="13970" rIns="0" bIns="0" rtlCol="0">
            <a:spAutoFit/>
          </a:bodyPr>
          <a:lstStyle/>
          <a:p>
            <a:pPr marL="12700">
              <a:spcBef>
                <a:spcPts val="110"/>
              </a:spcBef>
            </a:pPr>
            <a:r>
              <a:rPr sz="1000" b="1" spc="5" dirty="0">
                <a:solidFill>
                  <a:srgbClr val="FF0000"/>
                </a:solidFill>
                <a:latin typeface="Times New Roman"/>
                <a:cs typeface="Times New Roman"/>
              </a:rPr>
              <a:t>7</a:t>
            </a:r>
            <a:endParaRPr sz="1000">
              <a:latin typeface="Times New Roman"/>
              <a:cs typeface="Times New Roman"/>
            </a:endParaRPr>
          </a:p>
        </p:txBody>
      </p:sp>
      <p:sp>
        <p:nvSpPr>
          <p:cNvPr id="36" name="object 36"/>
          <p:cNvSpPr txBox="1"/>
          <p:nvPr/>
        </p:nvSpPr>
        <p:spPr>
          <a:xfrm>
            <a:off x="2263819" y="2677291"/>
            <a:ext cx="90170" cy="167995"/>
          </a:xfrm>
          <a:prstGeom prst="rect">
            <a:avLst/>
          </a:prstGeom>
        </p:spPr>
        <p:txBody>
          <a:bodyPr vert="horz" wrap="square" lIns="0" tIns="13970" rIns="0" bIns="0" rtlCol="0">
            <a:spAutoFit/>
          </a:bodyPr>
          <a:lstStyle/>
          <a:p>
            <a:pPr marL="12700">
              <a:spcBef>
                <a:spcPts val="110"/>
              </a:spcBef>
            </a:pPr>
            <a:r>
              <a:rPr sz="1000" b="1" spc="5" dirty="0">
                <a:solidFill>
                  <a:srgbClr val="FF0000"/>
                </a:solidFill>
                <a:latin typeface="Times New Roman"/>
                <a:cs typeface="Times New Roman"/>
              </a:rPr>
              <a:t>8</a:t>
            </a:r>
            <a:endParaRPr sz="1000">
              <a:latin typeface="Times New Roman"/>
              <a:cs typeface="Times New Roman"/>
            </a:endParaRPr>
          </a:p>
        </p:txBody>
      </p:sp>
      <p:sp>
        <p:nvSpPr>
          <p:cNvPr id="37" name="object 37"/>
          <p:cNvSpPr txBox="1"/>
          <p:nvPr/>
        </p:nvSpPr>
        <p:spPr>
          <a:xfrm>
            <a:off x="2476296" y="3241061"/>
            <a:ext cx="121920" cy="130805"/>
          </a:xfrm>
          <a:prstGeom prst="rect">
            <a:avLst/>
          </a:prstGeom>
        </p:spPr>
        <p:txBody>
          <a:bodyPr vert="horz" wrap="square" lIns="0" tIns="15240" rIns="0" bIns="0" rtlCol="0">
            <a:spAutoFit/>
          </a:bodyPr>
          <a:lstStyle/>
          <a:p>
            <a:pPr marL="12700">
              <a:spcBef>
                <a:spcPts val="120"/>
              </a:spcBef>
            </a:pPr>
            <a:r>
              <a:rPr sz="750" b="1" spc="-10" dirty="0">
                <a:solidFill>
                  <a:srgbClr val="FF0000"/>
                </a:solidFill>
                <a:latin typeface="Times New Roman"/>
                <a:cs typeface="Times New Roman"/>
              </a:rPr>
              <a:t>4</a:t>
            </a:r>
            <a:r>
              <a:rPr sz="750" b="1" spc="10" dirty="0">
                <a:solidFill>
                  <a:srgbClr val="FF0000"/>
                </a:solidFill>
                <a:latin typeface="Times New Roman"/>
                <a:cs typeface="Times New Roman"/>
              </a:rPr>
              <a:t>a</a:t>
            </a:r>
            <a:endParaRPr sz="750">
              <a:latin typeface="Times New Roman"/>
              <a:cs typeface="Times New Roman"/>
            </a:endParaRPr>
          </a:p>
        </p:txBody>
      </p:sp>
      <p:sp>
        <p:nvSpPr>
          <p:cNvPr id="38" name="object 38"/>
          <p:cNvSpPr txBox="1"/>
          <p:nvPr/>
        </p:nvSpPr>
        <p:spPr>
          <a:xfrm>
            <a:off x="5499090" y="4859226"/>
            <a:ext cx="459740" cy="883919"/>
          </a:xfrm>
          <a:prstGeom prst="rect">
            <a:avLst/>
          </a:prstGeom>
        </p:spPr>
        <p:txBody>
          <a:bodyPr vert="horz" wrap="square" lIns="0" tIns="35560" rIns="0" bIns="0" rtlCol="0">
            <a:spAutoFit/>
          </a:bodyPr>
          <a:lstStyle/>
          <a:p>
            <a:pPr marL="64135">
              <a:spcBef>
                <a:spcPts val="280"/>
              </a:spcBef>
              <a:tabLst>
                <a:tab pos="290830" algn="l"/>
              </a:tabLst>
            </a:pPr>
            <a:r>
              <a:rPr sz="1200" b="1" spc="10" dirty="0">
                <a:solidFill>
                  <a:srgbClr val="FF00FF"/>
                </a:solidFill>
                <a:latin typeface="Times New Roman"/>
                <a:cs typeface="Times New Roman"/>
              </a:rPr>
              <a:t>2	</a:t>
            </a:r>
            <a:r>
              <a:rPr b="1" spc="15" baseline="-23148" dirty="0">
                <a:solidFill>
                  <a:srgbClr val="FF00FF"/>
                </a:solidFill>
                <a:latin typeface="Times New Roman"/>
                <a:cs typeface="Times New Roman"/>
              </a:rPr>
              <a:t>1</a:t>
            </a:r>
            <a:endParaRPr baseline="-23148">
              <a:latin typeface="Times New Roman"/>
              <a:cs typeface="Times New Roman"/>
            </a:endParaRPr>
          </a:p>
          <a:p>
            <a:pPr marL="288925" indent="-245745">
              <a:spcBef>
                <a:spcPts val="215"/>
              </a:spcBef>
              <a:buClr>
                <a:srgbClr val="0000FF"/>
              </a:buClr>
              <a:buAutoNum type="alphaUcPeriod" startAt="14"/>
              <a:tabLst>
                <a:tab pos="289560" algn="l"/>
              </a:tabLst>
            </a:pPr>
            <a:r>
              <a:rPr sz="1300" spc="30" dirty="0">
                <a:solidFill>
                  <a:srgbClr val="FF0000"/>
                </a:solidFill>
                <a:latin typeface="Arial MT"/>
                <a:cs typeface="Arial MT"/>
              </a:rPr>
              <a:t>O</a:t>
            </a:r>
            <a:endParaRPr sz="1300">
              <a:latin typeface="Arial MT"/>
              <a:cs typeface="Arial MT"/>
            </a:endParaRPr>
          </a:p>
          <a:p>
            <a:pPr marL="295275" indent="-257810">
              <a:lnSpc>
                <a:spcPts val="1530"/>
              </a:lnSpc>
              <a:spcBef>
                <a:spcPts val="420"/>
              </a:spcBef>
              <a:buClr>
                <a:srgbClr val="FF0000"/>
              </a:buClr>
              <a:buAutoNum type="alphaUcPeriod" startAt="14"/>
              <a:tabLst>
                <a:tab pos="295910" algn="l"/>
              </a:tabLst>
            </a:pPr>
            <a:r>
              <a:rPr sz="1300" spc="25" dirty="0">
                <a:solidFill>
                  <a:srgbClr val="0000FF"/>
                </a:solidFill>
                <a:latin typeface="Arial MT"/>
                <a:cs typeface="Arial MT"/>
              </a:rPr>
              <a:t>N</a:t>
            </a:r>
            <a:endParaRPr sz="1300">
              <a:latin typeface="Arial MT"/>
              <a:cs typeface="Arial MT"/>
            </a:endParaRPr>
          </a:p>
          <a:p>
            <a:pPr marL="52069">
              <a:lnSpc>
                <a:spcPts val="1410"/>
              </a:lnSpc>
              <a:tabLst>
                <a:tab pos="327660" algn="l"/>
              </a:tabLst>
            </a:pPr>
            <a:r>
              <a:rPr sz="1200" b="1" spc="10" dirty="0">
                <a:solidFill>
                  <a:srgbClr val="FF00FF"/>
                </a:solidFill>
                <a:latin typeface="Times New Roman"/>
                <a:cs typeface="Times New Roman"/>
              </a:rPr>
              <a:t>7	8</a:t>
            </a:r>
            <a:endParaRPr sz="1200">
              <a:latin typeface="Times New Roman"/>
              <a:cs typeface="Times New Roman"/>
            </a:endParaRPr>
          </a:p>
        </p:txBody>
      </p:sp>
      <p:sp>
        <p:nvSpPr>
          <p:cNvPr id="39" name="object 39"/>
          <p:cNvSpPr/>
          <p:nvPr/>
        </p:nvSpPr>
        <p:spPr>
          <a:xfrm>
            <a:off x="2170290" y="3962629"/>
            <a:ext cx="795655" cy="457834"/>
          </a:xfrm>
          <a:custGeom>
            <a:avLst/>
            <a:gdLst/>
            <a:ahLst/>
            <a:cxnLst/>
            <a:rect l="l" t="t" r="r" b="b"/>
            <a:pathLst>
              <a:path w="795655" h="457835">
                <a:moveTo>
                  <a:pt x="198050" y="0"/>
                </a:moveTo>
                <a:lnTo>
                  <a:pt x="0" y="114353"/>
                </a:lnTo>
              </a:path>
              <a:path w="795655" h="457835">
                <a:moveTo>
                  <a:pt x="198050" y="48996"/>
                </a:moveTo>
                <a:lnTo>
                  <a:pt x="42835" y="139038"/>
                </a:lnTo>
              </a:path>
              <a:path w="795655" h="457835">
                <a:moveTo>
                  <a:pt x="0" y="114353"/>
                </a:moveTo>
                <a:lnTo>
                  <a:pt x="0" y="343417"/>
                </a:lnTo>
              </a:path>
              <a:path w="795655" h="457835">
                <a:moveTo>
                  <a:pt x="0" y="343417"/>
                </a:moveTo>
                <a:lnTo>
                  <a:pt x="198050" y="457736"/>
                </a:lnTo>
              </a:path>
              <a:path w="795655" h="457835">
                <a:moveTo>
                  <a:pt x="42835" y="318749"/>
                </a:moveTo>
                <a:lnTo>
                  <a:pt x="198050" y="408791"/>
                </a:lnTo>
              </a:path>
              <a:path w="795655" h="457835">
                <a:moveTo>
                  <a:pt x="198050" y="457736"/>
                </a:moveTo>
                <a:lnTo>
                  <a:pt x="398582" y="343417"/>
                </a:lnTo>
              </a:path>
              <a:path w="795655" h="457835">
                <a:moveTo>
                  <a:pt x="398582" y="343417"/>
                </a:moveTo>
                <a:lnTo>
                  <a:pt x="398582" y="114353"/>
                </a:lnTo>
              </a:path>
              <a:path w="795655" h="457835">
                <a:moveTo>
                  <a:pt x="398582" y="114353"/>
                </a:moveTo>
                <a:lnTo>
                  <a:pt x="198050" y="0"/>
                </a:lnTo>
              </a:path>
              <a:path w="795655" h="457835">
                <a:moveTo>
                  <a:pt x="398582" y="343417"/>
                </a:moveTo>
                <a:lnTo>
                  <a:pt x="596633" y="457736"/>
                </a:lnTo>
              </a:path>
              <a:path w="795655" h="457835">
                <a:moveTo>
                  <a:pt x="441400" y="318749"/>
                </a:moveTo>
                <a:lnTo>
                  <a:pt x="596633" y="408791"/>
                </a:lnTo>
              </a:path>
              <a:path w="795655" h="457835">
                <a:moveTo>
                  <a:pt x="596633" y="457736"/>
                </a:moveTo>
                <a:lnTo>
                  <a:pt x="795092" y="343417"/>
                </a:lnTo>
              </a:path>
              <a:path w="795655" h="457835">
                <a:moveTo>
                  <a:pt x="795092" y="343417"/>
                </a:moveTo>
                <a:lnTo>
                  <a:pt x="795092" y="114353"/>
                </a:lnTo>
              </a:path>
              <a:path w="795655" h="457835">
                <a:moveTo>
                  <a:pt x="752274" y="318749"/>
                </a:moveTo>
                <a:lnTo>
                  <a:pt x="752274" y="139038"/>
                </a:lnTo>
              </a:path>
              <a:path w="795655" h="457835">
                <a:moveTo>
                  <a:pt x="795092" y="114353"/>
                </a:moveTo>
                <a:lnTo>
                  <a:pt x="596633" y="0"/>
                </a:lnTo>
              </a:path>
              <a:path w="795655" h="457835">
                <a:moveTo>
                  <a:pt x="596633" y="0"/>
                </a:moveTo>
                <a:lnTo>
                  <a:pt x="398582" y="114353"/>
                </a:lnTo>
              </a:path>
              <a:path w="795655" h="457835">
                <a:moveTo>
                  <a:pt x="596633" y="48996"/>
                </a:moveTo>
                <a:lnTo>
                  <a:pt x="441400" y="139038"/>
                </a:lnTo>
              </a:path>
            </a:pathLst>
          </a:custGeom>
          <a:ln w="16451">
            <a:solidFill>
              <a:srgbClr val="000000"/>
            </a:solidFill>
          </a:ln>
        </p:spPr>
        <p:txBody>
          <a:bodyPr wrap="square" lIns="0" tIns="0" rIns="0" bIns="0" rtlCol="0"/>
          <a:lstStyle/>
          <a:p>
            <a:endParaRPr/>
          </a:p>
        </p:txBody>
      </p:sp>
      <p:sp>
        <p:nvSpPr>
          <p:cNvPr id="40" name="object 40"/>
          <p:cNvSpPr txBox="1"/>
          <p:nvPr/>
        </p:nvSpPr>
        <p:spPr>
          <a:xfrm>
            <a:off x="2498929" y="3852172"/>
            <a:ext cx="156845" cy="169918"/>
          </a:xfrm>
          <a:prstGeom prst="rect">
            <a:avLst/>
          </a:prstGeom>
        </p:spPr>
        <p:txBody>
          <a:bodyPr vert="horz" wrap="square" lIns="0" tIns="15875" rIns="0" bIns="0" rtlCol="0">
            <a:spAutoFit/>
          </a:bodyPr>
          <a:lstStyle/>
          <a:p>
            <a:pPr marL="12700">
              <a:spcBef>
                <a:spcPts val="125"/>
              </a:spcBef>
            </a:pPr>
            <a:r>
              <a:rPr sz="1000" b="1" spc="15" dirty="0">
                <a:solidFill>
                  <a:srgbClr val="FF0000"/>
                </a:solidFill>
                <a:latin typeface="Times New Roman"/>
                <a:cs typeface="Times New Roman"/>
              </a:rPr>
              <a:t>8a</a:t>
            </a:r>
            <a:endParaRPr sz="1000">
              <a:latin typeface="Times New Roman"/>
              <a:cs typeface="Times New Roman"/>
            </a:endParaRPr>
          </a:p>
        </p:txBody>
      </p:sp>
      <p:sp>
        <p:nvSpPr>
          <p:cNvPr id="41" name="object 41"/>
          <p:cNvSpPr txBox="1"/>
          <p:nvPr/>
        </p:nvSpPr>
        <p:spPr>
          <a:xfrm>
            <a:off x="2750111" y="3772510"/>
            <a:ext cx="90170" cy="167995"/>
          </a:xfrm>
          <a:prstGeom prst="rect">
            <a:avLst/>
          </a:prstGeom>
        </p:spPr>
        <p:txBody>
          <a:bodyPr vert="horz" wrap="square" lIns="0" tIns="13970" rIns="0" bIns="0" rtlCol="0">
            <a:spAutoFit/>
          </a:bodyPr>
          <a:lstStyle/>
          <a:p>
            <a:pPr marL="12700">
              <a:spcBef>
                <a:spcPts val="110"/>
              </a:spcBef>
            </a:pPr>
            <a:r>
              <a:rPr sz="1000" b="1" spc="5" dirty="0">
                <a:solidFill>
                  <a:srgbClr val="FF0000"/>
                </a:solidFill>
                <a:latin typeface="Times New Roman"/>
                <a:cs typeface="Times New Roman"/>
              </a:rPr>
              <a:t>1</a:t>
            </a:r>
            <a:endParaRPr sz="1000">
              <a:latin typeface="Times New Roman"/>
              <a:cs typeface="Times New Roman"/>
            </a:endParaRPr>
          </a:p>
        </p:txBody>
      </p:sp>
      <p:sp>
        <p:nvSpPr>
          <p:cNvPr id="42" name="object 42"/>
          <p:cNvSpPr txBox="1"/>
          <p:nvPr/>
        </p:nvSpPr>
        <p:spPr>
          <a:xfrm>
            <a:off x="2971219" y="3915549"/>
            <a:ext cx="1099820" cy="478155"/>
          </a:xfrm>
          <a:prstGeom prst="rect">
            <a:avLst/>
          </a:prstGeom>
        </p:spPr>
        <p:txBody>
          <a:bodyPr vert="horz" wrap="square" lIns="0" tIns="13970" rIns="0" bIns="0" rtlCol="0">
            <a:spAutoFit/>
          </a:bodyPr>
          <a:lstStyle/>
          <a:p>
            <a:pPr marL="12700">
              <a:lnSpc>
                <a:spcPts val="905"/>
              </a:lnSpc>
              <a:spcBef>
                <a:spcPts val="110"/>
              </a:spcBef>
            </a:pPr>
            <a:r>
              <a:rPr sz="1000" b="1" spc="5" dirty="0">
                <a:solidFill>
                  <a:srgbClr val="FF0000"/>
                </a:solidFill>
                <a:latin typeface="Times New Roman"/>
                <a:cs typeface="Times New Roman"/>
              </a:rPr>
              <a:t>2</a:t>
            </a:r>
            <a:endParaRPr sz="1000">
              <a:latin typeface="Times New Roman"/>
              <a:cs typeface="Times New Roman"/>
            </a:endParaRPr>
          </a:p>
          <a:p>
            <a:pPr marL="110489">
              <a:lnSpc>
                <a:spcPts val="1505"/>
              </a:lnSpc>
            </a:pPr>
            <a:r>
              <a:rPr sz="1550" spc="20" dirty="0">
                <a:latin typeface="Times New Roman"/>
                <a:cs typeface="Times New Roman"/>
              </a:rPr>
              <a:t>n</a:t>
            </a:r>
            <a:r>
              <a:rPr sz="1550" spc="15" dirty="0">
                <a:latin typeface="Times New Roman"/>
                <a:cs typeface="Times New Roman"/>
              </a:rPr>
              <a:t>a</a:t>
            </a:r>
            <a:r>
              <a:rPr sz="1550" spc="5" dirty="0">
                <a:latin typeface="Times New Roman"/>
                <a:cs typeface="Times New Roman"/>
              </a:rPr>
              <a:t>p</a:t>
            </a:r>
            <a:r>
              <a:rPr sz="1550" spc="20" dirty="0">
                <a:latin typeface="Times New Roman"/>
                <a:cs typeface="Times New Roman"/>
              </a:rPr>
              <a:t>h</a:t>
            </a:r>
            <a:r>
              <a:rPr sz="1550" dirty="0">
                <a:latin typeface="Times New Roman"/>
                <a:cs typeface="Times New Roman"/>
              </a:rPr>
              <a:t>t</a:t>
            </a:r>
            <a:r>
              <a:rPr sz="1550" spc="25" dirty="0">
                <a:latin typeface="Times New Roman"/>
                <a:cs typeface="Times New Roman"/>
              </a:rPr>
              <a:t>h</a:t>
            </a:r>
            <a:r>
              <a:rPr sz="1550" spc="15" dirty="0">
                <a:latin typeface="Times New Roman"/>
                <a:cs typeface="Times New Roman"/>
              </a:rPr>
              <a:t>a</a:t>
            </a:r>
            <a:r>
              <a:rPr sz="1550" spc="-5" dirty="0">
                <a:latin typeface="Times New Roman"/>
                <a:cs typeface="Times New Roman"/>
              </a:rPr>
              <a:t>l</a:t>
            </a:r>
            <a:r>
              <a:rPr sz="1550" spc="15" dirty="0">
                <a:latin typeface="Times New Roman"/>
                <a:cs typeface="Times New Roman"/>
              </a:rPr>
              <a:t>e</a:t>
            </a:r>
            <a:r>
              <a:rPr sz="1550" spc="10" dirty="0">
                <a:latin typeface="Times New Roman"/>
                <a:cs typeface="Times New Roman"/>
              </a:rPr>
              <a:t>ne</a:t>
            </a:r>
            <a:endParaRPr sz="1550">
              <a:latin typeface="Times New Roman"/>
              <a:cs typeface="Times New Roman"/>
            </a:endParaRPr>
          </a:p>
          <a:p>
            <a:pPr marL="42545">
              <a:lnSpc>
                <a:spcPts val="1140"/>
              </a:lnSpc>
            </a:pPr>
            <a:r>
              <a:rPr sz="1000" b="1" spc="5" dirty="0">
                <a:solidFill>
                  <a:srgbClr val="FF0000"/>
                </a:solidFill>
                <a:latin typeface="Times New Roman"/>
                <a:cs typeface="Times New Roman"/>
              </a:rPr>
              <a:t>3</a:t>
            </a:r>
            <a:endParaRPr sz="1000">
              <a:latin typeface="Times New Roman"/>
              <a:cs typeface="Times New Roman"/>
            </a:endParaRPr>
          </a:p>
        </p:txBody>
      </p:sp>
      <p:sp>
        <p:nvSpPr>
          <p:cNvPr id="43" name="object 43"/>
          <p:cNvSpPr txBox="1"/>
          <p:nvPr/>
        </p:nvSpPr>
        <p:spPr>
          <a:xfrm>
            <a:off x="2764520" y="4397513"/>
            <a:ext cx="90170" cy="167995"/>
          </a:xfrm>
          <a:prstGeom prst="rect">
            <a:avLst/>
          </a:prstGeom>
        </p:spPr>
        <p:txBody>
          <a:bodyPr vert="horz" wrap="square" lIns="0" tIns="13970" rIns="0" bIns="0" rtlCol="0">
            <a:spAutoFit/>
          </a:bodyPr>
          <a:lstStyle/>
          <a:p>
            <a:pPr marL="12700">
              <a:spcBef>
                <a:spcPts val="110"/>
              </a:spcBef>
            </a:pPr>
            <a:r>
              <a:rPr sz="1000" b="1" spc="5" dirty="0">
                <a:solidFill>
                  <a:srgbClr val="FF0000"/>
                </a:solidFill>
                <a:latin typeface="Times New Roman"/>
                <a:cs typeface="Times New Roman"/>
              </a:rPr>
              <a:t>4</a:t>
            </a:r>
            <a:endParaRPr sz="1000">
              <a:latin typeface="Times New Roman"/>
              <a:cs typeface="Times New Roman"/>
            </a:endParaRPr>
          </a:p>
        </p:txBody>
      </p:sp>
      <p:sp>
        <p:nvSpPr>
          <p:cNvPr id="44" name="object 44"/>
          <p:cNvSpPr txBox="1"/>
          <p:nvPr/>
        </p:nvSpPr>
        <p:spPr>
          <a:xfrm>
            <a:off x="2329287" y="4411891"/>
            <a:ext cx="90170" cy="167995"/>
          </a:xfrm>
          <a:prstGeom prst="rect">
            <a:avLst/>
          </a:prstGeom>
        </p:spPr>
        <p:txBody>
          <a:bodyPr vert="horz" wrap="square" lIns="0" tIns="13970" rIns="0" bIns="0" rtlCol="0">
            <a:spAutoFit/>
          </a:bodyPr>
          <a:lstStyle/>
          <a:p>
            <a:pPr marL="12700">
              <a:spcBef>
                <a:spcPts val="110"/>
              </a:spcBef>
            </a:pPr>
            <a:r>
              <a:rPr sz="1000" b="1" spc="5" dirty="0">
                <a:solidFill>
                  <a:srgbClr val="FF0000"/>
                </a:solidFill>
                <a:latin typeface="Times New Roman"/>
                <a:cs typeface="Times New Roman"/>
              </a:rPr>
              <a:t>5</a:t>
            </a:r>
            <a:endParaRPr sz="1000">
              <a:latin typeface="Times New Roman"/>
              <a:cs typeface="Times New Roman"/>
            </a:endParaRPr>
          </a:p>
        </p:txBody>
      </p:sp>
      <p:sp>
        <p:nvSpPr>
          <p:cNvPr id="45" name="object 45"/>
          <p:cNvSpPr txBox="1"/>
          <p:nvPr/>
        </p:nvSpPr>
        <p:spPr>
          <a:xfrm>
            <a:off x="2090066" y="4260561"/>
            <a:ext cx="90170" cy="167995"/>
          </a:xfrm>
          <a:prstGeom prst="rect">
            <a:avLst/>
          </a:prstGeom>
        </p:spPr>
        <p:txBody>
          <a:bodyPr vert="horz" wrap="square" lIns="0" tIns="13970" rIns="0" bIns="0" rtlCol="0">
            <a:spAutoFit/>
          </a:bodyPr>
          <a:lstStyle/>
          <a:p>
            <a:pPr marL="12700">
              <a:spcBef>
                <a:spcPts val="110"/>
              </a:spcBef>
            </a:pPr>
            <a:r>
              <a:rPr sz="1000" b="1" spc="5" dirty="0">
                <a:solidFill>
                  <a:srgbClr val="FF0000"/>
                </a:solidFill>
                <a:latin typeface="Times New Roman"/>
                <a:cs typeface="Times New Roman"/>
              </a:rPr>
              <a:t>6</a:t>
            </a:r>
            <a:endParaRPr sz="1000">
              <a:latin typeface="Times New Roman"/>
              <a:cs typeface="Times New Roman"/>
            </a:endParaRPr>
          </a:p>
        </p:txBody>
      </p:sp>
      <p:sp>
        <p:nvSpPr>
          <p:cNvPr id="46" name="object 46"/>
          <p:cNvSpPr txBox="1"/>
          <p:nvPr/>
        </p:nvSpPr>
        <p:spPr>
          <a:xfrm>
            <a:off x="2083898" y="3941862"/>
            <a:ext cx="90170" cy="167995"/>
          </a:xfrm>
          <a:prstGeom prst="rect">
            <a:avLst/>
          </a:prstGeom>
        </p:spPr>
        <p:txBody>
          <a:bodyPr vert="horz" wrap="square" lIns="0" tIns="13970" rIns="0" bIns="0" rtlCol="0">
            <a:spAutoFit/>
          </a:bodyPr>
          <a:lstStyle/>
          <a:p>
            <a:pPr marL="12700">
              <a:spcBef>
                <a:spcPts val="110"/>
              </a:spcBef>
            </a:pPr>
            <a:r>
              <a:rPr sz="1000" b="1" spc="5" dirty="0">
                <a:solidFill>
                  <a:srgbClr val="FF0000"/>
                </a:solidFill>
                <a:latin typeface="Times New Roman"/>
                <a:cs typeface="Times New Roman"/>
              </a:rPr>
              <a:t>7</a:t>
            </a:r>
            <a:endParaRPr sz="1000">
              <a:latin typeface="Times New Roman"/>
              <a:cs typeface="Times New Roman"/>
            </a:endParaRPr>
          </a:p>
        </p:txBody>
      </p:sp>
      <p:sp>
        <p:nvSpPr>
          <p:cNvPr id="47" name="object 47"/>
          <p:cNvSpPr txBox="1"/>
          <p:nvPr/>
        </p:nvSpPr>
        <p:spPr>
          <a:xfrm>
            <a:off x="2325175" y="3770306"/>
            <a:ext cx="90170" cy="167995"/>
          </a:xfrm>
          <a:prstGeom prst="rect">
            <a:avLst/>
          </a:prstGeom>
        </p:spPr>
        <p:txBody>
          <a:bodyPr vert="horz" wrap="square" lIns="0" tIns="13970" rIns="0" bIns="0" rtlCol="0">
            <a:spAutoFit/>
          </a:bodyPr>
          <a:lstStyle/>
          <a:p>
            <a:pPr marL="12700">
              <a:spcBef>
                <a:spcPts val="110"/>
              </a:spcBef>
            </a:pPr>
            <a:r>
              <a:rPr sz="1000" b="1" spc="5" dirty="0">
                <a:solidFill>
                  <a:srgbClr val="FF0000"/>
                </a:solidFill>
                <a:latin typeface="Times New Roman"/>
                <a:cs typeface="Times New Roman"/>
              </a:rPr>
              <a:t>8</a:t>
            </a:r>
            <a:endParaRPr sz="1000">
              <a:latin typeface="Times New Roman"/>
              <a:cs typeface="Times New Roman"/>
            </a:endParaRPr>
          </a:p>
        </p:txBody>
      </p:sp>
      <p:sp>
        <p:nvSpPr>
          <p:cNvPr id="48" name="object 48"/>
          <p:cNvSpPr txBox="1"/>
          <p:nvPr/>
        </p:nvSpPr>
        <p:spPr>
          <a:xfrm>
            <a:off x="2537634" y="4334144"/>
            <a:ext cx="121920" cy="130805"/>
          </a:xfrm>
          <a:prstGeom prst="rect">
            <a:avLst/>
          </a:prstGeom>
        </p:spPr>
        <p:txBody>
          <a:bodyPr vert="horz" wrap="square" lIns="0" tIns="15240" rIns="0" bIns="0" rtlCol="0">
            <a:spAutoFit/>
          </a:bodyPr>
          <a:lstStyle/>
          <a:p>
            <a:pPr marL="12700">
              <a:spcBef>
                <a:spcPts val="120"/>
              </a:spcBef>
            </a:pPr>
            <a:r>
              <a:rPr sz="750" b="1" spc="-10" dirty="0">
                <a:solidFill>
                  <a:srgbClr val="FF0000"/>
                </a:solidFill>
                <a:latin typeface="Times New Roman"/>
                <a:cs typeface="Times New Roman"/>
              </a:rPr>
              <a:t>4</a:t>
            </a:r>
            <a:r>
              <a:rPr sz="750" b="1" spc="10" dirty="0">
                <a:solidFill>
                  <a:srgbClr val="FF0000"/>
                </a:solidFill>
                <a:latin typeface="Times New Roman"/>
                <a:cs typeface="Times New Roman"/>
              </a:rPr>
              <a:t>a</a:t>
            </a:r>
            <a:endParaRPr sz="750">
              <a:latin typeface="Times New Roman"/>
              <a:cs typeface="Times New Roman"/>
            </a:endParaRPr>
          </a:p>
        </p:txBody>
      </p:sp>
      <p:sp>
        <p:nvSpPr>
          <p:cNvPr id="51" name="object 2">
            <a:extLst>
              <a:ext uri="{FF2B5EF4-FFF2-40B4-BE49-F238E27FC236}">
                <a16:creationId xmlns:a16="http://schemas.microsoft.com/office/drawing/2014/main" id="{5618C5C2-1B70-4C3C-850A-3482D8098089}"/>
              </a:ext>
            </a:extLst>
          </p:cNvPr>
          <p:cNvSpPr txBox="1">
            <a:spLocks noGrp="1"/>
          </p:cNvSpPr>
          <p:nvPr>
            <p:ph type="title"/>
          </p:nvPr>
        </p:nvSpPr>
        <p:spPr>
          <a:xfrm>
            <a:off x="405685" y="242699"/>
            <a:ext cx="11307649" cy="813684"/>
          </a:xfrm>
          <a:prstGeom prst="rect">
            <a:avLst/>
          </a:prstGeom>
        </p:spPr>
        <p:style>
          <a:lnRef idx="1">
            <a:schemeClr val="accent1"/>
          </a:lnRef>
          <a:fillRef idx="2">
            <a:schemeClr val="accent1"/>
          </a:fillRef>
          <a:effectRef idx="1">
            <a:schemeClr val="accent1"/>
          </a:effectRef>
          <a:fontRef idx="minor">
            <a:schemeClr val="dk1"/>
          </a:fontRef>
        </p:style>
        <p:txBody>
          <a:bodyPr vert="horz" wrap="square" lIns="0" tIns="13335" rIns="0" bIns="0" rtlCol="0" anchor="ctr">
            <a:spAutoFit/>
          </a:bodyPr>
          <a:lstStyle/>
          <a:p>
            <a:pPr algn="ctr">
              <a:lnSpc>
                <a:spcPct val="100000"/>
              </a:lnSpc>
            </a:pPr>
            <a:r>
              <a:rPr lang="en-GB" sz="2600" b="1" dirty="0"/>
              <a:t>III. Carbon-Framework Substitution Nomenclature </a:t>
            </a:r>
            <a:br>
              <a:rPr lang="en-GB" sz="2600" b="1" dirty="0"/>
            </a:br>
            <a:r>
              <a:rPr lang="en-GB" sz="2600" dirty="0"/>
              <a:t>(Replacement Nomenclature)</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3">
            <a:extLst>
              <a:ext uri="{FF2B5EF4-FFF2-40B4-BE49-F238E27FC236}">
                <a16:creationId xmlns:a16="http://schemas.microsoft.com/office/drawing/2014/main" id="{37DD884C-5DDA-4B91-87D5-4A9991A2F770}"/>
              </a:ext>
            </a:extLst>
          </p:cNvPr>
          <p:cNvSpPr>
            <a:spLocks noGrp="1" noChangeArrowheads="1"/>
          </p:cNvSpPr>
          <p:nvPr>
            <p:ph type="body" idx="1"/>
          </p:nvPr>
        </p:nvSpPr>
        <p:spPr>
          <a:xfrm>
            <a:off x="657895" y="1253331"/>
            <a:ext cx="5257800" cy="4351338"/>
          </a:xfrm>
        </p:spPr>
        <p:txBody>
          <a:bodyPr/>
          <a:lstStyle/>
          <a:p>
            <a:pPr>
              <a:lnSpc>
                <a:spcPct val="150000"/>
              </a:lnSpc>
              <a:buFont typeface="Wingdings" panose="05000000000000000000" pitchFamily="2" charset="2"/>
              <a:buChar char="Ø"/>
            </a:pPr>
            <a:r>
              <a:rPr lang="en-US" altLang="en-US" dirty="0"/>
              <a:t>Monocyclic Heterocycles</a:t>
            </a:r>
          </a:p>
          <a:p>
            <a:pPr>
              <a:lnSpc>
                <a:spcPct val="150000"/>
              </a:lnSpc>
              <a:buFont typeface="Wingdings" panose="05000000000000000000" pitchFamily="2" charset="2"/>
              <a:buChar char="Ø"/>
            </a:pPr>
            <a:r>
              <a:rPr lang="en-US" altLang="en-US" dirty="0"/>
              <a:t>Fused Heterocycles</a:t>
            </a:r>
          </a:p>
          <a:p>
            <a:pPr>
              <a:lnSpc>
                <a:spcPct val="150000"/>
              </a:lnSpc>
              <a:buFont typeface="Wingdings" panose="05000000000000000000" pitchFamily="2" charset="2"/>
              <a:buChar char="Ø"/>
            </a:pPr>
            <a:r>
              <a:rPr lang="en-US" altLang="en-US" dirty="0"/>
              <a:t>Spiro Heterocycles</a:t>
            </a:r>
          </a:p>
          <a:p>
            <a:pPr>
              <a:lnSpc>
                <a:spcPct val="150000"/>
              </a:lnSpc>
              <a:buFont typeface="Wingdings" panose="05000000000000000000" pitchFamily="2" charset="2"/>
              <a:buChar char="Ø"/>
            </a:pPr>
            <a:r>
              <a:rPr lang="en-US" altLang="en-US" dirty="0"/>
              <a:t>Bridged Heterocycles</a:t>
            </a:r>
          </a:p>
          <a:p>
            <a:pPr>
              <a:lnSpc>
                <a:spcPct val="150000"/>
              </a:lnSpc>
              <a:buFont typeface="Wingdings" panose="05000000000000000000" pitchFamily="2" charset="2"/>
              <a:buChar char="Ø"/>
            </a:pPr>
            <a:r>
              <a:rPr lang="en-US" altLang="en-US" dirty="0"/>
              <a:t>Heterocyclic ring assemblies</a:t>
            </a:r>
          </a:p>
        </p:txBody>
      </p:sp>
      <p:sp>
        <p:nvSpPr>
          <p:cNvPr id="3" name="object 2">
            <a:extLst>
              <a:ext uri="{FF2B5EF4-FFF2-40B4-BE49-F238E27FC236}">
                <a16:creationId xmlns:a16="http://schemas.microsoft.com/office/drawing/2014/main" id="{9622EEFA-2497-408E-8539-C167FD0FE50E}"/>
              </a:ext>
            </a:extLst>
          </p:cNvPr>
          <p:cNvSpPr txBox="1">
            <a:spLocks noGrp="1"/>
          </p:cNvSpPr>
          <p:nvPr>
            <p:ph type="title"/>
          </p:nvPr>
        </p:nvSpPr>
        <p:spPr>
          <a:xfrm>
            <a:off x="405685" y="242699"/>
            <a:ext cx="11307649" cy="813684"/>
          </a:xfrm>
          <a:prstGeom prst="rect">
            <a:avLst/>
          </a:prstGeom>
        </p:spPr>
        <p:style>
          <a:lnRef idx="1">
            <a:schemeClr val="accent1"/>
          </a:lnRef>
          <a:fillRef idx="2">
            <a:schemeClr val="accent1"/>
          </a:fillRef>
          <a:effectRef idx="1">
            <a:schemeClr val="accent1"/>
          </a:effectRef>
          <a:fontRef idx="minor">
            <a:schemeClr val="dk1"/>
          </a:fontRef>
        </p:style>
        <p:txBody>
          <a:bodyPr vert="horz" wrap="square" lIns="0" tIns="13335" rIns="0" bIns="0" rtlCol="0" anchor="ctr">
            <a:spAutoFit/>
          </a:bodyPr>
          <a:lstStyle/>
          <a:p>
            <a:pPr algn="ctr">
              <a:lnSpc>
                <a:spcPct val="100000"/>
              </a:lnSpc>
            </a:pPr>
            <a:r>
              <a:rPr lang="en-GB" sz="2600" b="1" dirty="0"/>
              <a:t>III. Carbon-Framework Substitution Nomenclature </a:t>
            </a:r>
            <a:br>
              <a:rPr lang="en-GB" sz="2600" b="1" dirty="0"/>
            </a:br>
            <a:r>
              <a:rPr lang="en-GB" sz="2600" dirty="0"/>
              <a:t>(Replacement Nomenclature)</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65F4C59C-FA61-4585-9E56-34C4EDE8E173}"/>
              </a:ext>
            </a:extLst>
          </p:cNvPr>
          <p:cNvSpPr>
            <a:spLocks noGrp="1" noChangeArrowheads="1"/>
          </p:cNvSpPr>
          <p:nvPr>
            <p:ph type="title"/>
          </p:nvPr>
        </p:nvSpPr>
        <p:spPr>
          <a:xfrm>
            <a:off x="533400" y="229394"/>
            <a:ext cx="5562600" cy="609600"/>
          </a:xfrm>
        </p:spPr>
        <p:style>
          <a:lnRef idx="1">
            <a:schemeClr val="accent2"/>
          </a:lnRef>
          <a:fillRef idx="2">
            <a:schemeClr val="accent2"/>
          </a:fillRef>
          <a:effectRef idx="1">
            <a:schemeClr val="accent2"/>
          </a:effectRef>
          <a:fontRef idx="minor">
            <a:schemeClr val="dk1"/>
          </a:fontRef>
        </p:style>
        <p:txBody>
          <a:bodyPr/>
          <a:lstStyle/>
          <a:p>
            <a:r>
              <a:rPr lang="en-US" altLang="en-US" sz="2800" b="1" dirty="0">
                <a:solidFill>
                  <a:srgbClr val="000099"/>
                </a:solidFill>
              </a:rPr>
              <a:t>Monocyclic Heterocycles</a:t>
            </a:r>
            <a:r>
              <a:rPr lang="en-US" altLang="en-US" sz="3200" b="1" dirty="0">
                <a:solidFill>
                  <a:srgbClr val="000099"/>
                </a:solidFill>
              </a:rPr>
              <a:t>:</a:t>
            </a:r>
            <a:endParaRPr lang="en-US" altLang="en-US" sz="4000" b="1" dirty="0">
              <a:solidFill>
                <a:srgbClr val="000099"/>
              </a:solidFill>
            </a:endParaRPr>
          </a:p>
        </p:txBody>
      </p:sp>
      <p:sp>
        <p:nvSpPr>
          <p:cNvPr id="41987" name="Rectangle 3">
            <a:extLst>
              <a:ext uri="{FF2B5EF4-FFF2-40B4-BE49-F238E27FC236}">
                <a16:creationId xmlns:a16="http://schemas.microsoft.com/office/drawing/2014/main" id="{DFB3DAE5-06A3-4BCB-8062-EBC1BE372582}"/>
              </a:ext>
            </a:extLst>
          </p:cNvPr>
          <p:cNvSpPr>
            <a:spLocks noGrp="1" noChangeArrowheads="1"/>
          </p:cNvSpPr>
          <p:nvPr>
            <p:ph type="body" sz="half" idx="1"/>
          </p:nvPr>
        </p:nvSpPr>
        <p:spPr>
          <a:xfrm>
            <a:off x="384220" y="1029495"/>
            <a:ext cx="7124163" cy="1636432"/>
          </a:xfrm>
        </p:spPr>
        <p:txBody>
          <a:bodyPr>
            <a:noAutofit/>
          </a:bodyPr>
          <a:lstStyle/>
          <a:p>
            <a:pPr marL="0" indent="0" algn="just">
              <a:lnSpc>
                <a:spcPct val="100000"/>
              </a:lnSpc>
              <a:spcBef>
                <a:spcPts val="600"/>
              </a:spcBef>
              <a:spcAft>
                <a:spcPts val="600"/>
              </a:spcAft>
            </a:pPr>
            <a:r>
              <a:rPr lang="en-US" altLang="en-US" sz="1600" dirty="0"/>
              <a:t>The ring obtained from the heterocyclic compound by replacing heteroatom(s) by CH</a:t>
            </a:r>
            <a:r>
              <a:rPr lang="en-US" altLang="en-US" sz="1200" dirty="0"/>
              <a:t>2</a:t>
            </a:r>
            <a:r>
              <a:rPr lang="en-US" altLang="en-US" sz="1600" dirty="0"/>
              <a:t>, CH, or C according to the valence of heteroatom(s) is named </a:t>
            </a:r>
            <a:r>
              <a:rPr lang="en-US" altLang="en-US" sz="1600" b="1" dirty="0"/>
              <a:t>by IUPAC rules</a:t>
            </a:r>
            <a:r>
              <a:rPr lang="en-US" altLang="en-US" sz="1600" dirty="0"/>
              <a:t>.</a:t>
            </a:r>
          </a:p>
          <a:p>
            <a:pPr marL="0" indent="0" algn="just">
              <a:lnSpc>
                <a:spcPct val="100000"/>
              </a:lnSpc>
              <a:spcBef>
                <a:spcPts val="600"/>
              </a:spcBef>
              <a:spcAft>
                <a:spcPts val="600"/>
              </a:spcAft>
            </a:pPr>
            <a:r>
              <a:rPr lang="en-US" altLang="en-US" sz="1600" dirty="0"/>
              <a:t>The </a:t>
            </a:r>
            <a:r>
              <a:rPr lang="en-US" altLang="en-US" sz="1600" b="1" dirty="0"/>
              <a:t>type of heteroatom </a:t>
            </a:r>
            <a:r>
              <a:rPr lang="en-US" altLang="en-US" sz="1600" dirty="0"/>
              <a:t>is indicated by the prefix (</a:t>
            </a:r>
            <a:r>
              <a:rPr lang="en-US" altLang="en-US" sz="1600" b="1" dirty="0"/>
              <a:t>according to the table 1</a:t>
            </a:r>
            <a:r>
              <a:rPr lang="en-US" altLang="en-US" sz="1600" dirty="0"/>
              <a:t>). </a:t>
            </a:r>
            <a:br>
              <a:rPr lang="en-US" altLang="en-US" sz="1600" dirty="0"/>
            </a:br>
            <a:r>
              <a:rPr lang="en-US" altLang="en-US" sz="1600" dirty="0"/>
              <a:t>Since all the prefixes end with the letter ‘</a:t>
            </a:r>
            <a:r>
              <a:rPr lang="en-US" altLang="en-US" sz="1600" b="1" dirty="0"/>
              <a:t>a</a:t>
            </a:r>
            <a:r>
              <a:rPr lang="en-US" altLang="en-US" sz="1600" dirty="0"/>
              <a:t>’ the </a:t>
            </a:r>
            <a:r>
              <a:rPr lang="en-US" altLang="en-US" sz="1600" b="1" dirty="0"/>
              <a:t>replacement nomenclature </a:t>
            </a:r>
            <a:r>
              <a:rPr lang="en-US" altLang="en-US" sz="1600" dirty="0"/>
              <a:t>is also known as </a:t>
            </a:r>
            <a:r>
              <a:rPr lang="en-US" altLang="en-US" sz="1600" b="1" dirty="0"/>
              <a:t>‘a’ nomenclature</a:t>
            </a:r>
            <a:r>
              <a:rPr lang="en-US" altLang="en-US" sz="1600" dirty="0"/>
              <a:t>. The position and prefix for each heteroatom are placed before the name of the corresponding carbocyclic system.</a:t>
            </a:r>
          </a:p>
        </p:txBody>
      </p:sp>
      <p:pic>
        <p:nvPicPr>
          <p:cNvPr id="41990" name="Picture 6">
            <a:extLst>
              <a:ext uri="{FF2B5EF4-FFF2-40B4-BE49-F238E27FC236}">
                <a16:creationId xmlns:a16="http://schemas.microsoft.com/office/drawing/2014/main" id="{C8E95A48-5B42-4480-850B-71E9149A80F4}"/>
              </a:ext>
            </a:extLst>
          </p:cNvPr>
          <p:cNvPicPr>
            <a:picLocks noChangeAspect="1" noChangeArrowheads="1"/>
          </p:cNvPicPr>
          <p:nvPr>
            <p:ph sz="quarter" idx="2"/>
          </p:nvPr>
        </p:nvPicPr>
        <p:blipFill>
          <a:blip r:embed="rId2">
            <a:extLst>
              <a:ext uri="{28A0092B-C50C-407E-A947-70E740481C1C}">
                <a14:useLocalDpi xmlns:a14="http://schemas.microsoft.com/office/drawing/2010/main" val="0"/>
              </a:ext>
            </a:extLst>
          </a:blip>
          <a:srcRect/>
          <a:stretch>
            <a:fillRect/>
          </a:stretch>
        </p:blipFill>
        <p:spPr>
          <a:xfrm>
            <a:off x="7600680" y="1206837"/>
            <a:ext cx="4005167" cy="1459090"/>
          </a:xfrm>
        </p:spPr>
      </p:pic>
      <p:sp>
        <p:nvSpPr>
          <p:cNvPr id="41991" name="Rectangle 7">
            <a:extLst>
              <a:ext uri="{FF2B5EF4-FFF2-40B4-BE49-F238E27FC236}">
                <a16:creationId xmlns:a16="http://schemas.microsoft.com/office/drawing/2014/main" id="{84B68F61-CE58-48C3-9A34-CF4420CD2306}"/>
              </a:ext>
            </a:extLst>
          </p:cNvPr>
          <p:cNvSpPr>
            <a:spLocks noChangeArrowheads="1"/>
          </p:cNvSpPr>
          <p:nvPr/>
        </p:nvSpPr>
        <p:spPr bwMode="auto">
          <a:xfrm>
            <a:off x="4353059" y="3182116"/>
            <a:ext cx="7461159"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a:buFontTx/>
              <a:buChar char="•"/>
            </a:pPr>
            <a:r>
              <a:rPr lang="en-US" altLang="en-US" sz="1600" dirty="0"/>
              <a:t>       The replacement names derived from benzene are retained only if three double bonds are present, otherwise, the names with -</a:t>
            </a:r>
            <a:r>
              <a:rPr lang="en-US" altLang="en-US" sz="1600" dirty="0" err="1"/>
              <a:t>ene</a:t>
            </a:r>
            <a:r>
              <a:rPr lang="en-US" altLang="en-US" sz="1600" dirty="0"/>
              <a:t>, -diene, </a:t>
            </a:r>
            <a:r>
              <a:rPr lang="en-US" altLang="en-US" sz="1600" dirty="0" err="1"/>
              <a:t>etc</a:t>
            </a:r>
            <a:r>
              <a:rPr lang="en-US" altLang="en-US" sz="1600" dirty="0"/>
              <a:t> as necessary are used.</a:t>
            </a:r>
          </a:p>
        </p:txBody>
      </p:sp>
      <p:pic>
        <p:nvPicPr>
          <p:cNvPr id="41992" name="Picture 8">
            <a:extLst>
              <a:ext uri="{FF2B5EF4-FFF2-40B4-BE49-F238E27FC236}">
                <a16:creationId xmlns:a16="http://schemas.microsoft.com/office/drawing/2014/main" id="{DC61E521-E037-4785-B983-C11450462AEE}"/>
              </a:ext>
            </a:extLst>
          </p:cNvPr>
          <p:cNvPicPr>
            <a:picLocks noChangeAspect="1" noChangeArrowheads="1"/>
          </p:cNvPicPr>
          <p:nvPr>
            <p:ph sz="quarter" idx="3"/>
          </p:nvPr>
        </p:nvPicPr>
        <p:blipFill>
          <a:blip r:embed="rId3">
            <a:extLst>
              <a:ext uri="{28A0092B-C50C-407E-A947-70E740481C1C}">
                <a14:useLocalDpi xmlns:a14="http://schemas.microsoft.com/office/drawing/2010/main" val="0"/>
              </a:ext>
            </a:extLst>
          </a:blip>
          <a:srcRect/>
          <a:stretch>
            <a:fillRect/>
          </a:stretch>
        </p:blipFill>
        <p:spPr>
          <a:xfrm>
            <a:off x="630590" y="2698859"/>
            <a:ext cx="3175117" cy="1312944"/>
          </a:xfrm>
          <a:noFill/>
          <a:ln/>
        </p:spPr>
      </p:pic>
      <p:sp>
        <p:nvSpPr>
          <p:cNvPr id="7" name="Rectangle 4">
            <a:extLst>
              <a:ext uri="{FF2B5EF4-FFF2-40B4-BE49-F238E27FC236}">
                <a16:creationId xmlns:a16="http://schemas.microsoft.com/office/drawing/2014/main" id="{E05B353B-DCFC-446B-8C0F-BD0A0A2304F3}"/>
              </a:ext>
            </a:extLst>
          </p:cNvPr>
          <p:cNvSpPr>
            <a:spLocks noChangeArrowheads="1"/>
          </p:cNvSpPr>
          <p:nvPr/>
        </p:nvSpPr>
        <p:spPr bwMode="auto">
          <a:xfrm>
            <a:off x="339144" y="4340181"/>
            <a:ext cx="6048777" cy="21852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a:spcBef>
                <a:spcPts val="600"/>
              </a:spcBef>
              <a:spcAft>
                <a:spcPts val="600"/>
              </a:spcAft>
            </a:pPr>
            <a:r>
              <a:rPr lang="en-US" altLang="en-US" sz="1600" b="1" dirty="0"/>
              <a:t>The sequence and numbering of the heteroatoms follow the rules as in systematic nomenclature. </a:t>
            </a:r>
            <a:r>
              <a:rPr lang="en-US" altLang="en-US" sz="1600" i="1" dirty="0"/>
              <a:t>However, the preferential order is:</a:t>
            </a:r>
          </a:p>
          <a:p>
            <a:pPr algn="just">
              <a:spcBef>
                <a:spcPts val="600"/>
              </a:spcBef>
              <a:spcAft>
                <a:spcPts val="600"/>
              </a:spcAft>
            </a:pPr>
            <a:r>
              <a:rPr lang="en-US" altLang="en-US" sz="1600" dirty="0"/>
              <a:t>1st preference: heteroatom appearing highest in the table 1. </a:t>
            </a:r>
          </a:p>
          <a:p>
            <a:pPr algn="just">
              <a:spcBef>
                <a:spcPts val="600"/>
              </a:spcBef>
              <a:spcAft>
                <a:spcPts val="600"/>
              </a:spcAft>
            </a:pPr>
            <a:r>
              <a:rPr lang="en-US" altLang="en-US" sz="1600" dirty="0"/>
              <a:t>2nd: Other heteroatoms according to the table. </a:t>
            </a:r>
          </a:p>
          <a:p>
            <a:pPr algn="just">
              <a:spcBef>
                <a:spcPts val="600"/>
              </a:spcBef>
              <a:spcAft>
                <a:spcPts val="600"/>
              </a:spcAft>
            </a:pPr>
            <a:r>
              <a:rPr lang="en-US" altLang="en-US" sz="1600" dirty="0"/>
              <a:t>3rd: Multiple bonds. </a:t>
            </a:r>
          </a:p>
          <a:p>
            <a:pPr algn="just">
              <a:spcBef>
                <a:spcPts val="600"/>
              </a:spcBef>
              <a:spcAft>
                <a:spcPts val="600"/>
              </a:spcAft>
            </a:pPr>
            <a:r>
              <a:rPr lang="en-US" altLang="en-US" sz="1600" dirty="0"/>
              <a:t>4th: substituents, if there is a choice, alphabetical order is followed.</a:t>
            </a:r>
          </a:p>
        </p:txBody>
      </p:sp>
      <p:pic>
        <p:nvPicPr>
          <p:cNvPr id="8" name="Picture 5">
            <a:extLst>
              <a:ext uri="{FF2B5EF4-FFF2-40B4-BE49-F238E27FC236}">
                <a16:creationId xmlns:a16="http://schemas.microsoft.com/office/drawing/2014/main" id="{CA3B3348-F75A-461B-8548-4A475BB63CB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a:xfrm>
            <a:off x="6729047" y="5899817"/>
            <a:ext cx="4876800" cy="288925"/>
          </a:xfrm>
          <a:prstGeom prst="rect">
            <a:avLst/>
          </a:prstGeom>
          <a:noFill/>
          <a:ln/>
        </p:spPr>
      </p:pic>
      <p:pic>
        <p:nvPicPr>
          <p:cNvPr id="9" name="Picture 7">
            <a:extLst>
              <a:ext uri="{FF2B5EF4-FFF2-40B4-BE49-F238E27FC236}">
                <a16:creationId xmlns:a16="http://schemas.microsoft.com/office/drawing/2014/main" id="{AED9744B-4C7D-4592-BE7E-EA126EB4FC3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a:xfrm>
            <a:off x="7000040" y="4397283"/>
            <a:ext cx="4335351" cy="1431222"/>
          </a:xfrm>
          <a:prstGeom prst="rect">
            <a:avLst/>
          </a:prstGeom>
          <a:solidFill>
            <a:schemeClr val="bg1"/>
          </a:solidFill>
          <a:ln>
            <a:solidFill>
              <a:schemeClr val="bg1"/>
            </a:solidFill>
            <a:miter lim="800000"/>
            <a:headEnd/>
            <a:tailEnd/>
          </a:ln>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a:extLst>
              <a:ext uri="{FF2B5EF4-FFF2-40B4-BE49-F238E27FC236}">
                <a16:creationId xmlns:a16="http://schemas.microsoft.com/office/drawing/2014/main" id="{5A7B3A56-5833-420B-85EA-1FFBEC9A0B8E}"/>
              </a:ext>
            </a:extLst>
          </p:cNvPr>
          <p:cNvSpPr>
            <a:spLocks noGrp="1"/>
          </p:cNvSpPr>
          <p:nvPr>
            <p:ph type="sldNum" sz="quarter" idx="12"/>
          </p:nvPr>
        </p:nvSpPr>
        <p:spPr/>
        <p:txBody>
          <a:bodyPr/>
          <a:lstStyle/>
          <a:p>
            <a:fld id="{93C419CB-0CF1-4F10-90F9-42551F8968FF}" type="slidenum">
              <a:rPr lang="en-GB" smtClean="0"/>
              <a:t>64</a:t>
            </a:fld>
            <a:endParaRPr lang="en-GB"/>
          </a:p>
        </p:txBody>
      </p:sp>
      <p:sp>
        <p:nvSpPr>
          <p:cNvPr id="3" name="TextBox 2">
            <a:extLst>
              <a:ext uri="{FF2B5EF4-FFF2-40B4-BE49-F238E27FC236}">
                <a16:creationId xmlns:a16="http://schemas.microsoft.com/office/drawing/2014/main" id="{FAA1C3CD-60E3-43D3-A293-BB01AC58A0B2}"/>
              </a:ext>
            </a:extLst>
          </p:cNvPr>
          <p:cNvSpPr txBox="1"/>
          <p:nvPr/>
        </p:nvSpPr>
        <p:spPr>
          <a:xfrm>
            <a:off x="192394" y="143913"/>
            <a:ext cx="8324177" cy="954107"/>
          </a:xfrm>
          <a:prstGeom prst="rect">
            <a:avLst/>
          </a:prstGeom>
          <a:noFill/>
        </p:spPr>
        <p:txBody>
          <a:bodyPr wrap="square">
            <a:spAutoFit/>
          </a:bodyPr>
          <a:lstStyle/>
          <a:p>
            <a:r>
              <a:rPr lang="en-GB" sz="2800" b="1" dirty="0"/>
              <a:t>Task </a:t>
            </a:r>
            <a:r>
              <a:rPr lang="uk-UA" sz="2800" b="1" dirty="0"/>
              <a:t>5</a:t>
            </a:r>
            <a:r>
              <a:rPr lang="en-GB" sz="2800" b="1" dirty="0"/>
              <a:t>. </a:t>
            </a:r>
            <a:r>
              <a:rPr lang="en-GB" sz="2800" dirty="0"/>
              <a:t>Name the following compound by replacement nomenclature </a:t>
            </a:r>
            <a:endParaRPr lang="en-GB" sz="2800" b="1" dirty="0"/>
          </a:p>
        </p:txBody>
      </p:sp>
      <p:pic>
        <p:nvPicPr>
          <p:cNvPr id="5" name="Рисунок 4">
            <a:extLst>
              <a:ext uri="{FF2B5EF4-FFF2-40B4-BE49-F238E27FC236}">
                <a16:creationId xmlns:a16="http://schemas.microsoft.com/office/drawing/2014/main" id="{0A6C3E53-9316-4034-A7B2-40210B554D4A}"/>
              </a:ext>
            </a:extLst>
          </p:cNvPr>
          <p:cNvPicPr>
            <a:picLocks noChangeAspect="1"/>
          </p:cNvPicPr>
          <p:nvPr/>
        </p:nvPicPr>
        <p:blipFill rotWithShape="1">
          <a:blip r:embed="rId3"/>
          <a:srcRect l="8383" t="5019" r="8622" b="17817"/>
          <a:stretch/>
        </p:blipFill>
        <p:spPr>
          <a:xfrm>
            <a:off x="485030" y="1097280"/>
            <a:ext cx="2051436" cy="1673745"/>
          </a:xfrm>
          <a:prstGeom prst="rect">
            <a:avLst/>
          </a:prstGeom>
        </p:spPr>
      </p:pic>
      <p:pic>
        <p:nvPicPr>
          <p:cNvPr id="7" name="Рисунок 6">
            <a:extLst>
              <a:ext uri="{FF2B5EF4-FFF2-40B4-BE49-F238E27FC236}">
                <a16:creationId xmlns:a16="http://schemas.microsoft.com/office/drawing/2014/main" id="{DF26B0B9-5699-44EB-8878-24C4041FFFFD}"/>
              </a:ext>
            </a:extLst>
          </p:cNvPr>
          <p:cNvPicPr>
            <a:picLocks noChangeAspect="1"/>
          </p:cNvPicPr>
          <p:nvPr/>
        </p:nvPicPr>
        <p:blipFill rotWithShape="1">
          <a:blip r:embed="rId4"/>
          <a:srcRect t="10400" b="9331"/>
          <a:stretch/>
        </p:blipFill>
        <p:spPr>
          <a:xfrm>
            <a:off x="2720601" y="874894"/>
            <a:ext cx="3484901" cy="1896131"/>
          </a:xfrm>
          <a:prstGeom prst="rect">
            <a:avLst/>
          </a:prstGeom>
        </p:spPr>
      </p:pic>
      <p:pic>
        <p:nvPicPr>
          <p:cNvPr id="9" name="Рисунок 8">
            <a:extLst>
              <a:ext uri="{FF2B5EF4-FFF2-40B4-BE49-F238E27FC236}">
                <a16:creationId xmlns:a16="http://schemas.microsoft.com/office/drawing/2014/main" id="{C846329D-F349-4027-B8BF-A50EB7FCD408}"/>
              </a:ext>
            </a:extLst>
          </p:cNvPr>
          <p:cNvPicPr>
            <a:picLocks noChangeAspect="1"/>
          </p:cNvPicPr>
          <p:nvPr/>
        </p:nvPicPr>
        <p:blipFill rotWithShape="1">
          <a:blip r:embed="rId5"/>
          <a:srcRect t="11187"/>
          <a:stretch/>
        </p:blipFill>
        <p:spPr>
          <a:xfrm>
            <a:off x="6389637" y="986086"/>
            <a:ext cx="1571899" cy="1896132"/>
          </a:xfrm>
          <a:prstGeom prst="rect">
            <a:avLst/>
          </a:prstGeom>
        </p:spPr>
      </p:pic>
      <p:pic>
        <p:nvPicPr>
          <p:cNvPr id="11" name="Рисунок 10">
            <a:extLst>
              <a:ext uri="{FF2B5EF4-FFF2-40B4-BE49-F238E27FC236}">
                <a16:creationId xmlns:a16="http://schemas.microsoft.com/office/drawing/2014/main" id="{FC896160-384E-4810-90C0-20EA53B7D9F4}"/>
              </a:ext>
            </a:extLst>
          </p:cNvPr>
          <p:cNvPicPr>
            <a:picLocks noChangeAspect="1"/>
          </p:cNvPicPr>
          <p:nvPr/>
        </p:nvPicPr>
        <p:blipFill rotWithShape="1">
          <a:blip r:embed="rId6"/>
          <a:srcRect t="11885"/>
          <a:stretch/>
        </p:blipFill>
        <p:spPr>
          <a:xfrm>
            <a:off x="246193" y="3429000"/>
            <a:ext cx="5849807" cy="1570638"/>
          </a:xfrm>
          <a:prstGeom prst="rect">
            <a:avLst/>
          </a:prstGeom>
        </p:spPr>
      </p:pic>
      <p:pic>
        <p:nvPicPr>
          <p:cNvPr id="13" name="Рисунок 12">
            <a:extLst>
              <a:ext uri="{FF2B5EF4-FFF2-40B4-BE49-F238E27FC236}">
                <a16:creationId xmlns:a16="http://schemas.microsoft.com/office/drawing/2014/main" id="{A43B2FC1-74C0-4D82-83A4-B905E063F456}"/>
              </a:ext>
            </a:extLst>
          </p:cNvPr>
          <p:cNvPicPr>
            <a:picLocks noChangeAspect="1"/>
          </p:cNvPicPr>
          <p:nvPr/>
        </p:nvPicPr>
        <p:blipFill rotWithShape="1">
          <a:blip r:embed="rId7"/>
          <a:srcRect l="4078" t="10117"/>
          <a:stretch/>
        </p:blipFill>
        <p:spPr>
          <a:xfrm>
            <a:off x="6096000" y="3254829"/>
            <a:ext cx="5791209" cy="1918980"/>
          </a:xfrm>
          <a:prstGeom prst="rect">
            <a:avLst/>
          </a:prstGeom>
        </p:spPr>
      </p:pic>
      <p:sp>
        <p:nvSpPr>
          <p:cNvPr id="16" name="TextBox 15">
            <a:extLst>
              <a:ext uri="{FF2B5EF4-FFF2-40B4-BE49-F238E27FC236}">
                <a16:creationId xmlns:a16="http://schemas.microsoft.com/office/drawing/2014/main" id="{5C11D5EE-FCFC-460C-B5CF-B8336BACF11F}"/>
              </a:ext>
            </a:extLst>
          </p:cNvPr>
          <p:cNvSpPr txBox="1"/>
          <p:nvPr/>
        </p:nvSpPr>
        <p:spPr>
          <a:xfrm>
            <a:off x="485031" y="2425189"/>
            <a:ext cx="7360674" cy="523220"/>
          </a:xfrm>
          <a:prstGeom prst="rect">
            <a:avLst/>
          </a:prstGeom>
          <a:solidFill>
            <a:schemeClr val="bg1"/>
          </a:solidFill>
        </p:spPr>
        <p:txBody>
          <a:bodyPr wrap="square">
            <a:spAutoFit/>
          </a:bodyPr>
          <a:lstStyle/>
          <a:p>
            <a:r>
              <a:rPr lang="en-GB" sz="2800" b="1" dirty="0"/>
              <a:t>        </a:t>
            </a:r>
            <a:r>
              <a:rPr lang="uk-UA" sz="2800" b="1" dirty="0"/>
              <a:t>(</a:t>
            </a:r>
            <a:r>
              <a:rPr lang="en-GB" sz="2800" b="1" dirty="0"/>
              <a:t>a)		         (b)			(c)</a:t>
            </a:r>
            <a:endParaRPr lang="en-GB" sz="2800" dirty="0"/>
          </a:p>
        </p:txBody>
      </p:sp>
      <p:sp>
        <p:nvSpPr>
          <p:cNvPr id="17" name="TextBox 16">
            <a:extLst>
              <a:ext uri="{FF2B5EF4-FFF2-40B4-BE49-F238E27FC236}">
                <a16:creationId xmlns:a16="http://schemas.microsoft.com/office/drawing/2014/main" id="{1AAE0F3B-74C4-4724-B8C7-A394622532AD}"/>
              </a:ext>
            </a:extLst>
          </p:cNvPr>
          <p:cNvSpPr txBox="1"/>
          <p:nvPr/>
        </p:nvSpPr>
        <p:spPr>
          <a:xfrm>
            <a:off x="368766" y="4648019"/>
            <a:ext cx="11407116" cy="523220"/>
          </a:xfrm>
          <a:prstGeom prst="rect">
            <a:avLst/>
          </a:prstGeom>
          <a:solidFill>
            <a:schemeClr val="bg1"/>
          </a:solidFill>
        </p:spPr>
        <p:txBody>
          <a:bodyPr wrap="square">
            <a:spAutoFit/>
          </a:bodyPr>
          <a:lstStyle/>
          <a:p>
            <a:r>
              <a:rPr lang="uk-UA" sz="2800" b="1" dirty="0"/>
              <a:t>(</a:t>
            </a:r>
            <a:r>
              <a:rPr lang="en-GB" sz="2800" b="1" dirty="0"/>
              <a:t>d)			       (e)			(f)                                      (g)	</a:t>
            </a:r>
            <a:endParaRPr lang="en-GB" sz="2800" dirty="0"/>
          </a:p>
        </p:txBody>
      </p:sp>
      <p:sp>
        <p:nvSpPr>
          <p:cNvPr id="19" name="TextBox 18">
            <a:extLst>
              <a:ext uri="{FF2B5EF4-FFF2-40B4-BE49-F238E27FC236}">
                <a16:creationId xmlns:a16="http://schemas.microsoft.com/office/drawing/2014/main" id="{B152C198-DD97-436D-99BF-D3D9515CC8F9}"/>
              </a:ext>
            </a:extLst>
          </p:cNvPr>
          <p:cNvSpPr txBox="1"/>
          <p:nvPr/>
        </p:nvSpPr>
        <p:spPr>
          <a:xfrm>
            <a:off x="286009" y="5831784"/>
            <a:ext cx="6094674" cy="954107"/>
          </a:xfrm>
          <a:prstGeom prst="rect">
            <a:avLst/>
          </a:prstGeom>
          <a:noFill/>
        </p:spPr>
        <p:txBody>
          <a:bodyPr wrap="square">
            <a:spAutoFit/>
          </a:bodyPr>
          <a:lstStyle/>
          <a:p>
            <a:r>
              <a:rPr lang="en-GB" sz="2800" dirty="0">
                <a:hlinkClick r:id="rId8"/>
              </a:rPr>
              <a:t>https://forms.gle/6u3BuT4ovconQCaPA</a:t>
            </a:r>
            <a:endParaRPr lang="en-GB" sz="2800" dirty="0"/>
          </a:p>
          <a:p>
            <a:endParaRPr lang="en-GB" sz="2800" dirty="0"/>
          </a:p>
        </p:txBody>
      </p:sp>
      <p:pic>
        <p:nvPicPr>
          <p:cNvPr id="21" name="Рисунок 20">
            <a:extLst>
              <a:ext uri="{FF2B5EF4-FFF2-40B4-BE49-F238E27FC236}">
                <a16:creationId xmlns:a16="http://schemas.microsoft.com/office/drawing/2014/main" id="{9AE23D7D-4A4E-41A7-8163-E8003C7B8442}"/>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8747347" y="58061"/>
            <a:ext cx="3252259" cy="3252259"/>
          </a:xfrm>
          <a:prstGeom prst="rect">
            <a:avLst/>
          </a:prstGeom>
        </p:spPr>
      </p:pic>
    </p:spTree>
    <p:extLst>
      <p:ext uri="{BB962C8B-B14F-4D97-AF65-F5344CB8AC3E}">
        <p14:creationId xmlns:p14="http://schemas.microsoft.com/office/powerpoint/2010/main" val="180993727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0ED9BC1C-3DC6-4661-90B0-3D028D745138}"/>
              </a:ext>
            </a:extLst>
          </p:cNvPr>
          <p:cNvSpPr>
            <a:spLocks noGrp="1" noChangeArrowheads="1"/>
          </p:cNvSpPr>
          <p:nvPr>
            <p:ph type="title"/>
          </p:nvPr>
        </p:nvSpPr>
        <p:spPr>
          <a:xfrm>
            <a:off x="3657600" y="761558"/>
            <a:ext cx="4724400" cy="914400"/>
          </a:xfrm>
        </p:spPr>
        <p:txBody>
          <a:bodyPr>
            <a:normAutofit/>
          </a:bodyPr>
          <a:lstStyle/>
          <a:p>
            <a:pPr algn="just">
              <a:lnSpc>
                <a:spcPct val="100000"/>
              </a:lnSpc>
              <a:spcBef>
                <a:spcPts val="600"/>
              </a:spcBef>
              <a:spcAft>
                <a:spcPts val="600"/>
              </a:spcAft>
            </a:pPr>
            <a:r>
              <a:rPr lang="en-US" altLang="en-US" sz="1600" dirty="0">
                <a:solidFill>
                  <a:srgbClr val="000099"/>
                </a:solidFill>
                <a:latin typeface="+mn-lt"/>
              </a:rPr>
              <a:t>	</a:t>
            </a:r>
          </a:p>
        </p:txBody>
      </p:sp>
      <p:sp>
        <p:nvSpPr>
          <p:cNvPr id="43011" name="Rectangle 3">
            <a:extLst>
              <a:ext uri="{FF2B5EF4-FFF2-40B4-BE49-F238E27FC236}">
                <a16:creationId xmlns:a16="http://schemas.microsoft.com/office/drawing/2014/main" id="{B7B18723-31C8-412A-BA39-FD462D2441B5}"/>
              </a:ext>
            </a:extLst>
          </p:cNvPr>
          <p:cNvSpPr>
            <a:spLocks noGrp="1" noChangeArrowheads="1"/>
          </p:cNvSpPr>
          <p:nvPr>
            <p:ph type="body" sz="half" idx="1"/>
          </p:nvPr>
        </p:nvSpPr>
        <p:spPr>
          <a:xfrm>
            <a:off x="190498" y="815243"/>
            <a:ext cx="9401039" cy="1182536"/>
          </a:xfrm>
        </p:spPr>
        <p:style>
          <a:lnRef idx="2">
            <a:schemeClr val="accent1"/>
          </a:lnRef>
          <a:fillRef idx="1">
            <a:schemeClr val="lt1"/>
          </a:fillRef>
          <a:effectRef idx="0">
            <a:schemeClr val="accent1"/>
          </a:effectRef>
          <a:fontRef idx="minor">
            <a:schemeClr val="dk1"/>
          </a:fontRef>
        </p:style>
        <p:txBody>
          <a:bodyPr>
            <a:noAutofit/>
          </a:bodyPr>
          <a:lstStyle/>
          <a:p>
            <a:pPr marL="0" indent="0" algn="just">
              <a:lnSpc>
                <a:spcPct val="110000"/>
              </a:lnSpc>
              <a:spcBef>
                <a:spcPts val="600"/>
              </a:spcBef>
              <a:spcAft>
                <a:spcPts val="600"/>
              </a:spcAft>
              <a:buNone/>
            </a:pPr>
            <a:r>
              <a:rPr lang="en-US" altLang="en-US" sz="1600" b="1" i="1" dirty="0"/>
              <a:t>The position(s) and prefix(es) for the heteroatom(s) are written in front of the name of the corresponding carbocyclic ring. </a:t>
            </a:r>
            <a:r>
              <a:rPr lang="en-US" altLang="en-US" sz="1600" dirty="0">
                <a:solidFill>
                  <a:schemeClr val="accent1">
                    <a:lumMod val="75000"/>
                  </a:schemeClr>
                </a:solidFill>
              </a:rPr>
              <a:t>The numbering of the corresponding carbocyclic ring is retained irrespective of the position(s) of the heteroatom(s). </a:t>
            </a:r>
            <a:r>
              <a:rPr lang="en-GB" altLang="en-US" sz="1600" dirty="0"/>
              <a:t>However, the lowest possible number of locants are assigned to the heteroatoms in the complete fused heterocyclic system. If there is a choice, Table A (slide 58) is followed.</a:t>
            </a:r>
            <a:endParaRPr lang="en-US" altLang="en-US" sz="1600" dirty="0"/>
          </a:p>
        </p:txBody>
      </p:sp>
      <p:pic>
        <p:nvPicPr>
          <p:cNvPr id="43012" name="Picture 4">
            <a:extLst>
              <a:ext uri="{FF2B5EF4-FFF2-40B4-BE49-F238E27FC236}">
                <a16:creationId xmlns:a16="http://schemas.microsoft.com/office/drawing/2014/main" id="{95F86A4A-699E-46D5-95A1-5AE25F4D23A9}"/>
              </a:ext>
            </a:extLst>
          </p:cNvPr>
          <p:cNvPicPr>
            <a:picLocks noChangeAspect="1" noChangeArrowheads="1"/>
          </p:cNvPicPr>
          <p:nvPr>
            <p:ph sz="quarter" idx="2"/>
          </p:nvPr>
        </p:nvPicPr>
        <p:blipFill>
          <a:blip r:embed="rId2">
            <a:extLst>
              <a:ext uri="{28A0092B-C50C-407E-A947-70E740481C1C}">
                <a14:useLocalDpi xmlns:a14="http://schemas.microsoft.com/office/drawing/2010/main" val="0"/>
              </a:ext>
            </a:extLst>
          </a:blip>
          <a:srcRect/>
          <a:stretch>
            <a:fillRect/>
          </a:stretch>
        </p:blipFill>
        <p:spPr>
          <a:xfrm>
            <a:off x="9701009" y="699502"/>
            <a:ext cx="2362200" cy="1238250"/>
          </a:xfrm>
          <a:noFill/>
          <a:ln/>
        </p:spPr>
      </p:pic>
      <p:sp>
        <p:nvSpPr>
          <p:cNvPr id="43014" name="Rectangle 6">
            <a:extLst>
              <a:ext uri="{FF2B5EF4-FFF2-40B4-BE49-F238E27FC236}">
                <a16:creationId xmlns:a16="http://schemas.microsoft.com/office/drawing/2014/main" id="{3C8AA36D-8384-427A-B37D-3C5368D08C53}"/>
              </a:ext>
            </a:extLst>
          </p:cNvPr>
          <p:cNvSpPr>
            <a:spLocks noChangeArrowheads="1"/>
          </p:cNvSpPr>
          <p:nvPr/>
        </p:nvSpPr>
        <p:spPr bwMode="auto">
          <a:xfrm>
            <a:off x="3549316" y="2181099"/>
            <a:ext cx="8452183" cy="830997"/>
          </a:xfrm>
          <a:prstGeom prst="rect">
            <a:avLst/>
          </a:prstGeom>
          <a:ln/>
        </p:spPr>
        <p:style>
          <a:lnRef idx="2">
            <a:schemeClr val="accent2"/>
          </a:lnRef>
          <a:fillRef idx="1">
            <a:schemeClr val="lt1"/>
          </a:fillRef>
          <a:effectRef idx="0">
            <a:schemeClr val="accent2"/>
          </a:effectRef>
          <a:fontRef idx="minor">
            <a:schemeClr val="dk1"/>
          </a:fontRef>
        </p:style>
        <p:txBody>
          <a:bodyPr wrap="square">
            <a:spAutoFit/>
          </a:bodyPr>
          <a:lstStyle/>
          <a:p>
            <a:pPr algn="just">
              <a:spcBef>
                <a:spcPts val="600"/>
              </a:spcBef>
              <a:spcAft>
                <a:spcPts val="600"/>
              </a:spcAft>
            </a:pPr>
            <a:r>
              <a:rPr lang="en-GB" altLang="en-US" sz="1600" dirty="0"/>
              <a:t>The heteroatom at the ring junction is assigned an individual number in fusion nomenclature, whereas, in the replacement nomenclature system, the heteroatom at the ring junction is given the same locant as an adjacent non-conjunction carbon atom but with the suffix ‘a’ or ‘b’, etc.</a:t>
            </a:r>
            <a:endParaRPr lang="en-US" altLang="en-US" sz="1600" dirty="0"/>
          </a:p>
        </p:txBody>
      </p:sp>
      <p:sp>
        <p:nvSpPr>
          <p:cNvPr id="7" name="Rectangle 2">
            <a:extLst>
              <a:ext uri="{FF2B5EF4-FFF2-40B4-BE49-F238E27FC236}">
                <a16:creationId xmlns:a16="http://schemas.microsoft.com/office/drawing/2014/main" id="{EC9BF9ED-483E-4DB4-A529-2F54B2C7D9F2}"/>
              </a:ext>
            </a:extLst>
          </p:cNvPr>
          <p:cNvSpPr txBox="1">
            <a:spLocks noChangeArrowheads="1"/>
          </p:cNvSpPr>
          <p:nvPr/>
        </p:nvSpPr>
        <p:spPr>
          <a:xfrm>
            <a:off x="190500" y="89902"/>
            <a:ext cx="5562600" cy="609600"/>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rmAutofit/>
          </a:bodyPr>
          <a:lstStyle>
            <a:lvl1pPr algn="l" defTabSz="914377" rtl="0" eaLnBrk="1" latinLnBrk="0" hangingPunct="1">
              <a:lnSpc>
                <a:spcPct val="90000"/>
              </a:lnSpc>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just">
              <a:lnSpc>
                <a:spcPct val="100000"/>
              </a:lnSpc>
              <a:spcBef>
                <a:spcPts val="600"/>
              </a:spcBef>
              <a:spcAft>
                <a:spcPts val="600"/>
              </a:spcAft>
            </a:pPr>
            <a:r>
              <a:rPr lang="en-US" altLang="en-US" sz="2800" b="1" dirty="0">
                <a:solidFill>
                  <a:srgbClr val="000099"/>
                </a:solidFill>
              </a:rPr>
              <a:t>Fused Heterocycles</a:t>
            </a:r>
            <a:r>
              <a:rPr lang="en-US" altLang="en-US" sz="1600" b="1" dirty="0">
                <a:solidFill>
                  <a:srgbClr val="000099"/>
                </a:solidFill>
              </a:rPr>
              <a:t>:</a:t>
            </a:r>
          </a:p>
        </p:txBody>
      </p:sp>
      <p:sp>
        <p:nvSpPr>
          <p:cNvPr id="8" name="Rectangle 3">
            <a:extLst>
              <a:ext uri="{FF2B5EF4-FFF2-40B4-BE49-F238E27FC236}">
                <a16:creationId xmlns:a16="http://schemas.microsoft.com/office/drawing/2014/main" id="{31104215-E9AA-4262-B2EE-EA942503F984}"/>
              </a:ext>
            </a:extLst>
          </p:cNvPr>
          <p:cNvSpPr txBox="1">
            <a:spLocks noChangeArrowheads="1"/>
          </p:cNvSpPr>
          <p:nvPr/>
        </p:nvSpPr>
        <p:spPr>
          <a:xfrm>
            <a:off x="190499" y="3259736"/>
            <a:ext cx="9401039" cy="838200"/>
          </a:xfrm>
          <a:prstGeom prst="rect">
            <a:avLst/>
          </a:prstGeom>
        </p:spPr>
        <p:style>
          <a:lnRef idx="2">
            <a:schemeClr val="accent6"/>
          </a:lnRef>
          <a:fillRef idx="1">
            <a:schemeClr val="lt1"/>
          </a:fillRef>
          <a:effectRef idx="0">
            <a:schemeClr val="accent6"/>
          </a:effectRef>
          <a:fontRef idx="minor">
            <a:schemeClr val="dk1"/>
          </a:fontRef>
        </p:style>
        <p:txBody>
          <a:bodyPr vert="horz" lIns="91440" tIns="45720" rIns="91440" bIns="45720" rtlCol="0">
            <a:normAutofit/>
          </a:bodyPr>
          <a:lst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spcBef>
                <a:spcPts val="600"/>
              </a:spcBef>
              <a:spcAft>
                <a:spcPts val="600"/>
              </a:spcAft>
              <a:buNone/>
            </a:pPr>
            <a:r>
              <a:rPr lang="en-US" altLang="en-US" sz="1600" dirty="0">
                <a:solidFill>
                  <a:schemeClr val="dk1"/>
                </a:solidFill>
              </a:rPr>
              <a:t>The corresponding carbocyclic ring without a maximum number of non-cumulative double bonds is named without using a prefix for a hydrogen atom. The ring is named after its state of hydrogenation.</a:t>
            </a:r>
          </a:p>
          <a:p>
            <a:pPr marL="0" indent="0" algn="just">
              <a:lnSpc>
                <a:spcPct val="100000"/>
              </a:lnSpc>
              <a:spcBef>
                <a:spcPts val="600"/>
              </a:spcBef>
              <a:spcAft>
                <a:spcPts val="600"/>
              </a:spcAft>
            </a:pPr>
            <a:endParaRPr lang="en-US" altLang="en-US" sz="1600" dirty="0"/>
          </a:p>
        </p:txBody>
      </p:sp>
      <p:pic>
        <p:nvPicPr>
          <p:cNvPr id="9" name="Picture 4">
            <a:extLst>
              <a:ext uri="{FF2B5EF4-FFF2-40B4-BE49-F238E27FC236}">
                <a16:creationId xmlns:a16="http://schemas.microsoft.com/office/drawing/2014/main" id="{9C51A673-6E39-4499-95F6-75F5226742D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9749306" y="3049508"/>
            <a:ext cx="1749379" cy="1164550"/>
          </a:xfrm>
          <a:prstGeom prst="rect">
            <a:avLst/>
          </a:prstGeom>
          <a:noFill/>
          <a:ln/>
        </p:spPr>
      </p:pic>
      <p:pic>
        <p:nvPicPr>
          <p:cNvPr id="12" name="Picture 8">
            <a:extLst>
              <a:ext uri="{FF2B5EF4-FFF2-40B4-BE49-F238E27FC236}">
                <a16:creationId xmlns:a16="http://schemas.microsoft.com/office/drawing/2014/main" id="{446E2F60-2A99-40F8-99BD-60F1022BD5D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a:xfrm>
            <a:off x="256502" y="4168985"/>
            <a:ext cx="1683376" cy="1202913"/>
          </a:xfrm>
          <a:prstGeom prst="rect">
            <a:avLst/>
          </a:prstGeom>
          <a:noFill/>
          <a:ln/>
        </p:spPr>
      </p:pic>
      <p:sp>
        <p:nvSpPr>
          <p:cNvPr id="14" name="TextBox 13">
            <a:extLst>
              <a:ext uri="{FF2B5EF4-FFF2-40B4-BE49-F238E27FC236}">
                <a16:creationId xmlns:a16="http://schemas.microsoft.com/office/drawing/2014/main" id="{1FF008BD-FBD9-4281-9541-99DBB21ACE30}"/>
              </a:ext>
            </a:extLst>
          </p:cNvPr>
          <p:cNvSpPr txBox="1"/>
          <p:nvPr/>
        </p:nvSpPr>
        <p:spPr>
          <a:xfrm>
            <a:off x="190497" y="5873478"/>
            <a:ext cx="9401039" cy="584775"/>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pPr algn="just">
              <a:spcBef>
                <a:spcPts val="600"/>
              </a:spcBef>
              <a:spcAft>
                <a:spcPts val="600"/>
              </a:spcAft>
            </a:pPr>
            <a:r>
              <a:rPr lang="en-US" altLang="en-US" sz="1600" dirty="0"/>
              <a:t>The additional hydrogen atom, if present, is indicated by an italic capital ‘</a:t>
            </a:r>
            <a:r>
              <a:rPr lang="en-US" altLang="en-US" sz="1600" i="1" dirty="0"/>
              <a:t>H</a:t>
            </a:r>
            <a:r>
              <a:rPr lang="en-US" altLang="en-US" sz="1600" dirty="0"/>
              <a:t>’ with its position and placed before the position(s) and the prefix(es) of the heteroatom(s)</a:t>
            </a:r>
          </a:p>
        </p:txBody>
      </p:sp>
      <p:pic>
        <p:nvPicPr>
          <p:cNvPr id="15" name="Picture 4">
            <a:extLst>
              <a:ext uri="{FF2B5EF4-FFF2-40B4-BE49-F238E27FC236}">
                <a16:creationId xmlns:a16="http://schemas.microsoft.com/office/drawing/2014/main" id="{959B0419-2E34-4015-8BF7-C6256D06280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a:xfrm>
            <a:off x="9829798" y="5160958"/>
            <a:ext cx="1881389" cy="1425041"/>
          </a:xfrm>
          <a:prstGeom prst="rect">
            <a:avLst/>
          </a:prstGeom>
          <a:noFill/>
          <a:ln/>
        </p:spPr>
      </p:pic>
      <p:pic>
        <p:nvPicPr>
          <p:cNvPr id="5" name="Рисунок 4">
            <a:extLst>
              <a:ext uri="{FF2B5EF4-FFF2-40B4-BE49-F238E27FC236}">
                <a16:creationId xmlns:a16="http://schemas.microsoft.com/office/drawing/2014/main" id="{B59CA953-DE65-4BB1-8EF6-1DA9B2F41C51}"/>
              </a:ext>
            </a:extLst>
          </p:cNvPr>
          <p:cNvPicPr>
            <a:picLocks noChangeAspect="1"/>
          </p:cNvPicPr>
          <p:nvPr/>
        </p:nvPicPr>
        <p:blipFill>
          <a:blip r:embed="rId6"/>
          <a:stretch>
            <a:fillRect/>
          </a:stretch>
        </p:blipFill>
        <p:spPr>
          <a:xfrm>
            <a:off x="9687933" y="367734"/>
            <a:ext cx="2504067" cy="1433488"/>
          </a:xfrm>
          <a:prstGeom prst="rect">
            <a:avLst/>
          </a:prstGeom>
        </p:spPr>
      </p:pic>
      <p:pic>
        <p:nvPicPr>
          <p:cNvPr id="16" name="Рисунок 15">
            <a:extLst>
              <a:ext uri="{FF2B5EF4-FFF2-40B4-BE49-F238E27FC236}">
                <a16:creationId xmlns:a16="http://schemas.microsoft.com/office/drawing/2014/main" id="{F4BC9A57-7A61-4C41-9A6F-C0B105CFB9EA}"/>
              </a:ext>
            </a:extLst>
          </p:cNvPr>
          <p:cNvPicPr>
            <a:picLocks noChangeAspect="1"/>
          </p:cNvPicPr>
          <p:nvPr/>
        </p:nvPicPr>
        <p:blipFill>
          <a:blip r:embed="rId7"/>
          <a:stretch>
            <a:fillRect/>
          </a:stretch>
        </p:blipFill>
        <p:spPr>
          <a:xfrm>
            <a:off x="190497" y="2063152"/>
            <a:ext cx="3262566" cy="1179373"/>
          </a:xfrm>
          <a:prstGeom prst="rect">
            <a:avLst/>
          </a:prstGeom>
        </p:spPr>
      </p:pic>
      <p:pic>
        <p:nvPicPr>
          <p:cNvPr id="22" name="Рисунок 21">
            <a:extLst>
              <a:ext uri="{FF2B5EF4-FFF2-40B4-BE49-F238E27FC236}">
                <a16:creationId xmlns:a16="http://schemas.microsoft.com/office/drawing/2014/main" id="{D396C6B7-E850-4FAD-9F43-B0BE18496A95}"/>
              </a:ext>
            </a:extLst>
          </p:cNvPr>
          <p:cNvPicPr>
            <a:picLocks noChangeAspect="1"/>
          </p:cNvPicPr>
          <p:nvPr/>
        </p:nvPicPr>
        <p:blipFill>
          <a:blip r:embed="rId8"/>
          <a:stretch>
            <a:fillRect/>
          </a:stretch>
        </p:blipFill>
        <p:spPr>
          <a:xfrm>
            <a:off x="9829797" y="5135193"/>
            <a:ext cx="2008541" cy="1699534"/>
          </a:xfrm>
          <a:prstGeom prst="rect">
            <a:avLst/>
          </a:prstGeom>
        </p:spPr>
      </p:pic>
      <p:pic>
        <p:nvPicPr>
          <p:cNvPr id="18" name="Рисунок 17">
            <a:extLst>
              <a:ext uri="{FF2B5EF4-FFF2-40B4-BE49-F238E27FC236}">
                <a16:creationId xmlns:a16="http://schemas.microsoft.com/office/drawing/2014/main" id="{48152F59-AFC2-4690-B8A3-4476635418BB}"/>
              </a:ext>
            </a:extLst>
          </p:cNvPr>
          <p:cNvPicPr>
            <a:picLocks noChangeAspect="1"/>
          </p:cNvPicPr>
          <p:nvPr/>
        </p:nvPicPr>
        <p:blipFill>
          <a:blip r:embed="rId9"/>
          <a:stretch>
            <a:fillRect/>
          </a:stretch>
        </p:blipFill>
        <p:spPr>
          <a:xfrm>
            <a:off x="9829798" y="3027012"/>
            <a:ext cx="1749379" cy="1221994"/>
          </a:xfrm>
          <a:prstGeom prst="rect">
            <a:avLst/>
          </a:prstGeom>
        </p:spPr>
      </p:pic>
      <p:pic>
        <p:nvPicPr>
          <p:cNvPr id="20" name="Рисунок 19">
            <a:extLst>
              <a:ext uri="{FF2B5EF4-FFF2-40B4-BE49-F238E27FC236}">
                <a16:creationId xmlns:a16="http://schemas.microsoft.com/office/drawing/2014/main" id="{9320E5A3-647A-4EAF-A068-7D9028056217}"/>
              </a:ext>
            </a:extLst>
          </p:cNvPr>
          <p:cNvPicPr>
            <a:picLocks noChangeAspect="1"/>
          </p:cNvPicPr>
          <p:nvPr/>
        </p:nvPicPr>
        <p:blipFill>
          <a:blip r:embed="rId10"/>
          <a:stretch>
            <a:fillRect/>
          </a:stretch>
        </p:blipFill>
        <p:spPr>
          <a:xfrm>
            <a:off x="225886" y="4183899"/>
            <a:ext cx="1744608" cy="1490118"/>
          </a:xfrm>
          <a:prstGeom prst="rect">
            <a:avLst/>
          </a:prstGeom>
        </p:spPr>
      </p:pic>
      <p:sp>
        <p:nvSpPr>
          <p:cNvPr id="11" name="TextBox 10">
            <a:extLst>
              <a:ext uri="{FF2B5EF4-FFF2-40B4-BE49-F238E27FC236}">
                <a16:creationId xmlns:a16="http://schemas.microsoft.com/office/drawing/2014/main" id="{25E2CAD9-19DA-4611-9AC3-4A3E2A0EF997}"/>
              </a:ext>
            </a:extLst>
          </p:cNvPr>
          <p:cNvSpPr txBox="1"/>
          <p:nvPr/>
        </p:nvSpPr>
        <p:spPr>
          <a:xfrm>
            <a:off x="2097646" y="4303022"/>
            <a:ext cx="9903853" cy="830997"/>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pPr algn="just"/>
            <a:r>
              <a:rPr lang="en-US" altLang="en-US" sz="1600" dirty="0"/>
              <a:t> </a:t>
            </a:r>
            <a:r>
              <a:rPr lang="en-US" altLang="en-US" sz="1600" dirty="0">
                <a:solidFill>
                  <a:schemeClr val="dk1"/>
                </a:solidFill>
              </a:rPr>
              <a:t>If the corresponding carbocyclic ring is without a maximum number of non-cumulative double binds, the heterocyclic system is considered to be with a maximum number of conjugated or isolated double bonds. </a:t>
            </a:r>
            <a:br>
              <a:rPr lang="en-US" altLang="en-US" sz="1600" dirty="0">
                <a:solidFill>
                  <a:schemeClr val="dk1"/>
                </a:solidFill>
              </a:rPr>
            </a:br>
            <a:r>
              <a:rPr lang="en-US" altLang="en-US" sz="1600" dirty="0">
                <a:solidFill>
                  <a:schemeClr val="dk1"/>
                </a:solidFill>
              </a:rPr>
              <a:t>The corresponding carbocyclic ring is named as it contains a maximum number of non-cumulative double bonds.</a:t>
            </a:r>
            <a:endParaRPr lang="en-GB" sz="1600" dirty="0">
              <a:solidFill>
                <a:schemeClr val="dk1"/>
              </a:solidFill>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a:extLst>
              <a:ext uri="{FF2B5EF4-FFF2-40B4-BE49-F238E27FC236}">
                <a16:creationId xmlns:a16="http://schemas.microsoft.com/office/drawing/2014/main" id="{2072A2D3-10BF-4B3D-A40E-5599682273C8}"/>
              </a:ext>
            </a:extLst>
          </p:cNvPr>
          <p:cNvSpPr>
            <a:spLocks noGrp="1"/>
          </p:cNvSpPr>
          <p:nvPr>
            <p:ph type="sldNum" sz="quarter" idx="12"/>
          </p:nvPr>
        </p:nvSpPr>
        <p:spPr/>
        <p:txBody>
          <a:bodyPr/>
          <a:lstStyle/>
          <a:p>
            <a:fld id="{93C419CB-0CF1-4F10-90F9-42551F8968FF}" type="slidenum">
              <a:rPr lang="en-GB" smtClean="0"/>
              <a:t>66</a:t>
            </a:fld>
            <a:endParaRPr lang="en-GB"/>
          </a:p>
        </p:txBody>
      </p:sp>
      <p:sp>
        <p:nvSpPr>
          <p:cNvPr id="3" name="Rectangle 2">
            <a:extLst>
              <a:ext uri="{FF2B5EF4-FFF2-40B4-BE49-F238E27FC236}">
                <a16:creationId xmlns:a16="http://schemas.microsoft.com/office/drawing/2014/main" id="{CA73A8A8-8D9A-4736-8978-2ADF050B0ED2}"/>
              </a:ext>
            </a:extLst>
          </p:cNvPr>
          <p:cNvSpPr txBox="1">
            <a:spLocks noChangeArrowheads="1"/>
          </p:cNvSpPr>
          <p:nvPr/>
        </p:nvSpPr>
        <p:spPr>
          <a:xfrm>
            <a:off x="190500" y="89902"/>
            <a:ext cx="5562600" cy="609600"/>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rmAutofit/>
          </a:bodyPr>
          <a:lstStyle>
            <a:lvl1pPr algn="l" defTabSz="914377" rtl="0" eaLnBrk="1" latinLnBrk="0" hangingPunct="1">
              <a:lnSpc>
                <a:spcPct val="90000"/>
              </a:lnSpc>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just">
              <a:lnSpc>
                <a:spcPct val="100000"/>
              </a:lnSpc>
              <a:spcBef>
                <a:spcPts val="600"/>
              </a:spcBef>
              <a:spcAft>
                <a:spcPts val="600"/>
              </a:spcAft>
            </a:pPr>
            <a:r>
              <a:rPr lang="en-US" altLang="en-US" sz="2800" b="1" dirty="0">
                <a:solidFill>
                  <a:srgbClr val="0066FF"/>
                </a:solidFill>
              </a:rPr>
              <a:t>Spiro </a:t>
            </a:r>
            <a:r>
              <a:rPr lang="en-GB" altLang="en-US" sz="2800" b="1" dirty="0">
                <a:solidFill>
                  <a:srgbClr val="0066FF"/>
                </a:solidFill>
              </a:rPr>
              <a:t>Compounds</a:t>
            </a:r>
            <a:endParaRPr lang="en-US" altLang="en-US" sz="1600" b="1" dirty="0">
              <a:solidFill>
                <a:srgbClr val="000099"/>
              </a:solidFill>
            </a:endParaRPr>
          </a:p>
        </p:txBody>
      </p:sp>
      <p:sp>
        <p:nvSpPr>
          <p:cNvPr id="5" name="TextBox 4">
            <a:extLst>
              <a:ext uri="{FF2B5EF4-FFF2-40B4-BE49-F238E27FC236}">
                <a16:creationId xmlns:a16="http://schemas.microsoft.com/office/drawing/2014/main" id="{D93CB2C4-22F6-4B76-B95F-48AE48038FFE}"/>
              </a:ext>
            </a:extLst>
          </p:cNvPr>
          <p:cNvSpPr txBox="1"/>
          <p:nvPr/>
        </p:nvSpPr>
        <p:spPr>
          <a:xfrm>
            <a:off x="190499" y="904359"/>
            <a:ext cx="11741305" cy="2800767"/>
          </a:xfrm>
          <a:prstGeom prst="rect">
            <a:avLst/>
          </a:prstGeom>
          <a:noFill/>
        </p:spPr>
        <p:txBody>
          <a:bodyPr wrap="square">
            <a:spAutoFit/>
          </a:bodyPr>
          <a:lstStyle/>
          <a:p>
            <a:pPr algn="just">
              <a:spcBef>
                <a:spcPts val="600"/>
              </a:spcBef>
              <a:spcAft>
                <a:spcPts val="600"/>
              </a:spcAft>
            </a:pPr>
            <a:r>
              <a:rPr lang="en-GB" sz="1800" b="0" i="0" u="none" strike="noStrike" baseline="0" dirty="0">
                <a:solidFill>
                  <a:srgbClr val="000000"/>
                </a:solidFill>
              </a:rPr>
              <a:t>The structure is called a </a:t>
            </a:r>
            <a:r>
              <a:rPr lang="en-GB" sz="1800" b="1" i="0" u="none" strike="noStrike" baseline="0" dirty="0">
                <a:solidFill>
                  <a:srgbClr val="FF0000"/>
                </a:solidFill>
              </a:rPr>
              <a:t>spirocyclic compound </a:t>
            </a:r>
            <a:r>
              <a:rPr lang="en-GB" sz="1800" b="0" i="0" u="none" strike="noStrike" baseline="0" dirty="0">
                <a:solidFill>
                  <a:srgbClr val="000000"/>
                </a:solidFill>
              </a:rPr>
              <a:t>if the two rings share a single atom.</a:t>
            </a:r>
          </a:p>
          <a:p>
            <a:pPr algn="just">
              <a:spcBef>
                <a:spcPts val="600"/>
              </a:spcBef>
              <a:spcAft>
                <a:spcPts val="600"/>
              </a:spcAft>
            </a:pPr>
            <a:r>
              <a:rPr lang="en-GB" sz="1800" b="0" i="0" u="none" strike="noStrike" baseline="0" dirty="0">
                <a:solidFill>
                  <a:srgbClr val="000000"/>
                </a:solidFill>
              </a:rPr>
              <a:t>• </a:t>
            </a:r>
            <a:r>
              <a:rPr lang="en-GB" sz="1800" b="0" i="1" u="none" strike="noStrike" baseline="0" dirty="0">
                <a:solidFill>
                  <a:srgbClr val="000000"/>
                </a:solidFill>
              </a:rPr>
              <a:t>In “spiro” fused molecules, the two rings are joined at the </a:t>
            </a:r>
            <a:r>
              <a:rPr lang="en-GB" sz="1800" b="1" i="1" u="none" strike="noStrike" baseline="0" dirty="0">
                <a:solidFill>
                  <a:srgbClr val="C00000"/>
                </a:solidFill>
              </a:rPr>
              <a:t>same carbon</a:t>
            </a:r>
            <a:r>
              <a:rPr lang="en-GB" sz="1800" b="0" i="1" u="none" strike="noStrike" baseline="0" dirty="0">
                <a:solidFill>
                  <a:srgbClr val="000000"/>
                </a:solidFill>
              </a:rPr>
              <a:t>. </a:t>
            </a:r>
          </a:p>
          <a:p>
            <a:pPr algn="just">
              <a:spcBef>
                <a:spcPts val="600"/>
              </a:spcBef>
              <a:spcAft>
                <a:spcPts val="600"/>
              </a:spcAft>
            </a:pPr>
            <a:r>
              <a:rPr lang="en-GB" sz="1800" b="0" i="0" u="none" strike="noStrike" baseline="0" dirty="0">
                <a:solidFill>
                  <a:srgbClr val="000000"/>
                </a:solidFill>
              </a:rPr>
              <a:t>• A </a:t>
            </a:r>
            <a:r>
              <a:rPr lang="en-GB" sz="1800" b="0" i="0" u="none" strike="noStrike" baseline="0" dirty="0" err="1">
                <a:solidFill>
                  <a:srgbClr val="000000"/>
                </a:solidFill>
              </a:rPr>
              <a:t>spirobicycloalkane</a:t>
            </a:r>
            <a:r>
              <a:rPr lang="en-GB" sz="1800" b="0" i="0" u="none" strike="noStrike" baseline="0" dirty="0">
                <a:solidFill>
                  <a:srgbClr val="000000"/>
                </a:solidFill>
              </a:rPr>
              <a:t> is a molecule in which only one carbon atom is shared by the two rings in the</a:t>
            </a:r>
            <a:r>
              <a:rPr lang="uk-UA" sz="1800" b="0" i="0" u="none" strike="noStrike" baseline="0" dirty="0">
                <a:solidFill>
                  <a:srgbClr val="000000"/>
                </a:solidFill>
              </a:rPr>
              <a:t> </a:t>
            </a:r>
            <a:r>
              <a:rPr lang="en-GB" sz="1800" b="0" i="0" u="none" strike="noStrike" baseline="0" dirty="0">
                <a:solidFill>
                  <a:srgbClr val="000000"/>
                </a:solidFill>
              </a:rPr>
              <a:t>molecule.</a:t>
            </a:r>
          </a:p>
          <a:p>
            <a:pPr algn="just">
              <a:spcBef>
                <a:spcPts val="600"/>
              </a:spcBef>
              <a:spcAft>
                <a:spcPts val="600"/>
              </a:spcAft>
            </a:pPr>
            <a:r>
              <a:rPr lang="en-GB" sz="1800" b="0" i="0" u="none" strike="noStrike" baseline="0" dirty="0">
                <a:solidFill>
                  <a:srgbClr val="000000"/>
                </a:solidFill>
              </a:rPr>
              <a:t>• The carbon atom shared by the two rings is called the </a:t>
            </a:r>
            <a:r>
              <a:rPr lang="en-GB" sz="1800" b="0" i="0" u="none" strike="noStrike" baseline="0" dirty="0" err="1">
                <a:solidFill>
                  <a:srgbClr val="000000"/>
                </a:solidFill>
              </a:rPr>
              <a:t>spirocarbon</a:t>
            </a:r>
            <a:r>
              <a:rPr lang="en-GB" sz="1800" b="0" i="0" u="none" strike="noStrike" baseline="0" dirty="0">
                <a:solidFill>
                  <a:srgbClr val="000000"/>
                </a:solidFill>
              </a:rPr>
              <a:t>.</a:t>
            </a:r>
          </a:p>
          <a:p>
            <a:pPr algn="just">
              <a:spcBef>
                <a:spcPts val="600"/>
              </a:spcBef>
              <a:spcAft>
                <a:spcPts val="600"/>
              </a:spcAft>
            </a:pPr>
            <a:r>
              <a:rPr lang="en-GB" sz="1800" b="0" i="0" u="none" strike="noStrike" baseline="0" dirty="0">
                <a:solidFill>
                  <a:srgbClr val="000000"/>
                </a:solidFill>
              </a:rPr>
              <a:t>• A chain of </a:t>
            </a:r>
            <a:r>
              <a:rPr lang="en-GB" sz="1800" b="0" i="1" u="none" strike="noStrike" baseline="0" dirty="0">
                <a:solidFill>
                  <a:srgbClr val="000000"/>
                </a:solidFill>
              </a:rPr>
              <a:t>bonds originating and ending at the </a:t>
            </a:r>
            <a:r>
              <a:rPr lang="en-GB" sz="1800" b="0" i="1" u="none" strike="noStrike" baseline="0" dirty="0" err="1">
                <a:solidFill>
                  <a:srgbClr val="000000"/>
                </a:solidFill>
              </a:rPr>
              <a:t>spirocarbon</a:t>
            </a:r>
            <a:r>
              <a:rPr lang="en-GB" sz="1800" b="0" i="1" u="none" strike="noStrike" baseline="0" dirty="0">
                <a:solidFill>
                  <a:srgbClr val="000000"/>
                </a:solidFill>
              </a:rPr>
              <a:t> is called a bridge</a:t>
            </a:r>
            <a:r>
              <a:rPr lang="en-GB" sz="1800" b="0" i="0" u="none" strike="noStrike" baseline="0" dirty="0">
                <a:solidFill>
                  <a:srgbClr val="000000"/>
                </a:solidFill>
              </a:rPr>
              <a:t>.</a:t>
            </a:r>
          </a:p>
          <a:p>
            <a:pPr algn="just">
              <a:spcBef>
                <a:spcPts val="600"/>
              </a:spcBef>
              <a:spcAft>
                <a:spcPts val="600"/>
              </a:spcAft>
            </a:pPr>
            <a:r>
              <a:rPr lang="en-GB" sz="1800" b="0" i="0" u="none" strike="noStrike" baseline="0" dirty="0">
                <a:solidFill>
                  <a:srgbClr val="000000"/>
                </a:solidFill>
              </a:rPr>
              <a:t>• The compound below is named spiro[4.5]</a:t>
            </a:r>
            <a:r>
              <a:rPr lang="en-GB" sz="1800" b="0" i="0" u="none" strike="noStrike" baseline="0" dirty="0" err="1">
                <a:solidFill>
                  <a:srgbClr val="000000"/>
                </a:solidFill>
              </a:rPr>
              <a:t>decane</a:t>
            </a:r>
            <a:r>
              <a:rPr lang="en-GB" sz="1800" b="0" i="0" u="none" strike="noStrike" baseline="0" dirty="0">
                <a:solidFill>
                  <a:srgbClr val="000000"/>
                </a:solidFill>
              </a:rPr>
              <a:t> to communicate the number of carbons in each bridge</a:t>
            </a:r>
            <a:r>
              <a:rPr lang="uk-UA" sz="1800" b="0" i="0" u="none" strike="noStrike" baseline="0" dirty="0">
                <a:solidFill>
                  <a:srgbClr val="000000"/>
                </a:solidFill>
              </a:rPr>
              <a:t> </a:t>
            </a:r>
            <a:r>
              <a:rPr lang="en-GB" sz="1800" b="0" i="0" u="none" strike="noStrike" baseline="0" dirty="0">
                <a:solidFill>
                  <a:srgbClr val="000000"/>
                </a:solidFill>
              </a:rPr>
              <a:t>with the </a:t>
            </a:r>
            <a:r>
              <a:rPr lang="en-GB" sz="1800" b="0" i="0" u="none" strike="noStrike" baseline="0" dirty="0" err="1">
                <a:solidFill>
                  <a:srgbClr val="000000"/>
                </a:solidFill>
              </a:rPr>
              <a:t>spirocarbon</a:t>
            </a:r>
            <a:r>
              <a:rPr lang="en-GB" sz="1800" b="0" i="0" u="none" strike="noStrike" baseline="0" dirty="0">
                <a:solidFill>
                  <a:srgbClr val="000000"/>
                </a:solidFill>
              </a:rPr>
              <a:t>.</a:t>
            </a:r>
          </a:p>
        </p:txBody>
      </p:sp>
      <p:pic>
        <p:nvPicPr>
          <p:cNvPr id="7" name="Рисунок 6">
            <a:extLst>
              <a:ext uri="{FF2B5EF4-FFF2-40B4-BE49-F238E27FC236}">
                <a16:creationId xmlns:a16="http://schemas.microsoft.com/office/drawing/2014/main" id="{6A835BF9-454A-4C99-9BE5-0708EE8B7D9E}"/>
              </a:ext>
            </a:extLst>
          </p:cNvPr>
          <p:cNvPicPr>
            <a:picLocks noChangeAspect="1"/>
          </p:cNvPicPr>
          <p:nvPr/>
        </p:nvPicPr>
        <p:blipFill>
          <a:blip r:embed="rId3"/>
          <a:stretch>
            <a:fillRect/>
          </a:stretch>
        </p:blipFill>
        <p:spPr>
          <a:xfrm>
            <a:off x="260196" y="3705126"/>
            <a:ext cx="2840314" cy="2996186"/>
          </a:xfrm>
          <a:prstGeom prst="rect">
            <a:avLst/>
          </a:prstGeom>
        </p:spPr>
      </p:pic>
      <p:pic>
        <p:nvPicPr>
          <p:cNvPr id="9" name="Рисунок 8">
            <a:extLst>
              <a:ext uri="{FF2B5EF4-FFF2-40B4-BE49-F238E27FC236}">
                <a16:creationId xmlns:a16="http://schemas.microsoft.com/office/drawing/2014/main" id="{D8A5D1A2-4187-4BAA-9957-A9B276AEB7AB}"/>
              </a:ext>
            </a:extLst>
          </p:cNvPr>
          <p:cNvPicPr>
            <a:picLocks noChangeAspect="1"/>
          </p:cNvPicPr>
          <p:nvPr/>
        </p:nvPicPr>
        <p:blipFill>
          <a:blip r:embed="rId4"/>
          <a:stretch>
            <a:fillRect/>
          </a:stretch>
        </p:blipFill>
        <p:spPr>
          <a:xfrm>
            <a:off x="3170207" y="3705126"/>
            <a:ext cx="3421208" cy="2094925"/>
          </a:xfrm>
          <a:prstGeom prst="rect">
            <a:avLst/>
          </a:prstGeom>
        </p:spPr>
      </p:pic>
      <p:pic>
        <p:nvPicPr>
          <p:cNvPr id="11" name="Рисунок 10">
            <a:extLst>
              <a:ext uri="{FF2B5EF4-FFF2-40B4-BE49-F238E27FC236}">
                <a16:creationId xmlns:a16="http://schemas.microsoft.com/office/drawing/2014/main" id="{FAACFAD5-F7DB-4791-8DF8-9224254CBB28}"/>
              </a:ext>
            </a:extLst>
          </p:cNvPr>
          <p:cNvPicPr>
            <a:picLocks noChangeAspect="1"/>
          </p:cNvPicPr>
          <p:nvPr/>
        </p:nvPicPr>
        <p:blipFill>
          <a:blip r:embed="rId5"/>
          <a:stretch>
            <a:fillRect/>
          </a:stretch>
        </p:blipFill>
        <p:spPr>
          <a:xfrm>
            <a:off x="5601601" y="4549699"/>
            <a:ext cx="5752199" cy="1639228"/>
          </a:xfrm>
          <a:prstGeom prst="rect">
            <a:avLst/>
          </a:prstGeom>
        </p:spPr>
      </p:pic>
    </p:spTree>
    <p:extLst>
      <p:ext uri="{BB962C8B-B14F-4D97-AF65-F5344CB8AC3E}">
        <p14:creationId xmlns:p14="http://schemas.microsoft.com/office/powerpoint/2010/main" val="318050578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a:extLst>
              <a:ext uri="{FF2B5EF4-FFF2-40B4-BE49-F238E27FC236}">
                <a16:creationId xmlns:a16="http://schemas.microsoft.com/office/drawing/2014/main" id="{23F974E0-4DCE-496B-A845-093BA93D433B}"/>
              </a:ext>
            </a:extLst>
          </p:cNvPr>
          <p:cNvSpPr>
            <a:spLocks noGrp="1"/>
          </p:cNvSpPr>
          <p:nvPr>
            <p:ph type="sldNum" sz="quarter" idx="12"/>
          </p:nvPr>
        </p:nvSpPr>
        <p:spPr/>
        <p:txBody>
          <a:bodyPr/>
          <a:lstStyle/>
          <a:p>
            <a:fld id="{93C419CB-0CF1-4F10-90F9-42551F8968FF}" type="slidenum">
              <a:rPr lang="en-GB" smtClean="0"/>
              <a:t>67</a:t>
            </a:fld>
            <a:endParaRPr lang="en-GB"/>
          </a:p>
        </p:txBody>
      </p:sp>
      <p:pic>
        <p:nvPicPr>
          <p:cNvPr id="4" name="Рисунок 3">
            <a:extLst>
              <a:ext uri="{FF2B5EF4-FFF2-40B4-BE49-F238E27FC236}">
                <a16:creationId xmlns:a16="http://schemas.microsoft.com/office/drawing/2014/main" id="{AE59D28C-A75A-4E97-8C54-7CE141336998}"/>
              </a:ext>
            </a:extLst>
          </p:cNvPr>
          <p:cNvPicPr>
            <a:picLocks noChangeAspect="1"/>
          </p:cNvPicPr>
          <p:nvPr/>
        </p:nvPicPr>
        <p:blipFill>
          <a:blip r:embed="rId2"/>
          <a:stretch>
            <a:fillRect/>
          </a:stretch>
        </p:blipFill>
        <p:spPr>
          <a:xfrm>
            <a:off x="2007253" y="264432"/>
            <a:ext cx="7803548" cy="6091920"/>
          </a:xfrm>
          <a:prstGeom prst="rect">
            <a:avLst/>
          </a:prstGeom>
        </p:spPr>
      </p:pic>
    </p:spTree>
    <p:extLst>
      <p:ext uri="{BB962C8B-B14F-4D97-AF65-F5344CB8AC3E}">
        <p14:creationId xmlns:p14="http://schemas.microsoft.com/office/powerpoint/2010/main" val="359252060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E804C148-B5DB-41C7-ABA8-0087A356CD4F}"/>
              </a:ext>
            </a:extLst>
          </p:cNvPr>
          <p:cNvSpPr>
            <a:spLocks noGrp="1" noChangeArrowheads="1"/>
          </p:cNvSpPr>
          <p:nvPr>
            <p:ph type="title"/>
          </p:nvPr>
        </p:nvSpPr>
        <p:spPr>
          <a:xfrm>
            <a:off x="3886200" y="304800"/>
            <a:ext cx="4724400" cy="914400"/>
          </a:xfrm>
        </p:spPr>
        <p:txBody>
          <a:bodyPr/>
          <a:lstStyle/>
          <a:p>
            <a:r>
              <a:rPr lang="en-US" altLang="en-US" sz="3600" dirty="0">
                <a:solidFill>
                  <a:srgbClr val="0066FF"/>
                </a:solidFill>
              </a:rPr>
              <a:t>	</a:t>
            </a:r>
          </a:p>
        </p:txBody>
      </p:sp>
      <p:sp>
        <p:nvSpPr>
          <p:cNvPr id="45059" name="Rectangle 3">
            <a:extLst>
              <a:ext uri="{FF2B5EF4-FFF2-40B4-BE49-F238E27FC236}">
                <a16:creationId xmlns:a16="http://schemas.microsoft.com/office/drawing/2014/main" id="{4A348954-FC86-4B5B-A3F0-207E6A26BFDE}"/>
              </a:ext>
            </a:extLst>
          </p:cNvPr>
          <p:cNvSpPr>
            <a:spLocks noGrp="1" noChangeArrowheads="1"/>
          </p:cNvSpPr>
          <p:nvPr>
            <p:ph type="body" sz="half" idx="1"/>
          </p:nvPr>
        </p:nvSpPr>
        <p:spPr>
          <a:xfrm>
            <a:off x="113226" y="914400"/>
            <a:ext cx="9533050" cy="2221606"/>
          </a:xfrm>
        </p:spPr>
        <p:style>
          <a:lnRef idx="2">
            <a:schemeClr val="accent1"/>
          </a:lnRef>
          <a:fillRef idx="1">
            <a:schemeClr val="lt1"/>
          </a:fillRef>
          <a:effectRef idx="0">
            <a:schemeClr val="accent1"/>
          </a:effectRef>
          <a:fontRef idx="minor">
            <a:schemeClr val="dk1"/>
          </a:fontRef>
        </p:style>
        <p:txBody>
          <a:bodyPr>
            <a:noAutofit/>
          </a:bodyPr>
          <a:lstStyle/>
          <a:p>
            <a:pPr marL="0" indent="0" algn="just">
              <a:lnSpc>
                <a:spcPct val="100000"/>
              </a:lnSpc>
              <a:spcBef>
                <a:spcPts val="600"/>
              </a:spcBef>
              <a:spcAft>
                <a:spcPts val="600"/>
              </a:spcAft>
              <a:buNone/>
            </a:pPr>
            <a:r>
              <a:rPr lang="en-US" altLang="en-US" sz="1600" b="1" dirty="0">
                <a:solidFill>
                  <a:srgbClr val="002060"/>
                </a:solidFill>
              </a:rPr>
              <a:t>The compounds in which two rings are fused at a common point are known as spiro compounds and the common atom which is quaternary in nature is designated as spiro atom</a:t>
            </a:r>
            <a:r>
              <a:rPr lang="en-US" altLang="en-US" sz="1600" dirty="0">
                <a:solidFill>
                  <a:srgbClr val="002060"/>
                </a:solidFill>
              </a:rPr>
              <a:t>. </a:t>
            </a:r>
            <a:r>
              <a:rPr lang="en-US" altLang="en-US" sz="1600" dirty="0"/>
              <a:t>They are classified according to the number of spiro atoms; </a:t>
            </a:r>
            <a:r>
              <a:rPr lang="en-US" altLang="en-US" sz="1600" dirty="0" err="1"/>
              <a:t>monospiro</a:t>
            </a:r>
            <a:r>
              <a:rPr lang="en-US" altLang="en-US" sz="1600" dirty="0"/>
              <a:t>-, </a:t>
            </a:r>
            <a:r>
              <a:rPr lang="en-US" altLang="en-US" sz="1600" dirty="0" err="1"/>
              <a:t>dispiro</a:t>
            </a:r>
            <a:r>
              <a:rPr lang="en-US" altLang="en-US" sz="1600" dirty="0"/>
              <a:t>-, </a:t>
            </a:r>
            <a:r>
              <a:rPr lang="en-US" altLang="en-US" sz="1600" dirty="0" err="1"/>
              <a:t>trispiro</a:t>
            </a:r>
            <a:r>
              <a:rPr lang="en-US" altLang="en-US" sz="1600" dirty="0"/>
              <a:t>- ring systems.</a:t>
            </a:r>
          </a:p>
          <a:p>
            <a:pPr marL="0" indent="0" algn="just">
              <a:lnSpc>
                <a:spcPct val="100000"/>
              </a:lnSpc>
              <a:spcBef>
                <a:spcPts val="600"/>
              </a:spcBef>
              <a:spcAft>
                <a:spcPts val="600"/>
              </a:spcAft>
              <a:buNone/>
            </a:pPr>
            <a:r>
              <a:rPr lang="en-US" altLang="en-US" sz="1600" dirty="0"/>
              <a:t>1. Spiro heterocycles with one spiro atom consisting of one or both heterocyclic rings are named by </a:t>
            </a:r>
            <a:r>
              <a:rPr lang="en-US" altLang="en-US" sz="1600" dirty="0">
                <a:solidFill>
                  <a:srgbClr val="00B0F0"/>
                </a:solidFill>
              </a:rPr>
              <a:t>prefixing spiro to the name of a normal alkane </a:t>
            </a:r>
            <a:r>
              <a:rPr lang="en-US" altLang="en-US" sz="1600" dirty="0"/>
              <a:t>with the same number of carbon atoms. </a:t>
            </a:r>
            <a:r>
              <a:rPr lang="en-GB" altLang="en-US" sz="1600" dirty="0">
                <a:solidFill>
                  <a:srgbClr val="00B0F0"/>
                </a:solidFill>
              </a:rPr>
              <a:t>The number of atoms in each ring is indicated by Arabic numerals separated by a dot, enclosed in square brackets in ascending order, and placed between the prefix spiro and the hydrocarbon name. </a:t>
            </a:r>
            <a:r>
              <a:rPr lang="en-US" altLang="en-US" sz="1600" dirty="0"/>
              <a:t>The </a:t>
            </a:r>
            <a:r>
              <a:rPr lang="en-US" altLang="en-US" sz="1600" dirty="0">
                <a:solidFill>
                  <a:srgbClr val="00B0F0"/>
                </a:solidFill>
              </a:rPr>
              <a:t>heteroatoms are indicated by the prefixes </a:t>
            </a:r>
            <a:r>
              <a:rPr lang="en-US" altLang="en-US" sz="1600" dirty="0"/>
              <a:t>and are prefixed with their positions to the name of spiro hydrocarbon.</a:t>
            </a:r>
          </a:p>
        </p:txBody>
      </p:sp>
      <p:pic>
        <p:nvPicPr>
          <p:cNvPr id="45060" name="Picture 4">
            <a:extLst>
              <a:ext uri="{FF2B5EF4-FFF2-40B4-BE49-F238E27FC236}">
                <a16:creationId xmlns:a16="http://schemas.microsoft.com/office/drawing/2014/main" id="{447D9664-B3C1-401F-A38B-BE3739DC9278}"/>
              </a:ext>
            </a:extLst>
          </p:cNvPr>
          <p:cNvPicPr>
            <a:picLocks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9570361" y="110272"/>
            <a:ext cx="2484582" cy="1634176"/>
          </a:xfrm>
          <a:noFill/>
          <a:ln/>
        </p:spPr>
      </p:pic>
      <p:sp>
        <p:nvSpPr>
          <p:cNvPr id="6" name="Rectangle 2">
            <a:extLst>
              <a:ext uri="{FF2B5EF4-FFF2-40B4-BE49-F238E27FC236}">
                <a16:creationId xmlns:a16="http://schemas.microsoft.com/office/drawing/2014/main" id="{F0E16DB2-11F9-48D3-A4B5-EACD4E25633B}"/>
              </a:ext>
            </a:extLst>
          </p:cNvPr>
          <p:cNvSpPr txBox="1">
            <a:spLocks noChangeArrowheads="1"/>
          </p:cNvSpPr>
          <p:nvPr/>
        </p:nvSpPr>
        <p:spPr>
          <a:xfrm>
            <a:off x="190500" y="89902"/>
            <a:ext cx="5562600" cy="609600"/>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rmAutofit/>
          </a:bodyPr>
          <a:lstStyle>
            <a:lvl1pPr algn="l" defTabSz="914377" rtl="0" eaLnBrk="1" latinLnBrk="0" hangingPunct="1">
              <a:lnSpc>
                <a:spcPct val="90000"/>
              </a:lnSpc>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just">
              <a:lnSpc>
                <a:spcPct val="100000"/>
              </a:lnSpc>
              <a:spcBef>
                <a:spcPts val="600"/>
              </a:spcBef>
              <a:spcAft>
                <a:spcPts val="600"/>
              </a:spcAft>
            </a:pPr>
            <a:r>
              <a:rPr lang="en-US" altLang="en-US" sz="2800" b="1" dirty="0">
                <a:solidFill>
                  <a:srgbClr val="0066FF"/>
                </a:solidFill>
              </a:rPr>
              <a:t>Spiro Heterocycles</a:t>
            </a:r>
            <a:r>
              <a:rPr lang="en-US" altLang="en-US" sz="1600" b="1" dirty="0">
                <a:solidFill>
                  <a:srgbClr val="000099"/>
                </a:solidFill>
              </a:rPr>
              <a:t>:</a:t>
            </a:r>
          </a:p>
        </p:txBody>
      </p:sp>
      <p:sp>
        <p:nvSpPr>
          <p:cNvPr id="8" name="TextBox 7">
            <a:extLst>
              <a:ext uri="{FF2B5EF4-FFF2-40B4-BE49-F238E27FC236}">
                <a16:creationId xmlns:a16="http://schemas.microsoft.com/office/drawing/2014/main" id="{7D8F51F4-1CE6-4B10-8D96-85735BD42772}"/>
              </a:ext>
            </a:extLst>
          </p:cNvPr>
          <p:cNvSpPr txBox="1"/>
          <p:nvPr/>
        </p:nvSpPr>
        <p:spPr>
          <a:xfrm>
            <a:off x="4102767" y="3350904"/>
            <a:ext cx="7797311" cy="1323439"/>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pPr algn="just"/>
            <a:r>
              <a:rPr lang="en-US" altLang="en-US" sz="1600" dirty="0">
                <a:solidFill>
                  <a:srgbClr val="00B0F0"/>
                </a:solidFill>
              </a:rPr>
              <a:t>2. The numbering starts from the ring atom of the smaller ring </a:t>
            </a:r>
            <a:r>
              <a:rPr lang="en-US" altLang="en-US" sz="1600" dirty="0"/>
              <a:t>(if rings are of unequal size) </a:t>
            </a:r>
            <a:r>
              <a:rPr lang="en-US" altLang="en-US" sz="1600" i="1" dirty="0"/>
              <a:t>attached to the spiro atom and proceeds first around the smaller ring and then around the larger ring through the spiro atom</a:t>
            </a:r>
            <a:r>
              <a:rPr lang="en-US" altLang="en-US" sz="1600" dirty="0"/>
              <a:t>. The heteroatoms are assigned the lowest possible number of locants.</a:t>
            </a:r>
            <a:r>
              <a:rPr lang="uk-UA" altLang="en-US" sz="1600" dirty="0"/>
              <a:t> </a:t>
            </a:r>
            <a:r>
              <a:rPr lang="en-US" altLang="en-US" sz="1600" dirty="0"/>
              <a:t>If there is a choice between two different heteroatoms, the preferential numbering is decided according to the appearance of the heteroatoms in the table.</a:t>
            </a:r>
            <a:endParaRPr lang="en-GB" sz="1600" dirty="0"/>
          </a:p>
        </p:txBody>
      </p:sp>
      <p:pic>
        <p:nvPicPr>
          <p:cNvPr id="9" name="Picture 5">
            <a:extLst>
              <a:ext uri="{FF2B5EF4-FFF2-40B4-BE49-F238E27FC236}">
                <a16:creationId xmlns:a16="http://schemas.microsoft.com/office/drawing/2014/main" id="{ED82A6D0-5799-4E65-9F0C-D710099B2CC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a:xfrm>
            <a:off x="190500" y="3240430"/>
            <a:ext cx="1969119" cy="1353769"/>
          </a:xfrm>
          <a:prstGeom prst="rect">
            <a:avLst/>
          </a:prstGeom>
          <a:noFill/>
          <a:ln/>
        </p:spPr>
      </p:pic>
      <p:sp>
        <p:nvSpPr>
          <p:cNvPr id="11" name="TextBox 10">
            <a:extLst>
              <a:ext uri="{FF2B5EF4-FFF2-40B4-BE49-F238E27FC236}">
                <a16:creationId xmlns:a16="http://schemas.microsoft.com/office/drawing/2014/main" id="{DFD0B5D7-1AF0-4A5E-8841-04DDF57B698C}"/>
              </a:ext>
            </a:extLst>
          </p:cNvPr>
          <p:cNvSpPr txBox="1"/>
          <p:nvPr/>
        </p:nvSpPr>
        <p:spPr>
          <a:xfrm>
            <a:off x="153474" y="5024684"/>
            <a:ext cx="3732726" cy="1569660"/>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just"/>
            <a:r>
              <a:rPr lang="en-US" altLang="en-US" sz="1600" i="1" dirty="0"/>
              <a:t>3. The heterocyclic ring is preferred over the carbocyclic ring of the same size. If both the rings are heterocyclic, the preference is given to the heterocyclic ring with the heteroatom appearing in the table.</a:t>
            </a:r>
            <a:endParaRPr lang="en-GB" sz="1600" i="1" dirty="0"/>
          </a:p>
        </p:txBody>
      </p:sp>
      <p:pic>
        <p:nvPicPr>
          <p:cNvPr id="12" name="Picture 8">
            <a:extLst>
              <a:ext uri="{FF2B5EF4-FFF2-40B4-BE49-F238E27FC236}">
                <a16:creationId xmlns:a16="http://schemas.microsoft.com/office/drawing/2014/main" id="{9BF98F70-13DC-4F10-A1BF-F6B6DF0686F7}"/>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r="58872"/>
          <a:stretch/>
        </p:blipFill>
        <p:spPr>
          <a:xfrm>
            <a:off x="3894221" y="5024684"/>
            <a:ext cx="2201779" cy="1434286"/>
          </a:xfrm>
          <a:prstGeom prst="rect">
            <a:avLst/>
          </a:prstGeom>
          <a:noFill/>
          <a:ln/>
        </p:spPr>
      </p:pic>
      <p:graphicFrame>
        <p:nvGraphicFramePr>
          <p:cNvPr id="15" name="Object 1">
            <a:extLst>
              <a:ext uri="{FF2B5EF4-FFF2-40B4-BE49-F238E27FC236}">
                <a16:creationId xmlns:a16="http://schemas.microsoft.com/office/drawing/2014/main" id="{BE1FCD55-5DA1-4EF5-BE1C-89C0DF37BCB5}"/>
              </a:ext>
            </a:extLst>
          </p:cNvPr>
          <p:cNvGraphicFramePr>
            <a:graphicFrameLocks noChangeAspect="1"/>
          </p:cNvGraphicFramePr>
          <p:nvPr>
            <p:extLst>
              <p:ext uri="{D42A27DB-BD31-4B8C-83A1-F6EECF244321}">
                <p14:modId xmlns:p14="http://schemas.microsoft.com/office/powerpoint/2010/main" val="2560404837"/>
              </p:ext>
            </p:extLst>
          </p:nvPr>
        </p:nvGraphicFramePr>
        <p:xfrm>
          <a:off x="9879608" y="1812777"/>
          <a:ext cx="2052637" cy="1404937"/>
        </p:xfrm>
        <a:graphic>
          <a:graphicData uri="http://schemas.openxmlformats.org/presentationml/2006/ole">
            <mc:AlternateContent xmlns:mc="http://schemas.openxmlformats.org/markup-compatibility/2006">
              <mc:Choice xmlns:v="urn:schemas-microsoft-com:vml" Requires="v">
                <p:oleObj spid="_x0000_s14371" name="CS ChemDraw Drawing" r:id="rId6" imgW="1700358" imgH="1163954" progId="ChemDraw.Document.6.0">
                  <p:embed/>
                </p:oleObj>
              </mc:Choice>
              <mc:Fallback>
                <p:oleObj name="CS ChemDraw Drawing" r:id="rId6" imgW="1700358" imgH="1163954" progId="ChemDraw.Document.6.0">
                  <p:embed/>
                  <p:pic>
                    <p:nvPicPr>
                      <p:cNvPr id="8" name="Object 1">
                        <a:extLst>
                          <a:ext uri="{FF2B5EF4-FFF2-40B4-BE49-F238E27FC236}">
                            <a16:creationId xmlns:a16="http://schemas.microsoft.com/office/drawing/2014/main" id="{944A5C04-2FD8-4313-B8EC-83342E50259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879608" y="1812777"/>
                        <a:ext cx="2052637" cy="1404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7" name="Object 4">
            <a:extLst>
              <a:ext uri="{FF2B5EF4-FFF2-40B4-BE49-F238E27FC236}">
                <a16:creationId xmlns:a16="http://schemas.microsoft.com/office/drawing/2014/main" id="{4EE709E8-5867-439D-88FC-E49CA5AAEC31}"/>
              </a:ext>
            </a:extLst>
          </p:cNvPr>
          <p:cNvGraphicFramePr>
            <a:graphicFrameLocks noChangeAspect="1"/>
          </p:cNvGraphicFramePr>
          <p:nvPr>
            <p:extLst>
              <p:ext uri="{D42A27DB-BD31-4B8C-83A1-F6EECF244321}">
                <p14:modId xmlns:p14="http://schemas.microsoft.com/office/powerpoint/2010/main" val="3772129564"/>
              </p:ext>
            </p:extLst>
          </p:nvPr>
        </p:nvGraphicFramePr>
        <p:xfrm>
          <a:off x="2195512" y="3240430"/>
          <a:ext cx="1690688" cy="1238250"/>
        </p:xfrm>
        <a:graphic>
          <a:graphicData uri="http://schemas.openxmlformats.org/presentationml/2006/ole">
            <mc:AlternateContent xmlns:mc="http://schemas.openxmlformats.org/markup-compatibility/2006">
              <mc:Choice xmlns:v="urn:schemas-microsoft-com:vml" Requires="v">
                <p:oleObj spid="_x0000_s14372" name="CS ChemDraw Drawing" r:id="rId8" imgW="1691071" imgH="1238657" progId="ChemDraw.Document.6.0">
                  <p:embed/>
                </p:oleObj>
              </mc:Choice>
              <mc:Fallback>
                <p:oleObj name="CS ChemDraw Drawing" r:id="rId8" imgW="1691071" imgH="1238657" progId="ChemDraw.Document.6.0">
                  <p:embed/>
                  <p:pic>
                    <p:nvPicPr>
                      <p:cNvPr id="12" name="Object 4">
                        <a:extLst>
                          <a:ext uri="{FF2B5EF4-FFF2-40B4-BE49-F238E27FC236}">
                            <a16:creationId xmlns:a16="http://schemas.microsoft.com/office/drawing/2014/main" id="{B5754E55-03D7-4CF4-A1A3-C043CF054A53}"/>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195512" y="3240430"/>
                        <a:ext cx="1690688" cy="1238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8" name="Object 3">
            <a:extLst>
              <a:ext uri="{FF2B5EF4-FFF2-40B4-BE49-F238E27FC236}">
                <a16:creationId xmlns:a16="http://schemas.microsoft.com/office/drawing/2014/main" id="{4FDB0F14-6DE5-4E75-BFF9-B8834104F4DA}"/>
              </a:ext>
            </a:extLst>
          </p:cNvPr>
          <p:cNvGraphicFramePr>
            <a:graphicFrameLocks noChangeAspect="1"/>
          </p:cNvGraphicFramePr>
          <p:nvPr>
            <p:extLst>
              <p:ext uri="{D42A27DB-BD31-4B8C-83A1-F6EECF244321}">
                <p14:modId xmlns:p14="http://schemas.microsoft.com/office/powerpoint/2010/main" val="137338541"/>
              </p:ext>
            </p:extLst>
          </p:nvPr>
        </p:nvGraphicFramePr>
        <p:xfrm>
          <a:off x="5894685" y="4926157"/>
          <a:ext cx="2014538" cy="1230312"/>
        </p:xfrm>
        <a:graphic>
          <a:graphicData uri="http://schemas.openxmlformats.org/presentationml/2006/ole">
            <mc:AlternateContent xmlns:mc="http://schemas.openxmlformats.org/markup-compatibility/2006">
              <mc:Choice xmlns:v="urn:schemas-microsoft-com:vml" Requires="v">
                <p:oleObj spid="_x0000_s14373" name="CS ChemDraw Drawing" r:id="rId10" imgW="2014459" imgH="1229560" progId="ChemDraw.Document.6.0">
                  <p:embed/>
                </p:oleObj>
              </mc:Choice>
              <mc:Fallback>
                <p:oleObj name="CS ChemDraw Drawing" r:id="rId10" imgW="2014459" imgH="1229560" progId="ChemDraw.Document.6.0">
                  <p:embed/>
                  <p:pic>
                    <p:nvPicPr>
                      <p:cNvPr id="36874" name="Object 3">
                        <a:extLst>
                          <a:ext uri="{FF2B5EF4-FFF2-40B4-BE49-F238E27FC236}">
                            <a16:creationId xmlns:a16="http://schemas.microsoft.com/office/drawing/2014/main" id="{810BF099-90D8-4D35-A706-164CD57EECC0}"/>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894685" y="4926157"/>
                        <a:ext cx="2014538" cy="1230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19" name="Picture 8">
            <a:extLst>
              <a:ext uri="{FF2B5EF4-FFF2-40B4-BE49-F238E27FC236}">
                <a16:creationId xmlns:a16="http://schemas.microsoft.com/office/drawing/2014/main" id="{687EE869-9704-4E34-B447-9B461CEA185D}"/>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58872"/>
          <a:stretch/>
        </p:blipFill>
        <p:spPr>
          <a:xfrm>
            <a:off x="7909223" y="4889241"/>
            <a:ext cx="2201779" cy="1434286"/>
          </a:xfrm>
          <a:prstGeom prst="rect">
            <a:avLst/>
          </a:prstGeom>
          <a:noFill/>
          <a:ln/>
        </p:spPr>
      </p:pic>
      <p:pic>
        <p:nvPicPr>
          <p:cNvPr id="7" name="Рисунок 6">
            <a:extLst>
              <a:ext uri="{FF2B5EF4-FFF2-40B4-BE49-F238E27FC236}">
                <a16:creationId xmlns:a16="http://schemas.microsoft.com/office/drawing/2014/main" id="{BFF05EB9-BBB2-4A13-A8E4-D6B1CDEC6431}"/>
              </a:ext>
            </a:extLst>
          </p:cNvPr>
          <p:cNvPicPr>
            <a:picLocks noChangeAspect="1"/>
          </p:cNvPicPr>
          <p:nvPr/>
        </p:nvPicPr>
        <p:blipFill>
          <a:blip r:embed="rId12"/>
          <a:stretch>
            <a:fillRect/>
          </a:stretch>
        </p:blipFill>
        <p:spPr>
          <a:xfrm>
            <a:off x="10004721" y="4710826"/>
            <a:ext cx="1927524" cy="1445643"/>
          </a:xfrm>
          <a:prstGeom prst="rect">
            <a:avLst/>
          </a:prstGeom>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5" name="Rectangle 3">
            <a:extLst>
              <a:ext uri="{FF2B5EF4-FFF2-40B4-BE49-F238E27FC236}">
                <a16:creationId xmlns:a16="http://schemas.microsoft.com/office/drawing/2014/main" id="{39B23CE7-7A27-4609-8278-427F6B44B86D}"/>
              </a:ext>
            </a:extLst>
          </p:cNvPr>
          <p:cNvSpPr>
            <a:spLocks noGrp="1" noChangeArrowheads="1"/>
          </p:cNvSpPr>
          <p:nvPr>
            <p:ph type="body" sz="half" idx="1"/>
          </p:nvPr>
        </p:nvSpPr>
        <p:spPr>
          <a:xfrm>
            <a:off x="96591" y="1065959"/>
            <a:ext cx="6117465" cy="1539383"/>
          </a:xfrm>
        </p:spPr>
        <p:style>
          <a:lnRef idx="2">
            <a:schemeClr val="accent2"/>
          </a:lnRef>
          <a:fillRef idx="1">
            <a:schemeClr val="lt1"/>
          </a:fillRef>
          <a:effectRef idx="0">
            <a:schemeClr val="accent2"/>
          </a:effectRef>
          <a:fontRef idx="minor">
            <a:schemeClr val="dk1"/>
          </a:fontRef>
        </p:style>
        <p:txBody>
          <a:bodyPr>
            <a:normAutofit/>
          </a:bodyPr>
          <a:lstStyle/>
          <a:p>
            <a:pPr marL="0" indent="0" algn="just">
              <a:lnSpc>
                <a:spcPct val="100000"/>
              </a:lnSpc>
              <a:spcBef>
                <a:spcPts val="600"/>
              </a:spcBef>
              <a:spcAft>
                <a:spcPts val="600"/>
              </a:spcAft>
              <a:buNone/>
            </a:pPr>
            <a:r>
              <a:rPr lang="en-US" altLang="en-US" sz="1800" dirty="0"/>
              <a:t>4. If unsaturation is present in a ring, the pattern of numbering remains the same but the direction around the ring remains in such a way that the multiple bond is given a number as low as possible. However, the </a:t>
            </a:r>
            <a:r>
              <a:rPr lang="en-US" altLang="en-US" sz="1800" b="1" dirty="0"/>
              <a:t>heteroatom is preferred over the multiple bonds.</a:t>
            </a:r>
          </a:p>
        </p:txBody>
      </p:sp>
      <p:pic>
        <p:nvPicPr>
          <p:cNvPr id="54276" name="Picture 4">
            <a:extLst>
              <a:ext uri="{FF2B5EF4-FFF2-40B4-BE49-F238E27FC236}">
                <a16:creationId xmlns:a16="http://schemas.microsoft.com/office/drawing/2014/main" id="{D591B902-36CE-4889-897A-063EA68AF528}"/>
              </a:ext>
            </a:extLst>
          </p:cNvPr>
          <p:cNvPicPr>
            <a:picLocks noChangeAspect="1" noChangeArrowheads="1"/>
          </p:cNvPicPr>
          <p:nvPr>
            <p:ph sz="quarter" idx="2"/>
          </p:nvPr>
        </p:nvPicPr>
        <p:blipFill>
          <a:blip r:embed="rId3">
            <a:extLst>
              <a:ext uri="{28A0092B-C50C-407E-A947-70E740481C1C}">
                <a14:useLocalDpi xmlns:a14="http://schemas.microsoft.com/office/drawing/2010/main" val="0"/>
              </a:ext>
            </a:extLst>
          </a:blip>
          <a:srcRect/>
          <a:stretch>
            <a:fillRect/>
          </a:stretch>
        </p:blipFill>
        <p:spPr>
          <a:xfrm>
            <a:off x="6590446" y="276244"/>
            <a:ext cx="5303192" cy="1389879"/>
          </a:xfrm>
          <a:noFill/>
          <a:ln/>
        </p:spPr>
      </p:pic>
      <p:sp>
        <p:nvSpPr>
          <p:cNvPr id="54279" name="Rectangle 7">
            <a:extLst>
              <a:ext uri="{FF2B5EF4-FFF2-40B4-BE49-F238E27FC236}">
                <a16:creationId xmlns:a16="http://schemas.microsoft.com/office/drawing/2014/main" id="{B7150BC0-FC89-4665-8992-5F29DCE99903}"/>
              </a:ext>
            </a:extLst>
          </p:cNvPr>
          <p:cNvSpPr>
            <a:spLocks noChangeArrowheads="1"/>
          </p:cNvSpPr>
          <p:nvPr/>
        </p:nvSpPr>
        <p:spPr bwMode="auto">
          <a:xfrm>
            <a:off x="3829855" y="2824371"/>
            <a:ext cx="8171645" cy="1477328"/>
          </a:xfrm>
          <a:prstGeom prst="rect">
            <a:avLst/>
          </a:prstGeom>
          <a:ln/>
        </p:spPr>
        <p:style>
          <a:lnRef idx="2">
            <a:schemeClr val="accent5"/>
          </a:lnRef>
          <a:fillRef idx="1">
            <a:schemeClr val="lt1"/>
          </a:fillRef>
          <a:effectRef idx="0">
            <a:schemeClr val="accent5"/>
          </a:effectRef>
          <a:fontRef idx="minor">
            <a:schemeClr val="dk1"/>
          </a:fontRef>
        </p:style>
        <p:txBody>
          <a:bodyPr wrap="square">
            <a:spAutoFit/>
          </a:bodyPr>
          <a:lstStyle/>
          <a:p>
            <a:pPr algn="just">
              <a:spcBef>
                <a:spcPts val="600"/>
              </a:spcBef>
              <a:spcAft>
                <a:spcPts val="600"/>
              </a:spcAft>
            </a:pPr>
            <a:r>
              <a:rPr lang="en-US" altLang="en-US" i="1" dirty="0"/>
              <a:t>5. When one or both the components of the spiro heterocycle are fused polycyclic system, the names of both the components are cited after the prefix ‘spiro’ in square brackets in alphabetical order and are separated by the numbers of spiro atom</a:t>
            </a:r>
            <a:r>
              <a:rPr lang="en-US" altLang="en-US" dirty="0"/>
              <a:t>. </a:t>
            </a:r>
            <a:br>
              <a:rPr lang="en-US" altLang="en-US" dirty="0"/>
            </a:br>
            <a:r>
              <a:rPr lang="en-US" altLang="en-US" dirty="0"/>
              <a:t>The components in such a spiro heterocyclic system retain their numbering, but the second component is numbered by primed numbers.</a:t>
            </a:r>
          </a:p>
        </p:txBody>
      </p:sp>
      <p:pic>
        <p:nvPicPr>
          <p:cNvPr id="54280" name="Picture 8">
            <a:extLst>
              <a:ext uri="{FF2B5EF4-FFF2-40B4-BE49-F238E27FC236}">
                <a16:creationId xmlns:a16="http://schemas.microsoft.com/office/drawing/2014/main" id="{E383AD0C-86EA-47C1-82A0-D5369D4564AB}"/>
              </a:ext>
            </a:extLst>
          </p:cNvPr>
          <p:cNvPicPr>
            <a:picLocks noChangeAspect="1" noChangeArrowheads="1"/>
          </p:cNvPicPr>
          <p:nvPr>
            <p:ph sz="quarter" idx="3"/>
          </p:nvPr>
        </p:nvPicPr>
        <p:blipFill rotWithShape="1">
          <a:blip r:embed="rId4">
            <a:extLst>
              <a:ext uri="{28A0092B-C50C-407E-A947-70E740481C1C}">
                <a14:useLocalDpi xmlns:a14="http://schemas.microsoft.com/office/drawing/2010/main" val="0"/>
              </a:ext>
            </a:extLst>
          </a:blip>
          <a:srcRect l="21096" r="16491" b="22025"/>
          <a:stretch/>
        </p:blipFill>
        <p:spPr>
          <a:xfrm>
            <a:off x="250870" y="2896376"/>
            <a:ext cx="1607774" cy="1257751"/>
          </a:xfrm>
          <a:noFill/>
          <a:ln/>
        </p:spPr>
      </p:pic>
      <p:sp>
        <p:nvSpPr>
          <p:cNvPr id="6" name="Rectangle 2">
            <a:extLst>
              <a:ext uri="{FF2B5EF4-FFF2-40B4-BE49-F238E27FC236}">
                <a16:creationId xmlns:a16="http://schemas.microsoft.com/office/drawing/2014/main" id="{A44B5892-9F44-443E-922D-69B86A9007A8}"/>
              </a:ext>
            </a:extLst>
          </p:cNvPr>
          <p:cNvSpPr txBox="1">
            <a:spLocks noChangeArrowheads="1"/>
          </p:cNvSpPr>
          <p:nvPr/>
        </p:nvSpPr>
        <p:spPr>
          <a:xfrm>
            <a:off x="190500" y="89902"/>
            <a:ext cx="5562600" cy="609600"/>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rmAutofit/>
          </a:bodyPr>
          <a:lstStyle>
            <a:lvl1pPr algn="l" defTabSz="914377" rtl="0" eaLnBrk="1" latinLnBrk="0" hangingPunct="1">
              <a:lnSpc>
                <a:spcPct val="90000"/>
              </a:lnSpc>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just">
              <a:lnSpc>
                <a:spcPct val="100000"/>
              </a:lnSpc>
              <a:spcBef>
                <a:spcPts val="600"/>
              </a:spcBef>
              <a:spcAft>
                <a:spcPts val="600"/>
              </a:spcAft>
            </a:pPr>
            <a:r>
              <a:rPr lang="en-US" altLang="en-US" sz="2800" b="1" dirty="0">
                <a:solidFill>
                  <a:srgbClr val="0066FF"/>
                </a:solidFill>
              </a:rPr>
              <a:t>Spiro Heterocycles</a:t>
            </a:r>
            <a:r>
              <a:rPr lang="en-US" altLang="en-US" sz="2800" b="1" dirty="0">
                <a:solidFill>
                  <a:srgbClr val="000099"/>
                </a:solidFill>
              </a:rPr>
              <a:t>:</a:t>
            </a:r>
          </a:p>
        </p:txBody>
      </p:sp>
      <p:sp>
        <p:nvSpPr>
          <p:cNvPr id="8" name="TextBox 7">
            <a:extLst>
              <a:ext uri="{FF2B5EF4-FFF2-40B4-BE49-F238E27FC236}">
                <a16:creationId xmlns:a16="http://schemas.microsoft.com/office/drawing/2014/main" id="{D54071AF-5C50-4236-9D2E-92319CC4561E}"/>
              </a:ext>
            </a:extLst>
          </p:cNvPr>
          <p:cNvSpPr txBox="1"/>
          <p:nvPr/>
        </p:nvSpPr>
        <p:spPr>
          <a:xfrm>
            <a:off x="250870" y="5468875"/>
            <a:ext cx="6845255" cy="923330"/>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pPr algn="just">
              <a:spcBef>
                <a:spcPts val="600"/>
              </a:spcBef>
              <a:spcAft>
                <a:spcPts val="600"/>
              </a:spcAft>
            </a:pPr>
            <a:r>
              <a:rPr lang="en-GB" altLang="en-US" sz="1800" dirty="0"/>
              <a:t>6. If </a:t>
            </a:r>
            <a:r>
              <a:rPr lang="en-GB" altLang="en-US" sz="1800" b="1" dirty="0"/>
              <a:t>both the heterocyclic components </a:t>
            </a:r>
            <a:r>
              <a:rPr lang="en-GB" altLang="en-US" sz="1800" dirty="0"/>
              <a:t>are the same in the spiro heterocyclic system, ‘</a:t>
            </a:r>
            <a:r>
              <a:rPr lang="en-GB" altLang="en-US" sz="1800" b="1" dirty="0" err="1"/>
              <a:t>spirob</a:t>
            </a:r>
            <a:r>
              <a:rPr lang="en-GB" altLang="en-US" sz="1800" dirty="0" err="1"/>
              <a:t>i</a:t>
            </a:r>
            <a:r>
              <a:rPr lang="en-GB" altLang="en-US" sz="1800" dirty="0"/>
              <a:t>-’ is prefixed to the name of a heterocyclic component.</a:t>
            </a:r>
            <a:endParaRPr lang="en-US" altLang="en-US" sz="1800" dirty="0"/>
          </a:p>
        </p:txBody>
      </p:sp>
      <p:graphicFrame>
        <p:nvGraphicFramePr>
          <p:cNvPr id="10" name="Object 1">
            <a:extLst>
              <a:ext uri="{FF2B5EF4-FFF2-40B4-BE49-F238E27FC236}">
                <a16:creationId xmlns:a16="http://schemas.microsoft.com/office/drawing/2014/main" id="{05C65AE4-C242-498E-AEF5-DD4330006591}"/>
              </a:ext>
            </a:extLst>
          </p:cNvPr>
          <p:cNvGraphicFramePr>
            <a:graphicFrameLocks noChangeAspect="1"/>
          </p:cNvGraphicFramePr>
          <p:nvPr>
            <p:extLst>
              <p:ext uri="{D42A27DB-BD31-4B8C-83A1-F6EECF244321}">
                <p14:modId xmlns:p14="http://schemas.microsoft.com/office/powerpoint/2010/main" val="2702416501"/>
              </p:ext>
            </p:extLst>
          </p:nvPr>
        </p:nvGraphicFramePr>
        <p:xfrm>
          <a:off x="9777913" y="1596935"/>
          <a:ext cx="1776413" cy="1231900"/>
        </p:xfrm>
        <a:graphic>
          <a:graphicData uri="http://schemas.openxmlformats.org/presentationml/2006/ole">
            <mc:AlternateContent xmlns:mc="http://schemas.openxmlformats.org/markup-compatibility/2006">
              <mc:Choice xmlns:v="urn:schemas-microsoft-com:vml" Requires="v">
                <p:oleObj spid="_x0000_s13324" name="CS ChemDraw Drawing" r:id="rId5" imgW="1776551" imgH="1229560" progId="ChemDraw.Document.6.0">
                  <p:embed/>
                </p:oleObj>
              </mc:Choice>
              <mc:Fallback>
                <p:oleObj name="CS ChemDraw Drawing" r:id="rId5" imgW="1776551" imgH="1229560" progId="ChemDraw.Document.6.0">
                  <p:embed/>
                  <p:pic>
                    <p:nvPicPr>
                      <p:cNvPr id="36873" name="Object 1">
                        <a:extLst>
                          <a:ext uri="{FF2B5EF4-FFF2-40B4-BE49-F238E27FC236}">
                            <a16:creationId xmlns:a16="http://schemas.microsoft.com/office/drawing/2014/main" id="{B8D41CCD-6002-47CC-BBDE-91D9816AB0A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777913" y="1596935"/>
                        <a:ext cx="1776413" cy="1231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 name="TextBox 11">
            <a:extLst>
              <a:ext uri="{FF2B5EF4-FFF2-40B4-BE49-F238E27FC236}">
                <a16:creationId xmlns:a16="http://schemas.microsoft.com/office/drawing/2014/main" id="{3A00CDE9-F66A-4EB4-B5AA-E77071BF2BCD}"/>
              </a:ext>
            </a:extLst>
          </p:cNvPr>
          <p:cNvSpPr txBox="1"/>
          <p:nvPr/>
        </p:nvSpPr>
        <p:spPr>
          <a:xfrm>
            <a:off x="190500" y="4241188"/>
            <a:ext cx="3531493" cy="307777"/>
          </a:xfrm>
          <a:prstGeom prst="rect">
            <a:avLst/>
          </a:prstGeom>
          <a:solidFill>
            <a:schemeClr val="bg1"/>
          </a:solidFill>
        </p:spPr>
        <p:txBody>
          <a:bodyPr wrap="square">
            <a:spAutoFit/>
          </a:bodyPr>
          <a:lstStyle/>
          <a:p>
            <a:r>
              <a:rPr lang="en-GB" sz="1400" dirty="0"/>
              <a:t>Spiro[cyclopentane-1,3'-indole]-2,4-diene</a:t>
            </a:r>
          </a:p>
        </p:txBody>
      </p:sp>
      <p:sp>
        <p:nvSpPr>
          <p:cNvPr id="14" name="TextBox 13">
            <a:extLst>
              <a:ext uri="{FF2B5EF4-FFF2-40B4-BE49-F238E27FC236}">
                <a16:creationId xmlns:a16="http://schemas.microsoft.com/office/drawing/2014/main" id="{F9537507-DE68-47C5-84E5-A5DFD5C92A83}"/>
              </a:ext>
            </a:extLst>
          </p:cNvPr>
          <p:cNvSpPr txBox="1"/>
          <p:nvPr/>
        </p:nvSpPr>
        <p:spPr>
          <a:xfrm>
            <a:off x="7703219" y="6371578"/>
            <a:ext cx="3618497" cy="369332"/>
          </a:xfrm>
          <a:prstGeom prst="rect">
            <a:avLst/>
          </a:prstGeom>
          <a:solidFill>
            <a:schemeClr val="bg1"/>
          </a:solidFill>
        </p:spPr>
        <p:txBody>
          <a:bodyPr wrap="square">
            <a:spAutoFit/>
          </a:bodyPr>
          <a:lstStyle/>
          <a:p>
            <a:r>
              <a:rPr lang="en-GB" dirty="0"/>
              <a:t>3,3’-Spirobi[indole]</a:t>
            </a:r>
          </a:p>
        </p:txBody>
      </p:sp>
      <p:pic>
        <p:nvPicPr>
          <p:cNvPr id="7" name="Рисунок 6">
            <a:extLst>
              <a:ext uri="{FF2B5EF4-FFF2-40B4-BE49-F238E27FC236}">
                <a16:creationId xmlns:a16="http://schemas.microsoft.com/office/drawing/2014/main" id="{AB355BA1-8BE8-458B-B53F-509BBD3B5A3B}"/>
              </a:ext>
            </a:extLst>
          </p:cNvPr>
          <p:cNvPicPr>
            <a:picLocks noChangeAspect="1"/>
          </p:cNvPicPr>
          <p:nvPr/>
        </p:nvPicPr>
        <p:blipFill>
          <a:blip r:embed="rId7"/>
          <a:stretch>
            <a:fillRect/>
          </a:stretch>
        </p:blipFill>
        <p:spPr>
          <a:xfrm>
            <a:off x="6805857" y="1596935"/>
            <a:ext cx="1483901" cy="1059929"/>
          </a:xfrm>
          <a:prstGeom prst="rect">
            <a:avLst/>
          </a:prstGeom>
        </p:spPr>
      </p:pic>
      <p:pic>
        <p:nvPicPr>
          <p:cNvPr id="16" name="Рисунок 15">
            <a:extLst>
              <a:ext uri="{FF2B5EF4-FFF2-40B4-BE49-F238E27FC236}">
                <a16:creationId xmlns:a16="http://schemas.microsoft.com/office/drawing/2014/main" id="{A8A2597C-6973-430A-A65B-813E283D19AA}"/>
              </a:ext>
            </a:extLst>
          </p:cNvPr>
          <p:cNvPicPr>
            <a:picLocks noChangeAspect="1"/>
          </p:cNvPicPr>
          <p:nvPr/>
        </p:nvPicPr>
        <p:blipFill>
          <a:blip r:embed="rId8"/>
          <a:stretch>
            <a:fillRect/>
          </a:stretch>
        </p:blipFill>
        <p:spPr>
          <a:xfrm>
            <a:off x="10022951" y="4736933"/>
            <a:ext cx="2169049" cy="1634645"/>
          </a:xfrm>
          <a:prstGeom prst="rect">
            <a:avLst/>
          </a:prstGeom>
        </p:spPr>
      </p:pic>
      <p:pic>
        <p:nvPicPr>
          <p:cNvPr id="13" name="Рисунок 12">
            <a:extLst>
              <a:ext uri="{FF2B5EF4-FFF2-40B4-BE49-F238E27FC236}">
                <a16:creationId xmlns:a16="http://schemas.microsoft.com/office/drawing/2014/main" id="{27AD7103-07D0-4D74-A149-A0B9380D5942}"/>
              </a:ext>
            </a:extLst>
          </p:cNvPr>
          <p:cNvPicPr>
            <a:picLocks noChangeAspect="1"/>
          </p:cNvPicPr>
          <p:nvPr/>
        </p:nvPicPr>
        <p:blipFill>
          <a:blip r:embed="rId9"/>
          <a:stretch>
            <a:fillRect/>
          </a:stretch>
        </p:blipFill>
        <p:spPr>
          <a:xfrm>
            <a:off x="1967943" y="2812338"/>
            <a:ext cx="1414738" cy="1476250"/>
          </a:xfrm>
          <a:prstGeom prst="rect">
            <a:avLst/>
          </a:prstGeom>
        </p:spPr>
      </p:pic>
      <p:pic>
        <p:nvPicPr>
          <p:cNvPr id="9" name="Picture 4">
            <a:extLst>
              <a:ext uri="{FF2B5EF4-FFF2-40B4-BE49-F238E27FC236}">
                <a16:creationId xmlns:a16="http://schemas.microsoft.com/office/drawing/2014/main" id="{1B663998-AD33-496A-AFAF-D9F801D50E58}"/>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a:xfrm>
            <a:off x="7262611" y="4372378"/>
            <a:ext cx="2819400" cy="2413000"/>
          </a:xfrm>
          <a:prstGeom prst="rect">
            <a:avLst/>
          </a:prstGeom>
          <a:noFill/>
          <a:ln/>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a:extLst>
              <a:ext uri="{FF2B5EF4-FFF2-40B4-BE49-F238E27FC236}">
                <a16:creationId xmlns:a16="http://schemas.microsoft.com/office/drawing/2014/main" id="{0C949A42-76B9-4428-9801-B15C8F3C6D49}"/>
              </a:ext>
            </a:extLst>
          </p:cNvPr>
          <p:cNvSpPr>
            <a:spLocks noGrp="1"/>
          </p:cNvSpPr>
          <p:nvPr>
            <p:ph type="sldNum" sz="quarter" idx="12"/>
          </p:nvPr>
        </p:nvSpPr>
        <p:spPr/>
        <p:txBody>
          <a:bodyPr/>
          <a:lstStyle/>
          <a:p>
            <a:fld id="{93C419CB-0CF1-4F10-90F9-42551F8968FF}" type="slidenum">
              <a:rPr lang="en-GB" smtClean="0"/>
              <a:t>70</a:t>
            </a:fld>
            <a:endParaRPr lang="en-GB"/>
          </a:p>
        </p:txBody>
      </p:sp>
      <p:sp>
        <p:nvSpPr>
          <p:cNvPr id="3" name="TextBox 2">
            <a:extLst>
              <a:ext uri="{FF2B5EF4-FFF2-40B4-BE49-F238E27FC236}">
                <a16:creationId xmlns:a16="http://schemas.microsoft.com/office/drawing/2014/main" id="{6090A5F6-BDFF-44DA-A319-9C15CB150ED3}"/>
              </a:ext>
            </a:extLst>
          </p:cNvPr>
          <p:cNvSpPr txBox="1"/>
          <p:nvPr/>
        </p:nvSpPr>
        <p:spPr>
          <a:xfrm>
            <a:off x="343770" y="281164"/>
            <a:ext cx="11711871" cy="584775"/>
          </a:xfrm>
          <a:prstGeom prst="rect">
            <a:avLst/>
          </a:prstGeom>
          <a:noFill/>
        </p:spPr>
        <p:txBody>
          <a:bodyPr wrap="square">
            <a:spAutoFit/>
          </a:bodyPr>
          <a:lstStyle/>
          <a:p>
            <a:r>
              <a:rPr lang="en-GB" sz="3200" b="1" dirty="0"/>
              <a:t>Task </a:t>
            </a:r>
            <a:r>
              <a:rPr lang="uk-UA" sz="3200" b="1" dirty="0"/>
              <a:t>6</a:t>
            </a:r>
            <a:r>
              <a:rPr lang="en-GB" sz="3200" b="1" dirty="0"/>
              <a:t>.</a:t>
            </a:r>
            <a:r>
              <a:rPr lang="uk-UA" sz="3200" b="1" dirty="0"/>
              <a:t> </a:t>
            </a:r>
            <a:r>
              <a:rPr lang="en-GB" sz="3200" dirty="0"/>
              <a:t>Name the following compound by replacement nomenclature </a:t>
            </a:r>
          </a:p>
        </p:txBody>
      </p:sp>
      <p:pic>
        <p:nvPicPr>
          <p:cNvPr id="5" name="Рисунок 4">
            <a:extLst>
              <a:ext uri="{FF2B5EF4-FFF2-40B4-BE49-F238E27FC236}">
                <a16:creationId xmlns:a16="http://schemas.microsoft.com/office/drawing/2014/main" id="{A659AFCB-623F-4351-92F1-BC294DD44BC2}"/>
              </a:ext>
            </a:extLst>
          </p:cNvPr>
          <p:cNvPicPr>
            <a:picLocks noChangeAspect="1"/>
          </p:cNvPicPr>
          <p:nvPr/>
        </p:nvPicPr>
        <p:blipFill>
          <a:blip r:embed="rId3"/>
          <a:stretch>
            <a:fillRect/>
          </a:stretch>
        </p:blipFill>
        <p:spPr>
          <a:xfrm>
            <a:off x="-16832" y="1297160"/>
            <a:ext cx="3205202" cy="2273193"/>
          </a:xfrm>
          <a:prstGeom prst="rect">
            <a:avLst/>
          </a:prstGeom>
        </p:spPr>
      </p:pic>
      <p:pic>
        <p:nvPicPr>
          <p:cNvPr id="7" name="Рисунок 6">
            <a:extLst>
              <a:ext uri="{FF2B5EF4-FFF2-40B4-BE49-F238E27FC236}">
                <a16:creationId xmlns:a16="http://schemas.microsoft.com/office/drawing/2014/main" id="{0AFE48AE-64CB-4316-B1A4-D5FB1441BD08}"/>
              </a:ext>
            </a:extLst>
          </p:cNvPr>
          <p:cNvPicPr>
            <a:picLocks noChangeAspect="1"/>
          </p:cNvPicPr>
          <p:nvPr/>
        </p:nvPicPr>
        <p:blipFill>
          <a:blip r:embed="rId4"/>
          <a:stretch>
            <a:fillRect/>
          </a:stretch>
        </p:blipFill>
        <p:spPr>
          <a:xfrm>
            <a:off x="3231454" y="865939"/>
            <a:ext cx="2519641" cy="2704415"/>
          </a:xfrm>
          <a:prstGeom prst="rect">
            <a:avLst/>
          </a:prstGeom>
        </p:spPr>
      </p:pic>
      <p:graphicFrame>
        <p:nvGraphicFramePr>
          <p:cNvPr id="8" name="Объект 7">
            <a:extLst>
              <a:ext uri="{FF2B5EF4-FFF2-40B4-BE49-F238E27FC236}">
                <a16:creationId xmlns:a16="http://schemas.microsoft.com/office/drawing/2014/main" id="{2AB153B4-CBA8-4266-8AD3-80EB60980193}"/>
              </a:ext>
            </a:extLst>
          </p:cNvPr>
          <p:cNvGraphicFramePr>
            <a:graphicFrameLocks noChangeAspect="1"/>
          </p:cNvGraphicFramePr>
          <p:nvPr>
            <p:extLst>
              <p:ext uri="{D42A27DB-BD31-4B8C-83A1-F6EECF244321}">
                <p14:modId xmlns:p14="http://schemas.microsoft.com/office/powerpoint/2010/main" val="1931378866"/>
              </p:ext>
            </p:extLst>
          </p:nvPr>
        </p:nvGraphicFramePr>
        <p:xfrm>
          <a:off x="6286067" y="1456573"/>
          <a:ext cx="3643317" cy="1966562"/>
        </p:xfrm>
        <a:graphic>
          <a:graphicData uri="http://schemas.openxmlformats.org/presentationml/2006/ole">
            <mc:AlternateContent xmlns:mc="http://schemas.openxmlformats.org/markup-compatibility/2006">
              <mc:Choice xmlns:v="urn:schemas-microsoft-com:vml" Requires="v">
                <p:oleObj spid="_x0000_s23564" name="CS ChemDraw Drawing" r:id="rId5" imgW="1956524" imgH="1055876" progId="ChemDraw.Document.6.0">
                  <p:embed/>
                </p:oleObj>
              </mc:Choice>
              <mc:Fallback>
                <p:oleObj name="CS ChemDraw Drawing" r:id="rId5" imgW="1956524" imgH="1055876" progId="ChemDraw.Document.6.0">
                  <p:embed/>
                  <p:pic>
                    <p:nvPicPr>
                      <p:cNvPr id="0" name=""/>
                      <p:cNvPicPr/>
                      <p:nvPr/>
                    </p:nvPicPr>
                    <p:blipFill>
                      <a:blip r:embed="rId6"/>
                      <a:stretch>
                        <a:fillRect/>
                      </a:stretch>
                    </p:blipFill>
                    <p:spPr>
                      <a:xfrm>
                        <a:off x="6286067" y="1456573"/>
                        <a:ext cx="3643317" cy="1966562"/>
                      </a:xfrm>
                      <a:prstGeom prst="rect">
                        <a:avLst/>
                      </a:prstGeom>
                    </p:spPr>
                  </p:pic>
                </p:oleObj>
              </mc:Fallback>
            </mc:AlternateContent>
          </a:graphicData>
        </a:graphic>
      </p:graphicFrame>
      <p:sp>
        <p:nvSpPr>
          <p:cNvPr id="9" name="TextBox 8">
            <a:extLst>
              <a:ext uri="{FF2B5EF4-FFF2-40B4-BE49-F238E27FC236}">
                <a16:creationId xmlns:a16="http://schemas.microsoft.com/office/drawing/2014/main" id="{9FD5748B-5F96-49D5-BEEE-8E017E59F7B9}"/>
              </a:ext>
            </a:extLst>
          </p:cNvPr>
          <p:cNvSpPr txBox="1"/>
          <p:nvPr/>
        </p:nvSpPr>
        <p:spPr>
          <a:xfrm>
            <a:off x="56147" y="3047133"/>
            <a:ext cx="9994474" cy="523220"/>
          </a:xfrm>
          <a:prstGeom prst="rect">
            <a:avLst/>
          </a:prstGeom>
          <a:solidFill>
            <a:schemeClr val="bg1"/>
          </a:solidFill>
        </p:spPr>
        <p:txBody>
          <a:bodyPr wrap="square">
            <a:spAutoFit/>
          </a:bodyPr>
          <a:lstStyle/>
          <a:p>
            <a:r>
              <a:rPr lang="en-GB" sz="2800" b="1" dirty="0"/>
              <a:t>        </a:t>
            </a:r>
            <a:r>
              <a:rPr lang="uk-UA" sz="2800" b="1" dirty="0"/>
              <a:t>(</a:t>
            </a:r>
            <a:r>
              <a:rPr lang="en-GB" sz="2800" b="1" dirty="0"/>
              <a:t>a)		                 (b)			             (c)</a:t>
            </a:r>
            <a:endParaRPr lang="en-GB" sz="2800" dirty="0"/>
          </a:p>
        </p:txBody>
      </p:sp>
      <p:sp>
        <p:nvSpPr>
          <p:cNvPr id="11" name="TextBox 10">
            <a:extLst>
              <a:ext uri="{FF2B5EF4-FFF2-40B4-BE49-F238E27FC236}">
                <a16:creationId xmlns:a16="http://schemas.microsoft.com/office/drawing/2014/main" id="{83EA3D56-CFA8-446C-AF82-7311DC6BE853}"/>
              </a:ext>
            </a:extLst>
          </p:cNvPr>
          <p:cNvSpPr txBox="1"/>
          <p:nvPr/>
        </p:nvSpPr>
        <p:spPr>
          <a:xfrm>
            <a:off x="754981" y="5751547"/>
            <a:ext cx="6106026" cy="830997"/>
          </a:xfrm>
          <a:prstGeom prst="rect">
            <a:avLst/>
          </a:prstGeom>
          <a:noFill/>
        </p:spPr>
        <p:txBody>
          <a:bodyPr wrap="square">
            <a:spAutoFit/>
          </a:bodyPr>
          <a:lstStyle/>
          <a:p>
            <a:r>
              <a:rPr lang="en-GB" sz="2400" dirty="0">
                <a:hlinkClick r:id="rId7"/>
              </a:rPr>
              <a:t>https://forms.gle/9SBDcFX3YNUBga9f6</a:t>
            </a:r>
            <a:endParaRPr lang="uk-UA" sz="2400" dirty="0"/>
          </a:p>
          <a:p>
            <a:endParaRPr lang="en-GB" sz="2400" dirty="0"/>
          </a:p>
        </p:txBody>
      </p:sp>
      <p:pic>
        <p:nvPicPr>
          <p:cNvPr id="13" name="Рисунок 12">
            <a:extLst>
              <a:ext uri="{FF2B5EF4-FFF2-40B4-BE49-F238E27FC236}">
                <a16:creationId xmlns:a16="http://schemas.microsoft.com/office/drawing/2014/main" id="{9EDA3182-4DA0-47B9-B825-26A185144521}"/>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8314154" y="2923674"/>
            <a:ext cx="3432678" cy="3432678"/>
          </a:xfrm>
          <a:prstGeom prst="rect">
            <a:avLst/>
          </a:prstGeom>
        </p:spPr>
      </p:pic>
    </p:spTree>
    <p:extLst>
      <p:ext uri="{BB962C8B-B14F-4D97-AF65-F5344CB8AC3E}">
        <p14:creationId xmlns:p14="http://schemas.microsoft.com/office/powerpoint/2010/main" val="225817561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a:extLst>
              <a:ext uri="{FF2B5EF4-FFF2-40B4-BE49-F238E27FC236}">
                <a16:creationId xmlns:a16="http://schemas.microsoft.com/office/drawing/2014/main" id="{869FD7CA-E62B-445C-A8F7-9831111FDDD2}"/>
              </a:ext>
            </a:extLst>
          </p:cNvPr>
          <p:cNvSpPr>
            <a:spLocks noGrp="1"/>
          </p:cNvSpPr>
          <p:nvPr>
            <p:ph type="sldNum" sz="quarter" idx="12"/>
          </p:nvPr>
        </p:nvSpPr>
        <p:spPr/>
        <p:txBody>
          <a:bodyPr/>
          <a:lstStyle/>
          <a:p>
            <a:fld id="{93C419CB-0CF1-4F10-90F9-42551F8968FF}" type="slidenum">
              <a:rPr lang="en-GB" smtClean="0"/>
              <a:t>71</a:t>
            </a:fld>
            <a:endParaRPr lang="en-GB"/>
          </a:p>
        </p:txBody>
      </p:sp>
      <p:sp>
        <p:nvSpPr>
          <p:cNvPr id="3" name="Rectangle 2">
            <a:extLst>
              <a:ext uri="{FF2B5EF4-FFF2-40B4-BE49-F238E27FC236}">
                <a16:creationId xmlns:a16="http://schemas.microsoft.com/office/drawing/2014/main" id="{BA39C2BF-7555-410F-83D6-D65D1B664926}"/>
              </a:ext>
            </a:extLst>
          </p:cNvPr>
          <p:cNvSpPr txBox="1">
            <a:spLocks noChangeArrowheads="1"/>
          </p:cNvSpPr>
          <p:nvPr/>
        </p:nvSpPr>
        <p:spPr>
          <a:xfrm>
            <a:off x="190500" y="89902"/>
            <a:ext cx="5562600" cy="609600"/>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rmAutofit/>
          </a:bodyPr>
          <a:lstStyle>
            <a:lvl1pPr algn="l" defTabSz="914377" rtl="0" eaLnBrk="1" latinLnBrk="0" hangingPunct="1">
              <a:lnSpc>
                <a:spcPct val="90000"/>
              </a:lnSpc>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just">
              <a:lnSpc>
                <a:spcPct val="100000"/>
              </a:lnSpc>
              <a:spcBef>
                <a:spcPts val="600"/>
              </a:spcBef>
              <a:spcAft>
                <a:spcPts val="600"/>
              </a:spcAft>
            </a:pPr>
            <a:r>
              <a:rPr lang="en-US" altLang="en-US" sz="2800" b="1" dirty="0">
                <a:solidFill>
                  <a:srgbClr val="0066FF"/>
                </a:solidFill>
              </a:rPr>
              <a:t>Bridged Compounds: Bicyclic system</a:t>
            </a:r>
            <a:endParaRPr lang="en-US" altLang="en-US" sz="2800" b="1" dirty="0">
              <a:solidFill>
                <a:srgbClr val="000099"/>
              </a:solidFill>
            </a:endParaRPr>
          </a:p>
        </p:txBody>
      </p:sp>
      <p:sp>
        <p:nvSpPr>
          <p:cNvPr id="7" name="TextBox 6">
            <a:extLst>
              <a:ext uri="{FF2B5EF4-FFF2-40B4-BE49-F238E27FC236}">
                <a16:creationId xmlns:a16="http://schemas.microsoft.com/office/drawing/2014/main" id="{9C9523B2-E05E-4C28-9FF7-3F7F5DD674A0}"/>
              </a:ext>
            </a:extLst>
          </p:cNvPr>
          <p:cNvSpPr txBox="1"/>
          <p:nvPr/>
        </p:nvSpPr>
        <p:spPr>
          <a:xfrm>
            <a:off x="190500" y="920828"/>
            <a:ext cx="6094140" cy="646331"/>
          </a:xfrm>
          <a:prstGeom prst="rect">
            <a:avLst/>
          </a:prstGeom>
          <a:noFill/>
        </p:spPr>
        <p:txBody>
          <a:bodyPr wrap="square">
            <a:spAutoFit/>
          </a:bodyPr>
          <a:lstStyle/>
          <a:p>
            <a:r>
              <a:rPr lang="en-GB" dirty="0"/>
              <a:t>Bridged bicycles are named according to a unique system of their own</a:t>
            </a:r>
          </a:p>
        </p:txBody>
      </p:sp>
      <p:pic>
        <p:nvPicPr>
          <p:cNvPr id="9" name="Рисунок 8">
            <a:extLst>
              <a:ext uri="{FF2B5EF4-FFF2-40B4-BE49-F238E27FC236}">
                <a16:creationId xmlns:a16="http://schemas.microsoft.com/office/drawing/2014/main" id="{64B1312B-D152-4D49-A044-BC3F9E7246A2}"/>
              </a:ext>
            </a:extLst>
          </p:cNvPr>
          <p:cNvPicPr>
            <a:picLocks noChangeAspect="1"/>
          </p:cNvPicPr>
          <p:nvPr/>
        </p:nvPicPr>
        <p:blipFill>
          <a:blip r:embed="rId3"/>
          <a:stretch>
            <a:fillRect/>
          </a:stretch>
        </p:blipFill>
        <p:spPr>
          <a:xfrm>
            <a:off x="190499" y="1698515"/>
            <a:ext cx="7370771" cy="5022961"/>
          </a:xfrm>
          <a:prstGeom prst="rect">
            <a:avLst/>
          </a:prstGeom>
        </p:spPr>
      </p:pic>
      <p:pic>
        <p:nvPicPr>
          <p:cNvPr id="5" name="Рисунок 4">
            <a:extLst>
              <a:ext uri="{FF2B5EF4-FFF2-40B4-BE49-F238E27FC236}">
                <a16:creationId xmlns:a16="http://schemas.microsoft.com/office/drawing/2014/main" id="{B4DEF72B-7B88-429D-BDEC-B3D28A562512}"/>
              </a:ext>
            </a:extLst>
          </p:cNvPr>
          <p:cNvPicPr>
            <a:picLocks noChangeAspect="1"/>
          </p:cNvPicPr>
          <p:nvPr/>
        </p:nvPicPr>
        <p:blipFill>
          <a:blip r:embed="rId4"/>
          <a:stretch>
            <a:fillRect/>
          </a:stretch>
        </p:blipFill>
        <p:spPr>
          <a:xfrm>
            <a:off x="6096000" y="89902"/>
            <a:ext cx="5675041" cy="2214942"/>
          </a:xfrm>
          <a:prstGeom prst="rect">
            <a:avLst/>
          </a:prstGeom>
        </p:spPr>
      </p:pic>
      <p:pic>
        <p:nvPicPr>
          <p:cNvPr id="11" name="Рисунок 10">
            <a:extLst>
              <a:ext uri="{FF2B5EF4-FFF2-40B4-BE49-F238E27FC236}">
                <a16:creationId xmlns:a16="http://schemas.microsoft.com/office/drawing/2014/main" id="{6E94ACBA-13D7-4C32-8E67-E2EF460CF488}"/>
              </a:ext>
            </a:extLst>
          </p:cNvPr>
          <p:cNvPicPr>
            <a:picLocks noChangeAspect="1"/>
          </p:cNvPicPr>
          <p:nvPr/>
        </p:nvPicPr>
        <p:blipFill>
          <a:blip r:embed="rId5"/>
          <a:stretch>
            <a:fillRect/>
          </a:stretch>
        </p:blipFill>
        <p:spPr>
          <a:xfrm>
            <a:off x="6594764" y="5232000"/>
            <a:ext cx="5521921" cy="1536098"/>
          </a:xfrm>
          <a:prstGeom prst="rect">
            <a:avLst/>
          </a:prstGeom>
        </p:spPr>
      </p:pic>
    </p:spTree>
    <p:extLst>
      <p:ext uri="{BB962C8B-B14F-4D97-AF65-F5344CB8AC3E}">
        <p14:creationId xmlns:p14="http://schemas.microsoft.com/office/powerpoint/2010/main" val="289319050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a:extLst>
              <a:ext uri="{FF2B5EF4-FFF2-40B4-BE49-F238E27FC236}">
                <a16:creationId xmlns:a16="http://schemas.microsoft.com/office/drawing/2014/main" id="{0F42F38C-AD5F-4040-AD6F-B42FF2181E3A}"/>
              </a:ext>
            </a:extLst>
          </p:cNvPr>
          <p:cNvSpPr>
            <a:spLocks noGrp="1"/>
          </p:cNvSpPr>
          <p:nvPr>
            <p:ph type="sldNum" sz="quarter" idx="12"/>
          </p:nvPr>
        </p:nvSpPr>
        <p:spPr/>
        <p:txBody>
          <a:bodyPr/>
          <a:lstStyle/>
          <a:p>
            <a:fld id="{93C419CB-0CF1-4F10-90F9-42551F8968FF}" type="slidenum">
              <a:rPr lang="en-GB" smtClean="0"/>
              <a:t>72</a:t>
            </a:fld>
            <a:endParaRPr lang="en-GB"/>
          </a:p>
        </p:txBody>
      </p:sp>
      <p:sp>
        <p:nvSpPr>
          <p:cNvPr id="4" name="TextBox 3">
            <a:extLst>
              <a:ext uri="{FF2B5EF4-FFF2-40B4-BE49-F238E27FC236}">
                <a16:creationId xmlns:a16="http://schemas.microsoft.com/office/drawing/2014/main" id="{4CC49DF8-76C1-4FA5-B222-8C8F2F3336BF}"/>
              </a:ext>
            </a:extLst>
          </p:cNvPr>
          <p:cNvSpPr txBox="1"/>
          <p:nvPr/>
        </p:nvSpPr>
        <p:spPr>
          <a:xfrm>
            <a:off x="235527" y="480352"/>
            <a:ext cx="6096000" cy="369332"/>
          </a:xfrm>
          <a:prstGeom prst="rect">
            <a:avLst/>
          </a:prstGeom>
          <a:noFill/>
        </p:spPr>
        <p:txBody>
          <a:bodyPr wrap="square">
            <a:spAutoFit/>
          </a:bodyPr>
          <a:lstStyle/>
          <a:p>
            <a:r>
              <a:rPr lang="en-GB" b="1" dirty="0">
                <a:solidFill>
                  <a:srgbClr val="002060"/>
                </a:solidFill>
                <a:effectLst/>
                <a:latin typeface="Arial" panose="020B0604020202020204" pitchFamily="34" charset="0"/>
              </a:rPr>
              <a:t>A Few More Examples Of Bicyclic Molecules</a:t>
            </a:r>
            <a:endParaRPr lang="en-GB" b="1" dirty="0">
              <a:solidFill>
                <a:srgbClr val="002060"/>
              </a:solidFill>
            </a:endParaRPr>
          </a:p>
        </p:txBody>
      </p:sp>
      <p:pic>
        <p:nvPicPr>
          <p:cNvPr id="6" name="Рисунок 5">
            <a:extLst>
              <a:ext uri="{FF2B5EF4-FFF2-40B4-BE49-F238E27FC236}">
                <a16:creationId xmlns:a16="http://schemas.microsoft.com/office/drawing/2014/main" id="{1A06839F-B09B-465D-AA59-936C215E32C2}"/>
              </a:ext>
            </a:extLst>
          </p:cNvPr>
          <p:cNvPicPr>
            <a:picLocks noChangeAspect="1"/>
          </p:cNvPicPr>
          <p:nvPr/>
        </p:nvPicPr>
        <p:blipFill>
          <a:blip r:embed="rId2"/>
          <a:stretch>
            <a:fillRect/>
          </a:stretch>
        </p:blipFill>
        <p:spPr>
          <a:xfrm>
            <a:off x="410426" y="1015264"/>
            <a:ext cx="4868156" cy="4137933"/>
          </a:xfrm>
          <a:prstGeom prst="rect">
            <a:avLst/>
          </a:prstGeom>
        </p:spPr>
      </p:pic>
      <p:pic>
        <p:nvPicPr>
          <p:cNvPr id="8" name="Рисунок 7">
            <a:extLst>
              <a:ext uri="{FF2B5EF4-FFF2-40B4-BE49-F238E27FC236}">
                <a16:creationId xmlns:a16="http://schemas.microsoft.com/office/drawing/2014/main" id="{F135D471-3CE6-4423-98C8-06C43FB55CF7}"/>
              </a:ext>
            </a:extLst>
          </p:cNvPr>
          <p:cNvPicPr>
            <a:picLocks noChangeAspect="1"/>
          </p:cNvPicPr>
          <p:nvPr/>
        </p:nvPicPr>
        <p:blipFill>
          <a:blip r:embed="rId3"/>
          <a:stretch>
            <a:fillRect/>
          </a:stretch>
        </p:blipFill>
        <p:spPr>
          <a:xfrm>
            <a:off x="5953982" y="1175030"/>
            <a:ext cx="5313235" cy="2855864"/>
          </a:xfrm>
          <a:prstGeom prst="rect">
            <a:avLst/>
          </a:prstGeom>
        </p:spPr>
      </p:pic>
    </p:spTree>
    <p:extLst>
      <p:ext uri="{BB962C8B-B14F-4D97-AF65-F5344CB8AC3E}">
        <p14:creationId xmlns:p14="http://schemas.microsoft.com/office/powerpoint/2010/main" val="249363544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Rectangle 3">
            <a:extLst>
              <a:ext uri="{FF2B5EF4-FFF2-40B4-BE49-F238E27FC236}">
                <a16:creationId xmlns:a16="http://schemas.microsoft.com/office/drawing/2014/main" id="{A853274C-B50D-414F-A2AA-5DEA35E8B156}"/>
              </a:ext>
            </a:extLst>
          </p:cNvPr>
          <p:cNvSpPr>
            <a:spLocks noGrp="1" noChangeArrowheads="1"/>
          </p:cNvSpPr>
          <p:nvPr>
            <p:ph type="body" idx="1"/>
          </p:nvPr>
        </p:nvSpPr>
        <p:spPr>
          <a:xfrm>
            <a:off x="190500" y="828541"/>
            <a:ext cx="11285650" cy="4572000"/>
          </a:xfrm>
        </p:spPr>
        <p:txBody>
          <a:bodyPr>
            <a:normAutofit/>
          </a:bodyPr>
          <a:lstStyle/>
          <a:p>
            <a:pPr marL="0" indent="0" algn="just">
              <a:lnSpc>
                <a:spcPct val="100000"/>
              </a:lnSpc>
              <a:spcBef>
                <a:spcPts val="600"/>
              </a:spcBef>
              <a:spcAft>
                <a:spcPts val="600"/>
              </a:spcAft>
              <a:buNone/>
            </a:pPr>
            <a:r>
              <a:rPr lang="en-GB" sz="1800" b="1" dirty="0"/>
              <a:t>Bridged heterocyclic systems are named according to the rules for bridged hydrocarbons. The heteroatoms with their locants are prefixed to the name of bridged hydrocarbon.</a:t>
            </a:r>
            <a:endParaRPr lang="uk-UA" sz="1800" b="1" dirty="0"/>
          </a:p>
          <a:p>
            <a:pPr marL="342900" indent="-342900" algn="just">
              <a:lnSpc>
                <a:spcPct val="100000"/>
              </a:lnSpc>
              <a:spcBef>
                <a:spcPts val="600"/>
              </a:spcBef>
              <a:spcAft>
                <a:spcPts val="600"/>
              </a:spcAft>
              <a:buFont typeface="+mj-lt"/>
              <a:buAutoNum type="arabicPeriod"/>
            </a:pPr>
            <a:r>
              <a:rPr lang="en-US" altLang="en-US" sz="1800" dirty="0"/>
              <a:t>The bridged heterocyclic system consisting </a:t>
            </a:r>
            <a:r>
              <a:rPr lang="en-US" altLang="en-US" sz="1800" dirty="0">
                <a:solidFill>
                  <a:srgbClr val="00B0F0"/>
                </a:solidFill>
              </a:rPr>
              <a:t>of two or more common atoms is given the name of acyclic hydrocarbon with the same total number of carbon atoms, which is preceded by the prefix </a:t>
            </a:r>
            <a:r>
              <a:rPr lang="en-US" altLang="en-US" sz="1800" b="1" dirty="0">
                <a:solidFill>
                  <a:srgbClr val="00B0F0"/>
                </a:solidFill>
              </a:rPr>
              <a:t>‘</a:t>
            </a:r>
            <a:r>
              <a:rPr lang="en-US" altLang="en-US" sz="1800" b="1" dirty="0" err="1">
                <a:solidFill>
                  <a:srgbClr val="00B0F0"/>
                </a:solidFill>
              </a:rPr>
              <a:t>bicyclo</a:t>
            </a:r>
            <a:r>
              <a:rPr lang="en-US" altLang="en-US" sz="1800" b="1" dirty="0">
                <a:solidFill>
                  <a:srgbClr val="00B0F0"/>
                </a:solidFill>
              </a:rPr>
              <a:t>-’ </a:t>
            </a:r>
            <a:r>
              <a:rPr lang="en-US" altLang="en-US" sz="1800" dirty="0">
                <a:solidFill>
                  <a:srgbClr val="00B0F0"/>
                </a:solidFill>
              </a:rPr>
              <a:t>with the descending order of numbers separated by a </a:t>
            </a:r>
            <a:r>
              <a:rPr lang="en-GB" altLang="en-US" sz="1800" dirty="0">
                <a:solidFill>
                  <a:srgbClr val="00B0F0"/>
                </a:solidFill>
              </a:rPr>
              <a:t>dot </a:t>
            </a:r>
            <a:r>
              <a:rPr lang="en-US" altLang="en-US" sz="1800" dirty="0">
                <a:solidFill>
                  <a:srgbClr val="00B0F0"/>
                </a:solidFill>
              </a:rPr>
              <a:t>in square bracket indicating heteroatoms with their locants are prefixed to the name of bridged hydrocarbon.</a:t>
            </a:r>
          </a:p>
          <a:p>
            <a:pPr marL="342900" indent="-342900" algn="just">
              <a:lnSpc>
                <a:spcPct val="100000"/>
              </a:lnSpc>
              <a:spcBef>
                <a:spcPts val="600"/>
              </a:spcBef>
              <a:spcAft>
                <a:spcPts val="600"/>
              </a:spcAft>
              <a:buFont typeface="+mj-lt"/>
              <a:buAutoNum type="arabicPeriod"/>
            </a:pPr>
            <a:r>
              <a:rPr lang="en-US" altLang="en-US" sz="1800" dirty="0"/>
              <a:t>The numbering starts from one of the bridgehead atoms and proceeds through the longest possible route to the second bridgehead atom and then by the second longest route to the first bridgehead atom and finally by the shortest route from one bridgehead to the second bridgehead atom.</a:t>
            </a:r>
          </a:p>
          <a:p>
            <a:pPr marL="342900" indent="-342900" algn="just">
              <a:lnSpc>
                <a:spcPct val="100000"/>
              </a:lnSpc>
              <a:spcBef>
                <a:spcPts val="600"/>
              </a:spcBef>
              <a:spcAft>
                <a:spcPts val="600"/>
              </a:spcAft>
              <a:buFont typeface="+mj-lt"/>
              <a:buAutoNum type="arabicPeriod"/>
            </a:pPr>
            <a:r>
              <a:rPr lang="en-US" altLang="en-US" sz="1800" i="1" dirty="0"/>
              <a:t>The heteroatom is given a number as low as possible</a:t>
            </a:r>
            <a:r>
              <a:rPr lang="en-US" altLang="en-US" sz="1800" dirty="0"/>
              <a:t>.</a:t>
            </a:r>
          </a:p>
          <a:p>
            <a:pPr marL="342900" indent="-342900" algn="just">
              <a:lnSpc>
                <a:spcPct val="100000"/>
              </a:lnSpc>
              <a:spcBef>
                <a:spcPts val="600"/>
              </a:spcBef>
              <a:spcAft>
                <a:spcPts val="600"/>
              </a:spcAft>
              <a:buFont typeface="+mj-lt"/>
              <a:buAutoNum type="arabicPeriod"/>
            </a:pPr>
            <a:r>
              <a:rPr lang="en-US" altLang="en-US" sz="1800" dirty="0"/>
              <a:t>When there is a choice, between heteroatom and multiple bond, </a:t>
            </a:r>
            <a:r>
              <a:rPr lang="en-US" altLang="en-US" sz="1800" b="1" dirty="0"/>
              <a:t>the heteroatom is preferred.</a:t>
            </a:r>
          </a:p>
          <a:p>
            <a:pPr marL="342900" indent="-342900" algn="just">
              <a:lnSpc>
                <a:spcPct val="100000"/>
              </a:lnSpc>
              <a:spcBef>
                <a:spcPts val="600"/>
              </a:spcBef>
              <a:spcAft>
                <a:spcPts val="600"/>
              </a:spcAft>
              <a:buFont typeface="+mj-lt"/>
              <a:buAutoNum type="arabicPeriod"/>
            </a:pPr>
            <a:r>
              <a:rPr lang="en-US" altLang="en-US" sz="1800" dirty="0"/>
              <a:t>If there is a comparison between heteroatoms, the preference of numbering is given according to the table and their prefixes with locants are arranged alphabetically.</a:t>
            </a:r>
          </a:p>
        </p:txBody>
      </p:sp>
      <p:sp>
        <p:nvSpPr>
          <p:cNvPr id="4" name="Rectangle 2">
            <a:extLst>
              <a:ext uri="{FF2B5EF4-FFF2-40B4-BE49-F238E27FC236}">
                <a16:creationId xmlns:a16="http://schemas.microsoft.com/office/drawing/2014/main" id="{3ED4E36E-5FFE-4CAD-ACBB-83D3C25FF7F1}"/>
              </a:ext>
            </a:extLst>
          </p:cNvPr>
          <p:cNvSpPr txBox="1">
            <a:spLocks noChangeArrowheads="1"/>
          </p:cNvSpPr>
          <p:nvPr/>
        </p:nvSpPr>
        <p:spPr>
          <a:xfrm>
            <a:off x="190500" y="89902"/>
            <a:ext cx="5562600" cy="609600"/>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rmAutofit fontScale="92500"/>
          </a:bodyPr>
          <a:lstStyle>
            <a:lvl1pPr algn="l" defTabSz="914377" rtl="0" eaLnBrk="1" latinLnBrk="0" hangingPunct="1">
              <a:lnSpc>
                <a:spcPct val="90000"/>
              </a:lnSpc>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just">
              <a:lnSpc>
                <a:spcPct val="100000"/>
              </a:lnSpc>
              <a:spcBef>
                <a:spcPts val="600"/>
              </a:spcBef>
              <a:spcAft>
                <a:spcPts val="600"/>
              </a:spcAft>
            </a:pPr>
            <a:r>
              <a:rPr lang="en-US" altLang="en-US" sz="2800" b="1" dirty="0">
                <a:solidFill>
                  <a:srgbClr val="0066FF"/>
                </a:solidFill>
              </a:rPr>
              <a:t>Bridged Heterocycles: Bicyclic system</a:t>
            </a:r>
            <a:endParaRPr lang="en-US" altLang="en-US" sz="2800" b="1" dirty="0">
              <a:solidFill>
                <a:srgbClr val="000099"/>
              </a:solidFill>
            </a:endParaRPr>
          </a:p>
        </p:txBody>
      </p:sp>
      <p:sp>
        <p:nvSpPr>
          <p:cNvPr id="8" name="TextBox 7">
            <a:extLst>
              <a:ext uri="{FF2B5EF4-FFF2-40B4-BE49-F238E27FC236}">
                <a16:creationId xmlns:a16="http://schemas.microsoft.com/office/drawing/2014/main" id="{E2891F19-1B6E-4679-9FDE-96880B09FEEF}"/>
              </a:ext>
            </a:extLst>
          </p:cNvPr>
          <p:cNvSpPr txBox="1"/>
          <p:nvPr/>
        </p:nvSpPr>
        <p:spPr>
          <a:xfrm>
            <a:off x="6260206" y="5344914"/>
            <a:ext cx="1279837" cy="369332"/>
          </a:xfrm>
          <a:prstGeom prst="rect">
            <a:avLst/>
          </a:prstGeom>
          <a:noFill/>
        </p:spPr>
        <p:txBody>
          <a:bodyPr wrap="square">
            <a:spAutoFit/>
          </a:bodyPr>
          <a:lstStyle/>
          <a:p>
            <a:r>
              <a:rPr lang="en-US" altLang="en-US" b="1" dirty="0">
                <a:solidFill>
                  <a:srgbClr val="00B0F0"/>
                </a:solidFill>
              </a:rPr>
              <a:t>Example:</a:t>
            </a:r>
            <a:endParaRPr lang="en-GB" b="1" dirty="0">
              <a:solidFill>
                <a:srgbClr val="00B0F0"/>
              </a:solidFill>
            </a:endParaRPr>
          </a:p>
        </p:txBody>
      </p:sp>
      <p:pic>
        <p:nvPicPr>
          <p:cNvPr id="9" name="Picture 4">
            <a:extLst>
              <a:ext uri="{FF2B5EF4-FFF2-40B4-BE49-F238E27FC236}">
                <a16:creationId xmlns:a16="http://schemas.microsoft.com/office/drawing/2014/main" id="{FC24013A-8A3D-4237-AB0F-5B01682BB0D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7311779" y="5092550"/>
            <a:ext cx="2552835" cy="1605192"/>
          </a:xfrm>
          <a:prstGeom prst="rect">
            <a:avLst/>
          </a:prstGeom>
          <a:noFill/>
          <a:ln/>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a:extLst>
              <a:ext uri="{FF2B5EF4-FFF2-40B4-BE49-F238E27FC236}">
                <a16:creationId xmlns:a16="http://schemas.microsoft.com/office/drawing/2014/main" id="{742A35FD-94CF-4730-9469-A03CB9C438A2}"/>
              </a:ext>
            </a:extLst>
          </p:cNvPr>
          <p:cNvSpPr>
            <a:spLocks noGrp="1"/>
          </p:cNvSpPr>
          <p:nvPr>
            <p:ph type="sldNum" sz="quarter" idx="12"/>
          </p:nvPr>
        </p:nvSpPr>
        <p:spPr/>
        <p:txBody>
          <a:bodyPr/>
          <a:lstStyle/>
          <a:p>
            <a:fld id="{93C419CB-0CF1-4F10-90F9-42551F8968FF}" type="slidenum">
              <a:rPr lang="en-GB" smtClean="0"/>
              <a:t>74</a:t>
            </a:fld>
            <a:endParaRPr lang="en-GB"/>
          </a:p>
        </p:txBody>
      </p:sp>
      <p:sp>
        <p:nvSpPr>
          <p:cNvPr id="4" name="TextBox 3">
            <a:extLst>
              <a:ext uri="{FF2B5EF4-FFF2-40B4-BE49-F238E27FC236}">
                <a16:creationId xmlns:a16="http://schemas.microsoft.com/office/drawing/2014/main" id="{4B95F438-17A1-4D04-AB7F-7E74BBA670D3}"/>
              </a:ext>
            </a:extLst>
          </p:cNvPr>
          <p:cNvSpPr txBox="1"/>
          <p:nvPr/>
        </p:nvSpPr>
        <p:spPr>
          <a:xfrm>
            <a:off x="400855" y="249584"/>
            <a:ext cx="11157934" cy="1508105"/>
          </a:xfrm>
          <a:prstGeom prst="rect">
            <a:avLst/>
          </a:prstGeom>
          <a:noFill/>
        </p:spPr>
        <p:txBody>
          <a:bodyPr wrap="square">
            <a:spAutoFit/>
          </a:bodyPr>
          <a:lstStyle/>
          <a:p>
            <a:pPr algn="just">
              <a:spcBef>
                <a:spcPts val="600"/>
              </a:spcBef>
              <a:spcAft>
                <a:spcPts val="600"/>
              </a:spcAft>
            </a:pPr>
            <a:r>
              <a:rPr lang="en-GB" dirty="0"/>
              <a:t>The nomenclature of such a structure consists of the </a:t>
            </a:r>
            <a:r>
              <a:rPr lang="en-GB" b="1" dirty="0">
                <a:solidFill>
                  <a:srgbClr val="00B0F0"/>
                </a:solidFill>
              </a:rPr>
              <a:t>prefix </a:t>
            </a:r>
            <a:r>
              <a:rPr lang="en-GB" b="1" dirty="0" err="1">
                <a:solidFill>
                  <a:srgbClr val="00B0F0"/>
                </a:solidFill>
              </a:rPr>
              <a:t>bicyclo</a:t>
            </a:r>
            <a:r>
              <a:rPr lang="en-GB" dirty="0"/>
              <a:t>, followed in square brackets by the number of carbon atoms separating the bridgeheads by the three possible routes in descending numerical order. </a:t>
            </a:r>
          </a:p>
          <a:p>
            <a:pPr algn="just">
              <a:spcBef>
                <a:spcPts val="600"/>
              </a:spcBef>
              <a:spcAft>
                <a:spcPts val="600"/>
              </a:spcAft>
            </a:pPr>
            <a:r>
              <a:rPr lang="en-GB" dirty="0"/>
              <a:t>This is followed by the alkane containing the same number of carbon as the whole bicyclic heterocyclic skeleton. </a:t>
            </a:r>
          </a:p>
          <a:p>
            <a:pPr algn="just">
              <a:spcBef>
                <a:spcPts val="600"/>
              </a:spcBef>
              <a:spcAft>
                <a:spcPts val="600"/>
              </a:spcAft>
            </a:pPr>
            <a:r>
              <a:rPr lang="en-GB" dirty="0"/>
              <a:t>The following examples illustrate the use of this rule.</a:t>
            </a:r>
          </a:p>
        </p:txBody>
      </p:sp>
      <p:pic>
        <p:nvPicPr>
          <p:cNvPr id="6" name="Рисунок 5">
            <a:extLst>
              <a:ext uri="{FF2B5EF4-FFF2-40B4-BE49-F238E27FC236}">
                <a16:creationId xmlns:a16="http://schemas.microsoft.com/office/drawing/2014/main" id="{36FFCA88-C997-4D68-9845-14A6F9CFF317}"/>
              </a:ext>
            </a:extLst>
          </p:cNvPr>
          <p:cNvPicPr>
            <a:picLocks noChangeAspect="1"/>
          </p:cNvPicPr>
          <p:nvPr/>
        </p:nvPicPr>
        <p:blipFill>
          <a:blip r:embed="rId2"/>
          <a:stretch>
            <a:fillRect/>
          </a:stretch>
        </p:blipFill>
        <p:spPr>
          <a:xfrm>
            <a:off x="1841679" y="1712612"/>
            <a:ext cx="7427388" cy="4850727"/>
          </a:xfrm>
          <a:prstGeom prst="rect">
            <a:avLst/>
          </a:prstGeom>
        </p:spPr>
      </p:pic>
    </p:spTree>
    <p:extLst>
      <p:ext uri="{BB962C8B-B14F-4D97-AF65-F5344CB8AC3E}">
        <p14:creationId xmlns:p14="http://schemas.microsoft.com/office/powerpoint/2010/main" val="227494468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a:extLst>
              <a:ext uri="{FF2B5EF4-FFF2-40B4-BE49-F238E27FC236}">
                <a16:creationId xmlns:a16="http://schemas.microsoft.com/office/drawing/2014/main" id="{5B0B7B09-5DBD-4C24-9247-667178C1D219}"/>
              </a:ext>
            </a:extLst>
          </p:cNvPr>
          <p:cNvSpPr>
            <a:spLocks noGrp="1"/>
          </p:cNvSpPr>
          <p:nvPr>
            <p:ph type="sldNum" sz="quarter" idx="12"/>
          </p:nvPr>
        </p:nvSpPr>
        <p:spPr/>
        <p:txBody>
          <a:bodyPr/>
          <a:lstStyle/>
          <a:p>
            <a:fld id="{93C419CB-0CF1-4F10-90F9-42551F8968FF}" type="slidenum">
              <a:rPr lang="en-GB" smtClean="0"/>
              <a:t>75</a:t>
            </a:fld>
            <a:endParaRPr lang="en-GB"/>
          </a:p>
        </p:txBody>
      </p:sp>
      <p:pic>
        <p:nvPicPr>
          <p:cNvPr id="4" name="Рисунок 3">
            <a:extLst>
              <a:ext uri="{FF2B5EF4-FFF2-40B4-BE49-F238E27FC236}">
                <a16:creationId xmlns:a16="http://schemas.microsoft.com/office/drawing/2014/main" id="{D9392197-B4F7-432B-B324-D7207A36A166}"/>
              </a:ext>
            </a:extLst>
          </p:cNvPr>
          <p:cNvPicPr>
            <a:picLocks noChangeAspect="1"/>
          </p:cNvPicPr>
          <p:nvPr/>
        </p:nvPicPr>
        <p:blipFill>
          <a:blip r:embed="rId2"/>
          <a:stretch>
            <a:fillRect/>
          </a:stretch>
        </p:blipFill>
        <p:spPr>
          <a:xfrm>
            <a:off x="3362326" y="189425"/>
            <a:ext cx="4377266" cy="6668575"/>
          </a:xfrm>
          <a:prstGeom prst="rect">
            <a:avLst/>
          </a:prstGeom>
        </p:spPr>
      </p:pic>
    </p:spTree>
    <p:extLst>
      <p:ext uri="{BB962C8B-B14F-4D97-AF65-F5344CB8AC3E}">
        <p14:creationId xmlns:p14="http://schemas.microsoft.com/office/powerpoint/2010/main" val="268675357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a:extLst>
              <a:ext uri="{FF2B5EF4-FFF2-40B4-BE49-F238E27FC236}">
                <a16:creationId xmlns:a16="http://schemas.microsoft.com/office/drawing/2014/main" id="{7CD695B8-E1A1-44E0-9FE1-0AF58396C510}"/>
              </a:ext>
            </a:extLst>
          </p:cNvPr>
          <p:cNvSpPr>
            <a:spLocks noGrp="1"/>
          </p:cNvSpPr>
          <p:nvPr>
            <p:ph type="sldNum" sz="quarter" idx="12"/>
          </p:nvPr>
        </p:nvSpPr>
        <p:spPr/>
        <p:txBody>
          <a:bodyPr/>
          <a:lstStyle/>
          <a:p>
            <a:fld id="{93C419CB-0CF1-4F10-90F9-42551F8968FF}" type="slidenum">
              <a:rPr lang="en-GB" smtClean="0"/>
              <a:t>76</a:t>
            </a:fld>
            <a:endParaRPr lang="en-GB"/>
          </a:p>
        </p:txBody>
      </p:sp>
      <p:sp>
        <p:nvSpPr>
          <p:cNvPr id="3" name="TextBox 2">
            <a:extLst>
              <a:ext uri="{FF2B5EF4-FFF2-40B4-BE49-F238E27FC236}">
                <a16:creationId xmlns:a16="http://schemas.microsoft.com/office/drawing/2014/main" id="{15FD8501-339A-4DB7-B5BC-56F7409EE26F}"/>
              </a:ext>
            </a:extLst>
          </p:cNvPr>
          <p:cNvSpPr txBox="1"/>
          <p:nvPr/>
        </p:nvSpPr>
        <p:spPr>
          <a:xfrm>
            <a:off x="353988" y="136523"/>
            <a:ext cx="11647511" cy="584775"/>
          </a:xfrm>
          <a:prstGeom prst="rect">
            <a:avLst/>
          </a:prstGeom>
          <a:noFill/>
        </p:spPr>
        <p:txBody>
          <a:bodyPr wrap="square">
            <a:spAutoFit/>
          </a:bodyPr>
          <a:lstStyle/>
          <a:p>
            <a:r>
              <a:rPr lang="en-GB" sz="3200" b="1" dirty="0"/>
              <a:t>Task </a:t>
            </a:r>
            <a:r>
              <a:rPr lang="uk-UA" sz="3200" b="1" dirty="0"/>
              <a:t>7</a:t>
            </a:r>
            <a:r>
              <a:rPr lang="en-GB" sz="3200" b="1" dirty="0"/>
              <a:t>. </a:t>
            </a:r>
            <a:r>
              <a:rPr lang="en-GB" sz="3200" dirty="0"/>
              <a:t>Name the following compound by replacement nomenclature </a:t>
            </a:r>
            <a:endParaRPr lang="en-GB" sz="3200" b="1" dirty="0"/>
          </a:p>
        </p:txBody>
      </p:sp>
      <p:graphicFrame>
        <p:nvGraphicFramePr>
          <p:cNvPr id="4" name="Объект 3">
            <a:extLst>
              <a:ext uri="{FF2B5EF4-FFF2-40B4-BE49-F238E27FC236}">
                <a16:creationId xmlns:a16="http://schemas.microsoft.com/office/drawing/2014/main" id="{8EC3F1FD-9A38-4CC3-B90F-E8014ECE4570}"/>
              </a:ext>
            </a:extLst>
          </p:cNvPr>
          <p:cNvGraphicFramePr>
            <a:graphicFrameLocks noChangeAspect="1"/>
          </p:cNvGraphicFramePr>
          <p:nvPr>
            <p:extLst>
              <p:ext uri="{D42A27DB-BD31-4B8C-83A1-F6EECF244321}">
                <p14:modId xmlns:p14="http://schemas.microsoft.com/office/powerpoint/2010/main" val="2311640668"/>
              </p:ext>
            </p:extLst>
          </p:nvPr>
        </p:nvGraphicFramePr>
        <p:xfrm>
          <a:off x="479955" y="981075"/>
          <a:ext cx="11101329" cy="2286000"/>
        </p:xfrm>
        <a:graphic>
          <a:graphicData uri="http://schemas.openxmlformats.org/presentationml/2006/ole">
            <mc:AlternateContent xmlns:mc="http://schemas.openxmlformats.org/markup-compatibility/2006">
              <mc:Choice xmlns:v="urn:schemas-microsoft-com:vml" Requires="v">
                <p:oleObj spid="_x0000_s24584" name="CS ChemDraw Drawing" r:id="rId3" imgW="6005535" imgH="1237224" progId="ChemDraw.Document.6.0">
                  <p:embed/>
                </p:oleObj>
              </mc:Choice>
              <mc:Fallback>
                <p:oleObj name="CS ChemDraw Drawing" r:id="rId3" imgW="6005535" imgH="1237224" progId="ChemDraw.Document.6.0">
                  <p:embed/>
                  <p:pic>
                    <p:nvPicPr>
                      <p:cNvPr id="0" name=""/>
                      <p:cNvPicPr/>
                      <p:nvPr/>
                    </p:nvPicPr>
                    <p:blipFill>
                      <a:blip r:embed="rId4"/>
                      <a:stretch>
                        <a:fillRect/>
                      </a:stretch>
                    </p:blipFill>
                    <p:spPr>
                      <a:xfrm>
                        <a:off x="479955" y="981075"/>
                        <a:ext cx="11101329" cy="2286000"/>
                      </a:xfrm>
                      <a:prstGeom prst="rect">
                        <a:avLst/>
                      </a:prstGeom>
                    </p:spPr>
                  </p:pic>
                </p:oleObj>
              </mc:Fallback>
            </mc:AlternateContent>
          </a:graphicData>
        </a:graphic>
      </p:graphicFrame>
      <p:sp>
        <p:nvSpPr>
          <p:cNvPr id="5" name="TextBox 4">
            <a:extLst>
              <a:ext uri="{FF2B5EF4-FFF2-40B4-BE49-F238E27FC236}">
                <a16:creationId xmlns:a16="http://schemas.microsoft.com/office/drawing/2014/main" id="{A5A09B19-F881-42C5-AA44-614218C0F31F}"/>
              </a:ext>
            </a:extLst>
          </p:cNvPr>
          <p:cNvSpPr txBox="1"/>
          <p:nvPr/>
        </p:nvSpPr>
        <p:spPr>
          <a:xfrm>
            <a:off x="512778" y="2743855"/>
            <a:ext cx="11329929" cy="523220"/>
          </a:xfrm>
          <a:prstGeom prst="rect">
            <a:avLst/>
          </a:prstGeom>
          <a:solidFill>
            <a:schemeClr val="bg1"/>
          </a:solidFill>
        </p:spPr>
        <p:txBody>
          <a:bodyPr wrap="square">
            <a:spAutoFit/>
          </a:bodyPr>
          <a:lstStyle/>
          <a:p>
            <a:r>
              <a:rPr lang="en-GB" sz="2800" b="1" dirty="0"/>
              <a:t>        </a:t>
            </a:r>
            <a:r>
              <a:rPr lang="uk-UA" sz="2800" b="1" dirty="0"/>
              <a:t>(</a:t>
            </a:r>
            <a:r>
              <a:rPr lang="en-GB" sz="2800" b="1" dirty="0"/>
              <a:t>a)		                 (b)			             (c)</a:t>
            </a:r>
            <a:endParaRPr lang="en-GB" sz="2800" dirty="0"/>
          </a:p>
        </p:txBody>
      </p:sp>
      <p:sp>
        <p:nvSpPr>
          <p:cNvPr id="7" name="TextBox 6">
            <a:extLst>
              <a:ext uri="{FF2B5EF4-FFF2-40B4-BE49-F238E27FC236}">
                <a16:creationId xmlns:a16="http://schemas.microsoft.com/office/drawing/2014/main" id="{62AF40E7-9E51-40C5-8F54-20E571B6859D}"/>
              </a:ext>
            </a:extLst>
          </p:cNvPr>
          <p:cNvSpPr txBox="1"/>
          <p:nvPr/>
        </p:nvSpPr>
        <p:spPr>
          <a:xfrm>
            <a:off x="512778" y="5029855"/>
            <a:ext cx="6100762" cy="830997"/>
          </a:xfrm>
          <a:prstGeom prst="rect">
            <a:avLst/>
          </a:prstGeom>
          <a:noFill/>
        </p:spPr>
        <p:txBody>
          <a:bodyPr wrap="square">
            <a:spAutoFit/>
          </a:bodyPr>
          <a:lstStyle/>
          <a:p>
            <a:r>
              <a:rPr lang="en-GB" sz="2400" dirty="0">
                <a:hlinkClick r:id="rId5"/>
              </a:rPr>
              <a:t>https://forms.gle/A5ZQ9JtVcemAEzBf8</a:t>
            </a:r>
            <a:endParaRPr lang="en-GB" sz="2400" dirty="0"/>
          </a:p>
          <a:p>
            <a:endParaRPr lang="en-GB" sz="2400" dirty="0"/>
          </a:p>
        </p:txBody>
      </p:sp>
      <p:pic>
        <p:nvPicPr>
          <p:cNvPr id="9" name="Рисунок 8">
            <a:extLst>
              <a:ext uri="{FF2B5EF4-FFF2-40B4-BE49-F238E27FC236}">
                <a16:creationId xmlns:a16="http://schemas.microsoft.com/office/drawing/2014/main" id="{498C4BA8-40F5-41DA-8401-D0DE964EC8C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683095" y="3086100"/>
            <a:ext cx="3028950" cy="3028950"/>
          </a:xfrm>
          <a:prstGeom prst="rect">
            <a:avLst/>
          </a:prstGeom>
        </p:spPr>
      </p:pic>
    </p:spTree>
    <p:extLst>
      <p:ext uri="{BB962C8B-B14F-4D97-AF65-F5344CB8AC3E}">
        <p14:creationId xmlns:p14="http://schemas.microsoft.com/office/powerpoint/2010/main" val="261940355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1" name="Rectangle 3">
            <a:extLst>
              <a:ext uri="{FF2B5EF4-FFF2-40B4-BE49-F238E27FC236}">
                <a16:creationId xmlns:a16="http://schemas.microsoft.com/office/drawing/2014/main" id="{CA6E7270-A224-41A4-B50B-C1E7038FC74A}"/>
              </a:ext>
            </a:extLst>
          </p:cNvPr>
          <p:cNvSpPr>
            <a:spLocks noGrp="1" noChangeArrowheads="1"/>
          </p:cNvSpPr>
          <p:nvPr>
            <p:ph type="body" idx="1"/>
          </p:nvPr>
        </p:nvSpPr>
        <p:spPr>
          <a:xfrm>
            <a:off x="190500" y="813516"/>
            <a:ext cx="11629623" cy="5029200"/>
          </a:xfrm>
        </p:spPr>
        <p:txBody>
          <a:bodyPr>
            <a:normAutofit/>
          </a:bodyPr>
          <a:lstStyle/>
          <a:p>
            <a:pPr marL="0" indent="0" algn="just">
              <a:lnSpc>
                <a:spcPct val="100000"/>
              </a:lnSpc>
              <a:spcBef>
                <a:spcPts val="600"/>
              </a:spcBef>
              <a:spcAft>
                <a:spcPts val="600"/>
              </a:spcAft>
              <a:buNone/>
            </a:pPr>
            <a:r>
              <a:rPr lang="en-US" altLang="en-US" sz="1800" dirty="0"/>
              <a:t>1. Polycyclic bridged heterocycles are also named according to the rules adopted for bicyclic bridged heterocycles. </a:t>
            </a:r>
            <a:br>
              <a:rPr lang="en-US" altLang="en-US" sz="1800" dirty="0"/>
            </a:br>
            <a:r>
              <a:rPr lang="en-US" altLang="en-US" sz="1800" dirty="0"/>
              <a:t>However, the prefix </a:t>
            </a:r>
            <a:r>
              <a:rPr lang="en-US" altLang="en-US" sz="1800" dirty="0" err="1"/>
              <a:t>tricyclo</a:t>
            </a:r>
            <a:r>
              <a:rPr lang="en-US" altLang="en-US" sz="1800" dirty="0"/>
              <a:t>-, tetracyclo-, etc., depending on the number of rings is used.</a:t>
            </a:r>
          </a:p>
          <a:p>
            <a:pPr marL="0" indent="0" algn="just">
              <a:lnSpc>
                <a:spcPct val="100000"/>
              </a:lnSpc>
              <a:spcBef>
                <a:spcPts val="600"/>
              </a:spcBef>
              <a:spcAft>
                <a:spcPts val="600"/>
              </a:spcAft>
              <a:buNone/>
            </a:pPr>
            <a:r>
              <a:rPr lang="en-US" altLang="en-US" sz="1800" dirty="0"/>
              <a:t>2. The prefix (cyclo-) is followed by the numbers separated by full stops in square brackets in decreasing order indicating:</a:t>
            </a:r>
          </a:p>
          <a:p>
            <a:pPr marL="400050" indent="-400050" algn="just">
              <a:lnSpc>
                <a:spcPct val="100000"/>
              </a:lnSpc>
              <a:spcBef>
                <a:spcPts val="600"/>
              </a:spcBef>
              <a:spcAft>
                <a:spcPts val="600"/>
              </a:spcAft>
              <a:buFont typeface="+mj-lt"/>
              <a:buAutoNum type="romanUcPeriod"/>
            </a:pPr>
            <a:r>
              <a:rPr lang="en-US" altLang="en-US" sz="1800" dirty="0"/>
              <a:t>The number of atoms or two branches of the main ring containing a maximum number of atoms.</a:t>
            </a:r>
          </a:p>
          <a:p>
            <a:pPr marL="400050" indent="-400050" algn="just">
              <a:lnSpc>
                <a:spcPct val="100000"/>
              </a:lnSpc>
              <a:spcBef>
                <a:spcPts val="600"/>
              </a:spcBef>
              <a:spcAft>
                <a:spcPts val="600"/>
              </a:spcAft>
              <a:buFont typeface="+mj-lt"/>
              <a:buAutoNum type="romanUcPeriod"/>
            </a:pPr>
            <a:r>
              <a:rPr lang="en-US" altLang="en-US" sz="1800" dirty="0"/>
              <a:t>The number of atoms in the main bridge excluding bridgehead atoms and  </a:t>
            </a:r>
          </a:p>
          <a:p>
            <a:pPr marL="400050" indent="-400050" algn="just">
              <a:lnSpc>
                <a:spcPct val="100000"/>
              </a:lnSpc>
              <a:spcBef>
                <a:spcPts val="600"/>
              </a:spcBef>
              <a:spcAft>
                <a:spcPts val="600"/>
              </a:spcAft>
              <a:buFont typeface="+mj-lt"/>
              <a:buAutoNum type="romanUcPeriod"/>
            </a:pPr>
            <a:r>
              <a:rPr lang="en-US" altLang="en-US" sz="1800" dirty="0"/>
              <a:t> The number of atoms in secondary bridges</a:t>
            </a:r>
          </a:p>
          <a:p>
            <a:pPr marL="0" indent="0" algn="just">
              <a:lnSpc>
                <a:spcPct val="100000"/>
              </a:lnSpc>
              <a:spcBef>
                <a:spcPts val="600"/>
              </a:spcBef>
              <a:spcAft>
                <a:spcPts val="600"/>
              </a:spcAft>
              <a:buNone/>
            </a:pPr>
            <a:r>
              <a:rPr lang="en-US" altLang="en-US" sz="1800" dirty="0"/>
              <a:t>3. The location of each secondary bridge (the position of bridgehead atoms involved in the secondary bridges) is indicated by superscripts to the numbers indicating its length and is separated by a comma.</a:t>
            </a:r>
          </a:p>
          <a:p>
            <a:pPr marL="0" indent="0" algn="just">
              <a:lnSpc>
                <a:spcPct val="100000"/>
              </a:lnSpc>
              <a:spcBef>
                <a:spcPts val="600"/>
              </a:spcBef>
              <a:spcAft>
                <a:spcPts val="600"/>
              </a:spcAft>
              <a:buNone/>
            </a:pPr>
            <a:r>
              <a:rPr lang="en-US" altLang="en-US" sz="1800" dirty="0"/>
              <a:t>4. The prefix (</a:t>
            </a:r>
            <a:r>
              <a:rPr lang="en-US" altLang="en-US" sz="1800" dirty="0" err="1"/>
              <a:t>tricyclo</a:t>
            </a:r>
            <a:r>
              <a:rPr lang="en-US" altLang="en-US" sz="1800" dirty="0"/>
              <a:t>-, etc.,) with numbers separated by a full stop in a square bracket is followed by the name of acyclic hydrocarbon if the carbon atoms are equivalent to the total number of atoms in the bridged heterocyclic system.</a:t>
            </a:r>
          </a:p>
          <a:p>
            <a:pPr marL="0" indent="0" algn="just">
              <a:lnSpc>
                <a:spcPct val="100000"/>
              </a:lnSpc>
              <a:spcBef>
                <a:spcPts val="600"/>
              </a:spcBef>
              <a:spcAft>
                <a:spcPts val="600"/>
              </a:spcAft>
              <a:buNone/>
            </a:pPr>
            <a:r>
              <a:rPr lang="en-US" altLang="en-US" sz="1800" dirty="0"/>
              <a:t>5. The prefixes for the heteroatoms and the substituents with their positions are indicated and placed as usual. </a:t>
            </a:r>
          </a:p>
        </p:txBody>
      </p:sp>
      <p:sp>
        <p:nvSpPr>
          <p:cNvPr id="4" name="Rectangle 2">
            <a:extLst>
              <a:ext uri="{FF2B5EF4-FFF2-40B4-BE49-F238E27FC236}">
                <a16:creationId xmlns:a16="http://schemas.microsoft.com/office/drawing/2014/main" id="{EAEA9144-3BF2-4642-A18D-67243278F060}"/>
              </a:ext>
            </a:extLst>
          </p:cNvPr>
          <p:cNvSpPr txBox="1">
            <a:spLocks noChangeArrowheads="1"/>
          </p:cNvSpPr>
          <p:nvPr/>
        </p:nvSpPr>
        <p:spPr>
          <a:xfrm>
            <a:off x="190500" y="89902"/>
            <a:ext cx="5562600" cy="609600"/>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rmAutofit fontScale="85000" lnSpcReduction="10000"/>
          </a:bodyPr>
          <a:lstStyle>
            <a:lvl1pPr algn="l" defTabSz="914377" rtl="0" eaLnBrk="1" latinLnBrk="0" hangingPunct="1">
              <a:lnSpc>
                <a:spcPct val="90000"/>
              </a:lnSpc>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just">
              <a:lnSpc>
                <a:spcPct val="100000"/>
              </a:lnSpc>
              <a:spcBef>
                <a:spcPts val="600"/>
              </a:spcBef>
              <a:spcAft>
                <a:spcPts val="600"/>
              </a:spcAft>
            </a:pPr>
            <a:r>
              <a:rPr lang="en-US" altLang="en-US" sz="2800" b="1" dirty="0">
                <a:solidFill>
                  <a:srgbClr val="0066FF"/>
                </a:solidFill>
              </a:rPr>
              <a:t>Bridged Heterocycles: Polycyclic System</a:t>
            </a:r>
            <a:endParaRPr lang="en-US" altLang="en-US" sz="2800" b="1" dirty="0">
              <a:solidFill>
                <a:srgbClr val="000099"/>
              </a:solidFill>
            </a:endParaRPr>
          </a:p>
        </p:txBody>
      </p:sp>
      <p:sp>
        <p:nvSpPr>
          <p:cNvPr id="7" name="TextBox 6">
            <a:extLst>
              <a:ext uri="{FF2B5EF4-FFF2-40B4-BE49-F238E27FC236}">
                <a16:creationId xmlns:a16="http://schemas.microsoft.com/office/drawing/2014/main" id="{C355B15C-11DE-4D6A-BF17-4DB241633049}"/>
              </a:ext>
            </a:extLst>
          </p:cNvPr>
          <p:cNvSpPr txBox="1"/>
          <p:nvPr/>
        </p:nvSpPr>
        <p:spPr>
          <a:xfrm>
            <a:off x="2764129" y="5134239"/>
            <a:ext cx="1279837" cy="369332"/>
          </a:xfrm>
          <a:prstGeom prst="rect">
            <a:avLst/>
          </a:prstGeom>
          <a:noFill/>
        </p:spPr>
        <p:txBody>
          <a:bodyPr wrap="square">
            <a:spAutoFit/>
          </a:bodyPr>
          <a:lstStyle/>
          <a:p>
            <a:r>
              <a:rPr lang="en-US" altLang="en-US" b="1" dirty="0">
                <a:solidFill>
                  <a:srgbClr val="00B0F0"/>
                </a:solidFill>
              </a:rPr>
              <a:t>Example:</a:t>
            </a:r>
            <a:endParaRPr lang="en-GB" b="1" dirty="0">
              <a:solidFill>
                <a:srgbClr val="00B0F0"/>
              </a:solidFill>
            </a:endParaRPr>
          </a:p>
        </p:txBody>
      </p:sp>
      <p:pic>
        <p:nvPicPr>
          <p:cNvPr id="5" name="Рисунок 4">
            <a:extLst>
              <a:ext uri="{FF2B5EF4-FFF2-40B4-BE49-F238E27FC236}">
                <a16:creationId xmlns:a16="http://schemas.microsoft.com/office/drawing/2014/main" id="{889437A8-587D-4B15-92A9-DD75DC7C64E6}"/>
              </a:ext>
            </a:extLst>
          </p:cNvPr>
          <p:cNvPicPr>
            <a:picLocks noChangeAspect="1"/>
          </p:cNvPicPr>
          <p:nvPr/>
        </p:nvPicPr>
        <p:blipFill>
          <a:blip r:embed="rId2"/>
          <a:stretch>
            <a:fillRect/>
          </a:stretch>
        </p:blipFill>
        <p:spPr>
          <a:xfrm>
            <a:off x="4171938" y="4976808"/>
            <a:ext cx="4950506" cy="1881192"/>
          </a:xfrm>
          <a:prstGeom prst="rect">
            <a:avLst/>
          </a:prstGeom>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5" name="Rectangle 7">
            <a:extLst>
              <a:ext uri="{FF2B5EF4-FFF2-40B4-BE49-F238E27FC236}">
                <a16:creationId xmlns:a16="http://schemas.microsoft.com/office/drawing/2014/main" id="{1308AF6F-1587-4A4C-87B6-0C718B9C408E}"/>
              </a:ext>
            </a:extLst>
          </p:cNvPr>
          <p:cNvSpPr>
            <a:spLocks noChangeArrowheads="1"/>
          </p:cNvSpPr>
          <p:nvPr/>
        </p:nvSpPr>
        <p:spPr bwMode="auto">
          <a:xfrm>
            <a:off x="190500" y="2637901"/>
            <a:ext cx="7772400" cy="33085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a:spcBef>
                <a:spcPts val="600"/>
              </a:spcBef>
              <a:spcAft>
                <a:spcPts val="600"/>
              </a:spcAft>
            </a:pPr>
            <a:r>
              <a:rPr lang="en-US" altLang="en-US" dirty="0"/>
              <a:t>2. The numbering of the heterocyclic ring assembly is similar to that of the heterocyclic system or its corresponding radical. One heterocyclic system is assigned with unprimed numbers and the other with primed numbers. The points of attachment are indicated and placed before the name.</a:t>
            </a:r>
          </a:p>
          <a:p>
            <a:pPr algn="just">
              <a:spcBef>
                <a:spcPts val="600"/>
              </a:spcBef>
              <a:spcAft>
                <a:spcPts val="600"/>
              </a:spcAft>
            </a:pPr>
            <a:r>
              <a:rPr lang="en-US" altLang="en-US" dirty="0"/>
              <a:t>    3. If there is a choice, the heterocyclic ring with a lower-numbered point of attachment is assigned with unprimed numbers.</a:t>
            </a:r>
          </a:p>
          <a:p>
            <a:pPr algn="just">
              <a:spcBef>
                <a:spcPts val="600"/>
              </a:spcBef>
              <a:spcAft>
                <a:spcPts val="600"/>
              </a:spcAft>
            </a:pPr>
            <a:r>
              <a:rPr lang="en-US" altLang="en-US" dirty="0"/>
              <a:t>     4. </a:t>
            </a:r>
            <a:r>
              <a:rPr lang="en-GB" altLang="en-US" dirty="0"/>
              <a:t>The locants of the substituents are placed in ascending order with the preference of </a:t>
            </a:r>
            <a:r>
              <a:rPr lang="en-GB" altLang="en-US" dirty="0" err="1"/>
              <a:t>unprimed</a:t>
            </a:r>
            <a:r>
              <a:rPr lang="en-GB" altLang="en-US" dirty="0"/>
              <a:t> numbers over primed numbers (</a:t>
            </a:r>
            <a:r>
              <a:rPr lang="en-GB" altLang="en-US" dirty="0" err="1"/>
              <a:t>unprimed</a:t>
            </a:r>
            <a:r>
              <a:rPr lang="en-GB" altLang="en-US" dirty="0"/>
              <a:t> numbers are considered lower numbers).</a:t>
            </a:r>
            <a:endParaRPr lang="en-US" altLang="en-US" sz="1700" dirty="0"/>
          </a:p>
          <a:p>
            <a:pPr>
              <a:spcBef>
                <a:spcPts val="600"/>
              </a:spcBef>
              <a:spcAft>
                <a:spcPts val="600"/>
              </a:spcAft>
            </a:pPr>
            <a:endParaRPr lang="en-US" altLang="en-US" sz="1700" dirty="0"/>
          </a:p>
        </p:txBody>
      </p:sp>
      <p:sp>
        <p:nvSpPr>
          <p:cNvPr id="68619" name="Rectangle 11">
            <a:extLst>
              <a:ext uri="{FF2B5EF4-FFF2-40B4-BE49-F238E27FC236}">
                <a16:creationId xmlns:a16="http://schemas.microsoft.com/office/drawing/2014/main" id="{F0D82DEA-AE3F-4B47-BEC7-DD55AA250D96}"/>
              </a:ext>
            </a:extLst>
          </p:cNvPr>
          <p:cNvSpPr>
            <a:spLocks noGrp="1" noChangeArrowheads="1"/>
          </p:cNvSpPr>
          <p:nvPr>
            <p:ph type="title"/>
          </p:nvPr>
        </p:nvSpPr>
        <p:spPr>
          <a:xfrm>
            <a:off x="3124200" y="649739"/>
            <a:ext cx="7772400" cy="838200"/>
          </a:xfrm>
          <a:noFill/>
          <a:ln/>
        </p:spPr>
        <p:txBody>
          <a:bodyPr/>
          <a:lstStyle/>
          <a:p>
            <a:r>
              <a:rPr lang="en-US" altLang="en-US" sz="3000" dirty="0"/>
              <a:t>	</a:t>
            </a:r>
          </a:p>
        </p:txBody>
      </p:sp>
      <p:sp>
        <p:nvSpPr>
          <p:cNvPr id="7" name="Rectangle 2">
            <a:extLst>
              <a:ext uri="{FF2B5EF4-FFF2-40B4-BE49-F238E27FC236}">
                <a16:creationId xmlns:a16="http://schemas.microsoft.com/office/drawing/2014/main" id="{E62B50B4-5524-49BD-A86B-C95AB7411DFF}"/>
              </a:ext>
            </a:extLst>
          </p:cNvPr>
          <p:cNvSpPr txBox="1">
            <a:spLocks noChangeArrowheads="1"/>
          </p:cNvSpPr>
          <p:nvPr/>
        </p:nvSpPr>
        <p:spPr>
          <a:xfrm>
            <a:off x="190500" y="89902"/>
            <a:ext cx="5562600" cy="609600"/>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rmAutofit/>
          </a:bodyPr>
          <a:lstStyle>
            <a:lvl1pPr algn="l" defTabSz="914377" rtl="0" eaLnBrk="1" latinLnBrk="0" hangingPunct="1">
              <a:lnSpc>
                <a:spcPct val="90000"/>
              </a:lnSpc>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just">
              <a:lnSpc>
                <a:spcPct val="100000"/>
              </a:lnSpc>
              <a:spcBef>
                <a:spcPts val="600"/>
              </a:spcBef>
              <a:spcAft>
                <a:spcPts val="600"/>
              </a:spcAft>
            </a:pPr>
            <a:r>
              <a:rPr lang="en-US" altLang="en-US" sz="2800" b="1" dirty="0">
                <a:solidFill>
                  <a:srgbClr val="0066FF"/>
                </a:solidFill>
              </a:rPr>
              <a:t>Heterocyclic Ring Assemblies </a:t>
            </a:r>
          </a:p>
        </p:txBody>
      </p:sp>
      <p:pic>
        <p:nvPicPr>
          <p:cNvPr id="9" name="Рисунок 8">
            <a:extLst>
              <a:ext uri="{FF2B5EF4-FFF2-40B4-BE49-F238E27FC236}">
                <a16:creationId xmlns:a16="http://schemas.microsoft.com/office/drawing/2014/main" id="{9EDB3BA5-E284-4A32-8471-68F836DDF9EB}"/>
              </a:ext>
            </a:extLst>
          </p:cNvPr>
          <p:cNvPicPr>
            <a:picLocks noChangeAspect="1"/>
          </p:cNvPicPr>
          <p:nvPr/>
        </p:nvPicPr>
        <p:blipFill>
          <a:blip r:embed="rId2"/>
          <a:stretch>
            <a:fillRect/>
          </a:stretch>
        </p:blipFill>
        <p:spPr>
          <a:xfrm>
            <a:off x="7962900" y="2765544"/>
            <a:ext cx="3829061" cy="1105414"/>
          </a:xfrm>
          <a:prstGeom prst="rect">
            <a:avLst/>
          </a:prstGeom>
        </p:spPr>
      </p:pic>
      <p:sp>
        <p:nvSpPr>
          <p:cNvPr id="16" name="TextBox 15">
            <a:extLst>
              <a:ext uri="{FF2B5EF4-FFF2-40B4-BE49-F238E27FC236}">
                <a16:creationId xmlns:a16="http://schemas.microsoft.com/office/drawing/2014/main" id="{F1095D71-5712-4F88-A658-A03CF3C1BF0E}"/>
              </a:ext>
            </a:extLst>
          </p:cNvPr>
          <p:cNvSpPr txBox="1"/>
          <p:nvPr/>
        </p:nvSpPr>
        <p:spPr>
          <a:xfrm>
            <a:off x="190500" y="751268"/>
            <a:ext cx="11340384" cy="1785104"/>
          </a:xfrm>
          <a:prstGeom prst="rect">
            <a:avLst/>
          </a:prstGeom>
          <a:noFill/>
        </p:spPr>
        <p:txBody>
          <a:bodyPr wrap="square">
            <a:spAutoFit/>
          </a:bodyPr>
          <a:lstStyle/>
          <a:p>
            <a:pPr algn="just">
              <a:spcBef>
                <a:spcPts val="600"/>
              </a:spcBef>
              <a:spcAft>
                <a:spcPts val="600"/>
              </a:spcAft>
            </a:pPr>
            <a:r>
              <a:rPr lang="en-US" altLang="en-US" dirty="0"/>
              <a:t>Two or more heterocyclic ring systems, single or fused, joined to each other by single or double bonds are called heterocyclic ring assemblies.</a:t>
            </a:r>
          </a:p>
          <a:p>
            <a:pPr algn="just">
              <a:spcBef>
                <a:spcPts val="600"/>
              </a:spcBef>
              <a:spcAft>
                <a:spcPts val="600"/>
              </a:spcAft>
            </a:pPr>
            <a:r>
              <a:rPr lang="en-US" altLang="en-US" i="1" dirty="0"/>
              <a:t>The following rules are adopted for naming heterocyclic ring assemblies:</a:t>
            </a:r>
          </a:p>
          <a:p>
            <a:pPr algn="just">
              <a:spcBef>
                <a:spcPts val="600"/>
              </a:spcBef>
              <a:spcAft>
                <a:spcPts val="600"/>
              </a:spcAft>
            </a:pPr>
            <a:r>
              <a:rPr lang="en-US" altLang="en-US" dirty="0"/>
              <a:t>    1. The heterocyclic ring assembly of two identical heterocyclic systems is named by prefixing ‘bi’ before the name of the heterocyclic system or its corresponding radical.</a:t>
            </a:r>
          </a:p>
        </p:txBody>
      </p:sp>
      <p:pic>
        <p:nvPicPr>
          <p:cNvPr id="12" name="Рисунок 11">
            <a:extLst>
              <a:ext uri="{FF2B5EF4-FFF2-40B4-BE49-F238E27FC236}">
                <a16:creationId xmlns:a16="http://schemas.microsoft.com/office/drawing/2014/main" id="{987B1E5D-C564-4832-BDF9-7C3E6B2BFEA0}"/>
              </a:ext>
            </a:extLst>
          </p:cNvPr>
          <p:cNvPicPr>
            <a:picLocks noChangeAspect="1"/>
          </p:cNvPicPr>
          <p:nvPr/>
        </p:nvPicPr>
        <p:blipFill>
          <a:blip r:embed="rId3"/>
          <a:stretch>
            <a:fillRect/>
          </a:stretch>
        </p:blipFill>
        <p:spPr>
          <a:xfrm>
            <a:off x="7962900" y="3972487"/>
            <a:ext cx="4085403" cy="1353598"/>
          </a:xfrm>
          <a:prstGeom prst="rect">
            <a:avLst/>
          </a:prstGeom>
        </p:spPr>
      </p:pic>
      <p:pic>
        <p:nvPicPr>
          <p:cNvPr id="14" name="Рисунок 13">
            <a:extLst>
              <a:ext uri="{FF2B5EF4-FFF2-40B4-BE49-F238E27FC236}">
                <a16:creationId xmlns:a16="http://schemas.microsoft.com/office/drawing/2014/main" id="{416B5350-0440-449F-B2D0-57195E3CCB78}"/>
              </a:ext>
            </a:extLst>
          </p:cNvPr>
          <p:cNvPicPr>
            <a:picLocks noChangeAspect="1"/>
          </p:cNvPicPr>
          <p:nvPr/>
        </p:nvPicPr>
        <p:blipFill>
          <a:blip r:embed="rId4"/>
          <a:stretch>
            <a:fillRect/>
          </a:stretch>
        </p:blipFill>
        <p:spPr>
          <a:xfrm>
            <a:off x="3736605" y="5149170"/>
            <a:ext cx="2130795" cy="1618928"/>
          </a:xfrm>
          <a:prstGeom prst="rect">
            <a:avLst/>
          </a:prstGeom>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Rectangle 3">
            <a:extLst>
              <a:ext uri="{FF2B5EF4-FFF2-40B4-BE49-F238E27FC236}">
                <a16:creationId xmlns:a16="http://schemas.microsoft.com/office/drawing/2014/main" id="{DF39CBA1-2C95-40F5-816A-DCEE250D0C91}"/>
              </a:ext>
            </a:extLst>
          </p:cNvPr>
          <p:cNvSpPr>
            <a:spLocks noGrp="1" noChangeArrowheads="1"/>
          </p:cNvSpPr>
          <p:nvPr>
            <p:ph type="body" sz="half" idx="1"/>
          </p:nvPr>
        </p:nvSpPr>
        <p:spPr>
          <a:xfrm>
            <a:off x="190500" y="880145"/>
            <a:ext cx="8946676" cy="1666514"/>
          </a:xfrm>
        </p:spPr>
        <p:txBody>
          <a:bodyPr>
            <a:normAutofit/>
          </a:bodyPr>
          <a:lstStyle/>
          <a:p>
            <a:pPr marL="0" indent="0" algn="just">
              <a:lnSpc>
                <a:spcPct val="100000"/>
              </a:lnSpc>
              <a:spcBef>
                <a:spcPts val="600"/>
              </a:spcBef>
              <a:spcAft>
                <a:spcPts val="600"/>
              </a:spcAft>
              <a:buFontTx/>
              <a:buNone/>
            </a:pPr>
            <a:r>
              <a:rPr lang="en-US" altLang="en-US" sz="2000" dirty="0"/>
              <a:t>5. </a:t>
            </a:r>
            <a:r>
              <a:rPr lang="en-GB" altLang="en-US" sz="2000" dirty="0"/>
              <a:t>Non-identical heterocyclic ring assemblies are named by selecting one heterocyclic system as a base component and the other as a substituent. The base component is numbered with </a:t>
            </a:r>
            <a:r>
              <a:rPr lang="en-GB" altLang="en-US" sz="2000" dirty="0" err="1"/>
              <a:t>unprimed</a:t>
            </a:r>
            <a:r>
              <a:rPr lang="en-GB" altLang="en-US" sz="2000" dirty="0"/>
              <a:t> numbers and the substituent ring is with primed numbers. The heterocyclic ring assembly with non-identical heterocyclic rings is named as:</a:t>
            </a:r>
            <a:endParaRPr lang="en-US" altLang="en-US" sz="2000" dirty="0"/>
          </a:p>
        </p:txBody>
      </p:sp>
      <p:sp>
        <p:nvSpPr>
          <p:cNvPr id="4" name="Rectangle 2">
            <a:extLst>
              <a:ext uri="{FF2B5EF4-FFF2-40B4-BE49-F238E27FC236}">
                <a16:creationId xmlns:a16="http://schemas.microsoft.com/office/drawing/2014/main" id="{63B4A110-D146-42F7-B444-3AD1C5B72DDF}"/>
              </a:ext>
            </a:extLst>
          </p:cNvPr>
          <p:cNvSpPr txBox="1">
            <a:spLocks noChangeArrowheads="1"/>
          </p:cNvSpPr>
          <p:nvPr/>
        </p:nvSpPr>
        <p:spPr>
          <a:xfrm>
            <a:off x="190500" y="89902"/>
            <a:ext cx="5562600" cy="609600"/>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rmAutofit/>
          </a:bodyPr>
          <a:lstStyle>
            <a:lvl1pPr algn="l" defTabSz="914377" rtl="0" eaLnBrk="1" latinLnBrk="0" hangingPunct="1">
              <a:lnSpc>
                <a:spcPct val="90000"/>
              </a:lnSpc>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just">
              <a:lnSpc>
                <a:spcPct val="100000"/>
              </a:lnSpc>
              <a:spcBef>
                <a:spcPts val="600"/>
              </a:spcBef>
              <a:spcAft>
                <a:spcPts val="600"/>
              </a:spcAft>
            </a:pPr>
            <a:r>
              <a:rPr lang="en-US" altLang="en-US" sz="2800" b="1" dirty="0">
                <a:solidFill>
                  <a:srgbClr val="0066FF"/>
                </a:solidFill>
              </a:rPr>
              <a:t>Heterocyclic Ring Assemblies </a:t>
            </a:r>
          </a:p>
        </p:txBody>
      </p:sp>
      <p:sp>
        <p:nvSpPr>
          <p:cNvPr id="5" name="Rectangle 3">
            <a:extLst>
              <a:ext uri="{FF2B5EF4-FFF2-40B4-BE49-F238E27FC236}">
                <a16:creationId xmlns:a16="http://schemas.microsoft.com/office/drawing/2014/main" id="{19D36635-C708-4FFB-8CA3-4F243CED698A}"/>
              </a:ext>
            </a:extLst>
          </p:cNvPr>
          <p:cNvSpPr txBox="1">
            <a:spLocks noChangeArrowheads="1"/>
          </p:cNvSpPr>
          <p:nvPr/>
        </p:nvSpPr>
        <p:spPr>
          <a:xfrm>
            <a:off x="190500" y="2546659"/>
            <a:ext cx="11561472" cy="2735437"/>
          </a:xfrm>
          <a:prstGeom prst="rect">
            <a:avLst/>
          </a:prstGeom>
        </p:spPr>
        <p:txBody>
          <a:bodyPr vert="horz" lIns="91440" tIns="45720" rIns="91440" bIns="45720" rtlCol="0">
            <a:normAutofit/>
          </a:bodyPr>
          <a:lst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spcBef>
                <a:spcPts val="600"/>
              </a:spcBef>
              <a:spcAft>
                <a:spcPts val="600"/>
              </a:spcAft>
              <a:buFontTx/>
              <a:buNone/>
            </a:pPr>
            <a:r>
              <a:rPr lang="en-GB" altLang="en-US" sz="2000" dirty="0"/>
              <a:t>6. The heterocyclic ring assemblies constructed of three or more identical heterocyclic systems are named:</a:t>
            </a:r>
          </a:p>
          <a:p>
            <a:pPr marL="514350" indent="-514350" algn="just">
              <a:lnSpc>
                <a:spcPct val="100000"/>
              </a:lnSpc>
              <a:spcBef>
                <a:spcPts val="600"/>
              </a:spcBef>
              <a:spcAft>
                <a:spcPts val="600"/>
              </a:spcAft>
              <a:buFont typeface="+mj-lt"/>
              <a:buAutoNum type="romanUcPeriod"/>
            </a:pPr>
            <a:r>
              <a:rPr lang="en-GB" altLang="en-US" sz="2000" dirty="0"/>
              <a:t>The appropriate numerical prefix, </a:t>
            </a:r>
            <a:r>
              <a:rPr lang="en-GB" altLang="en-US" sz="2000" dirty="0" err="1"/>
              <a:t>ter</a:t>
            </a:r>
            <a:r>
              <a:rPr lang="en-GB" altLang="en-US" sz="2000" dirty="0"/>
              <a:t>-, </a:t>
            </a:r>
            <a:r>
              <a:rPr lang="en-GB" altLang="en-US" sz="2000" dirty="0" err="1"/>
              <a:t>quater</a:t>
            </a:r>
            <a:r>
              <a:rPr lang="en-GB" altLang="en-US" sz="2000" dirty="0"/>
              <a:t>-, etc., is placed before the name of the corresponding heterocyclic system.</a:t>
            </a:r>
          </a:p>
          <a:p>
            <a:pPr marL="514350" indent="-514350" algn="just">
              <a:lnSpc>
                <a:spcPct val="100000"/>
              </a:lnSpc>
              <a:spcBef>
                <a:spcPts val="600"/>
              </a:spcBef>
              <a:spcAft>
                <a:spcPts val="600"/>
              </a:spcAft>
              <a:buFont typeface="+mj-lt"/>
              <a:buAutoNum type="romanUcPeriod"/>
            </a:pPr>
            <a:r>
              <a:rPr lang="en-GB" altLang="en-US" sz="2000" dirty="0" err="1"/>
              <a:t>Unprimed</a:t>
            </a:r>
            <a:r>
              <a:rPr lang="en-GB" altLang="en-US" sz="2000" dirty="0"/>
              <a:t> numbers are assigned to one of the terminal heterocyclic systems and others are assigned single, double, triple, etc. primed numbers.</a:t>
            </a:r>
          </a:p>
          <a:p>
            <a:pPr marL="514350" indent="-514350" algn="just">
              <a:lnSpc>
                <a:spcPct val="100000"/>
              </a:lnSpc>
              <a:spcBef>
                <a:spcPts val="600"/>
              </a:spcBef>
              <a:spcAft>
                <a:spcPts val="600"/>
              </a:spcAft>
              <a:buFont typeface="+mj-lt"/>
              <a:buAutoNum type="romanUcPeriod"/>
            </a:pPr>
            <a:r>
              <a:rPr lang="en-GB" altLang="en-US" sz="2000" dirty="0"/>
              <a:t>The points of attachment are assigned as the lowest possible numbers.</a:t>
            </a:r>
            <a:endParaRPr lang="en-US" altLang="en-US" sz="2000" dirty="0"/>
          </a:p>
        </p:txBody>
      </p:sp>
      <p:pic>
        <p:nvPicPr>
          <p:cNvPr id="7" name="Рисунок 6">
            <a:extLst>
              <a:ext uri="{FF2B5EF4-FFF2-40B4-BE49-F238E27FC236}">
                <a16:creationId xmlns:a16="http://schemas.microsoft.com/office/drawing/2014/main" id="{E3029434-C770-4661-8CA9-EABBF940032B}"/>
              </a:ext>
            </a:extLst>
          </p:cNvPr>
          <p:cNvPicPr>
            <a:picLocks noChangeAspect="1"/>
          </p:cNvPicPr>
          <p:nvPr/>
        </p:nvPicPr>
        <p:blipFill rotWithShape="1">
          <a:blip r:embed="rId2"/>
          <a:srcRect l="1147" t="44870" r="1342"/>
          <a:stretch/>
        </p:blipFill>
        <p:spPr>
          <a:xfrm>
            <a:off x="6251924" y="4926843"/>
            <a:ext cx="5500048" cy="1804331"/>
          </a:xfrm>
          <a:prstGeom prst="rect">
            <a:avLst/>
          </a:prstGeom>
        </p:spPr>
      </p:pic>
      <p:pic>
        <p:nvPicPr>
          <p:cNvPr id="11" name="Рисунок 10">
            <a:extLst>
              <a:ext uri="{FF2B5EF4-FFF2-40B4-BE49-F238E27FC236}">
                <a16:creationId xmlns:a16="http://schemas.microsoft.com/office/drawing/2014/main" id="{43A4DBAF-85D7-469A-A78A-5891B839CD4F}"/>
              </a:ext>
            </a:extLst>
          </p:cNvPr>
          <p:cNvPicPr>
            <a:picLocks noChangeAspect="1"/>
          </p:cNvPicPr>
          <p:nvPr/>
        </p:nvPicPr>
        <p:blipFill>
          <a:blip r:embed="rId3"/>
          <a:stretch>
            <a:fillRect/>
          </a:stretch>
        </p:blipFill>
        <p:spPr>
          <a:xfrm>
            <a:off x="9251776" y="261184"/>
            <a:ext cx="2500195" cy="1732062"/>
          </a:xfrm>
          <a:prstGeom prst="rect">
            <a:avLst/>
          </a:prstGeom>
        </p:spPr>
      </p:pic>
      <p:sp>
        <p:nvSpPr>
          <p:cNvPr id="15" name="TextBox 14">
            <a:extLst>
              <a:ext uri="{FF2B5EF4-FFF2-40B4-BE49-F238E27FC236}">
                <a16:creationId xmlns:a16="http://schemas.microsoft.com/office/drawing/2014/main" id="{A74F0CCB-DD62-498E-BA66-C4D7C4B3D093}"/>
              </a:ext>
            </a:extLst>
          </p:cNvPr>
          <p:cNvSpPr txBox="1"/>
          <p:nvPr/>
        </p:nvSpPr>
        <p:spPr>
          <a:xfrm>
            <a:off x="9335360" y="1623914"/>
            <a:ext cx="2531211" cy="369332"/>
          </a:xfrm>
          <a:prstGeom prst="rect">
            <a:avLst/>
          </a:prstGeom>
          <a:solidFill>
            <a:schemeClr val="bg1"/>
          </a:solidFill>
        </p:spPr>
        <p:txBody>
          <a:bodyPr wrap="square">
            <a:spAutoFit/>
          </a:bodyPr>
          <a:lstStyle/>
          <a:p>
            <a:r>
              <a:rPr lang="en-GB" dirty="0"/>
              <a:t>2-(pyridin-2-yl)quinoline</a:t>
            </a:r>
          </a:p>
        </p:txBody>
      </p:sp>
      <p:pic>
        <p:nvPicPr>
          <p:cNvPr id="14" name="Рисунок 13">
            <a:extLst>
              <a:ext uri="{FF2B5EF4-FFF2-40B4-BE49-F238E27FC236}">
                <a16:creationId xmlns:a16="http://schemas.microsoft.com/office/drawing/2014/main" id="{782E49C3-C1C6-4F8C-97E6-F495C5305DE3}"/>
              </a:ext>
            </a:extLst>
          </p:cNvPr>
          <p:cNvPicPr>
            <a:picLocks noChangeAspect="1"/>
          </p:cNvPicPr>
          <p:nvPr/>
        </p:nvPicPr>
        <p:blipFill>
          <a:blip r:embed="rId4"/>
          <a:stretch>
            <a:fillRect/>
          </a:stretch>
        </p:blipFill>
        <p:spPr>
          <a:xfrm>
            <a:off x="756727" y="4793635"/>
            <a:ext cx="4705610" cy="2038462"/>
          </a:xfrm>
          <a:prstGeom prst="rect">
            <a:avLst/>
          </a:prstGeom>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a:extLst>
              <a:ext uri="{FF2B5EF4-FFF2-40B4-BE49-F238E27FC236}">
                <a16:creationId xmlns:a16="http://schemas.microsoft.com/office/drawing/2014/main" id="{B582C59E-9D8C-474E-8E0A-B252DF34C26C}"/>
              </a:ext>
            </a:extLst>
          </p:cNvPr>
          <p:cNvSpPr>
            <a:spLocks noGrp="1"/>
          </p:cNvSpPr>
          <p:nvPr>
            <p:ph type="sldNum" sz="quarter" idx="12"/>
          </p:nvPr>
        </p:nvSpPr>
        <p:spPr/>
        <p:txBody>
          <a:bodyPr/>
          <a:lstStyle/>
          <a:p>
            <a:fld id="{93C419CB-0CF1-4F10-90F9-42551F8968FF}" type="slidenum">
              <a:rPr lang="en-GB" smtClean="0"/>
              <a:t>80</a:t>
            </a:fld>
            <a:endParaRPr lang="en-GB"/>
          </a:p>
        </p:txBody>
      </p:sp>
      <p:sp>
        <p:nvSpPr>
          <p:cNvPr id="3" name="TextBox 2">
            <a:extLst>
              <a:ext uri="{FF2B5EF4-FFF2-40B4-BE49-F238E27FC236}">
                <a16:creationId xmlns:a16="http://schemas.microsoft.com/office/drawing/2014/main" id="{557E9AFB-C386-4FA5-AE98-B0E402C62660}"/>
              </a:ext>
            </a:extLst>
          </p:cNvPr>
          <p:cNvSpPr txBox="1"/>
          <p:nvPr/>
        </p:nvSpPr>
        <p:spPr>
          <a:xfrm>
            <a:off x="627706" y="299635"/>
            <a:ext cx="11319651" cy="1077218"/>
          </a:xfrm>
          <a:prstGeom prst="rect">
            <a:avLst/>
          </a:prstGeom>
          <a:noFill/>
        </p:spPr>
        <p:txBody>
          <a:bodyPr wrap="square">
            <a:spAutoFit/>
          </a:bodyPr>
          <a:lstStyle/>
          <a:p>
            <a:r>
              <a:rPr lang="en-GB" sz="3200" b="1" dirty="0"/>
              <a:t>Task </a:t>
            </a:r>
            <a:r>
              <a:rPr lang="uk-UA" sz="3200" b="1" dirty="0"/>
              <a:t>8</a:t>
            </a:r>
            <a:r>
              <a:rPr lang="en-GB" sz="3200" b="1" dirty="0"/>
              <a:t>. </a:t>
            </a:r>
            <a:r>
              <a:rPr lang="en-GB" sz="3200" dirty="0"/>
              <a:t>Name the following compound by replacement nomenclature </a:t>
            </a:r>
            <a:endParaRPr lang="en-GB" sz="3200" b="1" dirty="0"/>
          </a:p>
        </p:txBody>
      </p:sp>
      <p:graphicFrame>
        <p:nvGraphicFramePr>
          <p:cNvPr id="7" name="Объект 6">
            <a:extLst>
              <a:ext uri="{FF2B5EF4-FFF2-40B4-BE49-F238E27FC236}">
                <a16:creationId xmlns:a16="http://schemas.microsoft.com/office/drawing/2014/main" id="{8BB6E2E1-4DA7-47DF-AB88-6C17C5585F48}"/>
              </a:ext>
            </a:extLst>
          </p:cNvPr>
          <p:cNvGraphicFramePr>
            <a:graphicFrameLocks noChangeAspect="1"/>
          </p:cNvGraphicFramePr>
          <p:nvPr>
            <p:extLst>
              <p:ext uri="{D42A27DB-BD31-4B8C-83A1-F6EECF244321}">
                <p14:modId xmlns:p14="http://schemas.microsoft.com/office/powerpoint/2010/main" val="2894418040"/>
              </p:ext>
            </p:extLst>
          </p:nvPr>
        </p:nvGraphicFramePr>
        <p:xfrm>
          <a:off x="3908340" y="996550"/>
          <a:ext cx="2656891" cy="3278050"/>
        </p:xfrm>
        <a:graphic>
          <a:graphicData uri="http://schemas.openxmlformats.org/presentationml/2006/ole">
            <mc:AlternateContent xmlns:mc="http://schemas.openxmlformats.org/markup-compatibility/2006">
              <mc:Choice xmlns:v="urn:schemas-microsoft-com:vml" Requires="v">
                <p:oleObj spid="_x0000_s25606" name="CS ChemDraw Drawing" r:id="rId3" imgW="1616813" imgH="1993239" progId="ChemDraw.Document.6.0">
                  <p:embed/>
                </p:oleObj>
              </mc:Choice>
              <mc:Fallback>
                <p:oleObj name="CS ChemDraw Drawing" r:id="rId3" imgW="1616813" imgH="1993239" progId="ChemDraw.Document.6.0">
                  <p:embed/>
                  <p:pic>
                    <p:nvPicPr>
                      <p:cNvPr id="0" name=""/>
                      <p:cNvPicPr/>
                      <p:nvPr/>
                    </p:nvPicPr>
                    <p:blipFill>
                      <a:blip r:embed="rId4"/>
                      <a:stretch>
                        <a:fillRect/>
                      </a:stretch>
                    </p:blipFill>
                    <p:spPr>
                      <a:xfrm>
                        <a:off x="3908340" y="996550"/>
                        <a:ext cx="2656891" cy="3278050"/>
                      </a:xfrm>
                      <a:prstGeom prst="rect">
                        <a:avLst/>
                      </a:prstGeom>
                    </p:spPr>
                  </p:pic>
                </p:oleObj>
              </mc:Fallback>
            </mc:AlternateContent>
          </a:graphicData>
        </a:graphic>
      </p:graphicFrame>
      <p:sp>
        <p:nvSpPr>
          <p:cNvPr id="6" name="TextBox 5">
            <a:extLst>
              <a:ext uri="{FF2B5EF4-FFF2-40B4-BE49-F238E27FC236}">
                <a16:creationId xmlns:a16="http://schemas.microsoft.com/office/drawing/2014/main" id="{23DBF2D2-922C-433C-801C-AA4D50627FAB}"/>
              </a:ext>
            </a:extLst>
          </p:cNvPr>
          <p:cNvSpPr txBox="1"/>
          <p:nvPr/>
        </p:nvSpPr>
        <p:spPr>
          <a:xfrm>
            <a:off x="3705441" y="3802896"/>
            <a:ext cx="4299854" cy="523220"/>
          </a:xfrm>
          <a:prstGeom prst="rect">
            <a:avLst/>
          </a:prstGeom>
          <a:solidFill>
            <a:schemeClr val="bg1"/>
          </a:solidFill>
        </p:spPr>
        <p:txBody>
          <a:bodyPr wrap="square">
            <a:spAutoFit/>
          </a:bodyPr>
          <a:lstStyle/>
          <a:p>
            <a:r>
              <a:rPr lang="en-GB" sz="2800" b="1" dirty="0"/>
              <a:t>        </a:t>
            </a:r>
            <a:r>
              <a:rPr lang="uk-UA" sz="2800" b="1" dirty="0"/>
              <a:t>(</a:t>
            </a:r>
            <a:r>
              <a:rPr lang="en-GB" sz="2800" b="1" dirty="0"/>
              <a:t>a)		</a:t>
            </a:r>
            <a:endParaRPr lang="en-GB" sz="2800" dirty="0"/>
          </a:p>
        </p:txBody>
      </p:sp>
    </p:spTree>
    <p:extLst>
      <p:ext uri="{BB962C8B-B14F-4D97-AF65-F5344CB8AC3E}">
        <p14:creationId xmlns:p14="http://schemas.microsoft.com/office/powerpoint/2010/main" val="353359214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a:extLst>
              <a:ext uri="{FF2B5EF4-FFF2-40B4-BE49-F238E27FC236}">
                <a16:creationId xmlns:a16="http://schemas.microsoft.com/office/drawing/2014/main" id="{7E833956-F082-4EFB-B6B3-D199013CC927}"/>
              </a:ext>
            </a:extLst>
          </p:cNvPr>
          <p:cNvSpPr>
            <a:spLocks noGrp="1"/>
          </p:cNvSpPr>
          <p:nvPr>
            <p:ph type="sldNum" sz="quarter" idx="12"/>
          </p:nvPr>
        </p:nvSpPr>
        <p:spPr/>
        <p:txBody>
          <a:bodyPr/>
          <a:lstStyle/>
          <a:p>
            <a:fld id="{93C419CB-0CF1-4F10-90F9-42551F8968FF}" type="slidenum">
              <a:rPr lang="en-GB" smtClean="0"/>
              <a:t>81</a:t>
            </a:fld>
            <a:endParaRPr lang="en-GB"/>
          </a:p>
        </p:txBody>
      </p:sp>
      <p:sp>
        <p:nvSpPr>
          <p:cNvPr id="4" name="TextBox 3">
            <a:extLst>
              <a:ext uri="{FF2B5EF4-FFF2-40B4-BE49-F238E27FC236}">
                <a16:creationId xmlns:a16="http://schemas.microsoft.com/office/drawing/2014/main" id="{862B9317-9CDE-4209-9C1B-4C1F25666B73}"/>
              </a:ext>
            </a:extLst>
          </p:cNvPr>
          <p:cNvSpPr txBox="1"/>
          <p:nvPr/>
        </p:nvSpPr>
        <p:spPr>
          <a:xfrm>
            <a:off x="0" y="14174"/>
            <a:ext cx="12192000" cy="646331"/>
          </a:xfrm>
          <a:prstGeom prst="rect">
            <a:avLst/>
          </a:prstGeom>
        </p:spPr>
        <p:style>
          <a:lnRef idx="1">
            <a:schemeClr val="accent5"/>
          </a:lnRef>
          <a:fillRef idx="2">
            <a:schemeClr val="accent5"/>
          </a:fillRef>
          <a:effectRef idx="1">
            <a:schemeClr val="accent5"/>
          </a:effectRef>
          <a:fontRef idx="minor">
            <a:schemeClr val="dk1"/>
          </a:fontRef>
        </p:style>
        <p:txBody>
          <a:bodyPr wrap="square">
            <a:spAutoFit/>
          </a:bodyPr>
          <a:lstStyle/>
          <a:p>
            <a:pPr algn="ctr"/>
            <a:r>
              <a:rPr lang="en-GB" b="1" dirty="0"/>
              <a:t>Comparison of 3 nomenclature types</a:t>
            </a:r>
            <a:r>
              <a:rPr lang="uk-UA" b="1" dirty="0"/>
              <a:t>.</a:t>
            </a:r>
            <a:r>
              <a:rPr lang="en-GB" b="1" dirty="0"/>
              <a:t> </a:t>
            </a:r>
            <a:br>
              <a:rPr lang="uk-UA" b="1" dirty="0"/>
            </a:br>
            <a:r>
              <a:rPr lang="en-GB" dirty="0"/>
              <a:t>The name shown in boldface is most commonly encountered in the literature.</a:t>
            </a:r>
          </a:p>
        </p:txBody>
      </p:sp>
      <p:graphicFrame>
        <p:nvGraphicFramePr>
          <p:cNvPr id="5" name="Таблица 4">
            <a:extLst>
              <a:ext uri="{FF2B5EF4-FFF2-40B4-BE49-F238E27FC236}">
                <a16:creationId xmlns:a16="http://schemas.microsoft.com/office/drawing/2014/main" id="{12457EB2-7EEC-4A8E-8764-AF10FEE1275A}"/>
              </a:ext>
            </a:extLst>
          </p:cNvPr>
          <p:cNvGraphicFramePr>
            <a:graphicFrameLocks noGrp="1"/>
          </p:cNvGraphicFramePr>
          <p:nvPr>
            <p:extLst>
              <p:ext uri="{D42A27DB-BD31-4B8C-83A1-F6EECF244321}">
                <p14:modId xmlns:p14="http://schemas.microsoft.com/office/powerpoint/2010/main" val="3365147867"/>
              </p:ext>
            </p:extLst>
          </p:nvPr>
        </p:nvGraphicFramePr>
        <p:xfrm>
          <a:off x="203434" y="782854"/>
          <a:ext cx="5549132" cy="6093919"/>
        </p:xfrm>
        <a:graphic>
          <a:graphicData uri="http://schemas.openxmlformats.org/drawingml/2006/table">
            <a:tbl>
              <a:tblPr firstRow="1" firstCol="1" bandRow="1">
                <a:tableStyleId>{C083E6E3-FA7D-4D7B-A595-EF9225AFEA82}</a:tableStyleId>
              </a:tblPr>
              <a:tblGrid>
                <a:gridCol w="2309172">
                  <a:extLst>
                    <a:ext uri="{9D8B030D-6E8A-4147-A177-3AD203B41FA5}">
                      <a16:colId xmlns:a16="http://schemas.microsoft.com/office/drawing/2014/main" val="856344609"/>
                    </a:ext>
                  </a:extLst>
                </a:gridCol>
                <a:gridCol w="3239960">
                  <a:extLst>
                    <a:ext uri="{9D8B030D-6E8A-4147-A177-3AD203B41FA5}">
                      <a16:colId xmlns:a16="http://schemas.microsoft.com/office/drawing/2014/main" val="1702775778"/>
                    </a:ext>
                  </a:extLst>
                </a:gridCol>
              </a:tblGrid>
              <a:tr h="155163">
                <a:tc>
                  <a:txBody>
                    <a:bodyPr/>
                    <a:lstStyle/>
                    <a:p>
                      <a:pPr>
                        <a:lnSpc>
                          <a:spcPct val="107000"/>
                        </a:lnSpc>
                        <a:spcAft>
                          <a:spcPts val="800"/>
                        </a:spcAft>
                      </a:pPr>
                      <a:r>
                        <a:rPr lang="en-GB" sz="1600" b="0" dirty="0" err="1">
                          <a:solidFill>
                            <a:schemeClr val="tx1"/>
                          </a:solidFill>
                          <a:effectLst/>
                        </a:rPr>
                        <a:t>Hantzsch</a:t>
                      </a:r>
                      <a:r>
                        <a:rPr lang="en-GB" sz="1600" b="0" dirty="0">
                          <a:solidFill>
                            <a:schemeClr val="tx1"/>
                          </a:solidFill>
                          <a:effectLst/>
                        </a:rPr>
                        <a:t>-Widman name:</a:t>
                      </a:r>
                      <a:endParaRPr lang="en-GB" sz="16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7826" marR="7826" marT="7826" marB="7826" anchor="ctr"/>
                </a:tc>
                <a:tc>
                  <a:txBody>
                    <a:bodyPr/>
                    <a:lstStyle/>
                    <a:p>
                      <a:pPr>
                        <a:lnSpc>
                          <a:spcPct val="107000"/>
                        </a:lnSpc>
                        <a:spcAft>
                          <a:spcPts val="800"/>
                        </a:spcAft>
                      </a:pPr>
                      <a:r>
                        <a:rPr lang="en-GB" sz="1600" b="0" dirty="0">
                          <a:solidFill>
                            <a:schemeClr val="tx1"/>
                          </a:solidFill>
                          <a:effectLst/>
                        </a:rPr>
                        <a:t>Azine</a:t>
                      </a:r>
                      <a:endParaRPr lang="en-GB" sz="16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7826" marR="7826" marT="7826" marB="7826" anchor="ctr"/>
                </a:tc>
                <a:extLst>
                  <a:ext uri="{0D108BD9-81ED-4DB2-BD59-A6C34878D82A}">
                    <a16:rowId xmlns:a16="http://schemas.microsoft.com/office/drawing/2014/main" val="2052985524"/>
                  </a:ext>
                </a:extLst>
              </a:tr>
              <a:tr h="155163">
                <a:tc>
                  <a:txBody>
                    <a:bodyPr/>
                    <a:lstStyle/>
                    <a:p>
                      <a:pPr>
                        <a:lnSpc>
                          <a:spcPct val="107000"/>
                        </a:lnSpc>
                        <a:spcAft>
                          <a:spcPts val="800"/>
                        </a:spcAft>
                      </a:pPr>
                      <a:r>
                        <a:rPr lang="en-GB" sz="1600" b="0" dirty="0">
                          <a:effectLst/>
                        </a:rPr>
                        <a:t>Replacement name:</a:t>
                      </a:r>
                      <a:endParaRPr lang="en-GB" sz="1600" b="0" dirty="0">
                        <a:effectLst/>
                        <a:latin typeface="Calibri" panose="020F0502020204030204" pitchFamily="34" charset="0"/>
                        <a:ea typeface="Calibri" panose="020F0502020204030204" pitchFamily="34" charset="0"/>
                        <a:cs typeface="Times New Roman" panose="02020603050405020304" pitchFamily="18" charset="0"/>
                      </a:endParaRPr>
                    </a:p>
                  </a:txBody>
                  <a:tcPr marL="7826" marR="7826" marT="7826" marB="7826" anchor="ctr"/>
                </a:tc>
                <a:tc>
                  <a:txBody>
                    <a:bodyPr/>
                    <a:lstStyle/>
                    <a:p>
                      <a:pPr>
                        <a:lnSpc>
                          <a:spcPct val="107000"/>
                        </a:lnSpc>
                        <a:spcAft>
                          <a:spcPts val="800"/>
                        </a:spcAft>
                      </a:pPr>
                      <a:r>
                        <a:rPr lang="en-GB" sz="1600">
                          <a:effectLst/>
                        </a:rPr>
                        <a:t>Azabenzene</a:t>
                      </a:r>
                      <a:endParaRPr lang="en-GB" sz="1600">
                        <a:effectLst/>
                        <a:latin typeface="Calibri" panose="020F0502020204030204" pitchFamily="34" charset="0"/>
                        <a:ea typeface="Calibri" panose="020F0502020204030204" pitchFamily="34" charset="0"/>
                        <a:cs typeface="Times New Roman" panose="02020603050405020304" pitchFamily="18" charset="0"/>
                      </a:endParaRPr>
                    </a:p>
                  </a:txBody>
                  <a:tcPr marL="7826" marR="7826" marT="7826" marB="7826" anchor="ctr"/>
                </a:tc>
                <a:extLst>
                  <a:ext uri="{0D108BD9-81ED-4DB2-BD59-A6C34878D82A}">
                    <a16:rowId xmlns:a16="http://schemas.microsoft.com/office/drawing/2014/main" val="3793755568"/>
                  </a:ext>
                </a:extLst>
              </a:tr>
              <a:tr h="155163">
                <a:tc>
                  <a:txBody>
                    <a:bodyPr/>
                    <a:lstStyle/>
                    <a:p>
                      <a:pPr>
                        <a:lnSpc>
                          <a:spcPct val="107000"/>
                        </a:lnSpc>
                        <a:spcAft>
                          <a:spcPts val="800"/>
                        </a:spcAft>
                      </a:pPr>
                      <a:r>
                        <a:rPr lang="en-GB" sz="1600" b="0" dirty="0">
                          <a:effectLst/>
                        </a:rPr>
                        <a:t>Trivial name:</a:t>
                      </a:r>
                      <a:endParaRPr lang="en-GB" sz="1600" b="0" dirty="0">
                        <a:effectLst/>
                        <a:latin typeface="Calibri" panose="020F0502020204030204" pitchFamily="34" charset="0"/>
                        <a:ea typeface="Calibri" panose="020F0502020204030204" pitchFamily="34" charset="0"/>
                        <a:cs typeface="Times New Roman" panose="02020603050405020304" pitchFamily="18" charset="0"/>
                      </a:endParaRPr>
                    </a:p>
                  </a:txBody>
                  <a:tcPr marL="7826" marR="7826" marT="7826" marB="7826" anchor="ctr"/>
                </a:tc>
                <a:tc>
                  <a:txBody>
                    <a:bodyPr/>
                    <a:lstStyle/>
                    <a:p>
                      <a:pPr>
                        <a:lnSpc>
                          <a:spcPct val="107000"/>
                        </a:lnSpc>
                        <a:spcAft>
                          <a:spcPts val="800"/>
                        </a:spcAft>
                      </a:pPr>
                      <a:r>
                        <a:rPr lang="en-GB" sz="1600" b="1" dirty="0">
                          <a:effectLst/>
                        </a:rPr>
                        <a:t>Pyridine</a:t>
                      </a:r>
                      <a:endParaRPr lang="en-GB"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7826" marR="7826" marT="7826" marB="7826" anchor="ctr"/>
                </a:tc>
                <a:extLst>
                  <a:ext uri="{0D108BD9-81ED-4DB2-BD59-A6C34878D82A}">
                    <a16:rowId xmlns:a16="http://schemas.microsoft.com/office/drawing/2014/main" val="3213737753"/>
                  </a:ext>
                </a:extLst>
              </a:tr>
              <a:tr h="156519">
                <a:tc>
                  <a:txBody>
                    <a:bodyPr/>
                    <a:lstStyle/>
                    <a:p>
                      <a:pPr>
                        <a:lnSpc>
                          <a:spcPct val="107000"/>
                        </a:lnSpc>
                      </a:pPr>
                      <a:endParaRPr lang="en-GB" sz="1600" b="0" dirty="0">
                        <a:effectLst/>
                        <a:latin typeface="Calibri" panose="020F0502020204030204" pitchFamily="34" charset="0"/>
                        <a:cs typeface="Times New Roman" panose="02020603050405020304" pitchFamily="18" charset="0"/>
                      </a:endParaRPr>
                    </a:p>
                  </a:txBody>
                  <a:tcPr marL="7826" marR="7826" marT="7826" marB="7826" anchor="ctr"/>
                </a:tc>
                <a:tc>
                  <a:txBody>
                    <a:bodyPr/>
                    <a:lstStyle/>
                    <a:p>
                      <a:pPr>
                        <a:lnSpc>
                          <a:spcPct val="107000"/>
                        </a:lnSpc>
                      </a:pPr>
                      <a:endParaRPr lang="en-GB" sz="1600">
                        <a:effectLst/>
                        <a:latin typeface="Calibri" panose="020F0502020204030204" pitchFamily="34" charset="0"/>
                        <a:cs typeface="Times New Roman" panose="02020603050405020304" pitchFamily="18" charset="0"/>
                      </a:endParaRPr>
                    </a:p>
                  </a:txBody>
                  <a:tcPr marL="7826" marR="7826" marT="7826" marB="7826" anchor="ctr"/>
                </a:tc>
                <a:extLst>
                  <a:ext uri="{0D108BD9-81ED-4DB2-BD59-A6C34878D82A}">
                    <a16:rowId xmlns:a16="http://schemas.microsoft.com/office/drawing/2014/main" val="421665049"/>
                  </a:ext>
                </a:extLst>
              </a:tr>
              <a:tr h="155163">
                <a:tc>
                  <a:txBody>
                    <a:bodyPr/>
                    <a:lstStyle/>
                    <a:p>
                      <a:pPr>
                        <a:lnSpc>
                          <a:spcPct val="107000"/>
                        </a:lnSpc>
                        <a:spcAft>
                          <a:spcPts val="800"/>
                        </a:spcAft>
                      </a:pPr>
                      <a:r>
                        <a:rPr lang="en-GB" sz="1600" b="0" dirty="0" err="1">
                          <a:effectLst/>
                        </a:rPr>
                        <a:t>Hantzsch</a:t>
                      </a:r>
                      <a:r>
                        <a:rPr lang="en-GB" sz="1600" b="0" dirty="0">
                          <a:effectLst/>
                        </a:rPr>
                        <a:t>-Widman name:</a:t>
                      </a:r>
                      <a:endParaRPr lang="en-GB" sz="1600" b="0" dirty="0">
                        <a:effectLst/>
                        <a:latin typeface="Calibri" panose="020F0502020204030204" pitchFamily="34" charset="0"/>
                        <a:ea typeface="Calibri" panose="020F0502020204030204" pitchFamily="34" charset="0"/>
                        <a:cs typeface="Times New Roman" panose="02020603050405020304" pitchFamily="18" charset="0"/>
                      </a:endParaRPr>
                    </a:p>
                  </a:txBody>
                  <a:tcPr marL="7826" marR="7826" marT="7826" marB="7826" anchor="ctr"/>
                </a:tc>
                <a:tc>
                  <a:txBody>
                    <a:bodyPr/>
                    <a:lstStyle/>
                    <a:p>
                      <a:pPr>
                        <a:lnSpc>
                          <a:spcPct val="107000"/>
                        </a:lnSpc>
                        <a:spcAft>
                          <a:spcPts val="800"/>
                        </a:spcAft>
                      </a:pPr>
                      <a:r>
                        <a:rPr lang="en-GB" sz="1600" dirty="0">
                          <a:effectLst/>
                        </a:rPr>
                        <a:t>1,4-Diazine</a:t>
                      </a:r>
                      <a:endParaRPr lang="en-GB"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7826" marR="7826" marT="7826" marB="7826" anchor="ctr"/>
                </a:tc>
                <a:extLst>
                  <a:ext uri="{0D108BD9-81ED-4DB2-BD59-A6C34878D82A}">
                    <a16:rowId xmlns:a16="http://schemas.microsoft.com/office/drawing/2014/main" val="3734700208"/>
                  </a:ext>
                </a:extLst>
              </a:tr>
              <a:tr h="155163">
                <a:tc>
                  <a:txBody>
                    <a:bodyPr/>
                    <a:lstStyle/>
                    <a:p>
                      <a:pPr>
                        <a:lnSpc>
                          <a:spcPct val="107000"/>
                        </a:lnSpc>
                        <a:spcAft>
                          <a:spcPts val="800"/>
                        </a:spcAft>
                      </a:pPr>
                      <a:r>
                        <a:rPr lang="en-GB" sz="1600" b="0" dirty="0">
                          <a:effectLst/>
                        </a:rPr>
                        <a:t>Replacement name:</a:t>
                      </a:r>
                      <a:endParaRPr lang="en-GB" sz="1600" b="0" dirty="0">
                        <a:effectLst/>
                        <a:latin typeface="Calibri" panose="020F0502020204030204" pitchFamily="34" charset="0"/>
                        <a:ea typeface="Calibri" panose="020F0502020204030204" pitchFamily="34" charset="0"/>
                        <a:cs typeface="Times New Roman" panose="02020603050405020304" pitchFamily="18" charset="0"/>
                      </a:endParaRPr>
                    </a:p>
                  </a:txBody>
                  <a:tcPr marL="7826" marR="7826" marT="7826" marB="7826" anchor="ctr"/>
                </a:tc>
                <a:tc>
                  <a:txBody>
                    <a:bodyPr/>
                    <a:lstStyle/>
                    <a:p>
                      <a:pPr>
                        <a:lnSpc>
                          <a:spcPct val="107000"/>
                        </a:lnSpc>
                        <a:spcAft>
                          <a:spcPts val="800"/>
                        </a:spcAft>
                      </a:pPr>
                      <a:r>
                        <a:rPr lang="en-GB" sz="1600">
                          <a:effectLst/>
                        </a:rPr>
                        <a:t>1,4-Diazabenzene</a:t>
                      </a:r>
                      <a:endParaRPr lang="en-GB" sz="1600">
                        <a:effectLst/>
                        <a:latin typeface="Calibri" panose="020F0502020204030204" pitchFamily="34" charset="0"/>
                        <a:ea typeface="Calibri" panose="020F0502020204030204" pitchFamily="34" charset="0"/>
                        <a:cs typeface="Times New Roman" panose="02020603050405020304" pitchFamily="18" charset="0"/>
                      </a:endParaRPr>
                    </a:p>
                  </a:txBody>
                  <a:tcPr marL="7826" marR="7826" marT="7826" marB="7826" anchor="ctr"/>
                </a:tc>
                <a:extLst>
                  <a:ext uri="{0D108BD9-81ED-4DB2-BD59-A6C34878D82A}">
                    <a16:rowId xmlns:a16="http://schemas.microsoft.com/office/drawing/2014/main" val="3005281619"/>
                  </a:ext>
                </a:extLst>
              </a:tr>
              <a:tr h="155163">
                <a:tc>
                  <a:txBody>
                    <a:bodyPr/>
                    <a:lstStyle/>
                    <a:p>
                      <a:pPr>
                        <a:lnSpc>
                          <a:spcPct val="107000"/>
                        </a:lnSpc>
                        <a:spcAft>
                          <a:spcPts val="800"/>
                        </a:spcAft>
                      </a:pPr>
                      <a:r>
                        <a:rPr lang="en-GB" sz="1600" b="0" dirty="0">
                          <a:effectLst/>
                        </a:rPr>
                        <a:t>Trivial name:</a:t>
                      </a:r>
                      <a:endParaRPr lang="en-GB" sz="1600" b="0" dirty="0">
                        <a:effectLst/>
                        <a:latin typeface="Calibri" panose="020F0502020204030204" pitchFamily="34" charset="0"/>
                        <a:ea typeface="Calibri" panose="020F0502020204030204" pitchFamily="34" charset="0"/>
                        <a:cs typeface="Times New Roman" panose="02020603050405020304" pitchFamily="18" charset="0"/>
                      </a:endParaRPr>
                    </a:p>
                  </a:txBody>
                  <a:tcPr marL="7826" marR="7826" marT="7826" marB="7826" anchor="ctr"/>
                </a:tc>
                <a:tc>
                  <a:txBody>
                    <a:bodyPr/>
                    <a:lstStyle/>
                    <a:p>
                      <a:pPr>
                        <a:lnSpc>
                          <a:spcPct val="107000"/>
                        </a:lnSpc>
                        <a:spcAft>
                          <a:spcPts val="800"/>
                        </a:spcAft>
                      </a:pPr>
                      <a:r>
                        <a:rPr lang="en-GB" sz="1600" b="1" dirty="0">
                          <a:effectLst/>
                        </a:rPr>
                        <a:t>Pyrazine</a:t>
                      </a:r>
                      <a:endParaRPr lang="en-GB"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7826" marR="7826" marT="7826" marB="7826" anchor="ctr"/>
                </a:tc>
                <a:extLst>
                  <a:ext uri="{0D108BD9-81ED-4DB2-BD59-A6C34878D82A}">
                    <a16:rowId xmlns:a16="http://schemas.microsoft.com/office/drawing/2014/main" val="570711116"/>
                  </a:ext>
                </a:extLst>
              </a:tr>
              <a:tr h="156519">
                <a:tc>
                  <a:txBody>
                    <a:bodyPr/>
                    <a:lstStyle/>
                    <a:p>
                      <a:pPr>
                        <a:lnSpc>
                          <a:spcPct val="107000"/>
                        </a:lnSpc>
                      </a:pPr>
                      <a:endParaRPr lang="en-GB" sz="1600" dirty="0">
                        <a:effectLst/>
                        <a:latin typeface="Calibri" panose="020F0502020204030204" pitchFamily="34" charset="0"/>
                        <a:cs typeface="Times New Roman" panose="02020603050405020304" pitchFamily="18" charset="0"/>
                      </a:endParaRPr>
                    </a:p>
                  </a:txBody>
                  <a:tcPr marL="7826" marR="7826" marT="7826" marB="7826" anchor="ctr"/>
                </a:tc>
                <a:tc>
                  <a:txBody>
                    <a:bodyPr/>
                    <a:lstStyle/>
                    <a:p>
                      <a:pPr>
                        <a:lnSpc>
                          <a:spcPct val="107000"/>
                        </a:lnSpc>
                      </a:pPr>
                      <a:endParaRPr lang="en-GB" sz="1600">
                        <a:effectLst/>
                        <a:latin typeface="Calibri" panose="020F0502020204030204" pitchFamily="34" charset="0"/>
                        <a:cs typeface="Times New Roman" panose="02020603050405020304" pitchFamily="18" charset="0"/>
                      </a:endParaRPr>
                    </a:p>
                  </a:txBody>
                  <a:tcPr marL="7826" marR="7826" marT="7826" marB="7826" anchor="ctr"/>
                </a:tc>
                <a:extLst>
                  <a:ext uri="{0D108BD9-81ED-4DB2-BD59-A6C34878D82A}">
                    <a16:rowId xmlns:a16="http://schemas.microsoft.com/office/drawing/2014/main" val="1700100158"/>
                  </a:ext>
                </a:extLst>
              </a:tr>
              <a:tr h="155163">
                <a:tc>
                  <a:txBody>
                    <a:bodyPr/>
                    <a:lstStyle/>
                    <a:p>
                      <a:pPr>
                        <a:lnSpc>
                          <a:spcPct val="107000"/>
                        </a:lnSpc>
                        <a:spcAft>
                          <a:spcPts val="800"/>
                        </a:spcAft>
                      </a:pPr>
                      <a:r>
                        <a:rPr lang="en-GB" sz="1600" b="0" dirty="0" err="1">
                          <a:effectLst/>
                        </a:rPr>
                        <a:t>Hantzsch</a:t>
                      </a:r>
                      <a:r>
                        <a:rPr lang="en-GB" sz="1600" b="0" dirty="0">
                          <a:effectLst/>
                        </a:rPr>
                        <a:t>-Widman name:</a:t>
                      </a:r>
                      <a:endParaRPr lang="en-GB" sz="1600" b="0" dirty="0">
                        <a:effectLst/>
                        <a:latin typeface="Calibri" panose="020F0502020204030204" pitchFamily="34" charset="0"/>
                        <a:ea typeface="Calibri" panose="020F0502020204030204" pitchFamily="34" charset="0"/>
                        <a:cs typeface="Times New Roman" panose="02020603050405020304" pitchFamily="18" charset="0"/>
                      </a:endParaRPr>
                    </a:p>
                  </a:txBody>
                  <a:tcPr marL="7826" marR="7826" marT="7826" marB="7826" anchor="ctr"/>
                </a:tc>
                <a:tc>
                  <a:txBody>
                    <a:bodyPr/>
                    <a:lstStyle/>
                    <a:p>
                      <a:pPr>
                        <a:lnSpc>
                          <a:spcPct val="107000"/>
                        </a:lnSpc>
                        <a:spcAft>
                          <a:spcPts val="800"/>
                        </a:spcAft>
                      </a:pPr>
                      <a:r>
                        <a:rPr lang="en-GB" sz="1600" dirty="0">
                          <a:effectLst/>
                        </a:rPr>
                        <a:t>1,3-Diazine</a:t>
                      </a:r>
                      <a:endParaRPr lang="en-GB"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7826" marR="7826" marT="7826" marB="7826" anchor="ctr"/>
                </a:tc>
                <a:extLst>
                  <a:ext uri="{0D108BD9-81ED-4DB2-BD59-A6C34878D82A}">
                    <a16:rowId xmlns:a16="http://schemas.microsoft.com/office/drawing/2014/main" val="2092144302"/>
                  </a:ext>
                </a:extLst>
              </a:tr>
              <a:tr h="155163">
                <a:tc>
                  <a:txBody>
                    <a:bodyPr/>
                    <a:lstStyle/>
                    <a:p>
                      <a:pPr>
                        <a:lnSpc>
                          <a:spcPct val="107000"/>
                        </a:lnSpc>
                        <a:spcAft>
                          <a:spcPts val="800"/>
                        </a:spcAft>
                      </a:pPr>
                      <a:r>
                        <a:rPr lang="en-GB" sz="1600" b="0" dirty="0">
                          <a:effectLst/>
                        </a:rPr>
                        <a:t>Replacement name:</a:t>
                      </a:r>
                      <a:endParaRPr lang="en-GB" sz="1600" b="0" dirty="0">
                        <a:effectLst/>
                        <a:latin typeface="Calibri" panose="020F0502020204030204" pitchFamily="34" charset="0"/>
                        <a:ea typeface="Calibri" panose="020F0502020204030204" pitchFamily="34" charset="0"/>
                        <a:cs typeface="Times New Roman" panose="02020603050405020304" pitchFamily="18" charset="0"/>
                      </a:endParaRPr>
                    </a:p>
                  </a:txBody>
                  <a:tcPr marL="7826" marR="7826" marT="7826" marB="7826" anchor="ctr"/>
                </a:tc>
                <a:tc>
                  <a:txBody>
                    <a:bodyPr/>
                    <a:lstStyle/>
                    <a:p>
                      <a:pPr>
                        <a:lnSpc>
                          <a:spcPct val="107000"/>
                        </a:lnSpc>
                        <a:spcAft>
                          <a:spcPts val="800"/>
                        </a:spcAft>
                      </a:pPr>
                      <a:r>
                        <a:rPr lang="en-GB" sz="1600">
                          <a:effectLst/>
                        </a:rPr>
                        <a:t>1.3-Diazabenzene</a:t>
                      </a:r>
                      <a:endParaRPr lang="en-GB" sz="1600">
                        <a:effectLst/>
                        <a:latin typeface="Calibri" panose="020F0502020204030204" pitchFamily="34" charset="0"/>
                        <a:ea typeface="Calibri" panose="020F0502020204030204" pitchFamily="34" charset="0"/>
                        <a:cs typeface="Times New Roman" panose="02020603050405020304" pitchFamily="18" charset="0"/>
                      </a:endParaRPr>
                    </a:p>
                  </a:txBody>
                  <a:tcPr marL="7826" marR="7826" marT="7826" marB="7826" anchor="ctr"/>
                </a:tc>
                <a:extLst>
                  <a:ext uri="{0D108BD9-81ED-4DB2-BD59-A6C34878D82A}">
                    <a16:rowId xmlns:a16="http://schemas.microsoft.com/office/drawing/2014/main" val="152911772"/>
                  </a:ext>
                </a:extLst>
              </a:tr>
              <a:tr h="155163">
                <a:tc>
                  <a:txBody>
                    <a:bodyPr/>
                    <a:lstStyle/>
                    <a:p>
                      <a:pPr>
                        <a:lnSpc>
                          <a:spcPct val="107000"/>
                        </a:lnSpc>
                        <a:spcAft>
                          <a:spcPts val="800"/>
                        </a:spcAft>
                      </a:pPr>
                      <a:r>
                        <a:rPr lang="en-GB" sz="1600" b="0" dirty="0">
                          <a:effectLst/>
                        </a:rPr>
                        <a:t>Trivial name:</a:t>
                      </a:r>
                      <a:endParaRPr lang="en-GB" sz="1600" b="0" dirty="0">
                        <a:effectLst/>
                        <a:latin typeface="Calibri" panose="020F0502020204030204" pitchFamily="34" charset="0"/>
                        <a:ea typeface="Calibri" panose="020F0502020204030204" pitchFamily="34" charset="0"/>
                        <a:cs typeface="Times New Roman" panose="02020603050405020304" pitchFamily="18" charset="0"/>
                      </a:endParaRPr>
                    </a:p>
                  </a:txBody>
                  <a:tcPr marL="7826" marR="7826" marT="7826" marB="7826" anchor="ctr"/>
                </a:tc>
                <a:tc>
                  <a:txBody>
                    <a:bodyPr/>
                    <a:lstStyle/>
                    <a:p>
                      <a:pPr>
                        <a:lnSpc>
                          <a:spcPct val="107000"/>
                        </a:lnSpc>
                        <a:spcAft>
                          <a:spcPts val="800"/>
                        </a:spcAft>
                      </a:pPr>
                      <a:r>
                        <a:rPr lang="en-GB" sz="1600" b="1" dirty="0">
                          <a:effectLst/>
                        </a:rPr>
                        <a:t>Pyrimidine</a:t>
                      </a:r>
                      <a:endParaRPr lang="en-GB"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7826" marR="7826" marT="7826" marB="7826" anchor="ctr"/>
                </a:tc>
                <a:extLst>
                  <a:ext uri="{0D108BD9-81ED-4DB2-BD59-A6C34878D82A}">
                    <a16:rowId xmlns:a16="http://schemas.microsoft.com/office/drawing/2014/main" val="1573562561"/>
                  </a:ext>
                </a:extLst>
              </a:tr>
              <a:tr h="155163">
                <a:tc>
                  <a:txBody>
                    <a:bodyPr/>
                    <a:lstStyle/>
                    <a:p>
                      <a:pPr>
                        <a:lnSpc>
                          <a:spcPct val="107000"/>
                        </a:lnSpc>
                        <a:spcAft>
                          <a:spcPts val="800"/>
                        </a:spcAft>
                      </a:pPr>
                      <a:r>
                        <a:rPr lang="en-GB" sz="1600" b="0">
                          <a:effectLst/>
                        </a:rPr>
                        <a:t> </a:t>
                      </a:r>
                      <a:endParaRPr lang="en-GB" sz="1600" b="0">
                        <a:effectLst/>
                        <a:latin typeface="Calibri" panose="020F0502020204030204" pitchFamily="34" charset="0"/>
                        <a:ea typeface="Calibri" panose="020F0502020204030204" pitchFamily="34" charset="0"/>
                        <a:cs typeface="Times New Roman" panose="02020603050405020304" pitchFamily="18" charset="0"/>
                      </a:endParaRPr>
                    </a:p>
                  </a:txBody>
                  <a:tcPr marL="7826" marR="7826" marT="7826" marB="7826" anchor="ctr"/>
                </a:tc>
                <a:tc>
                  <a:txBody>
                    <a:bodyPr/>
                    <a:lstStyle/>
                    <a:p>
                      <a:pPr>
                        <a:lnSpc>
                          <a:spcPct val="107000"/>
                        </a:lnSpc>
                        <a:spcAft>
                          <a:spcPts val="800"/>
                        </a:spcAft>
                      </a:pPr>
                      <a:r>
                        <a:rPr lang="en-GB" sz="1600" dirty="0">
                          <a:effectLst/>
                        </a:rPr>
                        <a:t> </a:t>
                      </a:r>
                      <a:endParaRPr lang="en-GB"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7826" marR="7826" marT="7826" marB="7826" anchor="ctr"/>
                </a:tc>
                <a:extLst>
                  <a:ext uri="{0D108BD9-81ED-4DB2-BD59-A6C34878D82A}">
                    <a16:rowId xmlns:a16="http://schemas.microsoft.com/office/drawing/2014/main" val="3493964927"/>
                  </a:ext>
                </a:extLst>
              </a:tr>
              <a:tr h="155163">
                <a:tc>
                  <a:txBody>
                    <a:bodyPr/>
                    <a:lstStyle/>
                    <a:p>
                      <a:pPr>
                        <a:lnSpc>
                          <a:spcPct val="107000"/>
                        </a:lnSpc>
                        <a:spcAft>
                          <a:spcPts val="800"/>
                        </a:spcAft>
                      </a:pPr>
                      <a:r>
                        <a:rPr lang="en-GB" sz="1600" b="0" dirty="0" err="1">
                          <a:effectLst/>
                        </a:rPr>
                        <a:t>Hantzsch</a:t>
                      </a:r>
                      <a:r>
                        <a:rPr lang="en-GB" sz="1600" b="0" dirty="0">
                          <a:effectLst/>
                        </a:rPr>
                        <a:t>-Widman name:   </a:t>
                      </a:r>
                      <a:endParaRPr lang="en-GB" sz="1600" b="0" dirty="0">
                        <a:effectLst/>
                        <a:latin typeface="Calibri" panose="020F0502020204030204" pitchFamily="34" charset="0"/>
                        <a:ea typeface="Calibri" panose="020F0502020204030204" pitchFamily="34" charset="0"/>
                        <a:cs typeface="Times New Roman" panose="02020603050405020304" pitchFamily="18" charset="0"/>
                      </a:endParaRPr>
                    </a:p>
                  </a:txBody>
                  <a:tcPr marL="7826" marR="7826" marT="7826" marB="7826" anchor="ctr"/>
                </a:tc>
                <a:tc>
                  <a:txBody>
                    <a:bodyPr/>
                    <a:lstStyle/>
                    <a:p>
                      <a:pPr>
                        <a:lnSpc>
                          <a:spcPct val="107000"/>
                        </a:lnSpc>
                        <a:spcAft>
                          <a:spcPts val="800"/>
                        </a:spcAft>
                      </a:pPr>
                      <a:r>
                        <a:rPr lang="en-GB" sz="1600">
                          <a:effectLst/>
                        </a:rPr>
                        <a:t>1,2-Diazine</a:t>
                      </a:r>
                      <a:endParaRPr lang="en-GB" sz="1600">
                        <a:effectLst/>
                        <a:latin typeface="Calibri" panose="020F0502020204030204" pitchFamily="34" charset="0"/>
                        <a:ea typeface="Calibri" panose="020F0502020204030204" pitchFamily="34" charset="0"/>
                        <a:cs typeface="Times New Roman" panose="02020603050405020304" pitchFamily="18" charset="0"/>
                      </a:endParaRPr>
                    </a:p>
                  </a:txBody>
                  <a:tcPr marL="7826" marR="7826" marT="7826" marB="7826" anchor="ctr"/>
                </a:tc>
                <a:extLst>
                  <a:ext uri="{0D108BD9-81ED-4DB2-BD59-A6C34878D82A}">
                    <a16:rowId xmlns:a16="http://schemas.microsoft.com/office/drawing/2014/main" val="2089587964"/>
                  </a:ext>
                </a:extLst>
              </a:tr>
              <a:tr h="155163">
                <a:tc>
                  <a:txBody>
                    <a:bodyPr/>
                    <a:lstStyle/>
                    <a:p>
                      <a:pPr>
                        <a:lnSpc>
                          <a:spcPct val="107000"/>
                        </a:lnSpc>
                        <a:spcAft>
                          <a:spcPts val="800"/>
                        </a:spcAft>
                      </a:pPr>
                      <a:r>
                        <a:rPr lang="en-GB" sz="1600" b="0" dirty="0">
                          <a:effectLst/>
                        </a:rPr>
                        <a:t>Replacement name:</a:t>
                      </a:r>
                      <a:endParaRPr lang="en-GB" sz="1600" b="0" dirty="0">
                        <a:effectLst/>
                        <a:latin typeface="Calibri" panose="020F0502020204030204" pitchFamily="34" charset="0"/>
                        <a:ea typeface="Calibri" panose="020F0502020204030204" pitchFamily="34" charset="0"/>
                        <a:cs typeface="Times New Roman" panose="02020603050405020304" pitchFamily="18" charset="0"/>
                      </a:endParaRPr>
                    </a:p>
                  </a:txBody>
                  <a:tcPr marL="7826" marR="7826" marT="7826" marB="7826" anchor="ctr"/>
                </a:tc>
                <a:tc>
                  <a:txBody>
                    <a:bodyPr/>
                    <a:lstStyle/>
                    <a:p>
                      <a:pPr>
                        <a:lnSpc>
                          <a:spcPct val="107000"/>
                        </a:lnSpc>
                        <a:spcAft>
                          <a:spcPts val="800"/>
                        </a:spcAft>
                      </a:pPr>
                      <a:r>
                        <a:rPr lang="en-GB" sz="1600">
                          <a:effectLst/>
                        </a:rPr>
                        <a:t>1,2-Diazabenzene</a:t>
                      </a:r>
                      <a:endParaRPr lang="en-GB" sz="1600">
                        <a:effectLst/>
                        <a:latin typeface="Calibri" panose="020F0502020204030204" pitchFamily="34" charset="0"/>
                        <a:ea typeface="Calibri" panose="020F0502020204030204" pitchFamily="34" charset="0"/>
                        <a:cs typeface="Times New Roman" panose="02020603050405020304" pitchFamily="18" charset="0"/>
                      </a:endParaRPr>
                    </a:p>
                  </a:txBody>
                  <a:tcPr marL="7826" marR="7826" marT="7826" marB="7826" anchor="ctr"/>
                </a:tc>
                <a:extLst>
                  <a:ext uri="{0D108BD9-81ED-4DB2-BD59-A6C34878D82A}">
                    <a16:rowId xmlns:a16="http://schemas.microsoft.com/office/drawing/2014/main" val="140173505"/>
                  </a:ext>
                </a:extLst>
              </a:tr>
              <a:tr h="155163">
                <a:tc>
                  <a:txBody>
                    <a:bodyPr/>
                    <a:lstStyle/>
                    <a:p>
                      <a:pPr>
                        <a:lnSpc>
                          <a:spcPct val="107000"/>
                        </a:lnSpc>
                        <a:spcAft>
                          <a:spcPts val="800"/>
                        </a:spcAft>
                      </a:pPr>
                      <a:r>
                        <a:rPr lang="en-GB" sz="1600" b="0" dirty="0">
                          <a:effectLst/>
                        </a:rPr>
                        <a:t>Trivial name:</a:t>
                      </a:r>
                      <a:endParaRPr lang="en-GB" sz="1600" b="0" dirty="0">
                        <a:effectLst/>
                        <a:latin typeface="Calibri" panose="020F0502020204030204" pitchFamily="34" charset="0"/>
                        <a:ea typeface="Calibri" panose="020F0502020204030204" pitchFamily="34" charset="0"/>
                        <a:cs typeface="Times New Roman" panose="02020603050405020304" pitchFamily="18" charset="0"/>
                      </a:endParaRPr>
                    </a:p>
                  </a:txBody>
                  <a:tcPr marL="7826" marR="7826" marT="7826" marB="7826" anchor="ctr"/>
                </a:tc>
                <a:tc>
                  <a:txBody>
                    <a:bodyPr/>
                    <a:lstStyle/>
                    <a:p>
                      <a:pPr>
                        <a:lnSpc>
                          <a:spcPct val="107000"/>
                        </a:lnSpc>
                        <a:spcAft>
                          <a:spcPts val="800"/>
                        </a:spcAft>
                      </a:pPr>
                      <a:r>
                        <a:rPr lang="en-GB" sz="1600" b="1" dirty="0">
                          <a:effectLst/>
                        </a:rPr>
                        <a:t>Pyridazine</a:t>
                      </a:r>
                      <a:endParaRPr lang="en-GB"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7826" marR="7826" marT="7826" marB="7826" anchor="ctr"/>
                </a:tc>
                <a:extLst>
                  <a:ext uri="{0D108BD9-81ED-4DB2-BD59-A6C34878D82A}">
                    <a16:rowId xmlns:a16="http://schemas.microsoft.com/office/drawing/2014/main" val="1615597027"/>
                  </a:ext>
                </a:extLst>
              </a:tr>
              <a:tr h="155163">
                <a:tc>
                  <a:txBody>
                    <a:bodyPr/>
                    <a:lstStyle/>
                    <a:p>
                      <a:pPr>
                        <a:lnSpc>
                          <a:spcPct val="107000"/>
                        </a:lnSpc>
                        <a:spcAft>
                          <a:spcPts val="800"/>
                        </a:spcAft>
                      </a:pPr>
                      <a:r>
                        <a:rPr lang="en-GB" sz="1600" b="0" dirty="0">
                          <a:effectLst/>
                        </a:rPr>
                        <a:t> </a:t>
                      </a:r>
                      <a:endParaRPr lang="en-GB" sz="1600" b="0" dirty="0">
                        <a:effectLst/>
                        <a:latin typeface="Calibri" panose="020F0502020204030204" pitchFamily="34" charset="0"/>
                        <a:ea typeface="Calibri" panose="020F0502020204030204" pitchFamily="34" charset="0"/>
                        <a:cs typeface="Times New Roman" panose="02020603050405020304" pitchFamily="18" charset="0"/>
                      </a:endParaRPr>
                    </a:p>
                  </a:txBody>
                  <a:tcPr marL="7826" marR="7826" marT="7826" marB="7826" anchor="ctr"/>
                </a:tc>
                <a:tc>
                  <a:txBody>
                    <a:bodyPr/>
                    <a:lstStyle/>
                    <a:p>
                      <a:pPr>
                        <a:lnSpc>
                          <a:spcPct val="107000"/>
                        </a:lnSpc>
                        <a:spcAft>
                          <a:spcPts val="800"/>
                        </a:spcAft>
                      </a:pPr>
                      <a:r>
                        <a:rPr lang="en-GB" sz="1600" dirty="0">
                          <a:effectLst/>
                        </a:rPr>
                        <a:t> </a:t>
                      </a:r>
                      <a:endParaRPr lang="en-GB"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7826" marR="7826" marT="7826" marB="7826" anchor="ctr"/>
                </a:tc>
                <a:extLst>
                  <a:ext uri="{0D108BD9-81ED-4DB2-BD59-A6C34878D82A}">
                    <a16:rowId xmlns:a16="http://schemas.microsoft.com/office/drawing/2014/main" val="2820377710"/>
                  </a:ext>
                </a:extLst>
              </a:tr>
              <a:tr h="155163">
                <a:tc>
                  <a:txBody>
                    <a:bodyPr/>
                    <a:lstStyle/>
                    <a:p>
                      <a:pPr>
                        <a:lnSpc>
                          <a:spcPct val="107000"/>
                        </a:lnSpc>
                        <a:spcAft>
                          <a:spcPts val="800"/>
                        </a:spcAft>
                      </a:pPr>
                      <a:r>
                        <a:rPr lang="en-GB" sz="1600" b="0" dirty="0" err="1">
                          <a:effectLst/>
                        </a:rPr>
                        <a:t>Hantzsch</a:t>
                      </a:r>
                      <a:r>
                        <a:rPr lang="en-GB" sz="1600" b="0" dirty="0">
                          <a:effectLst/>
                        </a:rPr>
                        <a:t>-Widman:</a:t>
                      </a:r>
                      <a:endParaRPr lang="en-GB" sz="1600" b="0" dirty="0">
                        <a:effectLst/>
                        <a:latin typeface="Calibri" panose="020F0502020204030204" pitchFamily="34" charset="0"/>
                        <a:ea typeface="Calibri" panose="020F0502020204030204" pitchFamily="34" charset="0"/>
                        <a:cs typeface="Times New Roman" panose="02020603050405020304" pitchFamily="18" charset="0"/>
                      </a:endParaRPr>
                    </a:p>
                  </a:txBody>
                  <a:tcPr marL="7826" marR="7826" marT="7826" marB="7826" anchor="ctr"/>
                </a:tc>
                <a:tc>
                  <a:txBody>
                    <a:bodyPr/>
                    <a:lstStyle/>
                    <a:p>
                      <a:pPr>
                        <a:lnSpc>
                          <a:spcPct val="107000"/>
                        </a:lnSpc>
                        <a:spcAft>
                          <a:spcPts val="800"/>
                        </a:spcAft>
                      </a:pPr>
                      <a:r>
                        <a:rPr lang="en-GB" sz="1600">
                          <a:effectLst/>
                        </a:rPr>
                        <a:t>2,4,6-Triamino-1,3,5-triazine</a:t>
                      </a:r>
                      <a:endParaRPr lang="en-GB" sz="1600">
                        <a:effectLst/>
                        <a:latin typeface="Calibri" panose="020F0502020204030204" pitchFamily="34" charset="0"/>
                        <a:ea typeface="Calibri" panose="020F0502020204030204" pitchFamily="34" charset="0"/>
                        <a:cs typeface="Times New Roman" panose="02020603050405020304" pitchFamily="18" charset="0"/>
                      </a:endParaRPr>
                    </a:p>
                  </a:txBody>
                  <a:tcPr marL="7826" marR="7826" marT="7826" marB="7826" anchor="ctr"/>
                </a:tc>
                <a:extLst>
                  <a:ext uri="{0D108BD9-81ED-4DB2-BD59-A6C34878D82A}">
                    <a16:rowId xmlns:a16="http://schemas.microsoft.com/office/drawing/2014/main" val="4272004938"/>
                  </a:ext>
                </a:extLst>
              </a:tr>
              <a:tr h="155163">
                <a:tc>
                  <a:txBody>
                    <a:bodyPr/>
                    <a:lstStyle/>
                    <a:p>
                      <a:pPr>
                        <a:lnSpc>
                          <a:spcPct val="107000"/>
                        </a:lnSpc>
                        <a:spcAft>
                          <a:spcPts val="800"/>
                        </a:spcAft>
                      </a:pPr>
                      <a:r>
                        <a:rPr lang="en-GB" sz="1600" b="0" dirty="0">
                          <a:effectLst/>
                        </a:rPr>
                        <a:t>Replacement:</a:t>
                      </a:r>
                      <a:endParaRPr lang="en-GB" sz="1600" b="0" dirty="0">
                        <a:effectLst/>
                        <a:latin typeface="Calibri" panose="020F0502020204030204" pitchFamily="34" charset="0"/>
                        <a:ea typeface="Calibri" panose="020F0502020204030204" pitchFamily="34" charset="0"/>
                        <a:cs typeface="Times New Roman" panose="02020603050405020304" pitchFamily="18" charset="0"/>
                      </a:endParaRPr>
                    </a:p>
                  </a:txBody>
                  <a:tcPr marL="7826" marR="7826" marT="7826" marB="7826" anchor="ctr"/>
                </a:tc>
                <a:tc>
                  <a:txBody>
                    <a:bodyPr/>
                    <a:lstStyle/>
                    <a:p>
                      <a:pPr>
                        <a:lnSpc>
                          <a:spcPct val="107000"/>
                        </a:lnSpc>
                        <a:spcAft>
                          <a:spcPts val="800"/>
                        </a:spcAft>
                      </a:pPr>
                      <a:r>
                        <a:rPr lang="en-GB" sz="1600">
                          <a:effectLst/>
                        </a:rPr>
                        <a:t>2,4,6-Triamino-1,3,5-triazabenzene</a:t>
                      </a:r>
                      <a:endParaRPr lang="en-GB" sz="1600">
                        <a:effectLst/>
                        <a:latin typeface="Calibri" panose="020F0502020204030204" pitchFamily="34" charset="0"/>
                        <a:ea typeface="Calibri" panose="020F0502020204030204" pitchFamily="34" charset="0"/>
                        <a:cs typeface="Times New Roman" panose="02020603050405020304" pitchFamily="18" charset="0"/>
                      </a:endParaRPr>
                    </a:p>
                  </a:txBody>
                  <a:tcPr marL="7826" marR="7826" marT="7826" marB="7826" anchor="ctr"/>
                </a:tc>
                <a:extLst>
                  <a:ext uri="{0D108BD9-81ED-4DB2-BD59-A6C34878D82A}">
                    <a16:rowId xmlns:a16="http://schemas.microsoft.com/office/drawing/2014/main" val="3290306186"/>
                  </a:ext>
                </a:extLst>
              </a:tr>
              <a:tr h="155163">
                <a:tc>
                  <a:txBody>
                    <a:bodyPr/>
                    <a:lstStyle/>
                    <a:p>
                      <a:pPr>
                        <a:lnSpc>
                          <a:spcPct val="107000"/>
                        </a:lnSpc>
                        <a:spcAft>
                          <a:spcPts val="800"/>
                        </a:spcAft>
                      </a:pPr>
                      <a:r>
                        <a:rPr lang="en-GB" sz="1600" b="0" dirty="0">
                          <a:effectLst/>
                        </a:rPr>
                        <a:t>Trivial:</a:t>
                      </a:r>
                      <a:endParaRPr lang="en-GB" sz="1600" b="0" dirty="0">
                        <a:effectLst/>
                        <a:latin typeface="Calibri" panose="020F0502020204030204" pitchFamily="34" charset="0"/>
                        <a:ea typeface="Calibri" panose="020F0502020204030204" pitchFamily="34" charset="0"/>
                        <a:cs typeface="Times New Roman" panose="02020603050405020304" pitchFamily="18" charset="0"/>
                      </a:endParaRPr>
                    </a:p>
                  </a:txBody>
                  <a:tcPr marL="7826" marR="7826" marT="7826" marB="7826" anchor="ctr"/>
                </a:tc>
                <a:tc>
                  <a:txBody>
                    <a:bodyPr/>
                    <a:lstStyle/>
                    <a:p>
                      <a:pPr>
                        <a:lnSpc>
                          <a:spcPct val="107000"/>
                        </a:lnSpc>
                        <a:spcAft>
                          <a:spcPts val="800"/>
                        </a:spcAft>
                      </a:pPr>
                      <a:r>
                        <a:rPr lang="en-GB" sz="1600" b="1" dirty="0">
                          <a:effectLst/>
                        </a:rPr>
                        <a:t>Melamine</a:t>
                      </a:r>
                      <a:endParaRPr lang="en-GB"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7826" marR="7826" marT="7826" marB="7826" anchor="ctr"/>
                </a:tc>
                <a:extLst>
                  <a:ext uri="{0D108BD9-81ED-4DB2-BD59-A6C34878D82A}">
                    <a16:rowId xmlns:a16="http://schemas.microsoft.com/office/drawing/2014/main" val="3010269163"/>
                  </a:ext>
                </a:extLst>
              </a:tr>
              <a:tr h="155163">
                <a:tc>
                  <a:txBody>
                    <a:bodyPr/>
                    <a:lstStyle/>
                    <a:p>
                      <a:pPr>
                        <a:lnSpc>
                          <a:spcPct val="107000"/>
                        </a:lnSpc>
                        <a:spcAft>
                          <a:spcPts val="800"/>
                        </a:spcAft>
                      </a:pPr>
                      <a:r>
                        <a:rPr lang="en-GB" sz="1600" b="0" dirty="0">
                          <a:effectLst/>
                        </a:rPr>
                        <a:t> </a:t>
                      </a:r>
                      <a:endParaRPr lang="en-GB" sz="1600" b="0" dirty="0">
                        <a:effectLst/>
                        <a:latin typeface="Calibri" panose="020F0502020204030204" pitchFamily="34" charset="0"/>
                        <a:ea typeface="Calibri" panose="020F0502020204030204" pitchFamily="34" charset="0"/>
                        <a:cs typeface="Times New Roman" panose="02020603050405020304" pitchFamily="18" charset="0"/>
                      </a:endParaRPr>
                    </a:p>
                  </a:txBody>
                  <a:tcPr marL="7826" marR="7826" marT="7826" marB="7826" anchor="ctr"/>
                </a:tc>
                <a:tc>
                  <a:txBody>
                    <a:bodyPr/>
                    <a:lstStyle/>
                    <a:p>
                      <a:pPr>
                        <a:lnSpc>
                          <a:spcPct val="107000"/>
                        </a:lnSpc>
                        <a:spcAft>
                          <a:spcPts val="800"/>
                        </a:spcAft>
                      </a:pPr>
                      <a:r>
                        <a:rPr lang="en-GB" sz="1600" dirty="0">
                          <a:effectLst/>
                        </a:rPr>
                        <a:t> </a:t>
                      </a:r>
                      <a:endParaRPr lang="en-GB"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7826" marR="7826" marT="7826" marB="7826" anchor="ctr"/>
                </a:tc>
                <a:extLst>
                  <a:ext uri="{0D108BD9-81ED-4DB2-BD59-A6C34878D82A}">
                    <a16:rowId xmlns:a16="http://schemas.microsoft.com/office/drawing/2014/main" val="956907287"/>
                  </a:ext>
                </a:extLst>
              </a:tr>
              <a:tr h="155163">
                <a:tc>
                  <a:txBody>
                    <a:bodyPr/>
                    <a:lstStyle/>
                    <a:p>
                      <a:pPr>
                        <a:lnSpc>
                          <a:spcPct val="107000"/>
                        </a:lnSpc>
                        <a:spcAft>
                          <a:spcPts val="800"/>
                        </a:spcAft>
                      </a:pPr>
                      <a:r>
                        <a:rPr lang="en-GB" sz="1600" b="0" dirty="0" err="1">
                          <a:effectLst/>
                        </a:rPr>
                        <a:t>Hantzsch</a:t>
                      </a:r>
                      <a:r>
                        <a:rPr lang="en-GB" sz="1600" b="0" dirty="0">
                          <a:effectLst/>
                        </a:rPr>
                        <a:t>-Widman:</a:t>
                      </a:r>
                      <a:endParaRPr lang="en-GB" sz="1600" b="0" dirty="0">
                        <a:effectLst/>
                        <a:latin typeface="Calibri" panose="020F0502020204030204" pitchFamily="34" charset="0"/>
                        <a:ea typeface="Calibri" panose="020F0502020204030204" pitchFamily="34" charset="0"/>
                        <a:cs typeface="Times New Roman" panose="02020603050405020304" pitchFamily="18" charset="0"/>
                      </a:endParaRPr>
                    </a:p>
                  </a:txBody>
                  <a:tcPr marL="7826" marR="7826" marT="7826" marB="7826" anchor="ctr"/>
                </a:tc>
                <a:tc>
                  <a:txBody>
                    <a:bodyPr/>
                    <a:lstStyle/>
                    <a:p>
                      <a:pPr>
                        <a:lnSpc>
                          <a:spcPct val="107000"/>
                        </a:lnSpc>
                        <a:spcAft>
                          <a:spcPts val="800"/>
                        </a:spcAft>
                      </a:pPr>
                      <a:r>
                        <a:rPr lang="en-GB" sz="1600">
                          <a:effectLst/>
                        </a:rPr>
                        <a:t>2,4,6-Trihydroxy-1,3,5-triazine</a:t>
                      </a:r>
                      <a:endParaRPr lang="en-GB" sz="1600">
                        <a:effectLst/>
                        <a:latin typeface="Calibri" panose="020F0502020204030204" pitchFamily="34" charset="0"/>
                        <a:ea typeface="Calibri" panose="020F0502020204030204" pitchFamily="34" charset="0"/>
                        <a:cs typeface="Times New Roman" panose="02020603050405020304" pitchFamily="18" charset="0"/>
                      </a:endParaRPr>
                    </a:p>
                  </a:txBody>
                  <a:tcPr marL="7826" marR="7826" marT="7826" marB="7826" anchor="ctr"/>
                </a:tc>
                <a:extLst>
                  <a:ext uri="{0D108BD9-81ED-4DB2-BD59-A6C34878D82A}">
                    <a16:rowId xmlns:a16="http://schemas.microsoft.com/office/drawing/2014/main" val="3892801827"/>
                  </a:ext>
                </a:extLst>
              </a:tr>
              <a:tr h="155163">
                <a:tc>
                  <a:txBody>
                    <a:bodyPr/>
                    <a:lstStyle/>
                    <a:p>
                      <a:pPr>
                        <a:lnSpc>
                          <a:spcPct val="107000"/>
                        </a:lnSpc>
                        <a:spcAft>
                          <a:spcPts val="800"/>
                        </a:spcAft>
                      </a:pPr>
                      <a:r>
                        <a:rPr lang="en-GB" sz="1600" b="0" dirty="0">
                          <a:effectLst/>
                        </a:rPr>
                        <a:t>Replacement:</a:t>
                      </a:r>
                      <a:endParaRPr lang="en-GB" sz="1600" b="0" dirty="0">
                        <a:effectLst/>
                        <a:latin typeface="Calibri" panose="020F0502020204030204" pitchFamily="34" charset="0"/>
                        <a:ea typeface="Calibri" panose="020F0502020204030204" pitchFamily="34" charset="0"/>
                        <a:cs typeface="Times New Roman" panose="02020603050405020304" pitchFamily="18" charset="0"/>
                      </a:endParaRPr>
                    </a:p>
                  </a:txBody>
                  <a:tcPr marL="7826" marR="7826" marT="7826" marB="7826" anchor="ctr"/>
                </a:tc>
                <a:tc>
                  <a:txBody>
                    <a:bodyPr/>
                    <a:lstStyle/>
                    <a:p>
                      <a:pPr>
                        <a:lnSpc>
                          <a:spcPct val="107000"/>
                        </a:lnSpc>
                        <a:spcAft>
                          <a:spcPts val="800"/>
                        </a:spcAft>
                      </a:pPr>
                      <a:r>
                        <a:rPr lang="en-GB" sz="1600">
                          <a:effectLst/>
                        </a:rPr>
                        <a:t>2,4,6-Trihydroxy-1,3,5-triazabenzene</a:t>
                      </a:r>
                      <a:endParaRPr lang="en-GB" sz="1600">
                        <a:effectLst/>
                        <a:latin typeface="Calibri" panose="020F0502020204030204" pitchFamily="34" charset="0"/>
                        <a:ea typeface="Calibri" panose="020F0502020204030204" pitchFamily="34" charset="0"/>
                        <a:cs typeface="Times New Roman" panose="02020603050405020304" pitchFamily="18" charset="0"/>
                      </a:endParaRPr>
                    </a:p>
                  </a:txBody>
                  <a:tcPr marL="7826" marR="7826" marT="7826" marB="7826" anchor="ctr"/>
                </a:tc>
                <a:extLst>
                  <a:ext uri="{0D108BD9-81ED-4DB2-BD59-A6C34878D82A}">
                    <a16:rowId xmlns:a16="http://schemas.microsoft.com/office/drawing/2014/main" val="3989501327"/>
                  </a:ext>
                </a:extLst>
              </a:tr>
              <a:tr h="155163">
                <a:tc>
                  <a:txBody>
                    <a:bodyPr/>
                    <a:lstStyle/>
                    <a:p>
                      <a:pPr>
                        <a:lnSpc>
                          <a:spcPct val="107000"/>
                        </a:lnSpc>
                        <a:spcAft>
                          <a:spcPts val="800"/>
                        </a:spcAft>
                      </a:pPr>
                      <a:r>
                        <a:rPr lang="en-GB" sz="1600" b="0" dirty="0">
                          <a:effectLst/>
                        </a:rPr>
                        <a:t>Trivial:</a:t>
                      </a:r>
                      <a:endParaRPr lang="en-GB" sz="1600" b="0" dirty="0">
                        <a:effectLst/>
                        <a:latin typeface="Calibri" panose="020F0502020204030204" pitchFamily="34" charset="0"/>
                        <a:ea typeface="Calibri" panose="020F0502020204030204" pitchFamily="34" charset="0"/>
                        <a:cs typeface="Times New Roman" panose="02020603050405020304" pitchFamily="18" charset="0"/>
                      </a:endParaRPr>
                    </a:p>
                  </a:txBody>
                  <a:tcPr marL="7826" marR="7826" marT="7826" marB="7826" anchor="ctr"/>
                </a:tc>
                <a:tc>
                  <a:txBody>
                    <a:bodyPr/>
                    <a:lstStyle/>
                    <a:p>
                      <a:pPr>
                        <a:lnSpc>
                          <a:spcPct val="107000"/>
                        </a:lnSpc>
                        <a:spcAft>
                          <a:spcPts val="800"/>
                        </a:spcAft>
                      </a:pPr>
                      <a:r>
                        <a:rPr lang="en-GB" sz="1600" b="1" dirty="0">
                          <a:effectLst/>
                        </a:rPr>
                        <a:t>Cyanuric acid</a:t>
                      </a:r>
                      <a:endParaRPr lang="en-GB"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7826" marR="7826" marT="7826" marB="7826" anchor="ctr"/>
                </a:tc>
                <a:extLst>
                  <a:ext uri="{0D108BD9-81ED-4DB2-BD59-A6C34878D82A}">
                    <a16:rowId xmlns:a16="http://schemas.microsoft.com/office/drawing/2014/main" val="3028910488"/>
                  </a:ext>
                </a:extLst>
              </a:tr>
            </a:tbl>
          </a:graphicData>
        </a:graphic>
      </p:graphicFrame>
      <p:graphicFrame>
        <p:nvGraphicFramePr>
          <p:cNvPr id="6" name="Таблица 5">
            <a:extLst>
              <a:ext uri="{FF2B5EF4-FFF2-40B4-BE49-F238E27FC236}">
                <a16:creationId xmlns:a16="http://schemas.microsoft.com/office/drawing/2014/main" id="{74EF4BE1-CD07-4B66-9A37-B4EF23CC1DDB}"/>
              </a:ext>
            </a:extLst>
          </p:cNvPr>
          <p:cNvGraphicFramePr>
            <a:graphicFrameLocks noGrp="1"/>
          </p:cNvGraphicFramePr>
          <p:nvPr>
            <p:extLst>
              <p:ext uri="{D42A27DB-BD31-4B8C-83A1-F6EECF244321}">
                <p14:modId xmlns:p14="http://schemas.microsoft.com/office/powerpoint/2010/main" val="1419788106"/>
              </p:ext>
            </p:extLst>
          </p:nvPr>
        </p:nvGraphicFramePr>
        <p:xfrm>
          <a:off x="6439435" y="851115"/>
          <a:ext cx="5447846" cy="3488563"/>
        </p:xfrm>
        <a:graphic>
          <a:graphicData uri="http://schemas.openxmlformats.org/drawingml/2006/table">
            <a:tbl>
              <a:tblPr firstRow="1" firstCol="1" bandRow="1">
                <a:tableStyleId>{C083E6E3-FA7D-4D7B-A595-EF9225AFEA82}</a:tableStyleId>
              </a:tblPr>
              <a:tblGrid>
                <a:gridCol w="2723923">
                  <a:extLst>
                    <a:ext uri="{9D8B030D-6E8A-4147-A177-3AD203B41FA5}">
                      <a16:colId xmlns:a16="http://schemas.microsoft.com/office/drawing/2014/main" val="3630395599"/>
                    </a:ext>
                  </a:extLst>
                </a:gridCol>
                <a:gridCol w="2723923">
                  <a:extLst>
                    <a:ext uri="{9D8B030D-6E8A-4147-A177-3AD203B41FA5}">
                      <a16:colId xmlns:a16="http://schemas.microsoft.com/office/drawing/2014/main" val="2121113892"/>
                    </a:ext>
                  </a:extLst>
                </a:gridCol>
              </a:tblGrid>
              <a:tr h="0">
                <a:tc>
                  <a:txBody>
                    <a:bodyPr/>
                    <a:lstStyle/>
                    <a:p>
                      <a:pPr>
                        <a:lnSpc>
                          <a:spcPct val="107000"/>
                        </a:lnSpc>
                        <a:spcAft>
                          <a:spcPts val="800"/>
                        </a:spcAft>
                      </a:pPr>
                      <a:r>
                        <a:rPr lang="en-GB" sz="1600" b="0" dirty="0" err="1">
                          <a:effectLst/>
                        </a:rPr>
                        <a:t>Hantzsch</a:t>
                      </a:r>
                      <a:r>
                        <a:rPr lang="en-GB" sz="1600" b="0" dirty="0">
                          <a:effectLst/>
                        </a:rPr>
                        <a:t>-Widman:</a:t>
                      </a:r>
                      <a:endParaRPr lang="en-GB" sz="16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en-GB" sz="1600" b="0" dirty="0">
                          <a:effectLst/>
                        </a:rPr>
                        <a:t>1,2-Dihydroazine</a:t>
                      </a:r>
                      <a:endParaRPr lang="en-GB" sz="16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547164044"/>
                  </a:ext>
                </a:extLst>
              </a:tr>
              <a:tr h="0">
                <a:tc>
                  <a:txBody>
                    <a:bodyPr/>
                    <a:lstStyle/>
                    <a:p>
                      <a:pPr>
                        <a:lnSpc>
                          <a:spcPct val="107000"/>
                        </a:lnSpc>
                        <a:spcAft>
                          <a:spcPts val="800"/>
                        </a:spcAft>
                      </a:pPr>
                      <a:r>
                        <a:rPr lang="en-GB" sz="1600" b="0" dirty="0">
                          <a:effectLst/>
                        </a:rPr>
                        <a:t>Replacement:</a:t>
                      </a:r>
                      <a:endParaRPr lang="en-GB" sz="16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en-GB" sz="1600">
                          <a:effectLst/>
                        </a:rPr>
                        <a:t>1-Azacyclohexa-3,5-diene</a:t>
                      </a:r>
                      <a:endParaRPr lang="en-GB" sz="16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755573484"/>
                  </a:ext>
                </a:extLst>
              </a:tr>
              <a:tr h="0">
                <a:tc>
                  <a:txBody>
                    <a:bodyPr/>
                    <a:lstStyle/>
                    <a:p>
                      <a:pPr>
                        <a:lnSpc>
                          <a:spcPct val="107000"/>
                        </a:lnSpc>
                        <a:spcAft>
                          <a:spcPts val="800"/>
                        </a:spcAft>
                      </a:pPr>
                      <a:r>
                        <a:rPr lang="en-GB" sz="1600" b="0" dirty="0">
                          <a:effectLst/>
                        </a:rPr>
                        <a:t>Trivial:</a:t>
                      </a:r>
                      <a:endParaRPr lang="en-GB" sz="16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en-GB" sz="1600" b="1" dirty="0">
                          <a:effectLst/>
                        </a:rPr>
                        <a:t>1,2-Dihydropyridine</a:t>
                      </a:r>
                      <a:endParaRPr lang="en-GB"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932543135"/>
                  </a:ext>
                </a:extLst>
              </a:tr>
              <a:tr h="0">
                <a:tc>
                  <a:txBody>
                    <a:bodyPr/>
                    <a:lstStyle/>
                    <a:p>
                      <a:pPr>
                        <a:lnSpc>
                          <a:spcPct val="107000"/>
                        </a:lnSpc>
                      </a:pPr>
                      <a:endParaRPr lang="en-GB" sz="1600" b="0" dirty="0">
                        <a:effectLst/>
                        <a:latin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pPr>
                      <a:endParaRPr lang="en-GB" sz="1600">
                        <a:effectLst/>
                        <a:latin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340258255"/>
                  </a:ext>
                </a:extLst>
              </a:tr>
              <a:tr h="0">
                <a:tc>
                  <a:txBody>
                    <a:bodyPr/>
                    <a:lstStyle/>
                    <a:p>
                      <a:pPr>
                        <a:lnSpc>
                          <a:spcPct val="107000"/>
                        </a:lnSpc>
                        <a:spcAft>
                          <a:spcPts val="800"/>
                        </a:spcAft>
                      </a:pPr>
                      <a:r>
                        <a:rPr lang="en-GB" sz="1600" b="0" dirty="0">
                          <a:effectLst/>
                        </a:rPr>
                        <a:t> </a:t>
                      </a:r>
                      <a:endParaRPr lang="en-GB" sz="16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en-GB" sz="1600">
                          <a:effectLst/>
                        </a:rPr>
                        <a:t> </a:t>
                      </a:r>
                      <a:endParaRPr lang="en-GB" sz="16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62921700"/>
                  </a:ext>
                </a:extLst>
              </a:tr>
              <a:tr h="0">
                <a:tc>
                  <a:txBody>
                    <a:bodyPr/>
                    <a:lstStyle/>
                    <a:p>
                      <a:pPr>
                        <a:lnSpc>
                          <a:spcPct val="107000"/>
                        </a:lnSpc>
                        <a:spcAft>
                          <a:spcPts val="800"/>
                        </a:spcAft>
                      </a:pPr>
                      <a:r>
                        <a:rPr lang="en-GB" sz="1600" b="0">
                          <a:effectLst/>
                        </a:rPr>
                        <a:t>Hantzsch-Widman:</a:t>
                      </a:r>
                      <a:endParaRPr lang="en-GB" sz="16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en-GB" sz="1600" dirty="0">
                          <a:effectLst/>
                        </a:rPr>
                        <a:t>1,2,3,6-Tetrahydro-1,3-diazine</a:t>
                      </a:r>
                      <a:endParaRPr lang="en-GB"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541244735"/>
                  </a:ext>
                </a:extLst>
              </a:tr>
              <a:tr h="0">
                <a:tc>
                  <a:txBody>
                    <a:bodyPr/>
                    <a:lstStyle/>
                    <a:p>
                      <a:pPr>
                        <a:lnSpc>
                          <a:spcPct val="107000"/>
                        </a:lnSpc>
                        <a:spcAft>
                          <a:spcPts val="800"/>
                        </a:spcAft>
                      </a:pPr>
                      <a:r>
                        <a:rPr lang="en-GB" sz="1600" b="0">
                          <a:effectLst/>
                        </a:rPr>
                        <a:t>Replacement:</a:t>
                      </a:r>
                      <a:endParaRPr lang="en-GB" sz="16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en-GB" sz="1600" dirty="0">
                          <a:effectLst/>
                        </a:rPr>
                        <a:t>1,3-Diazacyclohex-4-ene</a:t>
                      </a:r>
                      <a:endParaRPr lang="en-GB"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92750105"/>
                  </a:ext>
                </a:extLst>
              </a:tr>
              <a:tr h="0">
                <a:tc>
                  <a:txBody>
                    <a:bodyPr/>
                    <a:lstStyle/>
                    <a:p>
                      <a:pPr>
                        <a:lnSpc>
                          <a:spcPct val="107000"/>
                        </a:lnSpc>
                        <a:spcAft>
                          <a:spcPts val="800"/>
                        </a:spcAft>
                      </a:pPr>
                      <a:r>
                        <a:rPr lang="en-GB" sz="1600" b="0">
                          <a:effectLst/>
                        </a:rPr>
                        <a:t>Trivial:</a:t>
                      </a:r>
                      <a:endParaRPr lang="en-GB" sz="16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en-GB" sz="1600" b="1" dirty="0">
                          <a:effectLst/>
                        </a:rPr>
                        <a:t>1,2,3,6-Tetrahydropyrimidine</a:t>
                      </a:r>
                      <a:r>
                        <a:rPr lang="en-GB" sz="1600" dirty="0">
                          <a:effectLst/>
                        </a:rPr>
                        <a:t>   </a:t>
                      </a:r>
                      <a:endParaRPr lang="en-GB"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298890149"/>
                  </a:ext>
                </a:extLst>
              </a:tr>
              <a:tr h="0">
                <a:tc>
                  <a:txBody>
                    <a:bodyPr/>
                    <a:lstStyle/>
                    <a:p>
                      <a:pPr>
                        <a:lnSpc>
                          <a:spcPct val="107000"/>
                        </a:lnSpc>
                      </a:pPr>
                      <a:endParaRPr lang="en-GB" sz="1600" b="0" dirty="0">
                        <a:effectLst/>
                        <a:latin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pPr>
                      <a:endParaRPr lang="en-GB" sz="1600" dirty="0">
                        <a:effectLst/>
                        <a:latin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834757076"/>
                  </a:ext>
                </a:extLst>
              </a:tr>
              <a:tr h="0">
                <a:tc>
                  <a:txBody>
                    <a:bodyPr/>
                    <a:lstStyle/>
                    <a:p>
                      <a:pPr>
                        <a:lnSpc>
                          <a:spcPct val="107000"/>
                        </a:lnSpc>
                        <a:spcAft>
                          <a:spcPts val="800"/>
                        </a:spcAft>
                      </a:pPr>
                      <a:r>
                        <a:rPr lang="en-GB" sz="1600" b="0">
                          <a:effectLst/>
                        </a:rPr>
                        <a:t> </a:t>
                      </a:r>
                      <a:endParaRPr lang="en-GB" sz="16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en-GB" sz="1600" dirty="0">
                          <a:effectLst/>
                        </a:rPr>
                        <a:t> </a:t>
                      </a:r>
                      <a:endParaRPr lang="en-GB"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563928664"/>
                  </a:ext>
                </a:extLst>
              </a:tr>
              <a:tr h="0">
                <a:tc>
                  <a:txBody>
                    <a:bodyPr/>
                    <a:lstStyle/>
                    <a:p>
                      <a:pPr>
                        <a:lnSpc>
                          <a:spcPct val="107000"/>
                        </a:lnSpc>
                        <a:spcAft>
                          <a:spcPts val="800"/>
                        </a:spcAft>
                      </a:pPr>
                      <a:r>
                        <a:rPr lang="en-GB" sz="1600" b="0">
                          <a:effectLst/>
                        </a:rPr>
                        <a:t>Hantzsch-Widman:</a:t>
                      </a:r>
                      <a:endParaRPr lang="en-GB" sz="16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en-GB" sz="1600" dirty="0">
                          <a:effectLst/>
                        </a:rPr>
                        <a:t>Perhydro-1,4-diazine</a:t>
                      </a:r>
                      <a:endParaRPr lang="en-GB"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028837277"/>
                  </a:ext>
                </a:extLst>
              </a:tr>
              <a:tr h="0">
                <a:tc>
                  <a:txBody>
                    <a:bodyPr/>
                    <a:lstStyle/>
                    <a:p>
                      <a:pPr>
                        <a:lnSpc>
                          <a:spcPct val="107000"/>
                        </a:lnSpc>
                        <a:spcAft>
                          <a:spcPts val="800"/>
                        </a:spcAft>
                      </a:pPr>
                      <a:r>
                        <a:rPr lang="en-GB" sz="1600" b="0">
                          <a:effectLst/>
                        </a:rPr>
                        <a:t>Replacement:</a:t>
                      </a:r>
                      <a:endParaRPr lang="en-GB" sz="16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en-GB" sz="1600" dirty="0">
                          <a:effectLst/>
                        </a:rPr>
                        <a:t>1,4-Diazacyclohexane</a:t>
                      </a:r>
                      <a:endParaRPr lang="en-GB"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4198148586"/>
                  </a:ext>
                </a:extLst>
              </a:tr>
              <a:tr h="0">
                <a:tc>
                  <a:txBody>
                    <a:bodyPr/>
                    <a:lstStyle/>
                    <a:p>
                      <a:pPr>
                        <a:lnSpc>
                          <a:spcPct val="107000"/>
                        </a:lnSpc>
                        <a:spcAft>
                          <a:spcPts val="800"/>
                        </a:spcAft>
                      </a:pPr>
                      <a:r>
                        <a:rPr lang="en-GB" sz="1600" b="0" dirty="0">
                          <a:effectLst/>
                        </a:rPr>
                        <a:t>Trivial:</a:t>
                      </a:r>
                      <a:endParaRPr lang="en-GB" sz="16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en-GB" sz="1600" b="1" dirty="0" err="1">
                          <a:effectLst/>
                        </a:rPr>
                        <a:t>Perhydropyrazine</a:t>
                      </a:r>
                      <a:endParaRPr lang="en-GB"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316902830"/>
                  </a:ext>
                </a:extLst>
              </a:tr>
            </a:tbl>
          </a:graphicData>
        </a:graphic>
      </p:graphicFrame>
    </p:spTree>
    <p:extLst>
      <p:ext uri="{BB962C8B-B14F-4D97-AF65-F5344CB8AC3E}">
        <p14:creationId xmlns:p14="http://schemas.microsoft.com/office/powerpoint/2010/main" val="23046357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a:extLst>
              <a:ext uri="{FF2B5EF4-FFF2-40B4-BE49-F238E27FC236}">
                <a16:creationId xmlns:a16="http://schemas.microsoft.com/office/drawing/2014/main" id="{86FEE346-52B4-43DF-A693-A451F1C92524}"/>
              </a:ext>
            </a:extLst>
          </p:cNvPr>
          <p:cNvSpPr>
            <a:spLocks noGrp="1"/>
          </p:cNvSpPr>
          <p:nvPr>
            <p:ph type="sldNum" sz="quarter" idx="12"/>
          </p:nvPr>
        </p:nvSpPr>
        <p:spPr/>
        <p:txBody>
          <a:bodyPr/>
          <a:lstStyle/>
          <a:p>
            <a:fld id="{93C419CB-0CF1-4F10-90F9-42551F8968FF}" type="slidenum">
              <a:rPr lang="en-GB" smtClean="0"/>
              <a:t>82</a:t>
            </a:fld>
            <a:endParaRPr lang="en-GB"/>
          </a:p>
        </p:txBody>
      </p:sp>
      <p:pic>
        <p:nvPicPr>
          <p:cNvPr id="4" name="Рисунок 3">
            <a:extLst>
              <a:ext uri="{FF2B5EF4-FFF2-40B4-BE49-F238E27FC236}">
                <a16:creationId xmlns:a16="http://schemas.microsoft.com/office/drawing/2014/main" id="{B8539586-3203-4527-88CA-7F47E6D663E9}"/>
              </a:ext>
            </a:extLst>
          </p:cNvPr>
          <p:cNvPicPr>
            <a:picLocks noChangeAspect="1"/>
          </p:cNvPicPr>
          <p:nvPr/>
        </p:nvPicPr>
        <p:blipFill>
          <a:blip r:embed="rId2"/>
          <a:stretch>
            <a:fillRect/>
          </a:stretch>
        </p:blipFill>
        <p:spPr>
          <a:xfrm>
            <a:off x="1719164" y="123279"/>
            <a:ext cx="8462646" cy="6611442"/>
          </a:xfrm>
          <a:prstGeom prst="rect">
            <a:avLst/>
          </a:prstGeom>
        </p:spPr>
      </p:pic>
    </p:spTree>
    <p:extLst>
      <p:ext uri="{BB962C8B-B14F-4D97-AF65-F5344CB8AC3E}">
        <p14:creationId xmlns:p14="http://schemas.microsoft.com/office/powerpoint/2010/main" val="294165371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p:cNvSpPr>
            <a:spLocks noGrp="1"/>
          </p:cNvSpPr>
          <p:nvPr>
            <p:ph type="sldNum" sz="quarter" idx="12"/>
          </p:nvPr>
        </p:nvSpPr>
        <p:spPr>
          <a:xfrm>
            <a:off x="7086599" y="6398966"/>
            <a:ext cx="3687319" cy="370434"/>
          </a:xfrm>
        </p:spPr>
        <p:txBody>
          <a:bodyPr/>
          <a:lstStyle/>
          <a:p>
            <a:fld id="{B19B0651-EE4F-4900-A07F-96A6BFA9D0F0}" type="slidenum">
              <a:rPr lang="ru-RU" smtClean="0"/>
              <a:t>83</a:t>
            </a:fld>
            <a:endParaRPr lang="ru-RU"/>
          </a:p>
        </p:txBody>
      </p:sp>
      <p:pic>
        <p:nvPicPr>
          <p:cNvPr id="46085" name="Picture 5" descr="C:\Users\Marina\Desktop\доповідь Для Харкова 2018 - антиоксиданти\___20160828_1019820918.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844" y="4038600"/>
            <a:ext cx="12277725" cy="3032306"/>
          </a:xfrm>
          <a:prstGeom prst="rect">
            <a:avLst/>
          </a:prstGeom>
          <a:noFill/>
          <a:extLst>
            <a:ext uri="{909E8E84-426E-40DD-AFC4-6F175D3DCCD1}">
              <a14:hiddenFill xmlns:a14="http://schemas.microsoft.com/office/drawing/2010/main">
                <a:solidFill>
                  <a:srgbClr val="FFFFFF"/>
                </a:solidFill>
              </a14:hiddenFill>
            </a:ext>
          </a:extLst>
        </p:spPr>
      </p:pic>
      <p:pic>
        <p:nvPicPr>
          <p:cNvPr id="46086" name="Picture 6" descr="C:\Users\Marina\Desktop\доповідь Для Харкова 2018 - антиоксиданти\ostriv_Hortycia__-720x340.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844" y="0"/>
            <a:ext cx="12291062" cy="4038600"/>
          </a:xfrm>
          <a:prstGeom prst="rect">
            <a:avLst/>
          </a:prstGeom>
          <a:noFill/>
          <a:extLst>
            <a:ext uri="{909E8E84-426E-40DD-AFC4-6F175D3DCCD1}">
              <a14:hiddenFill xmlns:a14="http://schemas.microsoft.com/office/drawing/2010/main">
                <a:solidFill>
                  <a:srgbClr val="FFFFFF"/>
                </a:solidFill>
              </a14:hiddenFill>
            </a:ext>
          </a:extLst>
        </p:spPr>
      </p:pic>
      <p:sp>
        <p:nvSpPr>
          <p:cNvPr id="3" name="Прямоугольник 2"/>
          <p:cNvSpPr/>
          <p:nvPr/>
        </p:nvSpPr>
        <p:spPr>
          <a:xfrm>
            <a:off x="2432568" y="4038600"/>
            <a:ext cx="9308061" cy="933632"/>
          </a:xfrm>
          <a:prstGeom prst="rect">
            <a:avLst/>
          </a:prstGeom>
        </p:spPr>
        <p:txBody>
          <a:bodyPr wrap="square">
            <a:spAutoFit/>
          </a:bodyPr>
          <a:lstStyle/>
          <a:p>
            <a:pPr indent="450850" fontAlgn="base">
              <a:lnSpc>
                <a:spcPct val="150000"/>
              </a:lnSpc>
              <a:spcBef>
                <a:spcPct val="0"/>
              </a:spcBef>
              <a:spcAft>
                <a:spcPct val="0"/>
              </a:spcAft>
            </a:pPr>
            <a:r>
              <a:rPr lang="en-GB" sz="4000" b="1" dirty="0">
                <a:effectLst>
                  <a:outerShdw blurRad="38100" dist="38100" dir="2700000" algn="tl">
                    <a:srgbClr val="000000">
                      <a:alpha val="43137"/>
                    </a:srgbClr>
                  </a:outerShdw>
                </a:effectLst>
                <a:ea typeface="Times New Roman" pitchFamily="18" charset="0"/>
                <a:cs typeface="Arial" pitchFamily="34" charset="0"/>
              </a:rPr>
              <a:t>Thank you for your attention</a:t>
            </a:r>
            <a:r>
              <a:rPr lang="uk-UA" sz="4000" b="1" dirty="0">
                <a:effectLst>
                  <a:outerShdw blurRad="38100" dist="38100" dir="2700000" algn="tl">
                    <a:srgbClr val="000000">
                      <a:alpha val="43137"/>
                    </a:srgbClr>
                  </a:outerShdw>
                </a:effectLst>
                <a:ea typeface="Times New Roman" pitchFamily="18" charset="0"/>
                <a:cs typeface="Arial" pitchFamily="34" charset="0"/>
              </a:rPr>
              <a:t>!</a:t>
            </a:r>
          </a:p>
        </p:txBody>
      </p:sp>
    </p:spTree>
    <p:extLst>
      <p:ext uri="{BB962C8B-B14F-4D97-AF65-F5344CB8AC3E}">
        <p14:creationId xmlns:p14="http://schemas.microsoft.com/office/powerpoint/2010/main" val="1610857526"/>
      </p:ext>
    </p:extLst>
  </p:cSld>
  <p:clrMapOvr>
    <a:masterClrMapping/>
  </p:clrMapOvr>
  <p:transition spd="slow">
    <p:push dir="u"/>
  </p:transition>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14294</TotalTime>
  <Words>7549</Words>
  <Application>Microsoft Office PowerPoint</Application>
  <PresentationFormat>Широкоэкранный</PresentationFormat>
  <Paragraphs>702</Paragraphs>
  <Slides>83</Slides>
  <Notes>25</Notes>
  <HiddenSlides>0</HiddenSlides>
  <MMClips>0</MMClips>
  <ScaleCrop>false</ScaleCrop>
  <HeadingPairs>
    <vt:vector size="8" baseType="variant">
      <vt:variant>
        <vt:lpstr>Использованные шрифты</vt:lpstr>
      </vt:variant>
      <vt:variant>
        <vt:i4>8</vt:i4>
      </vt:variant>
      <vt:variant>
        <vt:lpstr>Тема</vt:lpstr>
      </vt:variant>
      <vt:variant>
        <vt:i4>1</vt:i4>
      </vt:variant>
      <vt:variant>
        <vt:lpstr>Внедренные серверы OLE</vt:lpstr>
      </vt:variant>
      <vt:variant>
        <vt:i4>1</vt:i4>
      </vt:variant>
      <vt:variant>
        <vt:lpstr>Заголовки слайдов</vt:lpstr>
      </vt:variant>
      <vt:variant>
        <vt:i4>83</vt:i4>
      </vt:variant>
    </vt:vector>
  </HeadingPairs>
  <TitlesOfParts>
    <vt:vector size="93" baseType="lpstr">
      <vt:lpstr>Arial</vt:lpstr>
      <vt:lpstr>Arial MT</vt:lpstr>
      <vt:lpstr>Calibri</vt:lpstr>
      <vt:lpstr>Calibri Light</vt:lpstr>
      <vt:lpstr>GTWalsheimPro-Bold</vt:lpstr>
      <vt:lpstr>GTWalsheimPro-Regular</vt:lpstr>
      <vt:lpstr>Times New Roman</vt:lpstr>
      <vt:lpstr>Wingdings</vt:lpstr>
      <vt:lpstr>Тема Office</vt:lpstr>
      <vt:lpstr>CS ChemDraw Drawing</vt:lpstr>
      <vt:lpstr>Nomenclature of heterocycles   I.  seminar    </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Nomenclature of heterocycles   II.  seminar    </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III. Carbon-Framework Substitution Nomenclature  (Replacement Nomenclature)</vt:lpstr>
      <vt:lpstr>Презентация PowerPoint</vt:lpstr>
      <vt:lpstr>Презентация PowerPoint</vt:lpstr>
      <vt:lpstr>III. Carbon-Framework Substitution Nomenclature  (Replacement Nomenclature)</vt:lpstr>
      <vt:lpstr>III. Carbon-Framework Substitution Nomenclature  (Replacement Nomenclature)</vt:lpstr>
      <vt:lpstr>Monocyclic Heterocycles:</vt:lpstr>
      <vt:lpstr>Презентация PowerPoint</vt:lpstr>
      <vt:lpstr> </vt:lpstr>
      <vt:lpstr>Презентация PowerPoint</vt:lpstr>
      <vt:lpstr>Презентация PowerPoint</vt:lpstr>
      <vt:lpstr> </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 </vt:lpstr>
      <vt:lpstr>Презентация PowerPoint</vt:lpstr>
      <vt:lpstr>Презентация PowerPoint</vt:lpstr>
      <vt:lpstr>Презентация PowerPoint</vt:lpstr>
      <vt:lpstr>Презентация PowerPoint</vt:lpstr>
      <vt:lpstr>Презентация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creator>korne</dc:creator>
  <cp:lastModifiedBy>korne</cp:lastModifiedBy>
  <cp:revision>211</cp:revision>
  <dcterms:created xsi:type="dcterms:W3CDTF">2023-04-15T10:30:02Z</dcterms:created>
  <dcterms:modified xsi:type="dcterms:W3CDTF">2023-04-25T23:42:35Z</dcterms:modified>
</cp:coreProperties>
</file>