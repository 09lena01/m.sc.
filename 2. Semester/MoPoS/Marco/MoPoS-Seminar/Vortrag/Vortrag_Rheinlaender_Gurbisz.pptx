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262" r:id="rId10"/>
    <p:sldId id="294" r:id="rId11"/>
    <p:sldId id="295" r:id="rId12"/>
    <p:sldId id="296" r:id="rId13"/>
    <p:sldId id="297" r:id="rId14"/>
    <p:sldId id="298" r:id="rId15"/>
    <p:sldId id="309" r:id="rId16"/>
    <p:sldId id="310" r:id="rId17"/>
    <p:sldId id="311" r:id="rId18"/>
    <p:sldId id="301" r:id="rId19"/>
    <p:sldId id="299" r:id="rId20"/>
    <p:sldId id="300" r:id="rId21"/>
    <p:sldId id="279" r:id="rId22"/>
  </p:sldIdLst>
  <p:sldSz cx="9144000" cy="5149850"/>
  <p:notesSz cx="6858000" cy="9144000"/>
  <p:defaultTextStyle>
    <a:defPPr>
      <a:defRPr lang="de-DE"/>
    </a:defPPr>
    <a:lvl1pPr marL="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1pPr>
    <a:lvl2pPr marL="34303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2pPr>
    <a:lvl3pPr marL="686074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3pPr>
    <a:lvl4pPr marL="1029111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4pPr>
    <a:lvl5pPr marL="1372149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5pPr>
    <a:lvl6pPr marL="1715186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9880A7-0A29-4FAE-886B-2BD7352CABBA}">
          <p14:sldIdLst>
            <p14:sldId id="256"/>
            <p14:sldId id="302"/>
            <p14:sldId id="303"/>
            <p14:sldId id="304"/>
            <p14:sldId id="305"/>
            <p14:sldId id="306"/>
            <p14:sldId id="307"/>
            <p14:sldId id="308"/>
            <p14:sldId id="262"/>
            <p14:sldId id="294"/>
            <p14:sldId id="295"/>
            <p14:sldId id="296"/>
            <p14:sldId id="297"/>
            <p14:sldId id="298"/>
            <p14:sldId id="309"/>
            <p14:sldId id="310"/>
            <p14:sldId id="311"/>
            <p14:sldId id="301"/>
            <p14:sldId id="299"/>
            <p14:sldId id="300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AB3"/>
    <a:srgbClr val="DAE5EB"/>
    <a:srgbClr val="CCDDE7"/>
    <a:srgbClr val="DAE5EA"/>
    <a:srgbClr val="B6C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21" autoAdjust="0"/>
    <p:restoredTop sz="97725" autoAdjust="0"/>
  </p:normalViewPr>
  <p:slideViewPr>
    <p:cSldViewPr showGuides="1">
      <p:cViewPr varScale="1">
        <p:scale>
          <a:sx n="215" d="100"/>
          <a:sy n="215" d="100"/>
        </p:scale>
        <p:origin x="732" y="90"/>
      </p:cViewPr>
      <p:guideLst/>
    </p:cSldViewPr>
  </p:slideViewPr>
  <p:outlineViewPr>
    <p:cViewPr>
      <p:scale>
        <a:sx n="33" d="100"/>
        <a:sy n="33" d="100"/>
      </p:scale>
      <p:origin x="0" y="-933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58" d="100"/>
          <a:sy n="158" d="100"/>
        </p:scale>
        <p:origin x="564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BDED6AC-55F7-E147-AFC4-A3BDBFCC7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9D59C4-29AC-D341-B4D1-22B9DA375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4785B-15A5-6941-B203-15A17340AF8C}" type="datetimeFigureOut">
              <a:rPr lang="de-DE" smtClean="0"/>
              <a:t>15.05.2023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448B2D-EB51-AA41-A1D5-5D87A817BB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A25665-AD21-FE4A-BE5F-E9A755F5D9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3842B-17F5-B44E-AEFD-F68DA92D85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223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4EA47C3-D6D1-45C7-B7EF-A1183D105D1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olienbildplatzhalter 7">
            <a:extLst>
              <a:ext uri="{FF2B5EF4-FFF2-40B4-BE49-F238E27FC236}">
                <a16:creationId xmlns:a16="http://schemas.microsoft.com/office/drawing/2014/main" id="{B136A2F5-BC7E-47DC-9ED9-95EE5B00A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2279" y="467544"/>
            <a:ext cx="6490831" cy="3655323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10" name="Notizenplatzhalter 9">
            <a:extLst>
              <a:ext uri="{FF2B5EF4-FFF2-40B4-BE49-F238E27FC236}">
                <a16:creationId xmlns:a16="http://schemas.microsoft.com/office/drawing/2014/main" id="{16E3EB76-4D08-4C50-98FE-43C6F5867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2279" y="4400550"/>
            <a:ext cx="6490831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3969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3037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6074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9111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2149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5186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14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6830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152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0441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7727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437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089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23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3663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319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621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CABCBAD4-CDF6-43FE-8861-A06D0882730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43762DC1-C2FD-42CE-AFEB-715EE62A1F3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76098270-8824-46AE-A5C5-CD99A62A1C4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Holder 3">
              <a:extLst>
                <a:ext uri="{FF2B5EF4-FFF2-40B4-BE49-F238E27FC236}">
                  <a16:creationId xmlns:a16="http://schemas.microsoft.com/office/drawing/2014/main" id="{3299EB9C-AF93-46B9-874F-99C450B3EDD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9E7234BE-B4D1-49DA-A717-D084E338DDBA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4279" y="2268082"/>
            <a:ext cx="4401108" cy="107000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4279" y="3494160"/>
            <a:ext cx="4401108" cy="60464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8" name="Grafik 6">
            <a:extLst>
              <a:ext uri="{FF2B5EF4-FFF2-40B4-BE49-F238E27FC236}">
                <a16:creationId xmlns:a16="http://schemas.microsoft.com/office/drawing/2014/main" id="{4A50CB4E-A2BD-42A4-89AF-00FBAF42ED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5C16EB5-4461-4758-A5F1-9FCFC409D904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4F2F414-99B5-4842-AE69-123A75660DF4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AE2AF92-0F47-4975-97EE-AD59D0F4352B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9DDEE01-97C2-45BB-8AA5-588FD5885C5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 dirty="0"/>
            </a:p>
          </p:txBody>
        </p:sp>
      </p:grp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19CBCE6-1CEE-2E4B-97C4-E36A3F437EC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0F391E70-C53F-8E44-AE6E-23719415C8B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E5E24761-2865-1D40-A92D-0F05793A17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6E2E5415-7F1B-EA4C-9A01-5E1F75F863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6B60F0-E3D6-3343-A074-965788DB84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315524F6-B2F6-E24E-91FE-A7BE6CEF8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80121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91EEF65-5B2F-4153-B72A-8188920387E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7F2B589E-3839-4C3B-92E1-F293A76DB3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8DC76EE0-F751-40CD-B7DB-DC698896789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Holder 3">
              <a:extLst>
                <a:ext uri="{FF2B5EF4-FFF2-40B4-BE49-F238E27FC236}">
                  <a16:creationId xmlns:a16="http://schemas.microsoft.com/office/drawing/2014/main" id="{5DFAD467-705A-4EBF-B0CD-82975D99AB5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59BE50D6-D2EF-43B9-8437-C5253F74EA60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899361"/>
            <a:ext cx="6399768" cy="540727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8AC3E5BE-9275-472F-AEB2-C4DA849B9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A45B3C2-1CA4-47B2-9CD9-00EEF9D615AF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243C064-66AF-4F89-A61C-8EAA80446B16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E875C2F-2AC0-45DD-9626-129486821205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F1F040A-4C25-4A9B-91CF-4997C0E3FA2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4546E641-A9D5-9A47-9F76-2734E5A68A2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0679E3DD-A5E0-9442-80E4-78F5371D29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2EF12A4D-9E8B-6D48-B319-03F9AB23CB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C9076294-3FF7-9C4E-9E9C-734FEDF8CD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402837B2-EE3A-BB49-8729-EE20976AD0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4" name="Textplatzhalter 22">
            <a:extLst>
              <a:ext uri="{FF2B5EF4-FFF2-40B4-BE49-F238E27FC236}">
                <a16:creationId xmlns:a16="http://schemas.microsoft.com/office/drawing/2014/main" id="{3F468D62-B29F-1948-8A54-6EE8881E37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307507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A319C61-FBE7-466D-8041-BA328224720B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27" name="bk object 18">
              <a:extLst>
                <a:ext uri="{FF2B5EF4-FFF2-40B4-BE49-F238E27FC236}">
                  <a16:creationId xmlns:a16="http://schemas.microsoft.com/office/drawing/2014/main" id="{6943C0CE-1EA2-499D-ACFC-7FAE777D4885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C64DCA2F-E670-44CF-8CCD-A8817BCDFE08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Holder 3">
              <a:extLst>
                <a:ext uri="{FF2B5EF4-FFF2-40B4-BE49-F238E27FC236}">
                  <a16:creationId xmlns:a16="http://schemas.microsoft.com/office/drawing/2014/main" id="{39C16D6C-600C-4A10-95E4-95BF4999FC1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6399768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018F5287-7D90-4427-B223-AB51C34FB4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49CBA05-EE3B-40FD-B566-67D594E41B9E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73274AB8-A508-4076-9FF6-7AE09BB7827C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0060672-D990-46D3-A86C-D3F5FB08D442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FB0B066-EC76-4017-ACF3-B5105457A38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03E97028-859A-C34B-BA69-FE65392BD5C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A992989-D88F-904A-82A9-2CECB1EC29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1D43BA97-CCC3-C745-9C93-62FFC1864A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49ABE06-6658-974E-AB25-5DDB34A0CD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76F20FCB-C090-BA4C-A643-DDAF7FA315D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BA467741-5272-AC4D-9B23-E74C3927F4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116735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C014E30-33A3-475F-B8A0-9E84E311170A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6643BCF6-A569-4BAD-B15C-E253B00A5594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D0D25174-0D7D-4590-B212-5467D04FECF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7C25F4F3-A838-4B03-A6C0-3D91C8E43EB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4936563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FAB22651-CAFB-4334-BBAD-47EBF4CF7F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4936563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CF4A76B1-953E-4A32-9BD1-DE88786E38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FD7E5C6-0F67-4B37-B3BF-534429CFB0DA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D3305F2-C7C5-4C12-9231-D66E6CDF1F5F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41CA9BF-ECB3-404C-B6B8-1533D1C1E0A0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7658C24-2A28-49B2-96C0-D5EEAC50C41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F135B6-57F4-4B6E-AD86-CFAA18EDA94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20941" y="1088383"/>
            <a:ext cx="3523059" cy="3826517"/>
          </a:xfrm>
          <a:solidFill>
            <a:schemeClr val="bg2">
              <a:lumMod val="100000"/>
            </a:schemeClr>
          </a:solidFill>
          <a:ln/>
        </p:spPr>
        <p:txBody>
          <a:bodyPr lIns="0" tIns="540000" rIns="0" bIns="0" anchor="t">
            <a:noAutofit/>
          </a:bodyPr>
          <a:lstStyle>
            <a:lvl1pPr marL="180975" indent="0" algn="l">
              <a:lnSpc>
                <a:spcPct val="90000"/>
              </a:lnSpc>
              <a:buNone/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Inhaltsplatzhalter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32C3CFE1-9073-8745-BD09-80495049B6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A46737F8-B03F-0745-A5A9-B5476E203B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5E485192-2EF9-6641-A4FD-7903E499C73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26225" y="4151976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F92B4699-D079-5B46-A5E5-D0CE8B4FF5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30436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5" name="Textplatzhalter 22">
            <a:extLst>
              <a:ext uri="{FF2B5EF4-FFF2-40B4-BE49-F238E27FC236}">
                <a16:creationId xmlns:a16="http://schemas.microsoft.com/office/drawing/2014/main" id="{E88F2ABD-B4F2-BF45-B0C0-261F3A2EC7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541121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46692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AE8C18B-3B31-4172-BD36-383A2D95905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033258C7-8016-4009-9FB1-F90060178720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F63F0B04-1DC4-4DF5-9D98-F1A5AB5B67C4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1BF4C821-21F2-42D9-9C34-70F485006B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250489"/>
            <a:ext cx="2830329" cy="118959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2830329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335E6D46-1A90-4F85-971E-BE51B6E275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3343E36-3D15-4FBD-82A0-2EF69415466D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F35EBB84-4567-4B99-BCB2-9E4F2E74A659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D04A692-1B93-4339-9E71-F30AA92C9F93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237AA0D-D90E-4127-B627-42907D1E6150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6DE86-C438-4E37-A2C2-A3C892D489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45886" y="1088383"/>
            <a:ext cx="5598114" cy="382651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B08885F2-1A5F-B44F-9FA4-22C52965E8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3609EE5A-0FD7-3E40-A359-B82C3079D7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B667A3A2-D04C-4844-BBA2-F27F285A2A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19555" y="4150658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8" name="Textplatzhalter 22">
            <a:extLst>
              <a:ext uri="{FF2B5EF4-FFF2-40B4-BE49-F238E27FC236}">
                <a16:creationId xmlns:a16="http://schemas.microsoft.com/office/drawing/2014/main" id="{F8DF472F-A7C0-6447-A12C-AB015A5D0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169392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05045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zwei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609EF01-760B-4279-96D2-9AE5DF9E07E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2" name="bk object 18">
              <a:extLst>
                <a:ext uri="{FF2B5EF4-FFF2-40B4-BE49-F238E27FC236}">
                  <a16:creationId xmlns:a16="http://schemas.microsoft.com/office/drawing/2014/main" id="{A4C7AC9B-CEA5-4C57-B178-3624C6812F1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bk object 18">
              <a:extLst>
                <a:ext uri="{FF2B5EF4-FFF2-40B4-BE49-F238E27FC236}">
                  <a16:creationId xmlns:a16="http://schemas.microsoft.com/office/drawing/2014/main" id="{D054BE5A-53A6-4A25-B171-207E0A5A15D9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Holder 3">
              <a:extLst>
                <a:ext uri="{FF2B5EF4-FFF2-40B4-BE49-F238E27FC236}">
                  <a16:creationId xmlns:a16="http://schemas.microsoft.com/office/drawing/2014/main" id="{7E7A0D5B-9864-42E6-BDCD-A3D2A068635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3818597"/>
            <a:ext cx="5341606" cy="567763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4458767"/>
            <a:ext cx="5341607" cy="27418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4" name="Grafik 6">
            <a:extLst>
              <a:ext uri="{FF2B5EF4-FFF2-40B4-BE49-F238E27FC236}">
                <a16:creationId xmlns:a16="http://schemas.microsoft.com/office/drawing/2014/main" id="{06DED613-6C95-44B4-934D-915F765D5E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ED8DE4AB-9CB4-42A7-9E68-6E2FAB87CDD7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2AF7295B-8EB5-4B3E-B347-40D564DF2E8A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9EB503C-B339-4925-A963-9A41C6D48A86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58334B5-873D-4772-A5CD-6DB0CA382F6C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443CD-BCA7-46CF-AFA8-330C46340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1422399"/>
            <a:ext cx="6678234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24558D-B62E-4475-9EF0-8C38F6D9AB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40999" y="1422400"/>
            <a:ext cx="2403000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F7FE4B2A-DC36-0D4C-9F52-0C253A8928E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CFEEB94-02FC-204B-B0CC-7FE7C62C17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CC219343-0397-9E4E-BD60-873C1713E3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40153" y="4159763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016D7102-C9CE-0D4A-85BF-0EC312730C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6352" y="415033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9" name="Textplatzhalter 22">
            <a:extLst>
              <a:ext uri="{FF2B5EF4-FFF2-40B4-BE49-F238E27FC236}">
                <a16:creationId xmlns:a16="http://schemas.microsoft.com/office/drawing/2014/main" id="{85B9FCEE-8B61-EE4E-8E60-A4B4C50E63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6335" y="4467117"/>
            <a:ext cx="1021127" cy="274183"/>
          </a:xfrm>
        </p:spPr>
        <p:txBody>
          <a:bodyPr/>
          <a:lstStyle>
            <a:lvl1pPr marL="0" indent="0" algn="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2373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D474F-8BEC-4D91-A03D-D9362EBEA4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Inhaltsverzeichnis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9AD49C-66AF-4DEA-AFAD-00CFC0FCD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A236E8-550F-4D48-A470-B5B6ACB7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EECEC85-61F4-4B79-8C27-7F9D489194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88102" y="1422400"/>
            <a:ext cx="365589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0A45E48-BE13-4673-A7CD-2D5059A1B6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4586288" cy="3492500"/>
          </a:xfrm>
        </p:spPr>
        <p:txBody>
          <a:bodyPr>
            <a:noAutofit/>
          </a:bodyPr>
          <a:lstStyle>
            <a:lvl1pPr marL="295275" indent="-295275">
              <a:spcBef>
                <a:spcPts val="1200"/>
              </a:spcBef>
              <a:buFont typeface="+mj-lt"/>
              <a:buAutoNum type="arabicPeriod"/>
              <a:defRPr/>
            </a:lvl1pPr>
            <a:lvl2pPr>
              <a:defRPr/>
            </a:lvl2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613049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ohne Untertitel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89A477-57D5-4BE0-806F-7840FB2B8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80962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180927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21D334-520E-4FBB-B8A8-6A609B53F9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810101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6CD374-8E61-0A4C-83F0-76A0F81260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93736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(groß)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FE84D2-D951-43C8-81B8-BCF2BCBCC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545752"/>
            <a:ext cx="8101012" cy="331152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3F9E275-8222-594E-AE4A-5DC2C6FC95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24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32541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Zwei Inhalte ohne Untertitel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B557236-B6F1-4EF1-92AD-262453792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3941762" cy="34242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D9B5E02-9A16-49B4-9355-BE71C0D66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9950" y="1422400"/>
            <a:ext cx="3943350" cy="3424238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3617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tIns="0"/>
          <a:lstStyle/>
          <a:p>
            <a:r>
              <a:rPr lang="de-DE" dirty="0"/>
              <a:t>Zwei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B1E48B2-9056-46C9-8170-057A7DDAE8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394176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C9A547D-69C2-4513-9E4D-7F7C15B98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37000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AA57B84-07F8-564B-8DEA-600525150D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9F477F5-428F-6D4A-B1D1-1A175E027E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86300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4657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Diagramme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8100219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8E2B6C4B-5F28-AC4F-80E0-263199198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764643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1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C0C6EB1C-18E9-44D2-B97A-2055909E56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0913" y="1422400"/>
            <a:ext cx="2590799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531018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1B80552-8C75-CA4C-8B5A-9B2EBBE4E7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30283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 userDrawn="1">
          <p15:clr>
            <a:srgbClr val="FBAE40"/>
          </p15:clr>
        </p15:guide>
        <p15:guide id="2" pos="379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2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ED614B-D2A2-4F44-8C55-EA8990499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2590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8E908BC-1AEE-469A-8B07-24C581B6328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11525" y="1422400"/>
            <a:ext cx="531018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9B5CE0C-F0E5-4A46-8E54-A8BEBF3528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16127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961" userDrawn="1">
          <p15:clr>
            <a:srgbClr val="FBAE40"/>
          </p15:clr>
        </p15:guide>
        <p15:guide id="3" pos="208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Vier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DB2AAA-C98E-4D27-9188-E7E5DBFF09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4224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823B8EE-EC69-45B2-BAC9-1BCA4FBF1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9950" y="1422400"/>
            <a:ext cx="3941763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40510EC-0518-429F-B934-724E542AEE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31877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C5C7A3E-AD9D-494E-9656-60D17A2D3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9950" y="3187701"/>
            <a:ext cx="3943350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8F97F85F-5214-3C4D-AECA-FAB96CDFB6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86960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Viel Text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E7D15-C3F6-44ED-81D4-5CA3DF139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288" y="1422400"/>
            <a:ext cx="3941762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225A19B-F9D6-496E-93F0-23086F37C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433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9BCD487A-0F7D-A741-B766-3DC58765E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112603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8B718B6-0A12-456A-A2B2-DDCE96D85C32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4" name="bk object 18">
              <a:extLst>
                <a:ext uri="{FF2B5EF4-FFF2-40B4-BE49-F238E27FC236}">
                  <a16:creationId xmlns:a16="http://schemas.microsoft.com/office/drawing/2014/main" id="{AA03ADD9-BB66-4FBA-AA38-A477A97E7E8A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483C21C1-427D-47E5-8D0D-E9E03790F6E3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Holder 3">
              <a:extLst>
                <a:ext uri="{FF2B5EF4-FFF2-40B4-BE49-F238E27FC236}">
                  <a16:creationId xmlns:a16="http://schemas.microsoft.com/office/drawing/2014/main" id="{E224A6C7-1F26-4748-BB34-5F7E18EFB33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4051" y="330910"/>
            <a:ext cx="2889316" cy="452322"/>
          </a:xfrm>
        </p:spPr>
        <p:txBody>
          <a:bodyPr/>
          <a:lstStyle/>
          <a:p>
            <a:r>
              <a:rPr lang="de-DE" dirty="0"/>
              <a:t>Inhalt + Kopf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23939B8-98AC-4295-9C3F-D06AC0E2B265}"/>
              </a:ext>
            </a:extLst>
          </p:cNvPr>
          <p:cNvCxnSpPr>
            <a:cxnSpLocks/>
          </p:cNvCxnSpPr>
          <p:nvPr userDrawn="1"/>
        </p:nvCxnSpPr>
        <p:spPr>
          <a:xfrm>
            <a:off x="4464051" y="974732"/>
            <a:ext cx="288931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6C751C-C99C-4A88-ADDD-C33FB6EC87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4050" y="1422400"/>
            <a:ext cx="4368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3" name="Textplatzhalter 3">
            <a:extLst>
              <a:ext uri="{FF2B5EF4-FFF2-40B4-BE49-F238E27FC236}">
                <a16:creationId xmlns:a16="http://schemas.microsoft.com/office/drawing/2014/main" id="{9D7F55B5-520F-1846-9A54-FEA146BB9F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4050" y="1089025"/>
            <a:ext cx="415925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077683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Bild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D03C39F-F4DA-4E33-9C12-0C07D46B74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5577" y="1422400"/>
            <a:ext cx="4518422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337AD4-58C4-4CD3-B6EE-0320BEF61A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550" y="1422399"/>
            <a:ext cx="3754437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6EF6949-DF2A-6945-ACA6-6155BA68DF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557660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+ 2 Bilder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ADE6869-998B-4809-AE43-C38E35BE8AA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25578" y="1422400"/>
            <a:ext cx="224194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B574367-BB34-447D-A233-6E083CBE551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21103" y="1422399"/>
            <a:ext cx="222289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DFAE767-5641-4D3F-9095-84DF276507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288" y="1422400"/>
            <a:ext cx="3754437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169AC40-4AD9-954E-A54F-29F517D6CC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960897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60" userDrawn="1">
          <p15:clr>
            <a:srgbClr val="FBAE40"/>
          </p15:clr>
        </p15:guide>
        <p15:guide id="2" pos="432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7376B4C5-BE86-46E2-BB73-C84DD0D0A2B1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554B3AC1-FDFF-4DC3-9DC6-81F70D7AA0BB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77DD96AE-1808-4743-8DCB-608D8DC68352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Holder 3">
              <a:extLst>
                <a:ext uri="{FF2B5EF4-FFF2-40B4-BE49-F238E27FC236}">
                  <a16:creationId xmlns:a16="http://schemas.microsoft.com/office/drawing/2014/main" id="{DA1288D7-3EDD-4960-BA1A-AED8C420D13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Bild links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A6B4FCA-16D8-4C61-9911-C6EBBA2E9614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73DDC7-C42E-4F39-AF1D-5C1BA1202CB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-6031" y="-1"/>
            <a:ext cx="4277280" cy="49149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E86CCD-5F3A-4D32-9430-6A5FA2D99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3997722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C91C6619-4CF7-49A7-802B-6AF7FF4914DA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455B36EC-528F-4E97-93BF-21959E6FD9B9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91D309B1-63F8-4AB2-8EB2-1CAEF4C839A6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A36242A3-7F74-4857-8FF1-ADD22CCD327C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373027A2-4C51-4E71-A123-42FB987BF2B4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A909C168-98E6-4FA2-8D75-923A389A4E9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9A3716B3-558A-427F-BA0B-829497FC888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F8470D77-D85D-4975-9A60-9CE2E8808B2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BCF37C2F-5134-4162-BE90-58DA31D2F78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0B310A5-C7B4-461B-A746-BE06FBD16D5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41295C12-5E33-43EE-8872-7957A8D8536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0" name="Grafik 9">
              <a:extLst>
                <a:ext uri="{FF2B5EF4-FFF2-40B4-BE49-F238E27FC236}">
                  <a16:creationId xmlns:a16="http://schemas.microsoft.com/office/drawing/2014/main" id="{3A5FF387-F0B6-477E-998D-234DECE1DB1B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FE518397-1522-4A04-B6ED-00F9007F357A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10063F5E-0004-4BCF-97BF-1F768B2194CF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1A6F300E-3CC4-4B75-80D8-A919F613F4A3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2" name="Grafik 9">
              <a:extLst>
                <a:ext uri="{FF2B5EF4-FFF2-40B4-BE49-F238E27FC236}">
                  <a16:creationId xmlns:a16="http://schemas.microsoft.com/office/drawing/2014/main" id="{04AC514E-52CF-4856-ADD0-332C339C4D48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546461AE-92FF-428D-A949-FB0BA0C40486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965C189-A801-452A-859F-28368D6503E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6B42D9CC-533D-471D-AE03-C7814754949F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1CA820B0-ACB2-443B-BBD2-E5DA3D05A48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958C57C2-4634-4F2D-AAFF-837FFB064E0F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0" name="Grafik 9">
              <a:extLst>
                <a:ext uri="{FF2B5EF4-FFF2-40B4-BE49-F238E27FC236}">
                  <a16:creationId xmlns:a16="http://schemas.microsoft.com/office/drawing/2014/main" id="{FD7A4790-53F8-44AD-B4D7-867D12B3CFB1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360B4408-9AA2-45E3-BA56-27796B0DA924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4F7D52C-F51B-4EFD-812F-B2EE83A760E2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EC28B88-2DCA-403B-A59C-F6B806C02DBB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8EA9E0D8-953E-4386-A47D-85043DF818F8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B5D41B38-F074-CA45-A2A6-6B6A14B25E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25578" y="1089025"/>
            <a:ext cx="399772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27148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zwei Bilder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CBB2739F-531B-406E-B9AE-7F5955A4C086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10BD749C-F32D-4FA0-8B2F-E4376F4459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bk object 18">
              <a:extLst>
                <a:ext uri="{FF2B5EF4-FFF2-40B4-BE49-F238E27FC236}">
                  <a16:creationId xmlns:a16="http://schemas.microsoft.com/office/drawing/2014/main" id="{75AD1741-5FE5-4A33-9577-F1F4588F6C9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Holder 3">
              <a:extLst>
                <a:ext uri="{FF2B5EF4-FFF2-40B4-BE49-F238E27FC236}">
                  <a16:creationId xmlns:a16="http://schemas.microsoft.com/office/drawing/2014/main" id="{BF81CE3E-1239-4D0D-8337-4AABB0EB94B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+ 2 Bilder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79038B0-AD42-42B7-8D15-303CEBA1DC4C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464C44-AFA3-4DC5-AA03-2798F14ED87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4276259" cy="243114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E691ED2-3E52-4E4A-9F7C-C8A1129667C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2493863"/>
            <a:ext cx="4276259" cy="242103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7826728D-0439-4A76-A6FC-AAE7B4BDFA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4000268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076F09CB-2CC2-4309-BDB1-67804947A214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AE4D5FB2-1354-4A1C-9AC6-94BA47AFA65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FE59B463-359E-41D0-BD04-1F9F20933BC7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0FB2DBB2-6B23-44DE-BAFF-BA7815BDA3A9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0F2E9D98-4AD9-4DB8-99C6-0DF7955D45B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D351D8E0-4F29-4BBF-9D49-14AAEB93E919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DCB72BFE-8B60-40AD-87F8-487863D43F75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E0BA5A-CC65-4BB8-81BB-4CB15A4D8CF1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359051EF-44DD-407B-AE1C-A76EDF0E837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C0514696-52F1-48B2-96C8-A3E4798980D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E0DDF57D-AA32-45B9-BDC9-86A24A39DB9E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1" name="Grafik 9">
              <a:extLst>
                <a:ext uri="{FF2B5EF4-FFF2-40B4-BE49-F238E27FC236}">
                  <a16:creationId xmlns:a16="http://schemas.microsoft.com/office/drawing/2014/main" id="{E7679A7C-9589-4CF8-9F8D-7E3A97D84278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C32EB792-112B-4098-B905-0403E3AB3D3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2364557F-298E-4BF1-8A6D-06EF159C2726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9C8A17D1-D5DE-42B7-8090-E7E649D8A805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3" name="Grafik 9">
              <a:extLst>
                <a:ext uri="{FF2B5EF4-FFF2-40B4-BE49-F238E27FC236}">
                  <a16:creationId xmlns:a16="http://schemas.microsoft.com/office/drawing/2014/main" id="{36D757E1-23B8-4B97-B880-F711EC0DB08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1960764-ED10-4D2C-88D0-696068264BC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E6C9C067-792C-4C17-A5B3-D48C1665DD24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960872F2-485E-4F8B-8FCC-FC63006E79D3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4E07D7C9-0535-4673-8091-4F17D0B62650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9B0B4093-9FAE-4FEC-9671-D0091528BD5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1" name="Grafik 9">
              <a:extLst>
                <a:ext uri="{FF2B5EF4-FFF2-40B4-BE49-F238E27FC236}">
                  <a16:creationId xmlns:a16="http://schemas.microsoft.com/office/drawing/2014/main" id="{D5D00B8F-439D-4A9C-AC31-D90D9CFAFF16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0B59116-9AC3-488B-B418-57F05127DD42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ED6E8E7E-1035-4870-8608-70848BB2B703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0A256F68-56C7-4D5B-BCCD-3A6858B05732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4EEEE710-875E-4346-9F6D-CFFB3EF72B3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40" name="Textplatzhalter 3">
            <a:extLst>
              <a:ext uri="{FF2B5EF4-FFF2-40B4-BE49-F238E27FC236}">
                <a16:creationId xmlns:a16="http://schemas.microsoft.com/office/drawing/2014/main" id="{28366CDA-53C4-C445-BB35-C76A6EF75D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3032" y="1089025"/>
            <a:ext cx="4000268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47988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1" userDrawn="1">
          <p15:clr>
            <a:srgbClr val="FBAE40"/>
          </p15:clr>
        </p15:guide>
        <p15:guide id="2" orient="horz" pos="153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2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33C81B-6C39-4BD5-9BF9-8617341D80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15B8044-0142-42E8-8428-B098000CEBD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99384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FC4DC007-2365-A648-88B1-D6FDE125C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6269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97" userDrawn="1">
          <p15:clr>
            <a:srgbClr val="FBAE40"/>
          </p15:clr>
        </p15:guide>
        <p15:guide id="3" pos="28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3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21923-B745-4638-A634-E1DA375F90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1422399"/>
            <a:ext cx="2978945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7556F71-EDA3-472E-9372-CE0F4A69672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032522" y="1422400"/>
            <a:ext cx="307895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C1ADC803-A245-408E-AB12-EC54C19B510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65058" y="1422400"/>
            <a:ext cx="2978943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58BC8DE0-A3EE-804D-838F-898D4F788B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73676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0" userDrawn="1">
          <p15:clr>
            <a:srgbClr val="FBAE40"/>
          </p15:clr>
        </p15:guide>
        <p15:guide id="3" pos="3850" userDrawn="1">
          <p15:clr>
            <a:srgbClr val="FBAE40"/>
          </p15:clr>
        </p15:guide>
        <p15:guide id="4" pos="3884" userDrawn="1">
          <p15:clr>
            <a:srgbClr val="FBAE40"/>
          </p15:clr>
        </p15:guide>
        <p15:guide id="5" pos="187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+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Großes Bild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40F789-6719-4203-8D60-D2478F65170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1422399"/>
            <a:ext cx="914400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5616D54-86F2-9449-AA54-998236971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80941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014" userDrawn="1">
          <p15:clr>
            <a:srgbClr val="FBAE40"/>
          </p15:clr>
        </p15:guide>
        <p15:guide id="3" pos="2863" userDrawn="1">
          <p15:clr>
            <a:srgbClr val="FBAE40"/>
          </p15:clr>
        </p15:guide>
        <p15:guide id="4" pos="2897" userDrawn="1">
          <p15:clr>
            <a:srgbClr val="FBAE40"/>
          </p15:clr>
        </p15:guide>
        <p15:guide id="5" pos="1928" userDrawn="1">
          <p15:clr>
            <a:srgbClr val="FBAE40"/>
          </p15:clr>
        </p15:guide>
        <p15:guide id="6" pos="1894" userDrawn="1">
          <p15:clr>
            <a:srgbClr val="FBAE40"/>
          </p15:clr>
        </p15:guide>
        <p15:guide id="7" pos="958" userDrawn="1">
          <p15:clr>
            <a:srgbClr val="FBAE40"/>
          </p15:clr>
        </p15:guide>
        <p15:guide id="8" pos="924" userDrawn="1">
          <p15:clr>
            <a:srgbClr val="FBAE40"/>
          </p15:clr>
        </p15:guide>
        <p15:guide id="9" pos="4309" userDrawn="1">
          <p15:clr>
            <a:srgbClr val="FBAE40"/>
          </p15:clr>
        </p15:guide>
        <p15:guide id="10" pos="434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803084A-5ADB-8145-8DBF-2148A08267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235274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3771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9286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F2D883D-86A1-4B38-BBBC-81F258AD3664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A0B87E1F-4D99-4450-9167-085B1ECC6BB2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29147ACE-4C7A-4AC3-A60F-A813EE08D57E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3187F65C-802F-454B-B4D7-B16EEF26A6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2920" y="3034543"/>
            <a:ext cx="4779587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4667E34A-CC7E-4835-9AC5-FE237F81C03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626385F0-EFB3-4177-8D2F-2F990709108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6808F36E-77C0-40F5-86F8-7030FC5D0DFD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46CD7CF4-F97B-47E8-A3F8-5B427518485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5C9615FD-3950-4AAF-91D1-B7E0D1523EB1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6D61BCB8-A392-44BE-9B58-0C8894F2C6E3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5651F35B-CB90-42B4-A471-984346A049EA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8CE6B607-72CF-4173-94CC-C59F836899D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500087AB-383E-4624-A927-873B03065E80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22AA03D7-3F03-4C4F-A0C9-836B56272C8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908EC93F-835E-4D0F-A675-2F99EC043AA5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2CEF44ED-A72E-4351-9881-F8B58E7CA517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38C57ED4-5249-44F6-A846-8A50E1B0A8A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A3174859-C1AB-4E2C-AD75-5F35D1D33C1A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2C5BCA75-4F93-46B4-878A-E68AC698764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BCECBBC6-DE4D-4DC8-8D21-F5528013426A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BCE4B876-F0A5-4F73-BBFF-C3F17D7B5C7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5E2AB3D-28C9-4DA2-9CAC-58EAE4EB09DB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DA3BF75-3E56-4B78-B7D6-F84532C639D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33376168-99F8-4715-AF4C-8EE786D54481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EC324BE3-07EF-4C6E-9A11-992391FDED69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2E5DE4CB-903E-4460-9F03-DE6427A3C0A8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44D50118-5ACB-41E0-AC63-9E2D51DEF863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8E08ECA6-CD33-45EB-90A7-60C724D72EE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4E5B9455-EFA6-4E2C-ADFA-01DEA81D9373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E6E39BDF-EF42-4AB6-B762-15EEF4205FD7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CE13B148-0823-5B43-8A0E-5E7CA97610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4989" y="400420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7" name="Bildplatzhalter 4">
            <a:extLst>
              <a:ext uri="{FF2B5EF4-FFF2-40B4-BE49-F238E27FC236}">
                <a16:creationId xmlns:a16="http://schemas.microsoft.com/office/drawing/2014/main" id="{D683DF22-D1D8-1E49-BAFA-D5A1DD9A84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3714" y="3944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299A59BA-AFBC-5240-9675-0BE075D174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6E20D846-4FF9-AC41-BF41-CEE6E2A08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A849AFAA-CFDD-4649-874D-F4E9C02357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22072670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7304" y="3034543"/>
            <a:ext cx="5735203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36723533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4279" y="3034543"/>
            <a:ext cx="4968228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3" name="Inhaltsplatzhalter 3">
            <a:extLst>
              <a:ext uri="{FF2B5EF4-FFF2-40B4-BE49-F238E27FC236}">
                <a16:creationId xmlns:a16="http://schemas.microsoft.com/office/drawing/2014/main" id="{EA02FDF1-F7DB-BE48-B1B0-7B94721FC31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1422400"/>
            <a:ext cx="349188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647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2B04C92-175E-41BA-89CE-B2785D9E3855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AFB087C7-FC7D-4892-B0D6-EA804CF535F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bk object 18">
              <a:extLst>
                <a:ext uri="{FF2B5EF4-FFF2-40B4-BE49-F238E27FC236}">
                  <a16:creationId xmlns:a16="http://schemas.microsoft.com/office/drawing/2014/main" id="{FA50712F-6C72-4330-A489-54C0FA78213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Holder 3">
              <a:extLst>
                <a:ext uri="{FF2B5EF4-FFF2-40B4-BE49-F238E27FC236}">
                  <a16:creationId xmlns:a16="http://schemas.microsoft.com/office/drawing/2014/main" id="{390EDD11-ED96-4F2C-BB78-7CE69D30A0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3D4771-8BB8-4FA1-A2DA-170FCFE2056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6594" y="330910"/>
            <a:ext cx="6826772" cy="45232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2F5159-1DFE-4F9C-BE85-E97D32EA19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1550" y="1422399"/>
            <a:ext cx="8100956" cy="3423465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4DE2C-9DE8-411C-83C3-1274BB37020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35496" y="4975579"/>
            <a:ext cx="337406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549DC-12B4-40A5-A309-CF801E18C8D4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628650" y="4975579"/>
            <a:ext cx="7129704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9F45371-9B7D-4505-A4D1-3E02BE436A0C}"/>
              </a:ext>
            </a:extLst>
          </p:cNvPr>
          <p:cNvCxnSpPr>
            <a:cxnSpLocks/>
          </p:cNvCxnSpPr>
          <p:nvPr userDrawn="1"/>
        </p:nvCxnSpPr>
        <p:spPr>
          <a:xfrm>
            <a:off x="521551" y="974732"/>
            <a:ext cx="563462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afik 9">
            <a:extLst>
              <a:ext uri="{FF2B5EF4-FFF2-40B4-BE49-F238E27FC236}">
                <a16:creationId xmlns:a16="http://schemas.microsoft.com/office/drawing/2014/main" id="{A240364D-AE4D-440E-88A8-B05FF302FB9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2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21" name="Freihandform: Form 20">
                <a:extLst>
                  <a:ext uri="{FF2B5EF4-FFF2-40B4-BE49-F238E27FC236}">
                    <a16:creationId xmlns:a16="http://schemas.microsoft.com/office/drawing/2014/main" id="{C5CA81CC-0A8C-4F0A-898F-756081956301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2" name="Freihandform: Form 21">
                <a:extLst>
                  <a:ext uri="{FF2B5EF4-FFF2-40B4-BE49-F238E27FC236}">
                    <a16:creationId xmlns:a16="http://schemas.microsoft.com/office/drawing/2014/main" id="{1076D363-C034-4E14-9F45-AC0FCE1EDB1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 dirty="0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594D7886-9B36-4085-8FC4-E5D73FFB04FF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34A71752-C6CB-41A1-9ED4-535445E5CA2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0B449204-D2C5-46C7-9446-78CB3AE33C0F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836500CA-7AFD-48CA-B6D3-0D77161C68B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016B36-B092-4AFD-B601-383B7784BFBF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A46A87-4807-4767-B647-E3EC036BC92A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59FDC7EA-9A66-40BA-AEEF-50B9422FB283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EDC61321-1CDD-47FE-82F4-EC44AE05670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8F89A53-4AB3-4A93-B3CB-37874A98D1FD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58E0EDC8-E74F-4551-8BD2-939CC38E7C3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4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9D8C1F22-3E98-4749-B684-AA127651774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C3B0773-417D-4813-BD67-9BC2D01A3929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B5CEBB8-8410-4826-A2E1-C3C323E13940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C2141CF3-1E59-49AE-B4F4-71225DE8DBD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77A4FE29-4562-4C15-8839-87F3DA744A7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4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499DC055-1C0A-47CE-BA62-2B92DDA092AF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CFC50087-AE06-4FC3-BF14-DD98E5DF1E5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21874895-4ADB-4607-9955-2800059B66C0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CCA96FB2-00D1-437E-BC9E-014BF2485AA3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883162FD-5920-459D-B957-31A263988D88}"/>
              </a:ext>
            </a:extLst>
          </p:cNvPr>
          <p:cNvSpPr/>
          <p:nvPr userDrawn="1"/>
        </p:nvSpPr>
        <p:spPr>
          <a:xfrm>
            <a:off x="-4877" y="407792"/>
            <a:ext cx="337406" cy="294925"/>
          </a:xfrm>
          <a:custGeom>
            <a:avLst/>
            <a:gdLst>
              <a:gd name="connsiteX0" fmla="*/ 0 w 152234"/>
              <a:gd name="connsiteY0" fmla="*/ 134353 h 132902"/>
              <a:gd name="connsiteX1" fmla="*/ 84816 w 152234"/>
              <a:gd name="connsiteY1" fmla="*/ 134353 h 132902"/>
              <a:gd name="connsiteX2" fmla="*/ 152234 w 152234"/>
              <a:gd name="connsiteY2" fmla="*/ 67176 h 132902"/>
              <a:gd name="connsiteX3" fmla="*/ 84816 w 152234"/>
              <a:gd name="connsiteY3" fmla="*/ 0 h 132902"/>
              <a:gd name="connsiteX4" fmla="*/ 0 w 152234"/>
              <a:gd name="connsiteY4" fmla="*/ 0 h 132902"/>
              <a:gd name="connsiteX5" fmla="*/ 0 w 152234"/>
              <a:gd name="connsiteY5" fmla="*/ 134353 h 1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/>
          </a:p>
        </p:txBody>
      </p:sp>
    </p:spTree>
    <p:extLst>
      <p:ext uri="{BB962C8B-B14F-4D97-AF65-F5344CB8AC3E}">
        <p14:creationId xmlns:p14="http://schemas.microsoft.com/office/powerpoint/2010/main" val="18342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6" r:id="rId7"/>
    <p:sldLayoutId id="2147483697" r:id="rId8"/>
    <p:sldLayoutId id="2147483698" r:id="rId9"/>
    <p:sldLayoutId id="2147483721" r:id="rId10"/>
    <p:sldLayoutId id="2147483699" r:id="rId11"/>
    <p:sldLayoutId id="2147483700" r:id="rId12"/>
    <p:sldLayoutId id="2147483722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4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3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74638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1" userDrawn="1">
          <p15:clr>
            <a:srgbClr val="F26B43"/>
          </p15:clr>
        </p15:guide>
        <p15:guide id="4" pos="329" userDrawn="1">
          <p15:clr>
            <a:srgbClr val="F26B43"/>
          </p15:clr>
        </p15:guide>
        <p15:guide id="5" pos="5432" userDrawn="1">
          <p15:clr>
            <a:srgbClr val="F26B43"/>
          </p15:clr>
        </p15:guide>
        <p15:guide id="6" orient="horz" pos="686" userDrawn="1">
          <p15:clr>
            <a:srgbClr val="F26B43"/>
          </p15:clr>
        </p15:guide>
        <p15:guide id="7" orient="horz" pos="3096" userDrawn="1">
          <p15:clr>
            <a:srgbClr val="F26B43"/>
          </p15:clr>
        </p15:guide>
        <p15:guide id="9" orient="horz" pos="3121" userDrawn="1">
          <p15:clr>
            <a:srgbClr val="F26B43"/>
          </p15:clr>
        </p15:guide>
        <p15:guide id="10" orient="horz" pos="8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100">
            <a:extLst>
              <a:ext uri="{FF2B5EF4-FFF2-40B4-BE49-F238E27FC236}">
                <a16:creationId xmlns:a16="http://schemas.microsoft.com/office/drawing/2014/main" id="{6ABA10D6-0652-4B42-A35F-CF9E0DD124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000" dirty="0"/>
              <a:t>Oxidative </a:t>
            </a:r>
            <a:r>
              <a:rPr lang="de-DE" sz="2000" dirty="0" err="1"/>
              <a:t>Trifluoromethylation</a:t>
            </a:r>
            <a:r>
              <a:rPr lang="de-DE" sz="2000" dirty="0"/>
              <a:t> and </a:t>
            </a:r>
            <a:r>
              <a:rPr lang="de-DE" sz="2000" dirty="0" err="1"/>
              <a:t>Trifluoromethylthiolation</a:t>
            </a:r>
            <a:r>
              <a:rPr lang="de-DE" sz="2000" dirty="0"/>
              <a:t> </a:t>
            </a:r>
            <a:r>
              <a:rPr lang="de-DE" sz="2000" dirty="0" err="1"/>
              <a:t>Reactions</a:t>
            </a:r>
            <a:r>
              <a:rPr lang="de-DE" sz="2000" dirty="0"/>
              <a:t> </a:t>
            </a:r>
            <a:r>
              <a:rPr lang="de-DE" sz="2000" dirty="0" err="1"/>
              <a:t>Using</a:t>
            </a:r>
            <a:r>
              <a:rPr lang="de-DE" sz="2000" dirty="0"/>
              <a:t> (</a:t>
            </a:r>
            <a:r>
              <a:rPr lang="de-DE" sz="2000" dirty="0" err="1"/>
              <a:t>Trifluoromethyl</a:t>
            </a:r>
            <a:r>
              <a:rPr lang="de-DE" sz="2000" dirty="0"/>
              <a:t>)</a:t>
            </a:r>
            <a:r>
              <a:rPr lang="de-DE" sz="2000" dirty="0" err="1"/>
              <a:t>trimethylsilane</a:t>
            </a:r>
            <a:r>
              <a:rPr lang="de-DE" sz="2000" dirty="0"/>
              <a:t> </a:t>
            </a:r>
            <a:r>
              <a:rPr lang="de-DE" sz="2000" dirty="0" err="1"/>
              <a:t>as</a:t>
            </a:r>
            <a:r>
              <a:rPr lang="de-DE" sz="2000" dirty="0"/>
              <a:t> a </a:t>
            </a:r>
            <a:r>
              <a:rPr lang="de-DE" sz="2000" dirty="0" err="1"/>
              <a:t>Nucleophilic</a:t>
            </a:r>
            <a:r>
              <a:rPr lang="de-DE" sz="2000" dirty="0"/>
              <a:t> CF₃ Source</a:t>
            </a:r>
          </a:p>
        </p:txBody>
      </p:sp>
      <p:sp>
        <p:nvSpPr>
          <p:cNvPr id="102" name="Untertitel 101">
            <a:extLst>
              <a:ext uri="{FF2B5EF4-FFF2-40B4-BE49-F238E27FC236}">
                <a16:creationId xmlns:a16="http://schemas.microsoft.com/office/drawing/2014/main" id="{A9C4E376-BA12-7D43-96B4-4F6C54848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Lingling</a:t>
            </a:r>
            <a:r>
              <a:rPr lang="en-US" dirty="0"/>
              <a:t> Chu and Feng-Ling Qing</a:t>
            </a:r>
            <a:endParaRPr lang="de-DE" dirty="0"/>
          </a:p>
        </p:txBody>
      </p:sp>
      <p:sp>
        <p:nvSpPr>
          <p:cNvPr id="132" name="Textplatzhalter 131">
            <a:extLst>
              <a:ext uri="{FF2B5EF4-FFF2-40B4-BE49-F238E27FC236}">
                <a16:creationId xmlns:a16="http://schemas.microsoft.com/office/drawing/2014/main" id="{13915252-8486-BE43-A525-942B4DD0B9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16.05.2023</a:t>
            </a:r>
          </a:p>
        </p:txBody>
      </p:sp>
      <p:sp>
        <p:nvSpPr>
          <p:cNvPr id="2" name="Untertitel 101">
            <a:extLst>
              <a:ext uri="{FF2B5EF4-FFF2-40B4-BE49-F238E27FC236}">
                <a16:creationId xmlns:a16="http://schemas.microsoft.com/office/drawing/2014/main" id="{C7AB07E0-5AC1-BE6E-C4A3-097B3F706386}"/>
              </a:ext>
            </a:extLst>
          </p:cNvPr>
          <p:cNvSpPr txBox="1">
            <a:spLocks/>
          </p:cNvSpPr>
          <p:nvPr/>
        </p:nvSpPr>
        <p:spPr>
          <a:xfrm>
            <a:off x="3654279" y="4098800"/>
            <a:ext cx="4401108" cy="604640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Jana </a:t>
            </a:r>
            <a:r>
              <a:rPr lang="en-US" sz="1400" dirty="0" err="1"/>
              <a:t>Rheinländer</a:t>
            </a:r>
            <a:r>
              <a:rPr lang="en-US" sz="1400" dirty="0"/>
              <a:t>, Marco Gurbisz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70159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3F86F-CD1C-2100-1517-8F4425E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E3250B-0579-36F4-27FC-027971F9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0FA53-4E45-2CAC-0E37-C881CBB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2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6E040E-820E-227C-C1EE-C132F6A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8096250" cy="3492500"/>
          </a:xfrm>
        </p:spPr>
        <p:txBody>
          <a:bodyPr/>
          <a:lstStyle/>
          <a:p>
            <a:r>
              <a:rPr lang="de-DE" dirty="0"/>
              <a:t>Verwendung CF</a:t>
            </a:r>
            <a:r>
              <a:rPr lang="de-DE" baseline="-25000" dirty="0"/>
              <a:t>3</a:t>
            </a:r>
            <a:r>
              <a:rPr lang="de-DE" dirty="0"/>
              <a:t>-Verbindungen</a:t>
            </a:r>
          </a:p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über Oxidation von Substraten</a:t>
            </a:r>
          </a:p>
          <a:p>
            <a:pPr lvl="1"/>
            <a:r>
              <a:rPr lang="de-DE" dirty="0"/>
              <a:t>über Oxidation von </a:t>
            </a:r>
            <a:r>
              <a:rPr lang="de-DE" dirty="0" err="1"/>
              <a:t>CF₃SiMe</a:t>
            </a:r>
            <a:r>
              <a:rPr lang="de-DE" dirty="0"/>
              <a:t>₃</a:t>
            </a:r>
          </a:p>
          <a:p>
            <a:pPr lvl="1"/>
            <a:r>
              <a:rPr lang="de-DE" dirty="0"/>
              <a:t>Nebengruppenmetallkatalysiert</a:t>
            </a:r>
          </a:p>
          <a:p>
            <a:pPr lvl="1"/>
            <a:r>
              <a:rPr lang="de-DE" dirty="0"/>
              <a:t>von Borsäuren</a:t>
            </a:r>
          </a:p>
          <a:p>
            <a:r>
              <a:rPr lang="de-DE" dirty="0"/>
              <a:t>Verwendung SCF₃-Verbindungen</a:t>
            </a:r>
          </a:p>
          <a:p>
            <a:r>
              <a:rPr lang="de-DE" dirty="0"/>
              <a:t>Oxidative </a:t>
            </a:r>
            <a:r>
              <a:rPr lang="de-DE" dirty="0" err="1"/>
              <a:t>Trifluormethylthiolierung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380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E5BA9-D766-A146-5CF2-3C26EE5E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337687"/>
            <a:ext cx="6826772" cy="452322"/>
          </a:xfrm>
        </p:spPr>
        <p:txBody>
          <a:bodyPr/>
          <a:lstStyle/>
          <a:p>
            <a:r>
              <a:rPr lang="de-DE" dirty="0"/>
              <a:t>Verwendung von CF</a:t>
            </a:r>
            <a:r>
              <a:rPr lang="de-DE" baseline="-25000" dirty="0"/>
              <a:t>3</a:t>
            </a:r>
            <a:r>
              <a:rPr lang="de-DE" dirty="0"/>
              <a:t>-Verbindungen 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0E445A-F300-1D74-97EE-DFA01A57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de-DE" sz="1050" b="0" i="0" u="none" strike="noStrike" baseline="0" dirty="0" err="1">
                <a:latin typeface="AdvOT2e364b11"/>
              </a:rPr>
              <a:t>Mu</a:t>
            </a:r>
            <a:r>
              <a:rPr lang="de-DE" sz="1050" b="0" i="0" u="none" strike="noStrike" baseline="0" dirty="0" err="1">
                <a:latin typeface="AdvOT8608a8d1+03"/>
              </a:rPr>
              <a:t>̈</a:t>
            </a:r>
            <a:r>
              <a:rPr lang="de-DE" sz="1050" b="0" i="0" u="none" strike="noStrike" baseline="0" dirty="0" err="1">
                <a:latin typeface="AdvOT2e364b11"/>
              </a:rPr>
              <a:t>ller</a:t>
            </a:r>
            <a:r>
              <a:rPr lang="de-DE" sz="1050" b="0" i="0" u="none" strike="noStrike" baseline="0" dirty="0">
                <a:latin typeface="AdvOT2e364b11"/>
              </a:rPr>
              <a:t>, K.; </a:t>
            </a:r>
            <a:r>
              <a:rPr lang="de-DE" sz="1050" b="0" i="0" u="none" strike="noStrike" baseline="0" dirty="0" err="1">
                <a:latin typeface="AdvOT2e364b11"/>
              </a:rPr>
              <a:t>Faeh</a:t>
            </a:r>
            <a:r>
              <a:rPr lang="de-DE" sz="1050" b="0" i="0" u="none" strike="noStrike" baseline="0" dirty="0">
                <a:latin typeface="AdvOT2e364b11"/>
              </a:rPr>
              <a:t>, C.; Diederich, F. </a:t>
            </a:r>
            <a:r>
              <a:rPr lang="de-DE" sz="1050" b="0" i="0" u="none" strike="noStrike" baseline="0" dirty="0" err="1">
                <a:latin typeface="AdvOT2e364b11"/>
              </a:rPr>
              <a:t>Fluorine</a:t>
            </a:r>
            <a:r>
              <a:rPr lang="de-DE" sz="1050" b="0" i="0" u="none" strike="noStrike" baseline="0" dirty="0">
                <a:latin typeface="AdvOT2e364b11"/>
              </a:rPr>
              <a:t> in </a:t>
            </a:r>
            <a:r>
              <a:rPr lang="en-US" sz="1050" b="0" i="0" u="none" strike="noStrike" baseline="0" dirty="0">
                <a:latin typeface="AdvOT2e364b11"/>
              </a:rPr>
              <a:t>Pharmaceuticals: Looking beyond Intuition. </a:t>
            </a:r>
            <a:r>
              <a:rPr lang="en-US" sz="1050" b="0" i="0" u="none" strike="noStrike" baseline="0" dirty="0">
                <a:latin typeface="AdvOT02ce3bbb.I"/>
              </a:rPr>
              <a:t>Science </a:t>
            </a:r>
            <a:r>
              <a:rPr lang="en-US" sz="1050" b="0" i="0" u="none" strike="noStrike" baseline="0" dirty="0">
                <a:latin typeface="AdvOT51c1769e"/>
              </a:rPr>
              <a:t>2007</a:t>
            </a:r>
            <a:r>
              <a:rPr lang="en-US" sz="1050" b="0" i="0" u="none" strike="noStrike" baseline="0" dirty="0">
                <a:latin typeface="AdvOT2e364b11"/>
              </a:rPr>
              <a:t>, </a:t>
            </a:r>
            <a:r>
              <a:rPr lang="en-US" sz="1050" b="0" i="0" u="none" strike="noStrike" baseline="0" dirty="0">
                <a:latin typeface="AdvOT02ce3bbb.I"/>
              </a:rPr>
              <a:t>317</a:t>
            </a:r>
            <a:r>
              <a:rPr lang="en-US" sz="1050" b="0" i="0" u="none" strike="noStrike" baseline="0" dirty="0">
                <a:latin typeface="AdvOT2e364b11"/>
              </a:rPr>
              <a:t>, </a:t>
            </a:r>
            <a:r>
              <a:rPr lang="de-DE" sz="1050" b="0" i="0" u="none" strike="noStrike" baseline="0" dirty="0">
                <a:latin typeface="AdvOT2e364b11"/>
              </a:rPr>
              <a:t>1881</a:t>
            </a:r>
            <a:r>
              <a:rPr lang="de-DE" sz="1050" b="0" i="0" u="none" strike="noStrike" baseline="0" dirty="0">
                <a:latin typeface="AdvOT8608a8d1+22"/>
              </a:rPr>
              <a:t>−</a:t>
            </a:r>
            <a:r>
              <a:rPr lang="de-DE" sz="1050" b="0" i="0" u="none" strike="noStrike" baseline="0" dirty="0">
                <a:latin typeface="AdvOT2e364b11"/>
              </a:rPr>
              <a:t>1886.</a:t>
            </a:r>
            <a:endParaRPr lang="de-DE" sz="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B65D9F-1DD1-2B70-AEDC-170D625F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3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CB2475E-11ED-6041-394E-47A8FAD9F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1114373"/>
            <a:ext cx="3525167" cy="2564717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AF312A-4A3A-4EA8-E363-A1ECBABEF9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133155"/>
            <a:ext cx="4480173" cy="3492500"/>
          </a:xfrm>
        </p:spPr>
        <p:txBody>
          <a:bodyPr>
            <a:noAutofit/>
          </a:bodyPr>
          <a:lstStyle/>
          <a:p>
            <a:r>
              <a:rPr lang="de-DE" dirty="0"/>
              <a:t>Große Rolle in Pharmazeutika und Agrochemie </a:t>
            </a:r>
          </a:p>
          <a:p>
            <a:pPr lvl="1"/>
            <a:r>
              <a:rPr lang="de-DE" dirty="0"/>
              <a:t>Verbessern chemische und metabolische Stabilität</a:t>
            </a:r>
          </a:p>
          <a:p>
            <a:pPr lvl="1"/>
            <a:r>
              <a:rPr lang="de-DE" dirty="0"/>
              <a:t>Verbessert Lipophilie und Bioverfügbarkeit (Verringerung der Basizität der benachbarten Amine)</a:t>
            </a:r>
          </a:p>
          <a:p>
            <a:pPr lvl="1"/>
            <a:r>
              <a:rPr lang="de-DE" dirty="0"/>
              <a:t>Erhöht Protein Bindungsaffinität</a:t>
            </a:r>
          </a:p>
          <a:p>
            <a:r>
              <a:rPr lang="de-DE" dirty="0" err="1"/>
              <a:t>Prozac</a:t>
            </a:r>
            <a:r>
              <a:rPr lang="de-DE" dirty="0"/>
              <a:t> (antidepressives </a:t>
            </a:r>
            <a:r>
              <a:rPr lang="de-DE" dirty="0" err="1"/>
              <a:t>Fluoxetine</a:t>
            </a:r>
            <a:r>
              <a:rPr lang="de-DE" dirty="0"/>
              <a:t>) gegen </a:t>
            </a:r>
            <a:r>
              <a:rPr lang="de-DE" dirty="0" err="1"/>
              <a:t>Obzessive-commpulsive</a:t>
            </a:r>
            <a:r>
              <a:rPr lang="de-DE" dirty="0"/>
              <a:t> Störung und Bulimie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6764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1C224-CBCD-B9D6-59FF-228EABC1B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Verwendung von CF</a:t>
            </a:r>
            <a:r>
              <a:rPr lang="de-DE" baseline="-25000" dirty="0"/>
              <a:t>3</a:t>
            </a:r>
            <a:r>
              <a:rPr lang="de-DE" dirty="0"/>
              <a:t>-Verbindungen 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95C5A90-D1A0-B2DA-1EAE-FA8B08D3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fr-FR" sz="1100" b="0" i="0" u="none" strike="noStrike" baseline="0" dirty="0" err="1">
                <a:latin typeface="AdvOT2e364b11"/>
              </a:rPr>
              <a:t>Purser</a:t>
            </a:r>
            <a:r>
              <a:rPr lang="fr-FR" sz="1100" b="0" i="0" u="none" strike="noStrike" baseline="0" dirty="0">
                <a:latin typeface="AdvOT2e364b11"/>
              </a:rPr>
              <a:t>, S.; Moore, P. R.; </a:t>
            </a:r>
            <a:r>
              <a:rPr lang="fr-FR" sz="1100" b="0" i="0" u="none" strike="noStrike" baseline="0" dirty="0" err="1">
                <a:latin typeface="AdvOT2e364b11"/>
              </a:rPr>
              <a:t>Swallow</a:t>
            </a:r>
            <a:r>
              <a:rPr lang="fr-FR" sz="1100" b="0" i="0" u="none" strike="noStrike" baseline="0" dirty="0">
                <a:latin typeface="AdvOT2e364b11"/>
              </a:rPr>
              <a:t>, S.; Gouverneur, </a:t>
            </a:r>
            <a:r>
              <a:rPr lang="de-DE" sz="1100" b="0" i="0" u="none" strike="noStrike" baseline="0" dirty="0">
                <a:latin typeface="AdvOT2e364b11"/>
              </a:rPr>
              <a:t>V. </a:t>
            </a:r>
            <a:r>
              <a:rPr lang="de-DE" sz="1100" b="0" i="0" u="none" strike="noStrike" baseline="0" dirty="0" err="1">
                <a:latin typeface="AdvOT2e364b11"/>
              </a:rPr>
              <a:t>Fluorine</a:t>
            </a:r>
            <a:r>
              <a:rPr lang="de-DE" sz="1100" b="0" i="0" u="none" strike="noStrike" baseline="0" dirty="0">
                <a:latin typeface="AdvOT2e364b11"/>
              </a:rPr>
              <a:t> in </a:t>
            </a:r>
            <a:r>
              <a:rPr lang="de-DE" sz="1100" b="0" i="0" u="none" strike="noStrike" baseline="0" dirty="0" err="1">
                <a:latin typeface="AdvOT2e364b11"/>
              </a:rPr>
              <a:t>Medicinal</a:t>
            </a:r>
            <a:r>
              <a:rPr lang="de-DE" sz="1100" b="0" i="0" u="none" strike="noStrike" baseline="0" dirty="0">
                <a:latin typeface="AdvOT2e364b11"/>
              </a:rPr>
              <a:t> Chemistry. </a:t>
            </a:r>
            <a:r>
              <a:rPr lang="de-DE" sz="1100" b="0" i="0" u="none" strike="noStrike" baseline="0" dirty="0">
                <a:latin typeface="AdvOT02ce3bbb.I"/>
              </a:rPr>
              <a:t>Chem. </a:t>
            </a:r>
            <a:r>
              <a:rPr lang="de-DE" sz="1100" b="0" i="0" u="none" strike="noStrike" baseline="0" dirty="0" err="1">
                <a:latin typeface="AdvOT02ce3bbb.I"/>
              </a:rPr>
              <a:t>Soc</a:t>
            </a:r>
            <a:r>
              <a:rPr lang="de-DE" sz="1100" b="0" i="0" u="none" strike="noStrike" baseline="0" dirty="0">
                <a:latin typeface="AdvOT02ce3bbb.I"/>
              </a:rPr>
              <a:t>. Rev. </a:t>
            </a:r>
            <a:r>
              <a:rPr lang="de-DE" sz="1100" b="0" i="0" u="none" strike="noStrike" baseline="0" dirty="0">
                <a:latin typeface="AdvOT51c1769e"/>
              </a:rPr>
              <a:t>2008</a:t>
            </a:r>
            <a:r>
              <a:rPr lang="de-DE" sz="1100" b="0" i="0" u="none" strike="noStrike" baseline="0" dirty="0">
                <a:latin typeface="AdvOT2e364b11"/>
              </a:rPr>
              <a:t>, </a:t>
            </a:r>
            <a:r>
              <a:rPr lang="de-DE" sz="1100" b="0" i="0" u="none" strike="noStrike" baseline="0" dirty="0">
                <a:latin typeface="AdvOT02ce3bbb.I"/>
              </a:rPr>
              <a:t>37</a:t>
            </a:r>
            <a:r>
              <a:rPr lang="de-DE" sz="1100" b="0" i="0" u="none" strike="noStrike" baseline="0" dirty="0">
                <a:latin typeface="AdvOT2e364b11"/>
              </a:rPr>
              <a:t>, 320</a:t>
            </a:r>
            <a:r>
              <a:rPr lang="de-DE" sz="1100" b="0" i="0" u="none" strike="noStrike" baseline="0" dirty="0">
                <a:latin typeface="AdvOT8608a8d1+22"/>
              </a:rPr>
              <a:t>−</a:t>
            </a:r>
            <a:r>
              <a:rPr lang="de-DE" sz="1100" b="0" i="0" u="none" strike="noStrike" baseline="0" dirty="0">
                <a:latin typeface="AdvOT2e364b11"/>
              </a:rPr>
              <a:t>330.</a:t>
            </a:r>
            <a:endParaRPr lang="de-DE" sz="5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3D474D-89ED-C9D4-EBE8-5AD1D0F2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4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903F6D7-73D3-0222-0FF1-CE37246746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287" y="990748"/>
            <a:ext cx="4807286" cy="3700017"/>
          </a:xfrm>
        </p:spPr>
        <p:txBody>
          <a:bodyPr/>
          <a:lstStyle/>
          <a:p>
            <a:r>
              <a:rPr lang="de-DE" dirty="0" err="1"/>
              <a:t>Faslodex</a:t>
            </a:r>
            <a:r>
              <a:rPr lang="de-DE" dirty="0"/>
              <a:t> entwickelt gegen Nebenwirkungen von Tamoxifen (Brustkrebs)</a:t>
            </a:r>
          </a:p>
          <a:p>
            <a:pPr lvl="1"/>
            <a:r>
              <a:rPr lang="de-DE" dirty="0"/>
              <a:t>Östrogen Rezeptor Antagonist</a:t>
            </a:r>
          </a:p>
          <a:p>
            <a:pPr lvl="1"/>
            <a:r>
              <a:rPr lang="de-DE" dirty="0"/>
              <a:t>Keine Agonist Reaktivität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r>
              <a:rPr lang="de-DE" dirty="0" err="1"/>
              <a:t>Efavirenz</a:t>
            </a:r>
            <a:r>
              <a:rPr lang="de-DE" dirty="0"/>
              <a:t> gegen HIV</a:t>
            </a:r>
          </a:p>
          <a:p>
            <a:pPr lvl="1"/>
            <a:r>
              <a:rPr lang="de-DE" dirty="0"/>
              <a:t>Nicht Nukleosid Reverse Transkriptase Inhibitor</a:t>
            </a:r>
          </a:p>
          <a:p>
            <a:pPr lvl="1"/>
            <a:r>
              <a:rPr lang="de-DE" dirty="0"/>
              <a:t>Solange wie möglich die Replication des Virus verhindern </a:t>
            </a:r>
          </a:p>
          <a:p>
            <a:pPr lvl="1"/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C82DF45-DE6F-DB71-FC43-27B9E5F04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573" y="1068045"/>
            <a:ext cx="3841427" cy="148717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2EC0FC7-202C-A0DD-C145-1E2C0C219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17" y="2643422"/>
            <a:ext cx="1623149" cy="222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61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1C224-CBCD-B9D6-59FF-228EABC1B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Verwendung von CF</a:t>
            </a:r>
            <a:r>
              <a:rPr lang="de-DE" baseline="-25000" dirty="0"/>
              <a:t>3</a:t>
            </a:r>
            <a:r>
              <a:rPr lang="de-DE" dirty="0"/>
              <a:t>-Verbindungen 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95C5A90-D1A0-B2DA-1EAE-FA8B08D3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6594" y="4898281"/>
            <a:ext cx="7645806" cy="225981"/>
          </a:xfrm>
        </p:spPr>
        <p:txBody>
          <a:bodyPr/>
          <a:lstStyle/>
          <a:p>
            <a:r>
              <a:rPr lang="en-US" sz="800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Ogawa, Yuta, et al. </a:t>
            </a:r>
            <a:r>
              <a:rPr lang="en-US" sz="800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Iscience</a:t>
            </a:r>
            <a:r>
              <a:rPr lang="en-US" sz="800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23.9 (2020): 101467.</a:t>
            </a:r>
            <a:endParaRPr lang="de-DE" sz="7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3D474D-89ED-C9D4-EBE8-5AD1D0F2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5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903F6D7-73D3-0222-0FF1-CE37246746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26" y="1337041"/>
            <a:ext cx="4807286" cy="3700017"/>
          </a:xfrm>
        </p:spPr>
        <p:txBody>
          <a:bodyPr/>
          <a:lstStyle/>
          <a:p>
            <a:pPr lvl="1"/>
            <a:r>
              <a:rPr lang="de-DE" dirty="0" err="1"/>
              <a:t>Trifluralin</a:t>
            </a:r>
            <a:r>
              <a:rPr lang="de-DE" dirty="0"/>
              <a:t>, erstes </a:t>
            </a:r>
            <a:r>
              <a:rPr lang="de-DE" dirty="0" err="1"/>
              <a:t>Fluoro</a:t>
            </a:r>
            <a:r>
              <a:rPr lang="de-DE" dirty="0"/>
              <a:t>-Unkrautvernichtungsmittel, weltweit verwendet</a:t>
            </a:r>
          </a:p>
          <a:p>
            <a:pPr lvl="1"/>
            <a:r>
              <a:rPr lang="de-DE" dirty="0" err="1"/>
              <a:t>Cyclobutrifluram</a:t>
            </a:r>
            <a:r>
              <a:rPr lang="de-DE" dirty="0"/>
              <a:t> – Pestizid</a:t>
            </a:r>
          </a:p>
          <a:p>
            <a:pPr lvl="1"/>
            <a:r>
              <a:rPr lang="de-DE" dirty="0" err="1"/>
              <a:t>Dimesulfazet</a:t>
            </a:r>
            <a:r>
              <a:rPr lang="de-DE" dirty="0"/>
              <a:t> – Herbizid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48433A9-33EC-E0CE-9543-8249B1A96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11" y="1422797"/>
            <a:ext cx="2008211" cy="212697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472E66A-5736-ADEE-7743-7882F969C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0" y="2854422"/>
            <a:ext cx="2324100" cy="203835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5BB8BFC-95CF-F886-D047-55DCC3D1B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745" y="3078981"/>
            <a:ext cx="3254966" cy="16117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E0828D-612E-906B-CAA0-EC7866AA0905}"/>
              </a:ext>
            </a:extLst>
          </p:cNvPr>
          <p:cNvSpPr/>
          <p:nvPr/>
        </p:nvSpPr>
        <p:spPr>
          <a:xfrm>
            <a:off x="6732240" y="1422797"/>
            <a:ext cx="36004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608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92BBE-1BC6-7120-B2DB-21251995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über Oxidation von Substraten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173BD1-FFCF-7D57-F285-12DED73F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F038B1-E551-CB0D-F562-3F2A0D10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6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F84DD3-EA83-0189-7142-F21915B0E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6594" y="1552240"/>
            <a:ext cx="4336159" cy="3456384"/>
          </a:xfrm>
        </p:spPr>
        <p:txBody>
          <a:bodyPr/>
          <a:lstStyle/>
          <a:p>
            <a:r>
              <a:rPr lang="de-DE" dirty="0"/>
              <a:t>Oxidation der sp</a:t>
            </a:r>
            <a:r>
              <a:rPr lang="de-DE" baseline="30000" dirty="0"/>
              <a:t>3</a:t>
            </a:r>
            <a:r>
              <a:rPr lang="de-DE" dirty="0"/>
              <a:t> C-H-Bindung, anschließender nucleophiler Angriff </a:t>
            </a:r>
            <a:r>
              <a:rPr lang="de-DE" dirty="0">
                <a:sym typeface="Wingdings" panose="05000000000000000000" pitchFamily="2" charset="2"/>
              </a:rPr>
              <a:t>gute Methode zur Herstellung funktionalisierter Amine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Tertiäre Amine zur oxidativen </a:t>
            </a:r>
            <a:r>
              <a:rPr lang="de-DE" dirty="0" err="1"/>
              <a:t>Trifluormethylierung</a:t>
            </a:r>
            <a:r>
              <a:rPr lang="de-DE" dirty="0"/>
              <a:t> verwendet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42CE9E3-66E5-ABCF-3AEF-E49F2EA909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" t="2351" r="4438"/>
          <a:stretch/>
        </p:blipFill>
        <p:spPr>
          <a:xfrm>
            <a:off x="4860034" y="1134765"/>
            <a:ext cx="4048500" cy="240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3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92BBE-1BC6-7120-B2DB-21251995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über Oxidation von Substraten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173BD1-FFCF-7D57-F285-12DED73F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F038B1-E551-CB0D-F562-3F2A0D10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7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F84DD3-EA83-0189-7142-F21915B0E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7094" y="1593536"/>
            <a:ext cx="4336159" cy="3456384"/>
          </a:xfrm>
        </p:spPr>
        <p:txBody>
          <a:bodyPr/>
          <a:lstStyle/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etrahydroisoquinolin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-D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erivative</a:t>
            </a:r>
            <a:r>
              <a:rPr lang="de-DE" dirty="0">
                <a:effectLst/>
              </a:rPr>
              <a:t> durch </a:t>
            </a:r>
            <a:r>
              <a:rPr lang="de-DE" dirty="0" err="1">
                <a:effectLst/>
              </a:rPr>
              <a:t>Benzoylperoxide</a:t>
            </a:r>
            <a:r>
              <a:rPr lang="de-DE" dirty="0">
                <a:effectLst/>
              </a:rPr>
              <a:t> unterstützt</a:t>
            </a:r>
          </a:p>
          <a:p>
            <a:r>
              <a:rPr lang="de-DE" dirty="0"/>
              <a:t>Meistens Überoxidation, durch Hydrierung mit Pd/C in gewünschtes Produkt umwandeln</a:t>
            </a:r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1DDE696-5C9F-CA62-2603-729B580BC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253" y="1473142"/>
            <a:ext cx="4345484" cy="239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57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92BBE-1BC6-7120-B2DB-21251995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über Oxidation von Substraten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173BD1-FFCF-7D57-F285-12DED73F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F038B1-E551-CB0D-F562-3F2A0D10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8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F84DD3-EA83-0189-7142-F21915B0E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062756"/>
            <a:ext cx="4154990" cy="3756183"/>
          </a:xfrm>
        </p:spPr>
        <p:txBody>
          <a:bodyPr/>
          <a:lstStyle/>
          <a:p>
            <a:r>
              <a:rPr lang="de-DE" dirty="0"/>
              <a:t>2011 </a:t>
            </a:r>
            <a:r>
              <a:rPr lang="de-DE" dirty="0" err="1"/>
              <a:t>Cu</a:t>
            </a:r>
            <a:r>
              <a:rPr lang="de-DE" dirty="0"/>
              <a:t>-Katalysierte direkte </a:t>
            </a:r>
            <a:r>
              <a:rPr lang="de-DE" dirty="0" err="1"/>
              <a:t>Trifluormethylierung</a:t>
            </a:r>
            <a:r>
              <a:rPr lang="de-DE" dirty="0"/>
              <a:t> mit teuren elektrophilen </a:t>
            </a:r>
            <a:r>
              <a:rPr lang="de-DE" dirty="0" err="1"/>
              <a:t>Trifluormethylisierungsreagenzien</a:t>
            </a:r>
            <a:r>
              <a:rPr lang="de-DE" dirty="0"/>
              <a:t> (Tognis und </a:t>
            </a:r>
            <a:r>
              <a:rPr lang="de-DE" dirty="0" err="1"/>
              <a:t>Umemotos</a:t>
            </a:r>
            <a:r>
              <a:rPr lang="de-DE" dirty="0"/>
              <a:t> Reagenz)</a:t>
            </a:r>
          </a:p>
          <a:p>
            <a:r>
              <a:rPr lang="de-DE" dirty="0"/>
              <a:t>CF</a:t>
            </a:r>
            <a:r>
              <a:rPr lang="de-DE" baseline="-25000" dirty="0"/>
              <a:t>3</a:t>
            </a:r>
            <a:r>
              <a:rPr lang="de-DE" dirty="0"/>
              <a:t>SiMe</a:t>
            </a:r>
            <a:r>
              <a:rPr lang="de-DE" baseline="-25000" dirty="0"/>
              <a:t>3</a:t>
            </a:r>
            <a:r>
              <a:rPr lang="de-DE" dirty="0"/>
              <a:t> ebenfalls als </a:t>
            </a:r>
            <a:r>
              <a:rPr lang="de-DE" dirty="0" err="1"/>
              <a:t>Trifluormethylierungsreagenz</a:t>
            </a:r>
            <a:r>
              <a:rPr lang="de-DE" dirty="0"/>
              <a:t> verwendbar</a:t>
            </a:r>
          </a:p>
          <a:p>
            <a:r>
              <a:rPr lang="de-DE" dirty="0"/>
              <a:t>Vorläufige </a:t>
            </a:r>
            <a:r>
              <a:rPr lang="de-DE" dirty="0" err="1"/>
              <a:t>Mechanismusuntersuchung</a:t>
            </a:r>
            <a:r>
              <a:rPr lang="de-DE" dirty="0"/>
              <a:t> schloss Beteiligung eines CF</a:t>
            </a:r>
            <a:r>
              <a:rPr lang="de-DE" baseline="-25000" dirty="0"/>
              <a:t>3</a:t>
            </a:r>
            <a:r>
              <a:rPr lang="de-DE" dirty="0"/>
              <a:t>- oder Allyl-Radikal aus</a:t>
            </a:r>
          </a:p>
          <a:p>
            <a:r>
              <a:rPr lang="de-DE" dirty="0"/>
              <a:t>Oxidation der Terminalen </a:t>
            </a:r>
            <a:r>
              <a:rPr lang="de-DE" dirty="0" err="1"/>
              <a:t>Alkene</a:t>
            </a:r>
            <a:r>
              <a:rPr lang="de-DE" dirty="0"/>
              <a:t> mit </a:t>
            </a:r>
            <a:r>
              <a:rPr lang="de-DE" dirty="0" err="1"/>
              <a:t>PhI</a:t>
            </a:r>
            <a:r>
              <a:rPr lang="de-DE" dirty="0"/>
              <a:t>(</a:t>
            </a:r>
            <a:r>
              <a:rPr lang="de-DE" dirty="0" err="1"/>
              <a:t>Oac</a:t>
            </a:r>
            <a:r>
              <a:rPr lang="de-DE" dirty="0"/>
              <a:t>)</a:t>
            </a:r>
            <a:r>
              <a:rPr lang="de-DE" baseline="-25000" dirty="0"/>
              <a:t>2 </a:t>
            </a:r>
            <a:r>
              <a:rPr lang="de-DE" dirty="0"/>
              <a:t>und anschließender Bildung eines Radikalkations als Intermediat</a:t>
            </a:r>
          </a:p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8986FF7-4282-E515-FAA4-6B9440402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555" y="1278781"/>
            <a:ext cx="1198811" cy="98287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00857CE-FE62-AC93-0311-CFC4D5AD6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824" y="1278781"/>
            <a:ext cx="1287136" cy="102588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3128F6E-BC1D-8065-E4EB-E48CDBF0D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865" y="2646933"/>
            <a:ext cx="4262279" cy="198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46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durch Oxidation von </a:t>
            </a:r>
            <a:r>
              <a:rPr lang="de-DE" dirty="0" err="1"/>
              <a:t>CF₃SiMe</a:t>
            </a:r>
            <a:r>
              <a:rPr lang="de-DE" dirty="0"/>
              <a:t>₃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Chu, </a:t>
            </a:r>
            <a:r>
              <a:rPr lang="de-DE" b="0" i="0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Lingling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, and Feng-Ling Qing. 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Accounts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47.5 (2014): 1513-1522.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CF₃SiMe</a:t>
            </a:r>
            <a:r>
              <a:rPr lang="de-DE" dirty="0"/>
              <a:t>₃ als </a:t>
            </a:r>
            <a:r>
              <a:rPr lang="de-DE" dirty="0" err="1"/>
              <a:t>Trifluormethylierungs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/>
              <a:t>Reagenz bekannt – aber nicht als </a:t>
            </a:r>
            <a:br>
              <a:rPr lang="de-DE" dirty="0"/>
            </a:br>
            <a:r>
              <a:rPr lang="de-DE" dirty="0"/>
              <a:t>Quelle für CF₃-Radikale</a:t>
            </a:r>
          </a:p>
          <a:p>
            <a:r>
              <a:rPr lang="de-DE" dirty="0" err="1"/>
              <a:t>Cu</a:t>
            </a:r>
            <a:r>
              <a:rPr lang="de-DE" dirty="0"/>
              <a:t> und </a:t>
            </a:r>
            <a:r>
              <a:rPr lang="de-DE" dirty="0" err="1"/>
              <a:t>phen</a:t>
            </a:r>
            <a:r>
              <a:rPr lang="de-DE" dirty="0"/>
              <a:t> für Reaktion essentiell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E3F4B0-0DE7-061B-3241-1205EBFD6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22399"/>
            <a:ext cx="4045800" cy="287346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82B67B1-BBEC-A1BC-3787-D5D139C8E82A}"/>
              </a:ext>
            </a:extLst>
          </p:cNvPr>
          <p:cNvGrpSpPr/>
          <p:nvPr/>
        </p:nvGrpSpPr>
        <p:grpSpPr>
          <a:xfrm>
            <a:off x="467544" y="2859131"/>
            <a:ext cx="3567078" cy="1009650"/>
            <a:chOff x="372902" y="3809290"/>
            <a:chExt cx="3567078" cy="1009650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BB77C961-3415-5046-EADC-59F58B9CA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01730" y="3809290"/>
              <a:ext cx="1238250" cy="10096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8D628A-53D6-1C93-382A-EA59FDBAECAE}"/>
                </a:ext>
              </a:extLst>
            </p:cNvPr>
            <p:cNvSpPr txBox="1"/>
            <p:nvPr/>
          </p:nvSpPr>
          <p:spPr>
            <a:xfrm>
              <a:off x="372902" y="4164010"/>
              <a:ext cx="2650009" cy="300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de-DE" dirty="0"/>
                <a:t>1,10-Phenanthrolin = </a:t>
              </a:r>
              <a:r>
                <a:rPr lang="de-DE" dirty="0" err="1"/>
                <a:t>phen</a:t>
              </a:r>
              <a:r>
                <a:rPr lang="de-DE" dirty="0"/>
                <a:t> 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802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durch Oxidation von </a:t>
            </a:r>
            <a:r>
              <a:rPr lang="de-DE" dirty="0" err="1"/>
              <a:t>CF₃SiMe</a:t>
            </a:r>
            <a:r>
              <a:rPr lang="de-DE" dirty="0"/>
              <a:t>₃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Chu, </a:t>
            </a:r>
            <a:r>
              <a:rPr lang="de-DE" b="0" i="0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Lingling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, and Feng-Ling Qing. 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Accounts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47.5 (2014): 1513-1522.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CF₃SiMe</a:t>
            </a:r>
            <a:r>
              <a:rPr lang="de-DE" dirty="0"/>
              <a:t>₃ als </a:t>
            </a:r>
            <a:r>
              <a:rPr lang="de-DE" dirty="0" err="1"/>
              <a:t>Trifluormethylierungs</a:t>
            </a:r>
            <a:r>
              <a:rPr lang="de-DE" dirty="0"/>
              <a:t>-</a:t>
            </a:r>
            <a:br>
              <a:rPr lang="de-DE" dirty="0"/>
            </a:br>
            <a:r>
              <a:rPr lang="de-DE" dirty="0"/>
              <a:t>Reagenz bekannt – aber nicht als </a:t>
            </a:r>
            <a:br>
              <a:rPr lang="de-DE" dirty="0"/>
            </a:br>
            <a:r>
              <a:rPr lang="de-DE" dirty="0"/>
              <a:t>Quelle für CF₃-Radikale</a:t>
            </a:r>
          </a:p>
          <a:p>
            <a:r>
              <a:rPr lang="de-DE" dirty="0" err="1"/>
              <a:t>Cu</a:t>
            </a:r>
            <a:r>
              <a:rPr lang="de-DE" dirty="0"/>
              <a:t> und </a:t>
            </a:r>
            <a:r>
              <a:rPr lang="de-DE" dirty="0" err="1"/>
              <a:t>phen</a:t>
            </a:r>
            <a:r>
              <a:rPr lang="de-DE" dirty="0"/>
              <a:t> für Reaktion essentiell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E3F4B0-0DE7-061B-3241-1205EBFD6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22399"/>
            <a:ext cx="4045800" cy="2873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78CC88-50B8-B2C4-7200-FCE2E563B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50" y="2718941"/>
            <a:ext cx="3814544" cy="181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2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durch Oxidation von </a:t>
            </a:r>
            <a:r>
              <a:rPr lang="de-DE" dirty="0" err="1"/>
              <a:t>CF₃SiMe</a:t>
            </a:r>
            <a:r>
              <a:rPr lang="de-DE" dirty="0"/>
              <a:t>₃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Chu, </a:t>
            </a:r>
            <a:r>
              <a:rPr lang="de-DE" b="0" i="0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Lingling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, and Feng-Ling Qing. 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Accounts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47.5 (2014): 1513-1522.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Reaktion möglich für:</a:t>
            </a:r>
          </a:p>
          <a:p>
            <a:pPr lvl="1"/>
            <a:r>
              <a:rPr lang="de-DE" dirty="0"/>
              <a:t>Nicht aktivierte </a:t>
            </a:r>
            <a:r>
              <a:rPr lang="de-DE" dirty="0" err="1"/>
              <a:t>Alkene</a:t>
            </a:r>
            <a:endParaRPr lang="de-DE" dirty="0"/>
          </a:p>
          <a:p>
            <a:pPr lvl="1"/>
            <a:r>
              <a:rPr lang="de-DE" dirty="0"/>
              <a:t>Terminale Alkine</a:t>
            </a:r>
          </a:p>
          <a:p>
            <a:r>
              <a:rPr lang="de-DE" dirty="0"/>
              <a:t>1,4-CHD als H-</a:t>
            </a:r>
            <a:r>
              <a:rPr lang="de-DE" dirty="0" err="1"/>
              <a:t>Donor</a:t>
            </a:r>
            <a:endParaRPr lang="de-DE" dirty="0"/>
          </a:p>
          <a:p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83CC3-0B2E-A322-B0ED-84A13DFF6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634" y="1422399"/>
            <a:ext cx="4235166" cy="262189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1453BD0-1861-0DC5-F59B-37D013D06B31}"/>
              </a:ext>
            </a:extLst>
          </p:cNvPr>
          <p:cNvGrpSpPr/>
          <p:nvPr/>
        </p:nvGrpSpPr>
        <p:grpSpPr>
          <a:xfrm>
            <a:off x="5699681" y="4096392"/>
            <a:ext cx="1601074" cy="646393"/>
            <a:chOff x="6301296" y="4138922"/>
            <a:chExt cx="1601074" cy="646393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26728380-200B-6396-3538-8A3D611FB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8304" y="4138922"/>
              <a:ext cx="594066" cy="64639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F0C010-944D-263C-EFE5-26285D16D262}"/>
                </a:ext>
              </a:extLst>
            </p:cNvPr>
            <p:cNvSpPr txBox="1"/>
            <p:nvPr/>
          </p:nvSpPr>
          <p:spPr>
            <a:xfrm>
              <a:off x="6301296" y="4312013"/>
              <a:ext cx="1007007" cy="300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dirty="0"/>
                <a:t>1,4-CHD 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9653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durch Oxidation von </a:t>
            </a:r>
            <a:r>
              <a:rPr lang="de-DE" dirty="0" err="1"/>
              <a:t>CF₃SiMe</a:t>
            </a:r>
            <a:r>
              <a:rPr lang="de-DE" dirty="0"/>
              <a:t>₃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Chu, </a:t>
            </a:r>
            <a:r>
              <a:rPr lang="de-DE" b="0" i="0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Lingling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, and Feng-Ling Qing. 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Accounts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47.5 (2014): 1513-1522.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Reaktion möglich für:</a:t>
            </a:r>
          </a:p>
          <a:p>
            <a:pPr lvl="1"/>
            <a:r>
              <a:rPr lang="de-DE" dirty="0"/>
              <a:t>Nicht aktivierte </a:t>
            </a:r>
            <a:r>
              <a:rPr lang="de-DE" dirty="0" err="1"/>
              <a:t>Alkene</a:t>
            </a:r>
            <a:endParaRPr lang="de-DE" dirty="0"/>
          </a:p>
          <a:p>
            <a:pPr lvl="1"/>
            <a:r>
              <a:rPr lang="de-DE" dirty="0"/>
              <a:t>Terminale Alkine</a:t>
            </a:r>
          </a:p>
          <a:p>
            <a:r>
              <a:rPr lang="de-DE" dirty="0"/>
              <a:t>1,4-CHD als H-</a:t>
            </a:r>
            <a:r>
              <a:rPr lang="de-DE" dirty="0" err="1"/>
              <a:t>Donor</a:t>
            </a:r>
            <a:endParaRPr lang="de-DE" dirty="0"/>
          </a:p>
          <a:p>
            <a:r>
              <a:rPr lang="de-DE" dirty="0"/>
              <a:t>Inhibitionsexperiment mit TEMPO</a:t>
            </a:r>
          </a:p>
          <a:p>
            <a:r>
              <a:rPr lang="de-DE" dirty="0"/>
              <a:t>Existenz von CF₃-Radikal </a:t>
            </a:r>
            <a:br>
              <a:rPr lang="de-DE" dirty="0"/>
            </a:br>
            <a:r>
              <a:rPr lang="de-DE" dirty="0"/>
              <a:t>wahrscheinlich</a:t>
            </a:r>
          </a:p>
          <a:p>
            <a:r>
              <a:rPr lang="de-DE" dirty="0"/>
              <a:t>Andere Arbeitsgruppen</a:t>
            </a:r>
          </a:p>
          <a:p>
            <a:pPr lvl="1"/>
            <a:r>
              <a:rPr lang="de-DE" dirty="0" err="1"/>
              <a:t>Arene</a:t>
            </a:r>
            <a:endParaRPr lang="de-DE" dirty="0"/>
          </a:p>
          <a:p>
            <a:pPr lvl="1"/>
            <a:r>
              <a:rPr lang="de-DE" dirty="0" err="1"/>
              <a:t>Heteroarene</a:t>
            </a:r>
            <a:endParaRPr lang="de-DE" dirty="0"/>
          </a:p>
          <a:p>
            <a:pPr lvl="1"/>
            <a:r>
              <a:rPr lang="de-DE" dirty="0"/>
              <a:t>Ketone</a:t>
            </a:r>
          </a:p>
          <a:p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62A0FC-566D-DF63-9A36-698134116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626" y="1422399"/>
            <a:ext cx="4174173" cy="266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17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Nebengruppenmetallkatalysierte oxidative </a:t>
            </a:r>
            <a:r>
              <a:rPr lang="de-DE" dirty="0" err="1"/>
              <a:t>Trifluormethylierung</a:t>
            </a:r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Chu, </a:t>
            </a:r>
            <a:r>
              <a:rPr lang="de-DE" b="0" i="0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Lingling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, and Feng-Ling Qing. 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Accounts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47.5 (2014): 1513-1522.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Cu</a:t>
            </a:r>
            <a:r>
              <a:rPr lang="de-DE" dirty="0"/>
              <a:t>-Mediierte oxidative </a:t>
            </a:r>
            <a:br>
              <a:rPr lang="de-DE" dirty="0"/>
            </a:br>
            <a:r>
              <a:rPr lang="de-DE" dirty="0" err="1"/>
              <a:t>Trifluormethylierung</a:t>
            </a:r>
            <a:r>
              <a:rPr lang="de-DE" dirty="0"/>
              <a:t> von terminalen</a:t>
            </a:r>
            <a:br>
              <a:rPr lang="de-DE" dirty="0"/>
            </a:br>
            <a:r>
              <a:rPr lang="de-DE" dirty="0"/>
              <a:t>Alkinen</a:t>
            </a:r>
          </a:p>
          <a:p>
            <a:pPr lvl="1"/>
            <a:r>
              <a:rPr lang="de-DE" dirty="0"/>
              <a:t>Terminale Alkine reaktiv</a:t>
            </a:r>
          </a:p>
          <a:p>
            <a:r>
              <a:rPr lang="de-DE" dirty="0" err="1"/>
              <a:t>One</a:t>
            </a:r>
            <a:r>
              <a:rPr lang="de-DE" dirty="0"/>
              <a:t>-Pot Reaktion bringt zunächst </a:t>
            </a:r>
            <a:br>
              <a:rPr lang="de-DE" dirty="0"/>
            </a:br>
            <a:r>
              <a:rPr lang="de-DE" dirty="0"/>
              <a:t>unerwünschtes </a:t>
            </a:r>
            <a:br>
              <a:rPr lang="de-DE" dirty="0"/>
            </a:br>
            <a:r>
              <a:rPr lang="de-DE" dirty="0"/>
              <a:t>Homokupplungsprodukt hervor</a:t>
            </a:r>
          </a:p>
          <a:p>
            <a:r>
              <a:rPr lang="de-DE" dirty="0"/>
              <a:t>Langsame Zugabe von Alkin führt zum </a:t>
            </a:r>
            <a:br>
              <a:rPr lang="de-DE" dirty="0"/>
            </a:br>
            <a:r>
              <a:rPr lang="de-DE" dirty="0"/>
              <a:t>gewünschten Produkt – aber in geringer</a:t>
            </a:r>
            <a:br>
              <a:rPr lang="de-DE" dirty="0"/>
            </a:br>
            <a:r>
              <a:rPr lang="de-DE" dirty="0"/>
              <a:t>Ausbeute</a:t>
            </a:r>
          </a:p>
          <a:p>
            <a:pPr lvl="1"/>
            <a:r>
              <a:rPr lang="de-DE" dirty="0" err="1"/>
              <a:t>CuCF</a:t>
            </a:r>
            <a:r>
              <a:rPr lang="de-DE" dirty="0"/>
              <a:t>₃ instabil</a:t>
            </a:r>
          </a:p>
          <a:p>
            <a:r>
              <a:rPr lang="de-DE" dirty="0"/>
              <a:t>Einsatz von </a:t>
            </a:r>
            <a:r>
              <a:rPr lang="de-DE" dirty="0" err="1"/>
              <a:t>phen</a:t>
            </a:r>
            <a:r>
              <a:rPr lang="de-DE" dirty="0"/>
              <a:t> und mehr </a:t>
            </a:r>
            <a:r>
              <a:rPr lang="de-DE" dirty="0" err="1"/>
              <a:t>CF₃SiMe</a:t>
            </a:r>
            <a:r>
              <a:rPr lang="de-DE" dirty="0"/>
              <a:t>₃</a:t>
            </a:r>
            <a:br>
              <a:rPr lang="de-DE" dirty="0"/>
            </a:br>
            <a:r>
              <a:rPr lang="de-DE" dirty="0"/>
              <a:t>führt zu hohen Ausbeuten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011AA-912C-E79D-9186-6D39DA09D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129" y="1422399"/>
            <a:ext cx="4141671" cy="31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7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Nebengruppenmetallkatalysierte oxidative </a:t>
            </a:r>
            <a:r>
              <a:rPr lang="de-DE" dirty="0" err="1"/>
              <a:t>Trifluormethylierung</a:t>
            </a:r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Chu, </a:t>
            </a:r>
            <a:r>
              <a:rPr lang="de-DE" b="0" i="0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Lingling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, and Feng-Ling Qing. 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Accounts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47.5 (2014): 1513-1522.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Dinukleare</a:t>
            </a:r>
            <a:r>
              <a:rPr lang="de-DE" dirty="0"/>
              <a:t> </a:t>
            </a:r>
            <a:r>
              <a:rPr lang="de-DE" dirty="0" err="1"/>
              <a:t>Cu</a:t>
            </a:r>
            <a:r>
              <a:rPr lang="de-DE" dirty="0"/>
              <a:t>-Spezies wahrscheinlich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Erstes Beispiel für oxidative </a:t>
            </a:r>
            <a:br>
              <a:rPr lang="de-DE" dirty="0"/>
            </a:br>
            <a:r>
              <a:rPr lang="de-DE" dirty="0"/>
              <a:t>Kreuzkupplung eines </a:t>
            </a:r>
            <a:r>
              <a:rPr lang="de-DE" dirty="0" err="1"/>
              <a:t>Nucleophils</a:t>
            </a:r>
            <a:r>
              <a:rPr lang="de-DE" dirty="0"/>
              <a:t> mit</a:t>
            </a:r>
            <a:br>
              <a:rPr lang="de-DE" dirty="0"/>
            </a:br>
            <a:r>
              <a:rPr lang="de-DE" dirty="0" err="1"/>
              <a:t>CF₃SiMe</a:t>
            </a:r>
            <a:r>
              <a:rPr lang="de-DE" dirty="0"/>
              <a:t>₃</a:t>
            </a:r>
          </a:p>
          <a:p>
            <a:r>
              <a:rPr lang="de-DE" dirty="0"/>
              <a:t>Langsame Addition von </a:t>
            </a:r>
            <a:r>
              <a:rPr lang="de-DE" dirty="0" err="1"/>
              <a:t>CF₃SiMe</a:t>
            </a:r>
            <a:r>
              <a:rPr lang="de-DE" dirty="0"/>
              <a:t>₃</a:t>
            </a:r>
            <a:br>
              <a:rPr lang="de-DE" dirty="0"/>
            </a:br>
            <a:r>
              <a:rPr lang="de-DE" dirty="0"/>
              <a:t>katalytischer Zyklus</a:t>
            </a:r>
          </a:p>
          <a:p>
            <a:r>
              <a:rPr lang="de-DE" dirty="0"/>
              <a:t>Dekomposition durch hohe Temperaturen</a:t>
            </a:r>
            <a:br>
              <a:rPr lang="de-DE" dirty="0"/>
            </a:br>
            <a:r>
              <a:rPr lang="de-DE" dirty="0"/>
              <a:t>Überschuss nötig</a:t>
            </a:r>
            <a:br>
              <a:rPr lang="de-DE" dirty="0"/>
            </a:b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4934F1-C7F9-404F-7971-184429943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22399"/>
            <a:ext cx="4045800" cy="1178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2D97A2-3F64-8D60-0515-0715D3A72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2771510"/>
            <a:ext cx="4045800" cy="14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77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2325D9-8FD4-328D-0C2B-2099D033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Borsäuren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CE3F32-68EB-87BA-7DB5-57774DE1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2F4905-F05B-3A33-C1BC-F1183250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15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2D62F9-F675-5BD7-1754-10BF4B8F21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6742" y="1106293"/>
            <a:ext cx="8096250" cy="3492500"/>
          </a:xfrm>
        </p:spPr>
        <p:txBody>
          <a:bodyPr/>
          <a:lstStyle/>
          <a:p>
            <a:r>
              <a:rPr lang="de-DE" dirty="0"/>
              <a:t>Einfache Handhabung</a:t>
            </a:r>
          </a:p>
          <a:p>
            <a:r>
              <a:rPr lang="de-DE" dirty="0"/>
              <a:t>Handelsverfügbarkeit</a:t>
            </a:r>
          </a:p>
          <a:p>
            <a:r>
              <a:rPr lang="de-DE" dirty="0"/>
              <a:t>Stabilität von Borsäure-Derivaten gegen</a:t>
            </a:r>
          </a:p>
          <a:p>
            <a:pPr lvl="1"/>
            <a:r>
              <a:rPr lang="de-DE" dirty="0"/>
              <a:t>Hitze</a:t>
            </a:r>
          </a:p>
          <a:p>
            <a:pPr lvl="1"/>
            <a:r>
              <a:rPr lang="de-DE" dirty="0"/>
              <a:t>Luft</a:t>
            </a:r>
          </a:p>
          <a:p>
            <a:pPr lvl="1"/>
            <a:r>
              <a:rPr lang="de-DE" dirty="0"/>
              <a:t>Wasser</a:t>
            </a:r>
          </a:p>
          <a:p>
            <a:r>
              <a:rPr lang="de-DE" dirty="0"/>
              <a:t>Voraussichtlich gute Alternative für Arylhalogenide für die </a:t>
            </a:r>
            <a:r>
              <a:rPr lang="de-DE" dirty="0" err="1"/>
              <a:t>Trifluormethylierung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7306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92BBE-1BC6-7120-B2DB-21251995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von Borsäuren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173BD1-FFCF-7D57-F285-12DED73F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F038B1-E551-CB0D-F562-3F2A0D10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16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F84DD3-EA83-0189-7142-F21915B0E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5" y="1062756"/>
            <a:ext cx="4154990" cy="3756183"/>
          </a:xfrm>
        </p:spPr>
        <p:txBody>
          <a:bodyPr/>
          <a:lstStyle/>
          <a:p>
            <a:r>
              <a:rPr lang="de-DE" dirty="0"/>
              <a:t>Unter besten Bedingungen für </a:t>
            </a:r>
            <a:r>
              <a:rPr lang="de-DE" dirty="0" err="1"/>
              <a:t>Cu</a:t>
            </a:r>
            <a:r>
              <a:rPr lang="de-DE" dirty="0"/>
              <a:t>-Katalysierte Reaktionen kein Erfolg</a:t>
            </a:r>
          </a:p>
          <a:p>
            <a:r>
              <a:rPr lang="de-DE" dirty="0"/>
              <a:t>Zugabe von </a:t>
            </a:r>
            <a:r>
              <a:rPr lang="de-DE" dirty="0" err="1"/>
              <a:t>Cobase</a:t>
            </a:r>
            <a:r>
              <a:rPr lang="de-DE" dirty="0"/>
              <a:t> K</a:t>
            </a:r>
            <a:r>
              <a:rPr lang="de-DE" baseline="-25000" dirty="0"/>
              <a:t>3</a:t>
            </a:r>
            <a:r>
              <a:rPr lang="de-DE" dirty="0"/>
              <a:t>PO</a:t>
            </a:r>
            <a:r>
              <a:rPr lang="de-DE" baseline="-25000" dirty="0"/>
              <a:t>4</a:t>
            </a:r>
            <a:r>
              <a:rPr lang="de-DE" dirty="0"/>
              <a:t> Erfolg, jedoch mit Arylhalogeniden und </a:t>
            </a:r>
            <a:r>
              <a:rPr lang="de-DE" dirty="0" err="1"/>
              <a:t>Diarylether</a:t>
            </a:r>
            <a:r>
              <a:rPr lang="de-DE" dirty="0"/>
              <a:t> als Nebenprodukte</a:t>
            </a:r>
          </a:p>
          <a:p>
            <a:r>
              <a:rPr lang="de-DE" dirty="0"/>
              <a:t>Verhinderung der Nebenprodukte</a:t>
            </a:r>
          </a:p>
          <a:p>
            <a:pPr lvl="1"/>
            <a:r>
              <a:rPr lang="pt-BR" dirty="0"/>
              <a:t>[Cu(OTf)]</a:t>
            </a:r>
            <a:r>
              <a:rPr lang="pt-BR" baseline="-25000" dirty="0"/>
              <a:t>2</a:t>
            </a:r>
            <a:r>
              <a:rPr lang="pt-BR" dirty="0"/>
              <a:t>·C</a:t>
            </a:r>
            <a:r>
              <a:rPr lang="pt-BR" baseline="-25000" dirty="0"/>
              <a:t>6</a:t>
            </a:r>
            <a:r>
              <a:rPr lang="pt-BR" dirty="0"/>
              <a:t>H</a:t>
            </a:r>
            <a:r>
              <a:rPr lang="pt-BR" baseline="-25000" dirty="0"/>
              <a:t>6 </a:t>
            </a:r>
            <a:r>
              <a:rPr lang="pt-BR" dirty="0"/>
              <a:t>als Katalysator</a:t>
            </a:r>
          </a:p>
          <a:p>
            <a:pPr lvl="1"/>
            <a:r>
              <a:rPr lang="pt-BR" dirty="0"/>
              <a:t>Ag</a:t>
            </a:r>
            <a:r>
              <a:rPr lang="pt-BR" baseline="-25000" dirty="0"/>
              <a:t>2</a:t>
            </a:r>
            <a:r>
              <a:rPr lang="pt-BR" dirty="0"/>
              <a:t>CO</a:t>
            </a:r>
            <a:r>
              <a:rPr lang="pt-BR" baseline="-25000" dirty="0"/>
              <a:t>3</a:t>
            </a:r>
            <a:r>
              <a:rPr lang="pt-BR" dirty="0"/>
              <a:t> als neues Oxidationsreagenz</a:t>
            </a:r>
          </a:p>
          <a:p>
            <a:pPr lvl="1"/>
            <a:r>
              <a:rPr lang="pt-BR" dirty="0"/>
              <a:t>Niedrigere Temperatur (45 °C)</a:t>
            </a:r>
          </a:p>
          <a:p>
            <a:r>
              <a:rPr lang="pt-BR" dirty="0"/>
              <a:t>Sowohl elektonenreiche als auch elektronenarme Borsäuren verwendbar (Heteroaryl- und Alkenyl-Borsäuren)</a:t>
            </a:r>
          </a:p>
          <a:p>
            <a:pPr lvl="1"/>
            <a:r>
              <a:rPr lang="de-DE" dirty="0"/>
              <a:t>Bei </a:t>
            </a:r>
            <a:r>
              <a:rPr lang="de-DE" dirty="0" err="1"/>
              <a:t>Aryliodiden</a:t>
            </a:r>
            <a:r>
              <a:rPr lang="de-DE" dirty="0"/>
              <a:t> nur elektronenarme Verbindungen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EF58272-702A-5F0A-F613-F2CBB5468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844" y="1524027"/>
            <a:ext cx="4603106" cy="241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92BBE-1BC6-7120-B2DB-21251995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Trifluormethylierung</a:t>
            </a:r>
            <a:r>
              <a:rPr lang="de-DE" dirty="0"/>
              <a:t> von Borsäuren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173BD1-FFCF-7D57-F285-12DED73F3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F038B1-E551-CB0D-F562-3F2A0D10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17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F84DD3-EA83-0189-7142-F21915B0E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3874" y="3439021"/>
            <a:ext cx="8224589" cy="1536558"/>
          </a:xfrm>
        </p:spPr>
        <p:txBody>
          <a:bodyPr/>
          <a:lstStyle/>
          <a:p>
            <a:r>
              <a:rPr lang="de-DE" dirty="0"/>
              <a:t>Katalytischer Prozess für oxidative </a:t>
            </a:r>
            <a:r>
              <a:rPr lang="de-DE" dirty="0" err="1"/>
              <a:t>Trifluormethylierung</a:t>
            </a:r>
            <a:r>
              <a:rPr lang="de-DE" dirty="0"/>
              <a:t> von Aryl-Borsäuren durch Veränderung der Zugabe von CF</a:t>
            </a:r>
            <a:r>
              <a:rPr lang="de-DE" baseline="-25000" dirty="0"/>
              <a:t>3</a:t>
            </a:r>
            <a:r>
              <a:rPr lang="de-DE" dirty="0"/>
              <a:t>SiMe</a:t>
            </a:r>
            <a:r>
              <a:rPr lang="de-DE" baseline="-25000" dirty="0"/>
              <a:t>3</a:t>
            </a:r>
            <a:endParaRPr lang="de-DE" dirty="0"/>
          </a:p>
          <a:p>
            <a:r>
              <a:rPr lang="de-DE" dirty="0"/>
              <a:t>Vorläufer für die Synthese von </a:t>
            </a:r>
            <a:r>
              <a:rPr lang="de-DE" dirty="0" err="1"/>
              <a:t>Cinalcet</a:t>
            </a:r>
            <a:r>
              <a:rPr lang="de-DE" dirty="0"/>
              <a:t> (</a:t>
            </a:r>
            <a:r>
              <a:rPr lang="de-DE" dirty="0" err="1"/>
              <a:t>Kalzimimetika</a:t>
            </a:r>
            <a:r>
              <a:rPr lang="de-DE" dirty="0"/>
              <a:t>) über </a:t>
            </a:r>
            <a:r>
              <a:rPr lang="de-DE" dirty="0" err="1"/>
              <a:t>Cu</a:t>
            </a:r>
            <a:r>
              <a:rPr lang="de-DE" dirty="0"/>
              <a:t>-Katalysierte oxidative </a:t>
            </a:r>
            <a:r>
              <a:rPr lang="de-DE" dirty="0" err="1"/>
              <a:t>Trifluormethylierung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5F09164-C8BC-9665-D149-40991CA1B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007689"/>
            <a:ext cx="5606090" cy="243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40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–SCF₃-Gruppen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Ogawa, Yuta, et al. </a:t>
            </a:r>
            <a:r>
              <a:rPr lang="en-US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Iscience</a:t>
            </a:r>
            <a:r>
              <a:rPr lang="en-US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23.9 (2020): 101467.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Pharmazie</a:t>
            </a:r>
          </a:p>
          <a:p>
            <a:r>
              <a:rPr lang="de-DE" dirty="0"/>
              <a:t>Agrochemikalien</a:t>
            </a:r>
            <a:br>
              <a:rPr lang="de-DE" dirty="0"/>
            </a:br>
            <a:endParaRPr lang="de-DE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2FAC01-374D-FCAD-9774-2639431C9DCE}"/>
              </a:ext>
            </a:extLst>
          </p:cNvPr>
          <p:cNvGrpSpPr/>
          <p:nvPr/>
        </p:nvGrpSpPr>
        <p:grpSpPr>
          <a:xfrm>
            <a:off x="3207612" y="1422399"/>
            <a:ext cx="2724125" cy="1732622"/>
            <a:chOff x="5893675" y="1422399"/>
            <a:chExt cx="2724125" cy="1732622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921E904-79EE-FA76-AE1F-98B998C22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93675" y="1422399"/>
              <a:ext cx="2724125" cy="112335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445EB2-B7B8-AEFB-0CDC-F915CA620672}"/>
                </a:ext>
              </a:extLst>
            </p:cNvPr>
            <p:cNvSpPr txBox="1"/>
            <p:nvPr/>
          </p:nvSpPr>
          <p:spPr>
            <a:xfrm>
              <a:off x="6499653" y="2646933"/>
              <a:ext cx="1512168" cy="508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/>
                <a:t>Monepantel</a:t>
              </a:r>
              <a:br>
                <a:rPr lang="de-DE" dirty="0"/>
              </a:br>
              <a:r>
                <a:rPr lang="de-DE" dirty="0"/>
                <a:t>Anthelminthikum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F075709-1E44-534C-AB35-888399B208A9}"/>
              </a:ext>
            </a:extLst>
          </p:cNvPr>
          <p:cNvGrpSpPr/>
          <p:nvPr/>
        </p:nvGrpSpPr>
        <p:grpSpPr>
          <a:xfrm>
            <a:off x="3086834" y="3222577"/>
            <a:ext cx="2965680" cy="1592710"/>
            <a:chOff x="5893674" y="3214113"/>
            <a:chExt cx="2724126" cy="1381068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03491B9-F455-F010-4F85-9CB68DBEF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3674" y="3214113"/>
              <a:ext cx="2724126" cy="7339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6BB9AC-05E8-2A16-7830-6F9E857E03DC}"/>
                </a:ext>
              </a:extLst>
            </p:cNvPr>
            <p:cNvSpPr txBox="1"/>
            <p:nvPr/>
          </p:nvSpPr>
          <p:spPr>
            <a:xfrm>
              <a:off x="6499653" y="4087093"/>
              <a:ext cx="1512168" cy="508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/>
                <a:t>Flupentiofenox</a:t>
              </a:r>
              <a:br>
                <a:rPr lang="de-DE" dirty="0"/>
              </a:br>
              <a:r>
                <a:rPr lang="de-DE" dirty="0"/>
                <a:t>Akarizid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C7D814-67E6-40AE-BDF1-3D0A479C4285}"/>
              </a:ext>
            </a:extLst>
          </p:cNvPr>
          <p:cNvGrpSpPr/>
          <p:nvPr/>
        </p:nvGrpSpPr>
        <p:grpSpPr>
          <a:xfrm>
            <a:off x="521412" y="2286893"/>
            <a:ext cx="2178379" cy="2532047"/>
            <a:chOff x="1403648" y="2288601"/>
            <a:chExt cx="2016224" cy="2378588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8097307-588A-D2BB-F863-5FFEF9762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03648" y="2288601"/>
              <a:ext cx="2016224" cy="173224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17C4F3-497D-56CD-1DEB-308A58D2C0FF}"/>
                </a:ext>
              </a:extLst>
            </p:cNvPr>
            <p:cNvSpPr txBox="1"/>
            <p:nvPr/>
          </p:nvSpPr>
          <p:spPr>
            <a:xfrm>
              <a:off x="1475656" y="4159101"/>
              <a:ext cx="1872208" cy="508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/>
                <a:t>Vaniliprol</a:t>
              </a:r>
              <a:br>
                <a:rPr lang="de-DE" dirty="0"/>
              </a:br>
              <a:r>
                <a:rPr lang="de-DE" dirty="0"/>
                <a:t>Insektizid / Akarizid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B4461C3-BD79-0661-6287-7DD3FCDFC652}"/>
              </a:ext>
            </a:extLst>
          </p:cNvPr>
          <p:cNvGrpSpPr/>
          <p:nvPr/>
        </p:nvGrpSpPr>
        <p:grpSpPr>
          <a:xfrm>
            <a:off x="7092280" y="1638821"/>
            <a:ext cx="1452510" cy="3085302"/>
            <a:chOff x="7236296" y="1417374"/>
            <a:chExt cx="1459165" cy="3320051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D76EC06-6A0D-DDEF-8F51-DDBF6490A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333662" y="1417374"/>
              <a:ext cx="1264433" cy="272093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993B95-EA67-4C85-6AB5-DBAC2AA556C0}"/>
                </a:ext>
              </a:extLst>
            </p:cNvPr>
            <p:cNvSpPr txBox="1"/>
            <p:nvPr/>
          </p:nvSpPr>
          <p:spPr>
            <a:xfrm>
              <a:off x="7236296" y="4229337"/>
              <a:ext cx="1459165" cy="508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 err="1"/>
                <a:t>Toltrazuril</a:t>
              </a:r>
              <a:br>
                <a:rPr lang="de-DE" dirty="0"/>
              </a:br>
              <a:r>
                <a:rPr lang="de-DE" dirty="0" err="1"/>
                <a:t>Antiprotozoikum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806478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Trifluormethylthiolierung</a:t>
            </a:r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Chu, </a:t>
            </a:r>
            <a:r>
              <a:rPr lang="de-DE" b="0" i="0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Lingling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, and Feng-Ling Qing. 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Accounts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47.5 (2014): 1513-1522.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Gleiches System wie </a:t>
            </a:r>
            <a:r>
              <a:rPr lang="de-DE" dirty="0" err="1"/>
              <a:t>Trifluormethylierung</a:t>
            </a:r>
            <a:br>
              <a:rPr lang="de-DE" dirty="0"/>
            </a:br>
            <a:r>
              <a:rPr lang="de-DE" dirty="0"/>
              <a:t>lediglich Addition von S₈</a:t>
            </a:r>
          </a:p>
          <a:p>
            <a:r>
              <a:rPr lang="de-DE" dirty="0"/>
              <a:t>Katalytische Mengen von </a:t>
            </a:r>
            <a:r>
              <a:rPr lang="de-DE" dirty="0" err="1"/>
              <a:t>CuSCN</a:t>
            </a:r>
            <a:endParaRPr lang="de-DE" dirty="0"/>
          </a:p>
          <a:p>
            <a:r>
              <a:rPr lang="de-DE" dirty="0"/>
              <a:t>Viele funktionalisierte Edukte möglich</a:t>
            </a:r>
          </a:p>
          <a:p>
            <a:pPr lvl="1"/>
            <a:r>
              <a:rPr lang="de-DE" dirty="0"/>
              <a:t>Besonders –Br </a:t>
            </a:r>
            <a:br>
              <a:rPr lang="de-DE" dirty="0"/>
            </a:b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88C19-B22A-5266-959A-387B69476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592" y="1422399"/>
            <a:ext cx="4072208" cy="295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05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Oxidative </a:t>
            </a:r>
            <a:r>
              <a:rPr lang="de-DE" dirty="0" err="1"/>
              <a:t>Trifluormethylthiolierung</a:t>
            </a:r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Chu, </a:t>
            </a:r>
            <a:r>
              <a:rPr lang="de-DE" b="0" i="0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Lingling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, and Feng-Ling Qing. 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Accounts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de-DE" b="0" i="1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1" dirty="0" err="1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lang="de-DE" b="0" i="0" dirty="0">
                <a:solidFill>
                  <a:srgbClr val="D3CFC9"/>
                </a:solidFill>
                <a:effectLst/>
                <a:latin typeface="Arial" panose="020B0604020202020204" pitchFamily="34" charset="0"/>
              </a:rPr>
              <a:t> 47.5 (2014): 1513-1522.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Trifluormethylthiolierung</a:t>
            </a:r>
            <a:r>
              <a:rPr lang="de-DE" dirty="0"/>
              <a:t> über Pfad 1</a:t>
            </a:r>
          </a:p>
          <a:p>
            <a:r>
              <a:rPr lang="de-DE" dirty="0"/>
              <a:t>Zhang </a:t>
            </a:r>
            <a:r>
              <a:rPr lang="de-DE" i="1" dirty="0"/>
              <a:t>et al. </a:t>
            </a:r>
            <a:r>
              <a:rPr lang="de-DE" dirty="0" err="1"/>
              <a:t>NMe₄SCF</a:t>
            </a:r>
            <a:r>
              <a:rPr lang="de-DE" dirty="0"/>
              <a:t>₃ als </a:t>
            </a:r>
            <a:br>
              <a:rPr lang="de-DE" dirty="0"/>
            </a:br>
            <a:r>
              <a:rPr lang="de-DE" dirty="0" err="1"/>
              <a:t>Trifluormethylthiolierungsreagenz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Methode für </a:t>
            </a:r>
            <a:r>
              <a:rPr lang="de-DE" dirty="0" err="1"/>
              <a:t>sp</a:t>
            </a:r>
            <a:r>
              <a:rPr lang="de-DE" dirty="0"/>
              <a:t> C–SCF₃-Bindungen</a:t>
            </a:r>
          </a:p>
          <a:p>
            <a:pPr lvl="1"/>
            <a:r>
              <a:rPr lang="de-DE" dirty="0"/>
              <a:t>Kein </a:t>
            </a:r>
            <a:r>
              <a:rPr lang="de-DE" dirty="0" err="1"/>
              <a:t>Cu</a:t>
            </a:r>
            <a:r>
              <a:rPr lang="de-DE" dirty="0"/>
              <a:t>-Katalysator nötig</a:t>
            </a:r>
          </a:p>
          <a:p>
            <a:pPr lvl="1"/>
            <a:r>
              <a:rPr lang="de-DE" dirty="0"/>
              <a:t>O₂ nicht nötig</a:t>
            </a:r>
          </a:p>
          <a:p>
            <a:pPr lvl="1"/>
            <a:r>
              <a:rPr lang="de-DE" dirty="0"/>
              <a:t>S₈ im Überschuss</a:t>
            </a:r>
          </a:p>
          <a:p>
            <a:pPr lvl="1"/>
            <a:r>
              <a:rPr lang="de-DE" dirty="0"/>
              <a:t>CF₃S</a:t>
            </a:r>
            <a:r>
              <a:rPr lang="de-DE" baseline="30000" dirty="0"/>
              <a:t>-</a:t>
            </a:r>
            <a:r>
              <a:rPr lang="de-DE" dirty="0"/>
              <a:t> aktive Spezies</a:t>
            </a:r>
            <a:br>
              <a:rPr lang="de-DE" dirty="0"/>
            </a:b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0D2CE-8A3F-FA5B-6430-9C4EF96CD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453" y="1422398"/>
            <a:ext cx="4033348" cy="2064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84E565-228E-3D33-DEC7-C50584C0A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452" y="3511028"/>
            <a:ext cx="4033347" cy="130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75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35157E2-6959-4F0C-882A-90D00C20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714" y="2286893"/>
            <a:ext cx="4779587" cy="919235"/>
          </a:xfrm>
        </p:spPr>
        <p:txBody>
          <a:bodyPr/>
          <a:lstStyle/>
          <a:p>
            <a:r>
              <a:rPr lang="de-DE" dirty="0"/>
              <a:t>Vielen Dank für die Aufmerksamkeit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C79543D-FBC3-4538-B1A9-DCB3D8F5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A0E295-A48E-4D32-8C1D-C5879FB3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706FA56C-2778-F540-8911-3C638748CF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42EE89D-0607-3F48-B7F4-A3A11B9C4C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D4793E2B-260C-C84D-BFF8-43ABA22998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6" name="Bildplatzhalter 25">
            <a:extLst>
              <a:ext uri="{FF2B5EF4-FFF2-40B4-BE49-F238E27FC236}">
                <a16:creationId xmlns:a16="http://schemas.microsoft.com/office/drawing/2014/main" id="{1261AC8F-DBA3-EB45-BB79-78FCDF34F3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C8D26E2A-21DB-2348-A58F-7059A68AD77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96653833"/>
      </p:ext>
    </p:extLst>
  </p:cSld>
  <p:clrMapOvr>
    <a:masterClrMapping/>
  </p:clrMapOvr>
</p:sld>
</file>

<file path=ppt/theme/theme1.xml><?xml version="1.0" encoding="utf-8"?>
<a:theme xmlns:a="http://schemas.openxmlformats.org/drawingml/2006/main" name="HHU_PPT_Vorlage">
  <a:themeElements>
    <a:clrScheme name="HHU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Master_HHU_191127.potx" id="{F3938B69-4255-4D03-9129-AB257F1BA87B}" vid="{D92A2462-9914-4D52-BB8D-CB7AB473941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940</Words>
  <Application>Microsoft Office PowerPoint</Application>
  <PresentationFormat>Custom</PresentationFormat>
  <Paragraphs>161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AdvOT02ce3bbb.I</vt:lpstr>
      <vt:lpstr>AdvOT2e364b11</vt:lpstr>
      <vt:lpstr>AdvOT51c1769e</vt:lpstr>
      <vt:lpstr>AdvOT8608a8d1+03</vt:lpstr>
      <vt:lpstr>AdvOT8608a8d1+22</vt:lpstr>
      <vt:lpstr>Arial</vt:lpstr>
      <vt:lpstr>Calibri</vt:lpstr>
      <vt:lpstr>Wingdings 2</vt:lpstr>
      <vt:lpstr>HHU_PPT_Vorlage</vt:lpstr>
      <vt:lpstr>Oxidative Trifluoromethylation and Trifluoromethylthiolation Reactions Using (Trifluoromethyl)trimethylsilane as a Nucleophilic CF₃ Source</vt:lpstr>
      <vt:lpstr>Inhalt</vt:lpstr>
      <vt:lpstr>Verwendung von CF3-Verbindungen </vt:lpstr>
      <vt:lpstr>Verwendung von CF3-Verbindungen </vt:lpstr>
      <vt:lpstr>Verwendung von CF3-Verbindungen </vt:lpstr>
      <vt:lpstr>Oxidative Trifluormethylierung über Oxidation von Substraten</vt:lpstr>
      <vt:lpstr>Oxidative Trifluormethylierung über Oxidation von Substraten</vt:lpstr>
      <vt:lpstr>Oxidative Trifluormethylierung über Oxidation von Substraten</vt:lpstr>
      <vt:lpstr>Oxidative Trifluormethylierung durch Oxidation von CF₃SiMe₃</vt:lpstr>
      <vt:lpstr>Oxidative Trifluormethylierung durch Oxidation von CF₃SiMe₃</vt:lpstr>
      <vt:lpstr>Oxidative Trifluormethylierung durch Oxidation von CF₃SiMe₃</vt:lpstr>
      <vt:lpstr>Oxidative Trifluormethylierung durch Oxidation von CF₃SiMe₃</vt:lpstr>
      <vt:lpstr>Nebengruppenmetallkatalysierte oxidative Trifluormethylierung</vt:lpstr>
      <vt:lpstr>Nebengruppenmetallkatalysierte oxidative Trifluormethylierung</vt:lpstr>
      <vt:lpstr>Borsäuren</vt:lpstr>
      <vt:lpstr>Oxidative Trifluormethylierung von Borsäuren</vt:lpstr>
      <vt:lpstr>Oxidative Trifluormethylierung von Borsäuren</vt:lpstr>
      <vt:lpstr>Motivation –SCF₃-Gruppen</vt:lpstr>
      <vt:lpstr>Oxidative Trifluormethylthiolierung</vt:lpstr>
      <vt:lpstr>Oxidative Trifluormethylthiolierung</vt:lpstr>
      <vt:lpstr>Vielen Dank für die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 dolor sit amet</dc:title>
  <dc:creator>Microsoft Office User</dc:creator>
  <cp:lastModifiedBy>Marco Gurbisz</cp:lastModifiedBy>
  <cp:revision>17</cp:revision>
  <dcterms:created xsi:type="dcterms:W3CDTF">2020-09-16T09:44:36Z</dcterms:created>
  <dcterms:modified xsi:type="dcterms:W3CDTF">2023-05-15T13:47:44Z</dcterms:modified>
</cp:coreProperties>
</file>