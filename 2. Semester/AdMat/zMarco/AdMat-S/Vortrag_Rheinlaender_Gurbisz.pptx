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02" r:id="rId3"/>
    <p:sldId id="311" r:id="rId4"/>
    <p:sldId id="316" r:id="rId5"/>
    <p:sldId id="303" r:id="rId6"/>
    <p:sldId id="312" r:id="rId7"/>
    <p:sldId id="304" r:id="rId8"/>
    <p:sldId id="306" r:id="rId9"/>
    <p:sldId id="317" r:id="rId10"/>
    <p:sldId id="305" r:id="rId11"/>
    <p:sldId id="313" r:id="rId12"/>
    <p:sldId id="314" r:id="rId13"/>
    <p:sldId id="315" r:id="rId14"/>
    <p:sldId id="308" r:id="rId15"/>
    <p:sldId id="309" r:id="rId16"/>
    <p:sldId id="310" r:id="rId17"/>
    <p:sldId id="279" r:id="rId18"/>
  </p:sldIdLst>
  <p:sldSz cx="9144000" cy="5149850"/>
  <p:notesSz cx="6858000" cy="9144000"/>
  <p:defaultTextStyle>
    <a:defPPr>
      <a:defRPr lang="de-DE"/>
    </a:defPPr>
    <a:lvl1pPr marL="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1pPr>
    <a:lvl2pPr marL="34303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2pPr>
    <a:lvl3pPr marL="686074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3pPr>
    <a:lvl4pPr marL="1029111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4pPr>
    <a:lvl5pPr marL="1372149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5pPr>
    <a:lvl6pPr marL="1715186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9880A7-0A29-4FAE-886B-2BD7352CABBA}">
          <p14:sldIdLst>
            <p14:sldId id="256"/>
            <p14:sldId id="302"/>
            <p14:sldId id="311"/>
            <p14:sldId id="316"/>
            <p14:sldId id="303"/>
            <p14:sldId id="312"/>
            <p14:sldId id="304"/>
            <p14:sldId id="306"/>
            <p14:sldId id="317"/>
            <p14:sldId id="305"/>
            <p14:sldId id="313"/>
            <p14:sldId id="314"/>
            <p14:sldId id="315"/>
            <p14:sldId id="308"/>
            <p14:sldId id="309"/>
            <p14:sldId id="310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 Gurbisz" initials="MG" lastIdx="4" clrIdx="0">
    <p:extLst>
      <p:ext uri="{19B8F6BF-5375-455C-9EA6-DF929625EA0E}">
        <p15:presenceInfo xmlns:p15="http://schemas.microsoft.com/office/powerpoint/2012/main" userId="d123653a46fa7e3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AB3"/>
    <a:srgbClr val="DAE5EB"/>
    <a:srgbClr val="CCDDE7"/>
    <a:srgbClr val="DAE5EA"/>
    <a:srgbClr val="B6C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1" autoAdjust="0"/>
    <p:restoredTop sz="97725" autoAdjust="0"/>
  </p:normalViewPr>
  <p:slideViewPr>
    <p:cSldViewPr showGuides="1">
      <p:cViewPr varScale="1">
        <p:scale>
          <a:sx n="114" d="100"/>
          <a:sy n="114" d="100"/>
        </p:scale>
        <p:origin x="859" y="67"/>
      </p:cViewPr>
      <p:guideLst/>
    </p:cSldViewPr>
  </p:slideViewPr>
  <p:outlineViewPr>
    <p:cViewPr>
      <p:scale>
        <a:sx n="33" d="100"/>
        <a:sy n="33" d="100"/>
      </p:scale>
      <p:origin x="0" y="-933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58" d="100"/>
          <a:sy n="158" d="100"/>
        </p:scale>
        <p:origin x="564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7-12T10:39:18.612" idx="4">
    <p:pos x="10" y="10"/>
    <p:text>Sr8Si4O12Cl8:Eu2+ hat die bis jetzt höchste Drucksensibilität dλ/dP = 9,69 nm/GPa
2-mal höher als Ca9NaZn(PO4)7:Eu2+ dλ/dP = 5,21 nm/GPa
6-mal höher als optischer Sensor BaLi2Al2Si2N6:Eu2+ dλ/dP = 1,58 nm/GPa
27-mal höher als der Rubin dλ/dP = 0,365 nm/GPa</p:text>
    <p:extLst>
      <p:ext uri="{C676402C-5697-4E1C-873F-D02D1690AC5C}">
        <p15:threadingInfo xmlns:p15="http://schemas.microsoft.com/office/powerpoint/2012/main" timeZoneBias="-1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BDED6AC-55F7-E147-AFC4-A3BDBFCC7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9D59C4-29AC-D341-B4D1-22B9DA375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4785B-15A5-6941-B203-15A17340AF8C}" type="datetimeFigureOut">
              <a:rPr lang="de-DE" smtClean="0"/>
              <a:t>12.07.2023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448B2D-EB51-AA41-A1D5-5D87A817BB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A25665-AD21-FE4A-BE5F-E9A755F5D9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3842B-17F5-B44E-AEFD-F68DA92D85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223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4EA47C3-D6D1-45C7-B7EF-A1183D105D1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olienbildplatzhalter 7">
            <a:extLst>
              <a:ext uri="{FF2B5EF4-FFF2-40B4-BE49-F238E27FC236}">
                <a16:creationId xmlns:a16="http://schemas.microsoft.com/office/drawing/2014/main" id="{B136A2F5-BC7E-47DC-9ED9-95EE5B00A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2279" y="467544"/>
            <a:ext cx="6490831" cy="3655323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10" name="Notizenplatzhalter 9">
            <a:extLst>
              <a:ext uri="{FF2B5EF4-FFF2-40B4-BE49-F238E27FC236}">
                <a16:creationId xmlns:a16="http://schemas.microsoft.com/office/drawing/2014/main" id="{16E3EB76-4D08-4C50-98FE-43C6F5867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2279" y="4400550"/>
            <a:ext cx="6490831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3969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3037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6074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9111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2149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5186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14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621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CABCBAD4-CDF6-43FE-8861-A06D0882730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43762DC1-C2FD-42CE-AFEB-715EE62A1F3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76098270-8824-46AE-A5C5-CD99A62A1C4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Holder 3">
              <a:extLst>
                <a:ext uri="{FF2B5EF4-FFF2-40B4-BE49-F238E27FC236}">
                  <a16:creationId xmlns:a16="http://schemas.microsoft.com/office/drawing/2014/main" id="{3299EB9C-AF93-46B9-874F-99C450B3EDD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9E7234BE-B4D1-49DA-A717-D084E338DDBA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4279" y="2268082"/>
            <a:ext cx="4401108" cy="107000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4279" y="3494160"/>
            <a:ext cx="4401108" cy="60464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8" name="Grafik 6">
            <a:extLst>
              <a:ext uri="{FF2B5EF4-FFF2-40B4-BE49-F238E27FC236}">
                <a16:creationId xmlns:a16="http://schemas.microsoft.com/office/drawing/2014/main" id="{4A50CB4E-A2BD-42A4-89AF-00FBAF42ED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5C16EB5-4461-4758-A5F1-9FCFC409D904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4F2F414-99B5-4842-AE69-123A75660DF4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AE2AF92-0F47-4975-97EE-AD59D0F4352B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9DDEE01-97C2-45BB-8AA5-588FD5885C5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 dirty="0"/>
            </a:p>
          </p:txBody>
        </p:sp>
      </p:grp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19CBCE6-1CEE-2E4B-97C4-E36A3F437EC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0F391E70-C53F-8E44-AE6E-23719415C8B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E5E24761-2865-1D40-A92D-0F05793A17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6E2E5415-7F1B-EA4C-9A01-5E1F75F863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6B60F0-E3D6-3343-A074-965788DB84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315524F6-B2F6-E24E-91FE-A7BE6CEF8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80121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91EEF65-5B2F-4153-B72A-8188920387E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7F2B589E-3839-4C3B-92E1-F293A76DB3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8DC76EE0-F751-40CD-B7DB-DC698896789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Holder 3">
              <a:extLst>
                <a:ext uri="{FF2B5EF4-FFF2-40B4-BE49-F238E27FC236}">
                  <a16:creationId xmlns:a16="http://schemas.microsoft.com/office/drawing/2014/main" id="{5DFAD467-705A-4EBF-B0CD-82975D99AB5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59BE50D6-D2EF-43B9-8437-C5253F74EA60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899361"/>
            <a:ext cx="6399768" cy="540727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8AC3E5BE-9275-472F-AEB2-C4DA849B9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A45B3C2-1CA4-47B2-9CD9-00EEF9D615AF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243C064-66AF-4F89-A61C-8EAA80446B16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E875C2F-2AC0-45DD-9626-129486821205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F1F040A-4C25-4A9B-91CF-4997C0E3FA2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4546E641-A9D5-9A47-9F76-2734E5A68A2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0679E3DD-A5E0-9442-80E4-78F5371D29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2EF12A4D-9E8B-6D48-B319-03F9AB23CB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C9076294-3FF7-9C4E-9E9C-734FEDF8CD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402837B2-EE3A-BB49-8729-EE20976AD0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4" name="Textplatzhalter 22">
            <a:extLst>
              <a:ext uri="{FF2B5EF4-FFF2-40B4-BE49-F238E27FC236}">
                <a16:creationId xmlns:a16="http://schemas.microsoft.com/office/drawing/2014/main" id="{3F468D62-B29F-1948-8A54-6EE8881E37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307507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A319C61-FBE7-466D-8041-BA328224720B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27" name="bk object 18">
              <a:extLst>
                <a:ext uri="{FF2B5EF4-FFF2-40B4-BE49-F238E27FC236}">
                  <a16:creationId xmlns:a16="http://schemas.microsoft.com/office/drawing/2014/main" id="{6943C0CE-1EA2-499D-ACFC-7FAE777D4885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C64DCA2F-E670-44CF-8CCD-A8817BCDFE08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Holder 3">
              <a:extLst>
                <a:ext uri="{FF2B5EF4-FFF2-40B4-BE49-F238E27FC236}">
                  <a16:creationId xmlns:a16="http://schemas.microsoft.com/office/drawing/2014/main" id="{39C16D6C-600C-4A10-95E4-95BF4999FC1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6399768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018F5287-7D90-4427-B223-AB51C34FB4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49CBA05-EE3B-40FD-B566-67D594E41B9E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73274AB8-A508-4076-9FF6-7AE09BB7827C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0060672-D990-46D3-A86C-D3F5FB08D442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FB0B066-EC76-4017-ACF3-B5105457A38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03E97028-859A-C34B-BA69-FE65392BD5C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A992989-D88F-904A-82A9-2CECB1EC29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1D43BA97-CCC3-C745-9C93-62FFC1864A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49ABE06-6658-974E-AB25-5DDB34A0CD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76F20FCB-C090-BA4C-A643-DDAF7FA315D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BA467741-5272-AC4D-9B23-E74C3927F4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116735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C014E30-33A3-475F-B8A0-9E84E311170A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6643BCF6-A569-4BAD-B15C-E253B00A5594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D0D25174-0D7D-4590-B212-5467D04FECF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7C25F4F3-A838-4B03-A6C0-3D91C8E43EB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4936563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FAB22651-CAFB-4334-BBAD-47EBF4CF7F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4936563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CF4A76B1-953E-4A32-9BD1-DE88786E38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FD7E5C6-0F67-4B37-B3BF-534429CFB0DA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D3305F2-C7C5-4C12-9231-D66E6CDF1F5F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41CA9BF-ECB3-404C-B6B8-1533D1C1E0A0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7658C24-2A28-49B2-96C0-D5EEAC50C41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F135B6-57F4-4B6E-AD86-CFAA18EDA94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20941" y="1088383"/>
            <a:ext cx="3523059" cy="3826517"/>
          </a:xfrm>
          <a:solidFill>
            <a:schemeClr val="bg2">
              <a:lumMod val="100000"/>
            </a:schemeClr>
          </a:solidFill>
          <a:ln/>
        </p:spPr>
        <p:txBody>
          <a:bodyPr lIns="0" tIns="540000" rIns="0" bIns="0" anchor="t">
            <a:noAutofit/>
          </a:bodyPr>
          <a:lstStyle>
            <a:lvl1pPr marL="180975" indent="0" algn="l">
              <a:lnSpc>
                <a:spcPct val="90000"/>
              </a:lnSpc>
              <a:buNone/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Inhaltsplatzhalter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32C3CFE1-9073-8745-BD09-80495049B6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A46737F8-B03F-0745-A5A9-B5476E203B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5E485192-2EF9-6641-A4FD-7903E499C73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26225" y="4151976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F92B4699-D079-5B46-A5E5-D0CE8B4FF5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30436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5" name="Textplatzhalter 22">
            <a:extLst>
              <a:ext uri="{FF2B5EF4-FFF2-40B4-BE49-F238E27FC236}">
                <a16:creationId xmlns:a16="http://schemas.microsoft.com/office/drawing/2014/main" id="{E88F2ABD-B4F2-BF45-B0C0-261F3A2EC7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541121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46692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AE8C18B-3B31-4172-BD36-383A2D95905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033258C7-8016-4009-9FB1-F90060178720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F63F0B04-1DC4-4DF5-9D98-F1A5AB5B67C4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1BF4C821-21F2-42D9-9C34-70F485006B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250489"/>
            <a:ext cx="2830329" cy="118959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2830329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335E6D46-1A90-4F85-971E-BE51B6E275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3343E36-3D15-4FBD-82A0-2EF69415466D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F35EBB84-4567-4B99-BCB2-9E4F2E74A659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D04A692-1B93-4339-9E71-F30AA92C9F93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237AA0D-D90E-4127-B627-42907D1E6150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6DE86-C438-4E37-A2C2-A3C892D489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45886" y="1088383"/>
            <a:ext cx="5598114" cy="382651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B08885F2-1A5F-B44F-9FA4-22C52965E8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3609EE5A-0FD7-3E40-A359-B82C3079D7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B667A3A2-D04C-4844-BBA2-F27F285A2A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19555" y="4150658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8" name="Textplatzhalter 22">
            <a:extLst>
              <a:ext uri="{FF2B5EF4-FFF2-40B4-BE49-F238E27FC236}">
                <a16:creationId xmlns:a16="http://schemas.microsoft.com/office/drawing/2014/main" id="{F8DF472F-A7C0-6447-A12C-AB015A5D0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169392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05045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zwei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609EF01-760B-4279-96D2-9AE5DF9E07E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2" name="bk object 18">
              <a:extLst>
                <a:ext uri="{FF2B5EF4-FFF2-40B4-BE49-F238E27FC236}">
                  <a16:creationId xmlns:a16="http://schemas.microsoft.com/office/drawing/2014/main" id="{A4C7AC9B-CEA5-4C57-B178-3624C6812F1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bk object 18">
              <a:extLst>
                <a:ext uri="{FF2B5EF4-FFF2-40B4-BE49-F238E27FC236}">
                  <a16:creationId xmlns:a16="http://schemas.microsoft.com/office/drawing/2014/main" id="{D054BE5A-53A6-4A25-B171-207E0A5A15D9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Holder 3">
              <a:extLst>
                <a:ext uri="{FF2B5EF4-FFF2-40B4-BE49-F238E27FC236}">
                  <a16:creationId xmlns:a16="http://schemas.microsoft.com/office/drawing/2014/main" id="{7E7A0D5B-9864-42E6-BDCD-A3D2A068635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3818597"/>
            <a:ext cx="5341606" cy="567763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4458767"/>
            <a:ext cx="5341607" cy="27418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4" name="Grafik 6">
            <a:extLst>
              <a:ext uri="{FF2B5EF4-FFF2-40B4-BE49-F238E27FC236}">
                <a16:creationId xmlns:a16="http://schemas.microsoft.com/office/drawing/2014/main" id="{06DED613-6C95-44B4-934D-915F765D5E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ED8DE4AB-9CB4-42A7-9E68-6E2FAB87CDD7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2AF7295B-8EB5-4B3E-B347-40D564DF2E8A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9EB503C-B339-4925-A963-9A41C6D48A86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58334B5-873D-4772-A5CD-6DB0CA382F6C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443CD-BCA7-46CF-AFA8-330C46340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1422399"/>
            <a:ext cx="6678234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24558D-B62E-4475-9EF0-8C38F6D9AB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40999" y="1422400"/>
            <a:ext cx="2403000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F7FE4B2A-DC36-0D4C-9F52-0C253A8928E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CFEEB94-02FC-204B-B0CC-7FE7C62C17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CC219343-0397-9E4E-BD60-873C1713E3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40153" y="4159763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016D7102-C9CE-0D4A-85BF-0EC312730C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6352" y="415033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9" name="Textplatzhalter 22">
            <a:extLst>
              <a:ext uri="{FF2B5EF4-FFF2-40B4-BE49-F238E27FC236}">
                <a16:creationId xmlns:a16="http://schemas.microsoft.com/office/drawing/2014/main" id="{85B9FCEE-8B61-EE4E-8E60-A4B4C50E63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6335" y="4467117"/>
            <a:ext cx="1021127" cy="274183"/>
          </a:xfrm>
        </p:spPr>
        <p:txBody>
          <a:bodyPr/>
          <a:lstStyle>
            <a:lvl1pPr marL="0" indent="0" algn="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2373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D474F-8BEC-4D91-A03D-D9362EBEA4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Inhaltsverzeichnis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9AD49C-66AF-4DEA-AFAD-00CFC0FCD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A236E8-550F-4D48-A470-B5B6ACB7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EECEC85-61F4-4B79-8C27-7F9D489194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88102" y="1422400"/>
            <a:ext cx="365589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0A45E48-BE13-4673-A7CD-2D5059A1B6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4586288" cy="3492500"/>
          </a:xfrm>
        </p:spPr>
        <p:txBody>
          <a:bodyPr>
            <a:noAutofit/>
          </a:bodyPr>
          <a:lstStyle>
            <a:lvl1pPr marL="295275" indent="-295275">
              <a:spcBef>
                <a:spcPts val="1200"/>
              </a:spcBef>
              <a:buFont typeface="+mj-lt"/>
              <a:buAutoNum type="arabicPeriod"/>
              <a:defRPr/>
            </a:lvl1pPr>
            <a:lvl2pPr>
              <a:defRPr/>
            </a:lvl2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613049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ohne Untertitel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89A477-57D5-4BE0-806F-7840FB2B8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80962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180927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21D334-520E-4FBB-B8A8-6A609B53F9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810101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6CD374-8E61-0A4C-83F0-76A0F81260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93736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(groß)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FE84D2-D951-43C8-81B8-BCF2BCBCC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545752"/>
            <a:ext cx="8101012" cy="331152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3F9E275-8222-594E-AE4A-5DC2C6FC95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24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32541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Zwei Inhalte ohne Untertitel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B557236-B6F1-4EF1-92AD-262453792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3941762" cy="34242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D9B5E02-9A16-49B4-9355-BE71C0D66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9950" y="1422400"/>
            <a:ext cx="3943350" cy="3424238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3617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tIns="0"/>
          <a:lstStyle/>
          <a:p>
            <a:r>
              <a:rPr lang="de-DE" dirty="0"/>
              <a:t>Zwei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B1E48B2-9056-46C9-8170-057A7DDAE8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394176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C9A547D-69C2-4513-9E4D-7F7C15B98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37000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AA57B84-07F8-564B-8DEA-600525150D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9F477F5-428F-6D4A-B1D1-1A175E027E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86300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4657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Diagramme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8100219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8E2B6C4B-5F28-AC4F-80E0-263199198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764643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1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C0C6EB1C-18E9-44D2-B97A-2055909E56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0913" y="1422400"/>
            <a:ext cx="2590799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531018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1B80552-8C75-CA4C-8B5A-9B2EBBE4E7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30283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 userDrawn="1">
          <p15:clr>
            <a:srgbClr val="FBAE40"/>
          </p15:clr>
        </p15:guide>
        <p15:guide id="2" pos="379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2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ED614B-D2A2-4F44-8C55-EA8990499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2590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8E908BC-1AEE-469A-8B07-24C581B6328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11525" y="1422400"/>
            <a:ext cx="531018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9B5CE0C-F0E5-4A46-8E54-A8BEBF3528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16127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961" userDrawn="1">
          <p15:clr>
            <a:srgbClr val="FBAE40"/>
          </p15:clr>
        </p15:guide>
        <p15:guide id="3" pos="208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Vier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DB2AAA-C98E-4D27-9188-E7E5DBFF09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4224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823B8EE-EC69-45B2-BAC9-1BCA4FBF1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9950" y="1422400"/>
            <a:ext cx="3941763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40510EC-0518-429F-B934-724E542AEE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31877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C5C7A3E-AD9D-494E-9656-60D17A2D3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9950" y="3187701"/>
            <a:ext cx="3943350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8F97F85F-5214-3C4D-AECA-FAB96CDFB6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86960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Viel Text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E7D15-C3F6-44ED-81D4-5CA3DF139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288" y="1422400"/>
            <a:ext cx="3941762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225A19B-F9D6-496E-93F0-23086F37C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433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9BCD487A-0F7D-A741-B766-3DC58765E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112603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8B718B6-0A12-456A-A2B2-DDCE96D85C32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4" name="bk object 18">
              <a:extLst>
                <a:ext uri="{FF2B5EF4-FFF2-40B4-BE49-F238E27FC236}">
                  <a16:creationId xmlns:a16="http://schemas.microsoft.com/office/drawing/2014/main" id="{AA03ADD9-BB66-4FBA-AA38-A477A97E7E8A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483C21C1-427D-47E5-8D0D-E9E03790F6E3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Holder 3">
              <a:extLst>
                <a:ext uri="{FF2B5EF4-FFF2-40B4-BE49-F238E27FC236}">
                  <a16:creationId xmlns:a16="http://schemas.microsoft.com/office/drawing/2014/main" id="{E224A6C7-1F26-4748-BB34-5F7E18EFB33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4051" y="330910"/>
            <a:ext cx="2889316" cy="452322"/>
          </a:xfrm>
        </p:spPr>
        <p:txBody>
          <a:bodyPr/>
          <a:lstStyle/>
          <a:p>
            <a:r>
              <a:rPr lang="de-DE" dirty="0"/>
              <a:t>Inhalt + Kopf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23939B8-98AC-4295-9C3F-D06AC0E2B265}"/>
              </a:ext>
            </a:extLst>
          </p:cNvPr>
          <p:cNvCxnSpPr>
            <a:cxnSpLocks/>
          </p:cNvCxnSpPr>
          <p:nvPr userDrawn="1"/>
        </p:nvCxnSpPr>
        <p:spPr>
          <a:xfrm>
            <a:off x="4464051" y="974732"/>
            <a:ext cx="288931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6C751C-C99C-4A88-ADDD-C33FB6EC87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4050" y="1422400"/>
            <a:ext cx="4368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3" name="Textplatzhalter 3">
            <a:extLst>
              <a:ext uri="{FF2B5EF4-FFF2-40B4-BE49-F238E27FC236}">
                <a16:creationId xmlns:a16="http://schemas.microsoft.com/office/drawing/2014/main" id="{9D7F55B5-520F-1846-9A54-FEA146BB9F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4050" y="1089025"/>
            <a:ext cx="415925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077683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Bild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D03C39F-F4DA-4E33-9C12-0C07D46B74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5577" y="1422400"/>
            <a:ext cx="4518422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337AD4-58C4-4CD3-B6EE-0320BEF61A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550" y="1422399"/>
            <a:ext cx="3754437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6EF6949-DF2A-6945-ACA6-6155BA68DF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557660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+ 2 Bilder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ADE6869-998B-4809-AE43-C38E35BE8AA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25578" y="1422400"/>
            <a:ext cx="224194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B574367-BB34-447D-A233-6E083CBE551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21103" y="1422399"/>
            <a:ext cx="222289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DFAE767-5641-4D3F-9095-84DF276507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288" y="1422400"/>
            <a:ext cx="3754437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169AC40-4AD9-954E-A54F-29F517D6CC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960897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60" userDrawn="1">
          <p15:clr>
            <a:srgbClr val="FBAE40"/>
          </p15:clr>
        </p15:guide>
        <p15:guide id="2" pos="432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7376B4C5-BE86-46E2-BB73-C84DD0D0A2B1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554B3AC1-FDFF-4DC3-9DC6-81F70D7AA0BB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77DD96AE-1808-4743-8DCB-608D8DC68352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Holder 3">
              <a:extLst>
                <a:ext uri="{FF2B5EF4-FFF2-40B4-BE49-F238E27FC236}">
                  <a16:creationId xmlns:a16="http://schemas.microsoft.com/office/drawing/2014/main" id="{DA1288D7-3EDD-4960-BA1A-AED8C420D13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Bild links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A6B4FCA-16D8-4C61-9911-C6EBBA2E9614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73DDC7-C42E-4F39-AF1D-5C1BA1202CB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-6031" y="-1"/>
            <a:ext cx="4277280" cy="49149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E86CCD-5F3A-4D32-9430-6A5FA2D99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3997722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C91C6619-4CF7-49A7-802B-6AF7FF4914DA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455B36EC-528F-4E97-93BF-21959E6FD9B9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91D309B1-63F8-4AB2-8EB2-1CAEF4C839A6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A36242A3-7F74-4857-8FF1-ADD22CCD327C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373027A2-4C51-4E71-A123-42FB987BF2B4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A909C168-98E6-4FA2-8D75-923A389A4E9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9A3716B3-558A-427F-BA0B-829497FC888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F8470D77-D85D-4975-9A60-9CE2E8808B2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BCF37C2F-5134-4162-BE90-58DA31D2F78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0B310A5-C7B4-461B-A746-BE06FBD16D5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41295C12-5E33-43EE-8872-7957A8D8536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0" name="Grafik 9">
              <a:extLst>
                <a:ext uri="{FF2B5EF4-FFF2-40B4-BE49-F238E27FC236}">
                  <a16:creationId xmlns:a16="http://schemas.microsoft.com/office/drawing/2014/main" id="{3A5FF387-F0B6-477E-998D-234DECE1DB1B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FE518397-1522-4A04-B6ED-00F9007F357A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10063F5E-0004-4BCF-97BF-1F768B2194CF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1A6F300E-3CC4-4B75-80D8-A919F613F4A3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2" name="Grafik 9">
              <a:extLst>
                <a:ext uri="{FF2B5EF4-FFF2-40B4-BE49-F238E27FC236}">
                  <a16:creationId xmlns:a16="http://schemas.microsoft.com/office/drawing/2014/main" id="{04AC514E-52CF-4856-ADD0-332C339C4D48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546461AE-92FF-428D-A949-FB0BA0C40486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965C189-A801-452A-859F-28368D6503E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6B42D9CC-533D-471D-AE03-C7814754949F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1CA820B0-ACB2-443B-BBD2-E5DA3D05A48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958C57C2-4634-4F2D-AAFF-837FFB064E0F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0" name="Grafik 9">
              <a:extLst>
                <a:ext uri="{FF2B5EF4-FFF2-40B4-BE49-F238E27FC236}">
                  <a16:creationId xmlns:a16="http://schemas.microsoft.com/office/drawing/2014/main" id="{FD7A4790-53F8-44AD-B4D7-867D12B3CFB1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360B4408-9AA2-45E3-BA56-27796B0DA924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4F7D52C-F51B-4EFD-812F-B2EE83A760E2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EC28B88-2DCA-403B-A59C-F6B806C02DBB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8EA9E0D8-953E-4386-A47D-85043DF818F8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B5D41B38-F074-CA45-A2A6-6B6A14B25E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25578" y="1089025"/>
            <a:ext cx="399772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27148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zwei Bilder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CBB2739F-531B-406E-B9AE-7F5955A4C086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10BD749C-F32D-4FA0-8B2F-E4376F4459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bk object 18">
              <a:extLst>
                <a:ext uri="{FF2B5EF4-FFF2-40B4-BE49-F238E27FC236}">
                  <a16:creationId xmlns:a16="http://schemas.microsoft.com/office/drawing/2014/main" id="{75AD1741-5FE5-4A33-9577-F1F4588F6C9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Holder 3">
              <a:extLst>
                <a:ext uri="{FF2B5EF4-FFF2-40B4-BE49-F238E27FC236}">
                  <a16:creationId xmlns:a16="http://schemas.microsoft.com/office/drawing/2014/main" id="{BF81CE3E-1239-4D0D-8337-4AABB0EB94B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+ 2 Bilder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79038B0-AD42-42B7-8D15-303CEBA1DC4C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464C44-AFA3-4DC5-AA03-2798F14ED87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4276259" cy="243114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E691ED2-3E52-4E4A-9F7C-C8A1129667C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2493863"/>
            <a:ext cx="4276259" cy="242103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7826728D-0439-4A76-A6FC-AAE7B4BDFA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4000268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076F09CB-2CC2-4309-BDB1-67804947A214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AE4D5FB2-1354-4A1C-9AC6-94BA47AFA65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FE59B463-359E-41D0-BD04-1F9F20933BC7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0FB2DBB2-6B23-44DE-BAFF-BA7815BDA3A9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0F2E9D98-4AD9-4DB8-99C6-0DF7955D45B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D351D8E0-4F29-4BBF-9D49-14AAEB93E919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DCB72BFE-8B60-40AD-87F8-487863D43F75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E0BA5A-CC65-4BB8-81BB-4CB15A4D8CF1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359051EF-44DD-407B-AE1C-A76EDF0E837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C0514696-52F1-48B2-96C8-A3E4798980D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E0DDF57D-AA32-45B9-BDC9-86A24A39DB9E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1" name="Grafik 9">
              <a:extLst>
                <a:ext uri="{FF2B5EF4-FFF2-40B4-BE49-F238E27FC236}">
                  <a16:creationId xmlns:a16="http://schemas.microsoft.com/office/drawing/2014/main" id="{E7679A7C-9589-4CF8-9F8D-7E3A97D84278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C32EB792-112B-4098-B905-0403E3AB3D3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2364557F-298E-4BF1-8A6D-06EF159C2726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9C8A17D1-D5DE-42B7-8090-E7E649D8A805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3" name="Grafik 9">
              <a:extLst>
                <a:ext uri="{FF2B5EF4-FFF2-40B4-BE49-F238E27FC236}">
                  <a16:creationId xmlns:a16="http://schemas.microsoft.com/office/drawing/2014/main" id="{36D757E1-23B8-4B97-B880-F711EC0DB08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1960764-ED10-4D2C-88D0-696068264BC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E6C9C067-792C-4C17-A5B3-D48C1665DD24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960872F2-485E-4F8B-8FCC-FC63006E79D3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4E07D7C9-0535-4673-8091-4F17D0B62650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9B0B4093-9FAE-4FEC-9671-D0091528BD5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1" name="Grafik 9">
              <a:extLst>
                <a:ext uri="{FF2B5EF4-FFF2-40B4-BE49-F238E27FC236}">
                  <a16:creationId xmlns:a16="http://schemas.microsoft.com/office/drawing/2014/main" id="{D5D00B8F-439D-4A9C-AC31-D90D9CFAFF16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0B59116-9AC3-488B-B418-57F05127DD42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ED6E8E7E-1035-4870-8608-70848BB2B703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0A256F68-56C7-4D5B-BCCD-3A6858B05732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4EEEE710-875E-4346-9F6D-CFFB3EF72B3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40" name="Textplatzhalter 3">
            <a:extLst>
              <a:ext uri="{FF2B5EF4-FFF2-40B4-BE49-F238E27FC236}">
                <a16:creationId xmlns:a16="http://schemas.microsoft.com/office/drawing/2014/main" id="{28366CDA-53C4-C445-BB35-C76A6EF75D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3032" y="1089025"/>
            <a:ext cx="4000268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47988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1" userDrawn="1">
          <p15:clr>
            <a:srgbClr val="FBAE40"/>
          </p15:clr>
        </p15:guide>
        <p15:guide id="2" orient="horz" pos="153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2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33C81B-6C39-4BD5-9BF9-8617341D80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15B8044-0142-42E8-8428-B098000CEBD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99384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FC4DC007-2365-A648-88B1-D6FDE125C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6269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97" userDrawn="1">
          <p15:clr>
            <a:srgbClr val="FBAE40"/>
          </p15:clr>
        </p15:guide>
        <p15:guide id="3" pos="28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3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21923-B745-4638-A634-E1DA375F90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1422399"/>
            <a:ext cx="2978945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7556F71-EDA3-472E-9372-CE0F4A69672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032522" y="1422400"/>
            <a:ext cx="307895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C1ADC803-A245-408E-AB12-EC54C19B510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65058" y="1422400"/>
            <a:ext cx="2978943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58BC8DE0-A3EE-804D-838F-898D4F788B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73676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0" userDrawn="1">
          <p15:clr>
            <a:srgbClr val="FBAE40"/>
          </p15:clr>
        </p15:guide>
        <p15:guide id="3" pos="3850" userDrawn="1">
          <p15:clr>
            <a:srgbClr val="FBAE40"/>
          </p15:clr>
        </p15:guide>
        <p15:guide id="4" pos="3884" userDrawn="1">
          <p15:clr>
            <a:srgbClr val="FBAE40"/>
          </p15:clr>
        </p15:guide>
        <p15:guide id="5" pos="187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+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Großes Bild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40F789-6719-4203-8D60-D2478F65170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1422399"/>
            <a:ext cx="914400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5616D54-86F2-9449-AA54-998236971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80941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014" userDrawn="1">
          <p15:clr>
            <a:srgbClr val="FBAE40"/>
          </p15:clr>
        </p15:guide>
        <p15:guide id="3" pos="2863" userDrawn="1">
          <p15:clr>
            <a:srgbClr val="FBAE40"/>
          </p15:clr>
        </p15:guide>
        <p15:guide id="4" pos="2897" userDrawn="1">
          <p15:clr>
            <a:srgbClr val="FBAE40"/>
          </p15:clr>
        </p15:guide>
        <p15:guide id="5" pos="1928" userDrawn="1">
          <p15:clr>
            <a:srgbClr val="FBAE40"/>
          </p15:clr>
        </p15:guide>
        <p15:guide id="6" pos="1894" userDrawn="1">
          <p15:clr>
            <a:srgbClr val="FBAE40"/>
          </p15:clr>
        </p15:guide>
        <p15:guide id="7" pos="958" userDrawn="1">
          <p15:clr>
            <a:srgbClr val="FBAE40"/>
          </p15:clr>
        </p15:guide>
        <p15:guide id="8" pos="924" userDrawn="1">
          <p15:clr>
            <a:srgbClr val="FBAE40"/>
          </p15:clr>
        </p15:guide>
        <p15:guide id="9" pos="4309" userDrawn="1">
          <p15:clr>
            <a:srgbClr val="FBAE40"/>
          </p15:clr>
        </p15:guide>
        <p15:guide id="10" pos="434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803084A-5ADB-8145-8DBF-2148A08267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235274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3771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9286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F2D883D-86A1-4B38-BBBC-81F258AD3664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A0B87E1F-4D99-4450-9167-085B1ECC6BB2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29147ACE-4C7A-4AC3-A60F-A813EE08D57E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3187F65C-802F-454B-B4D7-B16EEF26A6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2920" y="3034543"/>
            <a:ext cx="4779587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4667E34A-CC7E-4835-9AC5-FE237F81C03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626385F0-EFB3-4177-8D2F-2F990709108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6808F36E-77C0-40F5-86F8-7030FC5D0DFD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46CD7CF4-F97B-47E8-A3F8-5B427518485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5C9615FD-3950-4AAF-91D1-B7E0D1523EB1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6D61BCB8-A392-44BE-9B58-0C8894F2C6E3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5651F35B-CB90-42B4-A471-984346A049EA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8CE6B607-72CF-4173-94CC-C59F836899D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500087AB-383E-4624-A927-873B03065E80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22AA03D7-3F03-4C4F-A0C9-836B56272C8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908EC93F-835E-4D0F-A675-2F99EC043AA5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2CEF44ED-A72E-4351-9881-F8B58E7CA517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38C57ED4-5249-44F6-A846-8A50E1B0A8A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A3174859-C1AB-4E2C-AD75-5F35D1D33C1A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2C5BCA75-4F93-46B4-878A-E68AC698764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BCECBBC6-DE4D-4DC8-8D21-F5528013426A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BCE4B876-F0A5-4F73-BBFF-C3F17D7B5C7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5E2AB3D-28C9-4DA2-9CAC-58EAE4EB09DB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DA3BF75-3E56-4B78-B7D6-F84532C639D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33376168-99F8-4715-AF4C-8EE786D54481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EC324BE3-07EF-4C6E-9A11-992391FDED69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2E5DE4CB-903E-4460-9F03-DE6427A3C0A8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44D50118-5ACB-41E0-AC63-9E2D51DEF863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8E08ECA6-CD33-45EB-90A7-60C724D72EE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4E5B9455-EFA6-4E2C-ADFA-01DEA81D9373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E6E39BDF-EF42-4AB6-B762-15EEF4205FD7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CE13B148-0823-5B43-8A0E-5E7CA97610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4989" y="400420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7" name="Bildplatzhalter 4">
            <a:extLst>
              <a:ext uri="{FF2B5EF4-FFF2-40B4-BE49-F238E27FC236}">
                <a16:creationId xmlns:a16="http://schemas.microsoft.com/office/drawing/2014/main" id="{D683DF22-D1D8-1E49-BAFA-D5A1DD9A84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3714" y="3944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299A59BA-AFBC-5240-9675-0BE075D174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6E20D846-4FF9-AC41-BF41-CEE6E2A08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A849AFAA-CFDD-4649-874D-F4E9C02357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22072670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7304" y="3034543"/>
            <a:ext cx="5735203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36723533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4279" y="3034543"/>
            <a:ext cx="4968228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3" name="Inhaltsplatzhalter 3">
            <a:extLst>
              <a:ext uri="{FF2B5EF4-FFF2-40B4-BE49-F238E27FC236}">
                <a16:creationId xmlns:a16="http://schemas.microsoft.com/office/drawing/2014/main" id="{EA02FDF1-F7DB-BE48-B1B0-7B94721FC31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1422400"/>
            <a:ext cx="349188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647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2B04C92-175E-41BA-89CE-B2785D9E3855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AFB087C7-FC7D-4892-B0D6-EA804CF535F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bk object 18">
              <a:extLst>
                <a:ext uri="{FF2B5EF4-FFF2-40B4-BE49-F238E27FC236}">
                  <a16:creationId xmlns:a16="http://schemas.microsoft.com/office/drawing/2014/main" id="{FA50712F-6C72-4330-A489-54C0FA78213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Holder 3">
              <a:extLst>
                <a:ext uri="{FF2B5EF4-FFF2-40B4-BE49-F238E27FC236}">
                  <a16:creationId xmlns:a16="http://schemas.microsoft.com/office/drawing/2014/main" id="{390EDD11-ED96-4F2C-BB78-7CE69D30A0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3D4771-8BB8-4FA1-A2DA-170FCFE2056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6594" y="330910"/>
            <a:ext cx="6826772" cy="45232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2F5159-1DFE-4F9C-BE85-E97D32EA19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1550" y="1422399"/>
            <a:ext cx="8100956" cy="3423465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4DE2C-9DE8-411C-83C3-1274BB37020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35496" y="4975579"/>
            <a:ext cx="337406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549DC-12B4-40A5-A309-CF801E18C8D4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628650" y="4975579"/>
            <a:ext cx="7129704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9F45371-9B7D-4505-A4D1-3E02BE436A0C}"/>
              </a:ext>
            </a:extLst>
          </p:cNvPr>
          <p:cNvCxnSpPr>
            <a:cxnSpLocks/>
          </p:cNvCxnSpPr>
          <p:nvPr userDrawn="1"/>
        </p:nvCxnSpPr>
        <p:spPr>
          <a:xfrm>
            <a:off x="521551" y="974732"/>
            <a:ext cx="563462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afik 9">
            <a:extLst>
              <a:ext uri="{FF2B5EF4-FFF2-40B4-BE49-F238E27FC236}">
                <a16:creationId xmlns:a16="http://schemas.microsoft.com/office/drawing/2014/main" id="{A240364D-AE4D-440E-88A8-B05FF302FB9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2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21" name="Freihandform: Form 20">
                <a:extLst>
                  <a:ext uri="{FF2B5EF4-FFF2-40B4-BE49-F238E27FC236}">
                    <a16:creationId xmlns:a16="http://schemas.microsoft.com/office/drawing/2014/main" id="{C5CA81CC-0A8C-4F0A-898F-756081956301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2" name="Freihandform: Form 21">
                <a:extLst>
                  <a:ext uri="{FF2B5EF4-FFF2-40B4-BE49-F238E27FC236}">
                    <a16:creationId xmlns:a16="http://schemas.microsoft.com/office/drawing/2014/main" id="{1076D363-C034-4E14-9F45-AC0FCE1EDB1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 dirty="0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594D7886-9B36-4085-8FC4-E5D73FFB04FF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34A71752-C6CB-41A1-9ED4-535445E5CA2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0B449204-D2C5-46C7-9446-78CB3AE33C0F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836500CA-7AFD-48CA-B6D3-0D77161C68B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016B36-B092-4AFD-B601-383B7784BFBF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A46A87-4807-4767-B647-E3EC036BC92A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59FDC7EA-9A66-40BA-AEEF-50B9422FB283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EDC61321-1CDD-47FE-82F4-EC44AE05670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8F89A53-4AB3-4A93-B3CB-37874A98D1FD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58E0EDC8-E74F-4551-8BD2-939CC38E7C3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4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9D8C1F22-3E98-4749-B684-AA127651774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C3B0773-417D-4813-BD67-9BC2D01A3929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B5CEBB8-8410-4826-A2E1-C3C323E13940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C2141CF3-1E59-49AE-B4F4-71225DE8DBD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77A4FE29-4562-4C15-8839-87F3DA744A7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4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499DC055-1C0A-47CE-BA62-2B92DDA092AF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CFC50087-AE06-4FC3-BF14-DD98E5DF1E5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21874895-4ADB-4607-9955-2800059B66C0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CCA96FB2-00D1-437E-BC9E-014BF2485AA3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883162FD-5920-459D-B957-31A263988D88}"/>
              </a:ext>
            </a:extLst>
          </p:cNvPr>
          <p:cNvSpPr/>
          <p:nvPr userDrawn="1"/>
        </p:nvSpPr>
        <p:spPr>
          <a:xfrm>
            <a:off x="-4877" y="407792"/>
            <a:ext cx="337406" cy="294925"/>
          </a:xfrm>
          <a:custGeom>
            <a:avLst/>
            <a:gdLst>
              <a:gd name="connsiteX0" fmla="*/ 0 w 152234"/>
              <a:gd name="connsiteY0" fmla="*/ 134353 h 132902"/>
              <a:gd name="connsiteX1" fmla="*/ 84816 w 152234"/>
              <a:gd name="connsiteY1" fmla="*/ 134353 h 132902"/>
              <a:gd name="connsiteX2" fmla="*/ 152234 w 152234"/>
              <a:gd name="connsiteY2" fmla="*/ 67176 h 132902"/>
              <a:gd name="connsiteX3" fmla="*/ 84816 w 152234"/>
              <a:gd name="connsiteY3" fmla="*/ 0 h 132902"/>
              <a:gd name="connsiteX4" fmla="*/ 0 w 152234"/>
              <a:gd name="connsiteY4" fmla="*/ 0 h 132902"/>
              <a:gd name="connsiteX5" fmla="*/ 0 w 152234"/>
              <a:gd name="connsiteY5" fmla="*/ 134353 h 1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/>
          </a:p>
        </p:txBody>
      </p:sp>
    </p:spTree>
    <p:extLst>
      <p:ext uri="{BB962C8B-B14F-4D97-AF65-F5344CB8AC3E}">
        <p14:creationId xmlns:p14="http://schemas.microsoft.com/office/powerpoint/2010/main" val="18342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6" r:id="rId7"/>
    <p:sldLayoutId id="2147483697" r:id="rId8"/>
    <p:sldLayoutId id="2147483698" r:id="rId9"/>
    <p:sldLayoutId id="2147483721" r:id="rId10"/>
    <p:sldLayoutId id="2147483699" r:id="rId11"/>
    <p:sldLayoutId id="2147483700" r:id="rId12"/>
    <p:sldLayoutId id="2147483722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4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3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74638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1" userDrawn="1">
          <p15:clr>
            <a:srgbClr val="F26B43"/>
          </p15:clr>
        </p15:guide>
        <p15:guide id="4" pos="329" userDrawn="1">
          <p15:clr>
            <a:srgbClr val="F26B43"/>
          </p15:clr>
        </p15:guide>
        <p15:guide id="5" pos="5432" userDrawn="1">
          <p15:clr>
            <a:srgbClr val="F26B43"/>
          </p15:clr>
        </p15:guide>
        <p15:guide id="6" orient="horz" pos="686" userDrawn="1">
          <p15:clr>
            <a:srgbClr val="F26B43"/>
          </p15:clr>
        </p15:guide>
        <p15:guide id="7" orient="horz" pos="3096" userDrawn="1">
          <p15:clr>
            <a:srgbClr val="F26B43"/>
          </p15:clr>
        </p15:guide>
        <p15:guide id="9" orient="horz" pos="3121" userDrawn="1">
          <p15:clr>
            <a:srgbClr val="F26B43"/>
          </p15:clr>
        </p15:guide>
        <p15:guide id="10" orient="horz" pos="8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100">
            <a:extLst>
              <a:ext uri="{FF2B5EF4-FFF2-40B4-BE49-F238E27FC236}">
                <a16:creationId xmlns:a16="http://schemas.microsoft.com/office/drawing/2014/main" id="{6ABA10D6-0652-4B42-A35F-CF9E0DD12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4279" y="1696749"/>
            <a:ext cx="4401108" cy="1070009"/>
          </a:xfrm>
        </p:spPr>
        <p:txBody>
          <a:bodyPr/>
          <a:lstStyle/>
          <a:p>
            <a:r>
              <a:rPr lang="de-DE" sz="2000" dirty="0"/>
              <a:t>Giant </a:t>
            </a:r>
            <a:r>
              <a:rPr lang="de-DE" sz="2000" dirty="0" err="1"/>
              <a:t>Pressure-Induced</a:t>
            </a:r>
            <a:r>
              <a:rPr lang="de-DE" sz="2000" dirty="0"/>
              <a:t> </a:t>
            </a:r>
            <a:r>
              <a:rPr lang="de-DE" sz="2000" dirty="0" err="1"/>
              <a:t>Spectral</a:t>
            </a:r>
            <a:r>
              <a:rPr lang="de-DE" sz="2000" dirty="0"/>
              <a:t> Shift in Cyan-</a:t>
            </a:r>
            <a:r>
              <a:rPr lang="de-DE" sz="2000" dirty="0" err="1"/>
              <a:t>Emmitting</a:t>
            </a:r>
            <a:r>
              <a:rPr lang="de-DE" sz="2000" dirty="0"/>
              <a:t> Eu</a:t>
            </a:r>
            <a:r>
              <a:rPr lang="de-DE" sz="2000" baseline="30000" dirty="0"/>
              <a:t>2+</a:t>
            </a:r>
            <a:r>
              <a:rPr lang="de-DE" sz="2000" dirty="0"/>
              <a:t>-</a:t>
            </a:r>
            <a:r>
              <a:rPr lang="de-DE" sz="2000" dirty="0" err="1"/>
              <a:t>Activated</a:t>
            </a:r>
            <a:r>
              <a:rPr lang="de-DE" sz="2000" dirty="0"/>
              <a:t> Sr</a:t>
            </a:r>
            <a:r>
              <a:rPr lang="de-DE" sz="2000" baseline="-25000" dirty="0"/>
              <a:t>8</a:t>
            </a:r>
            <a:r>
              <a:rPr lang="de-DE" sz="2000" dirty="0"/>
              <a:t>Si</a:t>
            </a:r>
            <a:r>
              <a:rPr lang="de-DE" sz="2000" baseline="-25000" dirty="0"/>
              <a:t>4</a:t>
            </a:r>
            <a:r>
              <a:rPr lang="de-DE" sz="2000" dirty="0"/>
              <a:t>O</a:t>
            </a:r>
            <a:r>
              <a:rPr lang="de-DE" sz="2000" baseline="-25000" dirty="0"/>
              <a:t>12</a:t>
            </a:r>
            <a:r>
              <a:rPr lang="de-DE" sz="2000" dirty="0"/>
              <a:t>Cl</a:t>
            </a:r>
            <a:r>
              <a:rPr lang="de-DE" sz="2000" baseline="-25000" dirty="0"/>
              <a:t>8</a:t>
            </a:r>
            <a:r>
              <a:rPr lang="de-DE" sz="2000" dirty="0"/>
              <a:t> </a:t>
            </a:r>
            <a:r>
              <a:rPr lang="de-DE" sz="2000" dirty="0" err="1"/>
              <a:t>Microspheres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Ultrasensitive Visual </a:t>
            </a:r>
            <a:r>
              <a:rPr lang="de-DE" sz="2000" dirty="0" err="1"/>
              <a:t>Manometry</a:t>
            </a:r>
            <a:endParaRPr lang="de-DE" sz="2000" dirty="0"/>
          </a:p>
        </p:txBody>
      </p:sp>
      <p:sp>
        <p:nvSpPr>
          <p:cNvPr id="102" name="Untertitel 101">
            <a:extLst>
              <a:ext uri="{FF2B5EF4-FFF2-40B4-BE49-F238E27FC236}">
                <a16:creationId xmlns:a16="http://schemas.microsoft.com/office/drawing/2014/main" id="{A9C4E376-BA12-7D43-96B4-4F6C54848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4279" y="2862957"/>
            <a:ext cx="4401108" cy="604640"/>
          </a:xfrm>
        </p:spPr>
        <p:txBody>
          <a:bodyPr/>
          <a:lstStyle/>
          <a:p>
            <a:r>
              <a:rPr lang="en-US" dirty="0"/>
              <a:t>Teng Zheng, Marcin </a:t>
            </a:r>
            <a:r>
              <a:rPr lang="en-US" dirty="0" err="1"/>
              <a:t>Runowski</a:t>
            </a:r>
            <a:r>
              <a:rPr lang="en-US" dirty="0"/>
              <a:t>, </a:t>
            </a:r>
            <a:r>
              <a:rPr lang="en-US" dirty="0" err="1"/>
              <a:t>Junpeng</a:t>
            </a:r>
            <a:r>
              <a:rPr lang="en-US" dirty="0"/>
              <a:t> Xue, </a:t>
            </a:r>
            <a:r>
              <a:rPr lang="en-US" dirty="0" err="1"/>
              <a:t>Laihui</a:t>
            </a:r>
            <a:r>
              <a:rPr lang="en-US" dirty="0"/>
              <a:t> Luo, Ulises R. Rodríguez-Mendoza, Víctor </a:t>
            </a:r>
            <a:r>
              <a:rPr lang="en-US" dirty="0" err="1"/>
              <a:t>Lavín</a:t>
            </a:r>
            <a:r>
              <a:rPr lang="en-US" dirty="0"/>
              <a:t>, </a:t>
            </a:r>
            <a:r>
              <a:rPr lang="en-US" dirty="0" err="1"/>
              <a:t>Inocencio</a:t>
            </a:r>
            <a:r>
              <a:rPr lang="en-US" dirty="0"/>
              <a:t> R. Martín, </a:t>
            </a:r>
            <a:r>
              <a:rPr lang="en-US" dirty="0" err="1"/>
              <a:t>Plácida</a:t>
            </a:r>
            <a:r>
              <a:rPr lang="en-US" dirty="0"/>
              <a:t> Rodríguez-Hernández, Alfonso Muñoz, and Peng Du </a:t>
            </a:r>
            <a:endParaRPr lang="de-DE" dirty="0"/>
          </a:p>
        </p:txBody>
      </p:sp>
      <p:sp>
        <p:nvSpPr>
          <p:cNvPr id="132" name="Textplatzhalter 131">
            <a:extLst>
              <a:ext uri="{FF2B5EF4-FFF2-40B4-BE49-F238E27FC236}">
                <a16:creationId xmlns:a16="http://schemas.microsoft.com/office/drawing/2014/main" id="{13915252-8486-BE43-A525-942B4DD0B9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12.07.2023</a:t>
            </a:r>
          </a:p>
        </p:txBody>
      </p:sp>
      <p:sp>
        <p:nvSpPr>
          <p:cNvPr id="2" name="Untertitel 101">
            <a:extLst>
              <a:ext uri="{FF2B5EF4-FFF2-40B4-BE49-F238E27FC236}">
                <a16:creationId xmlns:a16="http://schemas.microsoft.com/office/drawing/2014/main" id="{C7AB07E0-5AC1-BE6E-C4A3-097B3F706386}"/>
              </a:ext>
            </a:extLst>
          </p:cNvPr>
          <p:cNvSpPr txBox="1">
            <a:spLocks/>
          </p:cNvSpPr>
          <p:nvPr/>
        </p:nvSpPr>
        <p:spPr>
          <a:xfrm>
            <a:off x="3654279" y="4098800"/>
            <a:ext cx="4401108" cy="604640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Jana </a:t>
            </a:r>
            <a:r>
              <a:rPr lang="en-US" sz="1400" dirty="0" err="1"/>
              <a:t>Rheinländer</a:t>
            </a:r>
            <a:r>
              <a:rPr lang="en-US" sz="1400" dirty="0"/>
              <a:t>, Marco Gurbisz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70159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2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8096250" cy="3492500"/>
          </a:xfrm>
        </p:spPr>
        <p:txBody>
          <a:bodyPr/>
          <a:lstStyle/>
          <a:p>
            <a:r>
              <a:rPr lang="de-DE" dirty="0"/>
              <a:t>Motivation</a:t>
            </a:r>
          </a:p>
          <a:p>
            <a:r>
              <a:rPr lang="de-DE" dirty="0"/>
              <a:t>Struktur</a:t>
            </a:r>
          </a:p>
          <a:p>
            <a:r>
              <a:rPr lang="de-DE" dirty="0"/>
              <a:t>Lumineszenz bei Normaldruck</a:t>
            </a:r>
          </a:p>
          <a:p>
            <a:r>
              <a:rPr lang="de-DE" dirty="0"/>
              <a:t>Lumineszenz unter erhöhtem Druck</a:t>
            </a:r>
          </a:p>
          <a:p>
            <a:r>
              <a:rPr lang="de-DE" dirty="0"/>
              <a:t>Strukturveränderung unter erhöhtem Druck</a:t>
            </a:r>
          </a:p>
          <a:p>
            <a:r>
              <a:rPr lang="de-DE" dirty="0"/>
              <a:t>Vergleich zu anderen Materialien</a:t>
            </a:r>
          </a:p>
          <a:p>
            <a:r>
              <a:rPr lang="de-DE" dirty="0"/>
              <a:t>Mögliche Probleme</a:t>
            </a:r>
          </a:p>
          <a:p>
            <a:r>
              <a:rPr lang="de-DE" dirty="0"/>
              <a:t>Zusammenfassung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380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3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8096250" cy="3492500"/>
          </a:xfrm>
        </p:spPr>
        <p:txBody>
          <a:bodyPr/>
          <a:lstStyle/>
          <a:p>
            <a:r>
              <a:rPr lang="de-DE" dirty="0"/>
              <a:t>Druck ist in vielen Anwendungsbereichen (Industrie, Forschung) und kann zu Phasentransformationen, Bildung neuer Verbindungen, Defektgeneration, etc. führen</a:t>
            </a:r>
          </a:p>
          <a:p>
            <a:r>
              <a:rPr lang="de-DE" dirty="0"/>
              <a:t>Im Labor wird häufig die Diamond </a:t>
            </a:r>
            <a:r>
              <a:rPr lang="de-DE" dirty="0" err="1"/>
              <a:t>anvil</a:t>
            </a:r>
            <a:r>
              <a:rPr lang="de-DE" dirty="0"/>
              <a:t> </a:t>
            </a:r>
            <a:r>
              <a:rPr lang="de-DE" dirty="0" err="1"/>
              <a:t>cell</a:t>
            </a:r>
            <a:r>
              <a:rPr lang="de-DE" dirty="0"/>
              <a:t> (DAC) zur Anwendung von hohem Druck verwendet</a:t>
            </a:r>
          </a:p>
          <a:p>
            <a:r>
              <a:rPr lang="de-DE" dirty="0"/>
              <a:t>In DAC optisches Druck überwachen möglich (hoch transparente </a:t>
            </a:r>
            <a:r>
              <a:rPr lang="de-DE" dirty="0" err="1"/>
              <a:t>Diamante</a:t>
            </a:r>
            <a:r>
              <a:rPr lang="de-DE" dirty="0"/>
              <a:t>)</a:t>
            </a:r>
          </a:p>
          <a:p>
            <a:r>
              <a:rPr lang="de-DE" dirty="0"/>
              <a:t>Lumineszente Materialien werden für Überwachung von Druck eingesetzt</a:t>
            </a:r>
          </a:p>
          <a:p>
            <a:pPr lvl="1"/>
            <a:r>
              <a:rPr lang="de-DE" dirty="0"/>
              <a:t>Lanthanoide oder Übergangsmetalle als Aktivatoren</a:t>
            </a:r>
          </a:p>
          <a:p>
            <a:pPr lvl="1"/>
            <a:r>
              <a:rPr lang="de-DE" dirty="0"/>
              <a:t>Analyse der </a:t>
            </a:r>
            <a:r>
              <a:rPr lang="de-DE" dirty="0" err="1"/>
              <a:t>Durckabhängigen</a:t>
            </a:r>
            <a:r>
              <a:rPr lang="de-DE" dirty="0"/>
              <a:t> spektral Charakteristika</a:t>
            </a:r>
          </a:p>
          <a:p>
            <a:pPr lvl="1"/>
            <a:r>
              <a:rPr lang="de-DE" dirty="0"/>
              <a:t>Bekannteste: Al</a:t>
            </a:r>
            <a:r>
              <a:rPr lang="de-DE" baseline="-25000" dirty="0"/>
              <a:t>2</a:t>
            </a:r>
            <a:r>
              <a:rPr lang="de-DE" dirty="0"/>
              <a:t>O</a:t>
            </a:r>
            <a:r>
              <a:rPr lang="de-DE" baseline="-25000" dirty="0"/>
              <a:t>3</a:t>
            </a:r>
            <a:r>
              <a:rPr lang="de-DE" dirty="0"/>
              <a:t>:Cr</a:t>
            </a:r>
            <a:r>
              <a:rPr lang="de-DE" baseline="30000" dirty="0"/>
              <a:t>3+</a:t>
            </a:r>
            <a:r>
              <a:rPr lang="de-DE" dirty="0"/>
              <a:t> Rubin (d</a:t>
            </a:r>
            <a:r>
              <a:rPr lang="el-GR" dirty="0"/>
              <a:t>λ</a:t>
            </a:r>
            <a:r>
              <a:rPr lang="de-DE" dirty="0"/>
              <a:t>/</a:t>
            </a:r>
            <a:r>
              <a:rPr lang="de-DE" dirty="0" err="1"/>
              <a:t>dP</a:t>
            </a:r>
            <a:r>
              <a:rPr lang="de-DE" dirty="0"/>
              <a:t> = 0,365 nm/</a:t>
            </a:r>
            <a:r>
              <a:rPr lang="de-DE" dirty="0" err="1"/>
              <a:t>GPa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Sensitivität nicht hoch genug um mit Anforderungen der Technologie mit zukommen (höhere Sensibilität, Genauigkeit)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570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701209-ACA1-FA45-E64D-D4FF0B57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13CF63E-1848-272D-76E8-C3005699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AA711A-716C-0C35-3AB5-0B6F4DB2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4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6A13D20-BE59-D67E-5F90-ABDA0F260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131" y="1133155"/>
            <a:ext cx="8096250" cy="3492500"/>
          </a:xfrm>
        </p:spPr>
        <p:txBody>
          <a:bodyPr/>
          <a:lstStyle/>
          <a:p>
            <a:r>
              <a:rPr lang="de-DE" dirty="0"/>
              <a:t>Einige Bekannte Drucksensoren sind nur für hohe Druckbereiche geeignet</a:t>
            </a:r>
          </a:p>
          <a:p>
            <a:pPr lvl="1"/>
            <a:r>
              <a:rPr lang="de-DE" dirty="0"/>
              <a:t>Kein linearer Spektral Verschiebung im tiefen Druckbereich (&lt;10 </a:t>
            </a:r>
            <a:r>
              <a:rPr lang="de-DE" dirty="0" err="1"/>
              <a:t>GPa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Im tiefen Bereich können organische und einige weiche Materialien Phasenübergänge durchlaufen</a:t>
            </a:r>
          </a:p>
          <a:p>
            <a:r>
              <a:rPr lang="de-DE" dirty="0">
                <a:sym typeface="Wingdings" panose="05000000000000000000" pitchFamily="2" charset="2"/>
              </a:rPr>
              <a:t>Chlorsilikate Vorteile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Herstellung bei tiefen Temperaturen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Exzellente chemische und physikalische Eigenschaften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Guter Lumineszierender Host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4934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5</a:t>
            </a:fld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996E040E-820E-227C-C1EE-C132F6ACA58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23875" y="1133155"/>
                <a:ext cx="8096250" cy="3492500"/>
              </a:xfrm>
            </p:spPr>
            <p:txBody>
              <a:bodyPr/>
              <a:lstStyle/>
              <a:p>
                <a:r>
                  <a:rPr lang="de-DE" dirty="0"/>
                  <a:t>Synthese: SiO</a:t>
                </a:r>
                <a:r>
                  <a:rPr lang="de-DE" baseline="-25000" dirty="0"/>
                  <a:t>2</a:t>
                </a:r>
                <a:r>
                  <a:rPr lang="de-DE" dirty="0"/>
                  <a:t>, SrCO</a:t>
                </a:r>
                <a:r>
                  <a:rPr lang="de-DE" baseline="-25000" dirty="0"/>
                  <a:t>3</a:t>
                </a:r>
                <a:r>
                  <a:rPr lang="de-DE" dirty="0"/>
                  <a:t>, NH</a:t>
                </a:r>
                <a:r>
                  <a:rPr lang="de-DE" baseline="-25000" dirty="0"/>
                  <a:t>4</a:t>
                </a:r>
                <a:r>
                  <a:rPr lang="de-DE" dirty="0"/>
                  <a:t>Cl, Eu</a:t>
                </a:r>
                <a:r>
                  <a:rPr lang="de-DE" baseline="-25000" dirty="0"/>
                  <a:t>2</a:t>
                </a:r>
                <a:r>
                  <a:rPr lang="de-DE" dirty="0"/>
                  <a:t>O</a:t>
                </a:r>
                <a:r>
                  <a:rPr lang="de-DE" baseline="-25000" dirty="0"/>
                  <a:t>3</a:t>
                </a:r>
                <a:br>
                  <a:rPr lang="de-DE" dirty="0"/>
                </a:br>
                <a:r>
                  <a:rPr lang="de-DE" dirty="0"/>
                  <a:t>für 4h bei 900°C sintern</a:t>
                </a:r>
              </a:p>
              <a:p>
                <a:r>
                  <a:rPr lang="de-DE" dirty="0"/>
                  <a:t>Sr</a:t>
                </a:r>
                <a:r>
                  <a:rPr lang="de-DE" baseline="-25000" dirty="0"/>
                  <a:t>8</a:t>
                </a:r>
                <a:r>
                  <a:rPr lang="de-DE" dirty="0"/>
                  <a:t>Si</a:t>
                </a:r>
                <a:r>
                  <a:rPr lang="de-DE" baseline="-25000" dirty="0"/>
                  <a:t>4</a:t>
                </a:r>
                <a:r>
                  <a:rPr lang="de-DE" dirty="0"/>
                  <a:t>O</a:t>
                </a:r>
                <a:r>
                  <a:rPr lang="de-DE" baseline="-25000" dirty="0"/>
                  <a:t>12</a:t>
                </a:r>
                <a:r>
                  <a:rPr lang="de-DE" dirty="0"/>
                  <a:t>Cl</a:t>
                </a:r>
                <a:r>
                  <a:rPr lang="de-DE" baseline="-25000" dirty="0"/>
                  <a:t>8</a:t>
                </a:r>
                <a:r>
                  <a:rPr lang="de-DE" dirty="0"/>
                  <a:t>:Eu</a:t>
                </a:r>
                <a:r>
                  <a:rPr lang="de-DE" baseline="30000" dirty="0"/>
                  <a:t>2+</a:t>
                </a:r>
              </a:p>
              <a:p>
                <a:r>
                  <a:rPr lang="de-DE" i="1" dirty="0"/>
                  <a:t>I</a:t>
                </a:r>
                <a:r>
                  <a:rPr lang="de-DE" dirty="0"/>
                  <a:t>4/</a:t>
                </a:r>
                <a:r>
                  <a:rPr lang="de-DE" i="1" dirty="0"/>
                  <a:t>m</a:t>
                </a:r>
                <a:r>
                  <a:rPr lang="de-DE" dirty="0"/>
                  <a:t> (Nr. 87), a = 11,201 Å, c = 9,584 Å</a:t>
                </a:r>
              </a:p>
              <a:p>
                <a:r>
                  <a:rPr lang="de-DE" dirty="0"/>
                  <a:t>Eu</a:t>
                </a:r>
                <a:r>
                  <a:rPr lang="de-DE" baseline="30000" dirty="0"/>
                  <a:t>2+</a:t>
                </a:r>
                <a:r>
                  <a:rPr lang="de-DE" dirty="0"/>
                  <a:t> belegt Sr-Lagen</a:t>
                </a:r>
              </a:p>
              <a:p>
                <a:pPr lvl="1"/>
                <a:r>
                  <a:rPr lang="de-DE" dirty="0"/>
                  <a:t>r(Eu</a:t>
                </a:r>
                <a:r>
                  <a:rPr lang="de-DE" baseline="30000" dirty="0"/>
                  <a:t>2+</a:t>
                </a:r>
                <a:r>
                  <a:rPr lang="de-DE" dirty="0"/>
                  <a:t>) = 1,25 Å</a:t>
                </a:r>
              </a:p>
              <a:p>
                <a:pPr lvl="1"/>
                <a:r>
                  <a:rPr lang="de-DE" dirty="0"/>
                  <a:t>r(Sr</a:t>
                </a:r>
                <a:r>
                  <a:rPr lang="de-DE" baseline="30000" dirty="0"/>
                  <a:t>2+</a:t>
                </a:r>
                <a:r>
                  <a:rPr lang="de-DE" dirty="0"/>
                  <a:t>) = 1,26 Å</a:t>
                </a:r>
              </a:p>
              <a:p>
                <a:r>
                  <a:rPr lang="de-DE" dirty="0"/>
                  <a:t>Alle Sr</a:t>
                </a:r>
                <a:r>
                  <a:rPr lang="de-DE" baseline="30000" dirty="0"/>
                  <a:t>2+</a:t>
                </a:r>
                <a:r>
                  <a:rPr lang="de-DE" dirty="0"/>
                  <a:t>-Lagen gleich</a:t>
                </a:r>
              </a:p>
              <a:p>
                <a:r>
                  <a:rPr lang="de-DE" dirty="0"/>
                  <a:t>Koordiniert von</a:t>
                </a:r>
              </a:p>
              <a:p>
                <a:pPr lvl="1"/>
                <a:r>
                  <a:rPr lang="de-DE" dirty="0"/>
                  <a:t>4 O (2,5 – 2,8 Å)</a:t>
                </a:r>
              </a:p>
              <a:p>
                <a:pPr lvl="1"/>
                <a:r>
                  <a:rPr lang="de-DE" dirty="0"/>
                  <a:t>4 Cl (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de-DE" dirty="0"/>
                  <a:t>3 Å)</a:t>
                </a:r>
              </a:p>
              <a:p>
                <a:pPr lvl="1"/>
                <a:endParaRPr lang="de-DE" dirty="0"/>
              </a:p>
            </p:txBody>
          </p:sp>
        </mc:Choice>
        <mc:Fallback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996E040E-820E-227C-C1EE-C132F6ACA5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23875" y="1133155"/>
                <a:ext cx="8096250" cy="3492500"/>
              </a:xfrm>
              <a:blipFill>
                <a:blip r:embed="rId2"/>
                <a:stretch>
                  <a:fillRect l="-1355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B41D0AA-C499-1C6F-8B38-6C8A4EEB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1190722"/>
            <a:ext cx="3544069" cy="343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44DBC-2049-E281-119B-5E4E347CC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1" y="2535892"/>
            <a:ext cx="1584176" cy="208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13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6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996E040E-820E-227C-C1EE-C132F6ACA58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23875" y="1133155"/>
                <a:ext cx="8096250" cy="3492500"/>
              </a:xfrm>
            </p:spPr>
            <p:txBody>
              <a:bodyPr/>
              <a:lstStyle/>
              <a:p>
                <a:r>
                  <a:rPr lang="de-DE" dirty="0"/>
                  <a:t>Mikrosphären</a:t>
                </a:r>
              </a:p>
              <a:p>
                <a:r>
                  <a:rPr lang="de-DE" dirty="0"/>
                  <a:t>REM (SEM)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de-DE" dirty="0"/>
                  <a:t>5,75 μm groß, Sphärisch</a:t>
                </a:r>
              </a:p>
              <a:p>
                <a:pPr lvl="1"/>
                <a:r>
                  <a:rPr lang="de-DE" dirty="0"/>
                  <a:t>Morphologie bei Dotierung unverändert</a:t>
                </a:r>
              </a:p>
              <a:p>
                <a:r>
                  <a:rPr lang="de-DE" dirty="0"/>
                  <a:t>EDX</a:t>
                </a:r>
              </a:p>
              <a:p>
                <a:pPr lvl="1"/>
                <a:r>
                  <a:rPr lang="de-DE" dirty="0"/>
                  <a:t>Sr, Si, O, Cl, </a:t>
                </a:r>
                <a:r>
                  <a:rPr lang="de-DE" dirty="0" err="1"/>
                  <a:t>Eu</a:t>
                </a:r>
                <a:r>
                  <a:rPr lang="de-DE" dirty="0"/>
                  <a:t> gleichmäßig verteilt</a:t>
                </a:r>
              </a:p>
            </p:txBody>
          </p:sp>
        </mc:Choice>
        <mc:Fallback xmlns="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996E040E-820E-227C-C1EE-C132F6ACA5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23875" y="1133155"/>
                <a:ext cx="8096250" cy="3492500"/>
              </a:xfrm>
              <a:blipFill>
                <a:blip r:embed="rId2"/>
                <a:stretch>
                  <a:fillRect l="-1355" t="-5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B37D11F-B696-737C-CEBD-9511BD3A8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468" y="1133155"/>
            <a:ext cx="4101657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83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Lumineszenz bei Normaldruck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7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996E040E-820E-227C-C1EE-C132F6ACA58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23875" y="1133155"/>
                <a:ext cx="8096250" cy="3492500"/>
              </a:xfrm>
            </p:spPr>
            <p:txBody>
              <a:bodyPr/>
              <a:lstStyle/>
              <a:p>
                <a:r>
                  <a:rPr lang="de-DE" dirty="0"/>
                  <a:t>Weißes Pulver, bei Bestrahlung mit NUV cyanfarben</a:t>
                </a:r>
              </a:p>
              <a:p>
                <a:r>
                  <a:rPr lang="de-DE" dirty="0"/>
                  <a:t>Emission bei 492 nm</a:t>
                </a:r>
              </a:p>
              <a:p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de-DE" dirty="0"/>
                  <a:t>-Übergang</a:t>
                </a:r>
              </a:p>
              <a:p>
                <a:r>
                  <a:rPr lang="de-DE" dirty="0"/>
                  <a:t>Symmetrisch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de-DE" dirty="0"/>
                  <a:t> ein emittierendes Zentrum</a:t>
                </a:r>
              </a:p>
              <a:p>
                <a:r>
                  <a:rPr lang="de-DE" dirty="0"/>
                  <a:t>Optimaler Dotierungsgrad: 4 mol%</a:t>
                </a:r>
              </a:p>
              <a:p>
                <a:r>
                  <a:rPr lang="de-DE" dirty="0"/>
                  <a:t>Quantenausbeute 80±1%</a:t>
                </a:r>
              </a:p>
              <a:p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996E040E-820E-227C-C1EE-C132F6ACA5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23875" y="1133155"/>
                <a:ext cx="8096250" cy="3492500"/>
              </a:xfrm>
              <a:blipFill>
                <a:blip r:embed="rId2"/>
                <a:stretch>
                  <a:fillRect l="-1355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DB168FF-A3F2-683C-348D-11BCBABC8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1149108"/>
            <a:ext cx="2247925" cy="34765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07489DF-FDAD-BD3F-A9F7-301BC05DBAA9}"/>
              </a:ext>
            </a:extLst>
          </p:cNvPr>
          <p:cNvSpPr/>
          <p:nvPr/>
        </p:nvSpPr>
        <p:spPr>
          <a:xfrm>
            <a:off x="8532440" y="1782837"/>
            <a:ext cx="216024" cy="2520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4A73A5-D211-D56E-D8F3-6A86766A7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020560"/>
            <a:ext cx="3623648" cy="160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9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Lumineszenz unter erhöhtem Druck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8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5560293" cy="3492500"/>
          </a:xfrm>
        </p:spPr>
        <p:txBody>
          <a:bodyPr/>
          <a:lstStyle/>
          <a:p>
            <a:r>
              <a:rPr lang="de-DE" dirty="0"/>
              <a:t>Zur Untersuchung wurden Druckabhängige Emissionsspektren von 0,0001 </a:t>
            </a:r>
            <a:r>
              <a:rPr lang="de-DE" dirty="0" err="1"/>
              <a:t>GPa</a:t>
            </a:r>
            <a:r>
              <a:rPr lang="de-DE" dirty="0"/>
              <a:t> (1 </a:t>
            </a:r>
            <a:r>
              <a:rPr lang="de-DE" dirty="0" err="1"/>
              <a:t>atm</a:t>
            </a:r>
            <a:r>
              <a:rPr lang="de-DE" dirty="0"/>
              <a:t>) bis 7,35 </a:t>
            </a:r>
            <a:r>
              <a:rPr lang="de-DE" dirty="0" err="1"/>
              <a:t>GPa</a:t>
            </a:r>
            <a:r>
              <a:rPr lang="de-DE" dirty="0"/>
              <a:t> aufgenommen</a:t>
            </a:r>
          </a:p>
          <a:p>
            <a:r>
              <a:rPr lang="de-DE" dirty="0"/>
              <a:t>Farbändernde Lumineszenz von Cyan über Grün zu Gelb</a:t>
            </a:r>
          </a:p>
          <a:p>
            <a:r>
              <a:rPr lang="de-DE" dirty="0"/>
              <a:t>Normalisiertes Emissionsspektrum der Mikrosphären</a:t>
            </a:r>
          </a:p>
          <a:p>
            <a:r>
              <a:rPr lang="de-DE" dirty="0"/>
              <a:t>Anregung bei 284 </a:t>
            </a:r>
            <a:r>
              <a:rPr lang="de-DE" dirty="0" err="1"/>
              <a:t>nm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C1FFFD-DA74-BDEE-25C9-FC526557F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143" y="1051883"/>
            <a:ext cx="2366982" cy="36550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2484587-5515-35F2-A71B-83535CF6C6B1}"/>
              </a:ext>
            </a:extLst>
          </p:cNvPr>
          <p:cNvSpPr/>
          <p:nvPr/>
        </p:nvSpPr>
        <p:spPr>
          <a:xfrm>
            <a:off x="8573076" y="1278781"/>
            <a:ext cx="216024" cy="2819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0DC464-54E9-6478-C8E3-B6D47997C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66" y="3367013"/>
            <a:ext cx="4464496" cy="108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64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Lumineszenz unter erhöhtem Druck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9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5560293" cy="3492500"/>
          </a:xfrm>
        </p:spPr>
        <p:txBody>
          <a:bodyPr/>
          <a:lstStyle/>
          <a:p>
            <a:r>
              <a:rPr lang="de-DE" dirty="0"/>
              <a:t>Bei 7,38 </a:t>
            </a:r>
            <a:r>
              <a:rPr lang="de-DE" dirty="0" err="1"/>
              <a:t>GPa</a:t>
            </a:r>
            <a:r>
              <a:rPr lang="de-DE" dirty="0"/>
              <a:t> signifikante Rotverschiebung</a:t>
            </a:r>
          </a:p>
          <a:p>
            <a:pPr lvl="1"/>
            <a:r>
              <a:rPr lang="de-DE" dirty="0"/>
              <a:t>Interionischen Abstände verringern sich </a:t>
            </a:r>
            <a:r>
              <a:rPr lang="de-DE" dirty="0">
                <a:sym typeface="Wingdings" panose="05000000000000000000" pitchFamily="2" charset="2"/>
              </a:rPr>
              <a:t> höhere Wechselwirkung zwischen Eu</a:t>
            </a:r>
            <a:r>
              <a:rPr lang="de-DE" baseline="30000" dirty="0">
                <a:sym typeface="Wingdings" panose="05000000000000000000" pitchFamily="2" charset="2"/>
              </a:rPr>
              <a:t>2+</a:t>
            </a:r>
            <a:r>
              <a:rPr lang="de-DE" dirty="0">
                <a:sym typeface="Wingdings" panose="05000000000000000000" pitchFamily="2" charset="2"/>
              </a:rPr>
              <a:t>-Ionen und Liganden</a:t>
            </a:r>
            <a:endParaRPr lang="de-DE" dirty="0"/>
          </a:p>
          <a:p>
            <a:pPr lvl="1"/>
            <a:r>
              <a:rPr lang="de-DE" dirty="0"/>
              <a:t>Steigung der Kristallfeldstärke und </a:t>
            </a:r>
            <a:r>
              <a:rPr lang="de-DE" dirty="0" err="1"/>
              <a:t>Nephelauxetischer</a:t>
            </a:r>
            <a:r>
              <a:rPr lang="de-DE" dirty="0"/>
              <a:t> Effekt (stärkere Überlappung der Ligand Orbitale und Ionen)</a:t>
            </a:r>
          </a:p>
          <a:p>
            <a:pPr lvl="1"/>
            <a:r>
              <a:rPr lang="de-DE" dirty="0" err="1"/>
              <a:t>Nephelauxetischer</a:t>
            </a:r>
            <a:r>
              <a:rPr lang="de-DE" dirty="0"/>
              <a:t> Effekt </a:t>
            </a:r>
            <a:r>
              <a:rPr lang="de-DE" dirty="0">
                <a:sym typeface="Wingdings" panose="05000000000000000000" pitchFamily="2" charset="2"/>
              </a:rPr>
              <a:t> Verringerung der Energietrennung zwischen Grundzustand und angeregten Zustand 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Verstärkung des kovalenten Charakters der Bindung</a:t>
            </a:r>
          </a:p>
          <a:p>
            <a:r>
              <a:rPr lang="de-DE" dirty="0">
                <a:sym typeface="Wingdings" panose="05000000000000000000" pitchFamily="2" charset="2"/>
              </a:rPr>
              <a:t>Reversibel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4A5182-0C88-3FA7-A21B-DD20EB210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143" y="1051883"/>
            <a:ext cx="2366982" cy="36550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F55326C-9B34-802C-AAD7-27DF4278681F}"/>
              </a:ext>
            </a:extLst>
          </p:cNvPr>
          <p:cNvSpPr/>
          <p:nvPr/>
        </p:nvSpPr>
        <p:spPr>
          <a:xfrm>
            <a:off x="8573076" y="1278781"/>
            <a:ext cx="216024" cy="2819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30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Strukturveränderung unter erhöhtem Druck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10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8096250" cy="3492500"/>
          </a:xfrm>
        </p:spPr>
        <p:txBody>
          <a:bodyPr/>
          <a:lstStyle/>
          <a:p>
            <a:r>
              <a:rPr lang="de-DE" dirty="0"/>
              <a:t>Ab 8 </a:t>
            </a:r>
            <a:r>
              <a:rPr lang="de-DE" dirty="0" err="1"/>
              <a:t>GPa</a:t>
            </a:r>
            <a:r>
              <a:rPr lang="de-DE" dirty="0"/>
              <a:t> anderes Emissionsverhalten</a:t>
            </a:r>
          </a:p>
          <a:p>
            <a:pPr lvl="1"/>
            <a:r>
              <a:rPr lang="de-DE" dirty="0"/>
              <a:t>Asymmetrisch</a:t>
            </a:r>
          </a:p>
          <a:p>
            <a:pPr lvl="1"/>
            <a:r>
              <a:rPr lang="de-DE" dirty="0"/>
              <a:t>Blauverschiebung (</a:t>
            </a:r>
            <a:r>
              <a:rPr lang="de-DE" dirty="0" err="1"/>
              <a:t>hypsochrom</a:t>
            </a:r>
            <a:r>
              <a:rPr lang="de-DE" dirty="0"/>
              <a:t>) ab 12,8 </a:t>
            </a:r>
            <a:r>
              <a:rPr lang="de-DE" dirty="0" err="1"/>
              <a:t>GPa</a:t>
            </a:r>
            <a:endParaRPr lang="de-DE" dirty="0"/>
          </a:p>
          <a:p>
            <a:r>
              <a:rPr lang="de-DE" i="1" dirty="0"/>
              <a:t>ab initio </a:t>
            </a:r>
            <a:r>
              <a:rPr lang="de-DE" dirty="0"/>
              <a:t>Berechnung</a:t>
            </a:r>
          </a:p>
          <a:p>
            <a:pPr lvl="1"/>
            <a:r>
              <a:rPr lang="de-DE" dirty="0"/>
              <a:t>Isotrope Kompression</a:t>
            </a:r>
          </a:p>
          <a:p>
            <a:pPr lvl="1"/>
            <a:r>
              <a:rPr lang="de-DE" dirty="0"/>
              <a:t>Kontinuierlich bis 12,3 </a:t>
            </a:r>
            <a:r>
              <a:rPr lang="de-DE" dirty="0" err="1"/>
              <a:t>GPa</a:t>
            </a:r>
            <a:endParaRPr lang="de-DE" dirty="0"/>
          </a:p>
          <a:p>
            <a:pPr lvl="1"/>
            <a:r>
              <a:rPr lang="de-DE" dirty="0"/>
              <a:t>Sr-Oktaeder -14,5 %</a:t>
            </a:r>
          </a:p>
          <a:p>
            <a:pPr lvl="1"/>
            <a:r>
              <a:rPr lang="de-DE" dirty="0"/>
              <a:t>SiO</a:t>
            </a:r>
            <a:r>
              <a:rPr lang="de-DE" baseline="-25000" dirty="0"/>
              <a:t>4</a:t>
            </a:r>
            <a:r>
              <a:rPr lang="de-DE" dirty="0"/>
              <a:t>-Tetraeder -5,9%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C389D2-F7D2-8759-75EA-13C26BB19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1148756"/>
            <a:ext cx="2968005" cy="34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83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Strukturveränderung unter erhöhtem Druck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11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8096250" cy="3492500"/>
          </a:xfrm>
        </p:spPr>
        <p:txBody>
          <a:bodyPr/>
          <a:lstStyle/>
          <a:p>
            <a:r>
              <a:rPr lang="de-DE" dirty="0"/>
              <a:t>Schermodul G</a:t>
            </a:r>
          </a:p>
          <a:p>
            <a:pPr lvl="1"/>
            <a:r>
              <a:rPr lang="de-DE" dirty="0"/>
              <a:t>Sinkt bis 7,6 </a:t>
            </a:r>
            <a:r>
              <a:rPr lang="de-DE" dirty="0" err="1"/>
              <a:t>GPa</a:t>
            </a:r>
            <a:endParaRPr lang="de-DE" dirty="0"/>
          </a:p>
          <a:p>
            <a:pPr lvl="1"/>
            <a:r>
              <a:rPr lang="de-DE" dirty="0"/>
              <a:t>Danach: Rascher Anstieg</a:t>
            </a:r>
          </a:p>
          <a:p>
            <a:pPr lvl="1"/>
            <a:r>
              <a:rPr lang="de-DE" dirty="0"/>
              <a:t>Weist auf mechanische Instabilität hin</a:t>
            </a:r>
          </a:p>
          <a:p>
            <a:pPr lvl="1"/>
            <a:r>
              <a:rPr lang="de-DE" dirty="0"/>
              <a:t>Stimmt mit Beobachtung der </a:t>
            </a:r>
            <a:br>
              <a:rPr lang="de-DE" dirty="0"/>
            </a:br>
            <a:r>
              <a:rPr lang="de-DE" dirty="0" err="1"/>
              <a:t>Lumineszenzmessungen</a:t>
            </a:r>
            <a:r>
              <a:rPr lang="de-DE" dirty="0"/>
              <a:t> überein</a:t>
            </a:r>
          </a:p>
          <a:p>
            <a:r>
              <a:rPr lang="de-DE" dirty="0"/>
              <a:t>Ab 9,1 </a:t>
            </a:r>
            <a:r>
              <a:rPr lang="de-DE" dirty="0" err="1"/>
              <a:t>GPa</a:t>
            </a:r>
            <a:r>
              <a:rPr lang="de-DE" dirty="0"/>
              <a:t> Zersetzung zu</a:t>
            </a:r>
            <a:br>
              <a:rPr lang="de-DE" dirty="0"/>
            </a:br>
            <a:r>
              <a:rPr lang="de-DE" dirty="0"/>
              <a:t>SrSiO</a:t>
            </a:r>
            <a:r>
              <a:rPr lang="de-DE" baseline="-25000" dirty="0"/>
              <a:t>3</a:t>
            </a:r>
            <a:r>
              <a:rPr lang="de-DE" dirty="0"/>
              <a:t> und SrCl</a:t>
            </a:r>
            <a:r>
              <a:rPr lang="de-DE" baseline="-25000" dirty="0"/>
              <a:t>2</a:t>
            </a:r>
          </a:p>
          <a:p>
            <a:endParaRPr lang="de-DE" baseline="-25000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1824DB-6412-2FD5-3146-755F45E45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882" y="1206773"/>
            <a:ext cx="2252243" cy="34197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CD1BC1-7060-A994-FC89-647A136B04F5}"/>
              </a:ext>
            </a:extLst>
          </p:cNvPr>
          <p:cNvSpPr/>
          <p:nvPr/>
        </p:nvSpPr>
        <p:spPr>
          <a:xfrm>
            <a:off x="8532440" y="1124176"/>
            <a:ext cx="216024" cy="2917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632A79-83F5-55B8-16BE-4F21F120E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267" y="2793606"/>
            <a:ext cx="2252243" cy="183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47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Strukturveränderung unter erhöhtem Druck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12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996E040E-820E-227C-C1EE-C132F6ACA58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23875" y="1133155"/>
                <a:ext cx="8096250" cy="34925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Röntgenpulverdiffraktogramme</a:t>
                </a:r>
              </a:p>
              <a:p>
                <a:r>
                  <a:rPr lang="de-DE" dirty="0"/>
                  <a:t>Druck </a:t>
                </a:r>
                <a:r>
                  <a:rPr lang="de-DE" dirty="0">
                    <a:latin typeface="Calibri" panose="020F0502020204030204" pitchFamily="34" charset="0"/>
                    <a:cs typeface="Calibri" panose="020F0502020204030204" pitchFamily="34" charset="0"/>
                  </a:rPr>
                  <a:t>↑</a:t>
                </a:r>
                <a:r>
                  <a:rPr lang="de-DE" dirty="0"/>
                  <a:t> </a:t>
                </a:r>
              </a:p>
              <a:p>
                <a:pPr lvl="1"/>
                <a:r>
                  <a:rPr lang="de-DE" dirty="0" err="1"/>
                  <a:t>a,c</a:t>
                </a:r>
                <a:r>
                  <a:rPr lang="de-DE" dirty="0"/>
                  <a:t> </a:t>
                </a:r>
                <a:r>
                  <a:rPr lang="de-DE" dirty="0">
                    <a:latin typeface="Calibri" panose="020F0502020204030204" pitchFamily="34" charset="0"/>
                    <a:cs typeface="Calibri" panose="020F0502020204030204" pitchFamily="34" charset="0"/>
                  </a:rPr>
                  <a:t>↓</a:t>
                </a:r>
                <a:endParaRPr lang="de-DE" dirty="0"/>
              </a:p>
              <a:p>
                <a:pPr lvl="1"/>
                <a:r>
                  <a:rPr lang="de-DE" dirty="0"/>
                  <a:t>V </a:t>
                </a:r>
                <a:r>
                  <a:rPr lang="de-DE" dirty="0">
                    <a:latin typeface="Calibri" panose="020F0502020204030204" pitchFamily="34" charset="0"/>
                    <a:cs typeface="Calibri" panose="020F0502020204030204" pitchFamily="34" charset="0"/>
                  </a:rPr>
                  <a:t>↓</a:t>
                </a:r>
                <a:endParaRPr lang="de-DE" dirty="0"/>
              </a:p>
              <a:p>
                <a:pPr lvl="1"/>
                <a:r>
                  <a:rPr lang="de-DE" dirty="0"/>
                  <a:t>2θ </a:t>
                </a:r>
                <a:r>
                  <a:rPr lang="de-DE" dirty="0">
                    <a:latin typeface="Calibri" panose="020F0502020204030204" pitchFamily="34" charset="0"/>
                    <a:cs typeface="Calibri" panose="020F0502020204030204" pitchFamily="34" charset="0"/>
                  </a:rPr>
                  <a:t>↑</a:t>
                </a:r>
              </a:p>
              <a:p>
                <a:pPr marL="266700" lvl="1" indent="0">
                  <a:buNone/>
                </a:pPr>
                <a:endParaRPr lang="de-DE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Erinnerung:</a:t>
                </a:r>
              </a:p>
              <a:p>
                <a:pPr marL="0" indent="0">
                  <a:buNone/>
                </a:pPr>
                <a:r>
                  <a:rPr lang="de-DE" dirty="0"/>
                  <a:t>   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sin</m:t>
                      </m:r>
                      <a:fld id="{825F15A7-03F4-43D7-82C5-3E23DA2F108C}" type="mathplaceholder">
                        <a:rPr lang="de-DE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de-DE" dirty="0"/>
              </a:p>
              <a:p>
                <a:r>
                  <a:rPr lang="de-DE" dirty="0"/>
                  <a:t>Verbreiterung</a:t>
                </a:r>
              </a:p>
              <a:p>
                <a:pPr lvl="1"/>
                <a:r>
                  <a:rPr lang="de-DE" dirty="0"/>
                  <a:t>Mechanische Spannung</a:t>
                </a:r>
              </a:p>
              <a:p>
                <a:pPr lvl="1"/>
                <a:r>
                  <a:rPr lang="de-DE" dirty="0"/>
                  <a:t>Kristalldefekte möglich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5" name="Textplatzhalter 4">
                <a:extLst>
                  <a:ext uri="{FF2B5EF4-FFF2-40B4-BE49-F238E27FC236}">
                    <a16:creationId xmlns:a16="http://schemas.microsoft.com/office/drawing/2014/main" id="{996E040E-820E-227C-C1EE-C132F6ACA5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23875" y="1133155"/>
                <a:ext cx="8096250" cy="3492500"/>
              </a:xfrm>
              <a:blipFill>
                <a:blip r:embed="rId2"/>
                <a:stretch>
                  <a:fillRect l="-1581" t="-5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ECD1BC1-7060-A994-FC89-647A136B04F5}"/>
              </a:ext>
            </a:extLst>
          </p:cNvPr>
          <p:cNvSpPr/>
          <p:nvPr/>
        </p:nvSpPr>
        <p:spPr>
          <a:xfrm>
            <a:off x="8532440" y="1124176"/>
            <a:ext cx="216024" cy="2917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CC6E37-F642-4B88-E173-B47683ACB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635205"/>
            <a:ext cx="5272260" cy="299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9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Strukturveränderung unter erhöhtem Druck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13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8096250" cy="349250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alpha val="30000"/>
                  </a:schemeClr>
                </a:solidFill>
              </a:rPr>
              <a:t>Verbreiterung</a:t>
            </a:r>
          </a:p>
          <a:p>
            <a:pPr lvl="1"/>
            <a:r>
              <a:rPr lang="de-DE" dirty="0">
                <a:solidFill>
                  <a:schemeClr val="tx1">
                    <a:alpha val="30000"/>
                  </a:schemeClr>
                </a:solidFill>
              </a:rPr>
              <a:t>Mechanische Spannung</a:t>
            </a:r>
          </a:p>
          <a:p>
            <a:pPr lvl="1"/>
            <a:r>
              <a:rPr lang="de-DE" dirty="0">
                <a:solidFill>
                  <a:schemeClr val="tx1">
                    <a:alpha val="30000"/>
                  </a:schemeClr>
                </a:solidFill>
              </a:rPr>
              <a:t>Kristalldefekte möglich</a:t>
            </a:r>
          </a:p>
          <a:p>
            <a:r>
              <a:rPr lang="de-DE" dirty="0"/>
              <a:t>Zersetzung</a:t>
            </a:r>
          </a:p>
          <a:p>
            <a:pPr lvl="1"/>
            <a:r>
              <a:rPr lang="de-DE" dirty="0"/>
              <a:t>Verbreiterung</a:t>
            </a:r>
          </a:p>
          <a:p>
            <a:pPr lvl="1"/>
            <a:r>
              <a:rPr lang="de-DE" dirty="0"/>
              <a:t>Signal-Rausch-Verh. 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de-DE" dirty="0"/>
          </a:p>
          <a:p>
            <a:pPr lvl="1"/>
            <a:r>
              <a:rPr lang="de-DE" dirty="0"/>
              <a:t>Verschwinden von Reflexen </a:t>
            </a:r>
            <a:br>
              <a:rPr lang="de-DE" dirty="0"/>
            </a:br>
            <a:r>
              <a:rPr lang="de-DE" dirty="0"/>
              <a:t>niedriger Intensität</a:t>
            </a:r>
          </a:p>
          <a:p>
            <a:r>
              <a:rPr lang="de-DE" dirty="0"/>
              <a:t>Veränderungen sind</a:t>
            </a:r>
            <a:br>
              <a:rPr lang="de-DE" dirty="0"/>
            </a:br>
            <a:r>
              <a:rPr lang="de-DE" dirty="0"/>
              <a:t>kontinuierlich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CD1BC1-7060-A994-FC89-647A136B04F5}"/>
              </a:ext>
            </a:extLst>
          </p:cNvPr>
          <p:cNvSpPr/>
          <p:nvPr/>
        </p:nvSpPr>
        <p:spPr>
          <a:xfrm>
            <a:off x="8532440" y="1124176"/>
            <a:ext cx="216024" cy="2917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C99705-3917-6650-06B3-CB358581F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1635205"/>
            <a:ext cx="5272260" cy="299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92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 zu anderen Materialien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14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8096250" cy="3492500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59AF45-5A11-121F-9C5F-E08A3EB6D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133155"/>
            <a:ext cx="6466804" cy="350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46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Probleme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15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8096250" cy="3492500"/>
          </a:xfrm>
        </p:spPr>
        <p:txBody>
          <a:bodyPr/>
          <a:lstStyle/>
          <a:p>
            <a:r>
              <a:rPr lang="de-DE" dirty="0"/>
              <a:t>Breitbandlumineszenz </a:t>
            </a:r>
          </a:p>
          <a:p>
            <a:pPr lvl="1"/>
            <a:r>
              <a:rPr lang="de-DE" dirty="0"/>
              <a:t>Schmalbandemitter ggf. sensitiver</a:t>
            </a:r>
          </a:p>
          <a:p>
            <a:r>
              <a:rPr lang="de-DE" dirty="0"/>
              <a:t>Einsatzbereich bis 7 </a:t>
            </a:r>
            <a:r>
              <a:rPr lang="de-DE" dirty="0" err="1"/>
              <a:t>GPa</a:t>
            </a:r>
            <a:endParaRPr lang="de-DE" dirty="0"/>
          </a:p>
          <a:p>
            <a:r>
              <a:rPr lang="de-DE" dirty="0"/>
              <a:t>Einsatz von RE</a:t>
            </a:r>
          </a:p>
          <a:p>
            <a:pPr lvl="1"/>
            <a:r>
              <a:rPr lang="de-DE" dirty="0"/>
              <a:t>d-Block Elemente als Alternative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8268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16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8096250" cy="3492500"/>
          </a:xfrm>
        </p:spPr>
        <p:txBody>
          <a:bodyPr/>
          <a:lstStyle/>
          <a:p>
            <a:r>
              <a:rPr lang="de-DE" dirty="0"/>
              <a:t>Hoch effiziente Sr</a:t>
            </a:r>
            <a:r>
              <a:rPr lang="de-DE" baseline="-25000" dirty="0"/>
              <a:t>8</a:t>
            </a:r>
            <a:r>
              <a:rPr lang="de-DE" dirty="0"/>
              <a:t>Si</a:t>
            </a:r>
            <a:r>
              <a:rPr lang="de-DE" baseline="-25000" dirty="0"/>
              <a:t>4</a:t>
            </a:r>
            <a:r>
              <a:rPr lang="de-DE" dirty="0"/>
              <a:t>O</a:t>
            </a:r>
            <a:r>
              <a:rPr lang="de-DE" baseline="-25000" dirty="0"/>
              <a:t>12</a:t>
            </a:r>
            <a:r>
              <a:rPr lang="de-DE" dirty="0"/>
              <a:t>Cl</a:t>
            </a:r>
            <a:r>
              <a:rPr lang="de-DE" baseline="-25000" dirty="0"/>
              <a:t>8</a:t>
            </a:r>
            <a:r>
              <a:rPr lang="de-DE" dirty="0"/>
              <a:t>:8xEu</a:t>
            </a:r>
            <a:r>
              <a:rPr lang="de-DE" baseline="30000" dirty="0"/>
              <a:t>2+</a:t>
            </a:r>
            <a:r>
              <a:rPr lang="de-DE" dirty="0"/>
              <a:t> Mikrosphären wurden synthetisiert</a:t>
            </a:r>
          </a:p>
          <a:p>
            <a:r>
              <a:rPr lang="de-DE" dirty="0"/>
              <a:t>Anwendbarkeit in Manometrie </a:t>
            </a:r>
          </a:p>
          <a:p>
            <a:r>
              <a:rPr lang="de-DE" dirty="0"/>
              <a:t>Bei 350 </a:t>
            </a:r>
            <a:r>
              <a:rPr lang="de-DE" dirty="0" err="1"/>
              <a:t>nm</a:t>
            </a:r>
            <a:r>
              <a:rPr lang="de-DE" dirty="0"/>
              <a:t> Angeregt </a:t>
            </a:r>
            <a:r>
              <a:rPr lang="de-DE" dirty="0">
                <a:sym typeface="Wingdings" panose="05000000000000000000" pitchFamily="2" charset="2"/>
              </a:rPr>
              <a:t> Cyan Emission</a:t>
            </a:r>
          </a:p>
          <a:p>
            <a:r>
              <a:rPr lang="de-DE" dirty="0">
                <a:sym typeface="Wingdings" panose="05000000000000000000" pitchFamily="2" charset="2"/>
              </a:rPr>
              <a:t>Optimales Doping bei 4 </a:t>
            </a:r>
            <a:r>
              <a:rPr lang="de-DE" dirty="0" err="1">
                <a:sym typeface="Wingdings" panose="05000000000000000000" pitchFamily="2" charset="2"/>
              </a:rPr>
              <a:t>mol</a:t>
            </a:r>
            <a:r>
              <a:rPr lang="de-DE" dirty="0">
                <a:sym typeface="Wingdings" panose="05000000000000000000" pitchFamily="2" charset="2"/>
              </a:rPr>
              <a:t>%</a:t>
            </a:r>
          </a:p>
          <a:p>
            <a:r>
              <a:rPr lang="de-DE" dirty="0">
                <a:sym typeface="Wingdings" panose="05000000000000000000" pitchFamily="2" charset="2"/>
              </a:rPr>
              <a:t>Hoher Druck (7,35 </a:t>
            </a:r>
            <a:r>
              <a:rPr lang="de-DE" dirty="0" err="1">
                <a:sym typeface="Wingdings" panose="05000000000000000000" pitchFamily="2" charset="2"/>
              </a:rPr>
              <a:t>GPa</a:t>
            </a:r>
            <a:r>
              <a:rPr lang="de-DE" dirty="0">
                <a:sym typeface="Wingdings" panose="05000000000000000000" pitchFamily="2" charset="2"/>
              </a:rPr>
              <a:t>) deutliche Rotverschiebung</a:t>
            </a:r>
          </a:p>
          <a:p>
            <a:r>
              <a:rPr lang="de-DE" dirty="0">
                <a:sym typeface="Wingdings" panose="05000000000000000000" pitchFamily="2" charset="2"/>
              </a:rPr>
              <a:t>Farbveränderbare Emission (Cyan  Grün  Gelb)</a:t>
            </a:r>
          </a:p>
          <a:p>
            <a:r>
              <a:rPr lang="de-DE" dirty="0">
                <a:sym typeface="Wingdings" panose="05000000000000000000" pitchFamily="2" charset="2"/>
              </a:rPr>
              <a:t>Höchste Drucksensibilität (</a:t>
            </a:r>
            <a:r>
              <a:rPr lang="de-DE" dirty="0"/>
              <a:t>d</a:t>
            </a:r>
            <a:r>
              <a:rPr lang="el-GR" dirty="0"/>
              <a:t>λ</a:t>
            </a:r>
            <a:r>
              <a:rPr lang="de-DE" dirty="0"/>
              <a:t>/</a:t>
            </a:r>
            <a:r>
              <a:rPr lang="de-DE" dirty="0" err="1"/>
              <a:t>dP</a:t>
            </a:r>
            <a:r>
              <a:rPr lang="de-DE" dirty="0"/>
              <a:t> = 9,69 nm/</a:t>
            </a:r>
            <a:r>
              <a:rPr lang="de-DE" dirty="0" err="1"/>
              <a:t>GPa</a:t>
            </a:r>
            <a:r>
              <a:rPr lang="de-DE" dirty="0">
                <a:sym typeface="Wingdings" panose="05000000000000000000" pitchFamily="2" charset="2"/>
              </a:rPr>
              <a:t>)</a:t>
            </a:r>
          </a:p>
          <a:p>
            <a:r>
              <a:rPr lang="de-DE" dirty="0">
                <a:sym typeface="Wingdings" panose="05000000000000000000" pitchFamily="2" charset="2"/>
              </a:rPr>
              <a:t>Anwendung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Genaue optische Druckmessung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Erkennung/Vorhersage von Katastrophen in Bauanlagen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Tiefseeerforschung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Hochdruckforschung unter extremen Bedingungen im Inneren von Planeten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5335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35157E2-6959-4F0C-882A-90D00C20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714" y="2286893"/>
            <a:ext cx="4779587" cy="919235"/>
          </a:xfrm>
        </p:spPr>
        <p:txBody>
          <a:bodyPr/>
          <a:lstStyle/>
          <a:p>
            <a:r>
              <a:rPr lang="de-DE" dirty="0"/>
              <a:t>Vielen Dank für die Aufmerksamkeit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C79543D-FBC3-4538-B1A9-DCB3D8F5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A0E295-A48E-4D32-8C1D-C5879FB3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706FA56C-2778-F540-8911-3C638748CF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42EE89D-0607-3F48-B7F4-A3A11B9C4C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D4793E2B-260C-C84D-BFF8-43ABA22998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6" name="Bildplatzhalter 25">
            <a:extLst>
              <a:ext uri="{FF2B5EF4-FFF2-40B4-BE49-F238E27FC236}">
                <a16:creationId xmlns:a16="http://schemas.microsoft.com/office/drawing/2014/main" id="{1261AC8F-DBA3-EB45-BB79-78FCDF34F3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C8D26E2A-21DB-2348-A58F-7059A68AD77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96653833"/>
      </p:ext>
    </p:extLst>
  </p:cSld>
  <p:clrMapOvr>
    <a:masterClrMapping/>
  </p:clrMapOvr>
</p:sld>
</file>

<file path=ppt/theme/theme1.xml><?xml version="1.0" encoding="utf-8"?>
<a:theme xmlns:a="http://schemas.openxmlformats.org/drawingml/2006/main" name="HHU_PPT_Vorlage">
  <a:themeElements>
    <a:clrScheme name="HHU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Master_HHU_191127.potx" id="{F3938B69-4255-4D03-9129-AB257F1BA87B}" vid="{D92A2462-9914-4D52-BB8D-CB7AB473941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707</Words>
  <Application>Microsoft Office PowerPoint</Application>
  <PresentationFormat>Custom</PresentationFormat>
  <Paragraphs>149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Wingdings 2</vt:lpstr>
      <vt:lpstr>HHU_PPT_Vorlage</vt:lpstr>
      <vt:lpstr>Giant Pressure-Induced Spectral Shift in Cyan-Emmitting Eu2+-Activated Sr8Si4O12Cl8 Microspheres for Ultrasensitive Visual Manometry</vt:lpstr>
      <vt:lpstr>Inhalt</vt:lpstr>
      <vt:lpstr>Motivation</vt:lpstr>
      <vt:lpstr>Motivation</vt:lpstr>
      <vt:lpstr>Struktur</vt:lpstr>
      <vt:lpstr>Struktur</vt:lpstr>
      <vt:lpstr>Lumineszenz bei Normaldruck</vt:lpstr>
      <vt:lpstr>Lumineszenz unter erhöhtem Druck</vt:lpstr>
      <vt:lpstr>Lumineszenz unter erhöhtem Druck</vt:lpstr>
      <vt:lpstr>Strukturveränderung unter erhöhtem Druck</vt:lpstr>
      <vt:lpstr>Strukturveränderung unter erhöhtem Druck</vt:lpstr>
      <vt:lpstr>Strukturveränderung unter erhöhtem Druck</vt:lpstr>
      <vt:lpstr>Strukturveränderung unter erhöhtem Druck</vt:lpstr>
      <vt:lpstr>Vergleich zu anderen Materialien</vt:lpstr>
      <vt:lpstr>Mögliche Probleme</vt:lpstr>
      <vt:lpstr>Zusammenfassung</vt:lpstr>
      <vt:lpstr>Vielen Dank für die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 dolor sit amet</dc:title>
  <dc:creator>Microsoft Office User</dc:creator>
  <cp:lastModifiedBy>Marco Gurbisz</cp:lastModifiedBy>
  <cp:revision>32</cp:revision>
  <dcterms:created xsi:type="dcterms:W3CDTF">2020-09-16T09:44:36Z</dcterms:created>
  <dcterms:modified xsi:type="dcterms:W3CDTF">2023-07-12T11:54:05Z</dcterms:modified>
</cp:coreProperties>
</file>