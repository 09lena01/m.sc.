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8"/>
  </p:notesMasterIdLst>
  <p:handoutMasterIdLst>
    <p:handoutMasterId r:id="rId9"/>
  </p:handoutMasterIdLst>
  <p:sldIdLst>
    <p:sldId id="256" r:id="rId2"/>
    <p:sldId id="264" r:id="rId3"/>
    <p:sldId id="266" r:id="rId4"/>
    <p:sldId id="263" r:id="rId5"/>
    <p:sldId id="262" r:id="rId6"/>
    <p:sldId id="265" r:id="rId7"/>
  </p:sldIdLst>
  <p:sldSz cx="9144000" cy="5149850"/>
  <p:notesSz cx="6858000" cy="9144000"/>
  <p:defaultTextStyle>
    <a:defPPr>
      <a:defRPr lang="de-DE"/>
    </a:defPPr>
    <a:lvl1pPr marL="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1pPr>
    <a:lvl2pPr marL="34303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2pPr>
    <a:lvl3pPr marL="686074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3pPr>
    <a:lvl4pPr marL="1029111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4pPr>
    <a:lvl5pPr marL="1372149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5pPr>
    <a:lvl6pPr marL="1715186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135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B3"/>
    <a:srgbClr val="DAE5EB"/>
    <a:srgbClr val="CCDDE7"/>
    <a:srgbClr val="DAE5EA"/>
    <a:srgbClr val="B6C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1" autoAdjust="0"/>
    <p:restoredTop sz="97725" autoAdjust="0"/>
  </p:normalViewPr>
  <p:slideViewPr>
    <p:cSldViewPr showGuides="1">
      <p:cViewPr varScale="1">
        <p:scale>
          <a:sx n="117" d="100"/>
          <a:sy n="117" d="100"/>
        </p:scale>
        <p:origin x="507" y="42"/>
      </p:cViewPr>
      <p:guideLst/>
    </p:cSldViewPr>
  </p:slideViewPr>
  <p:outlineViewPr>
    <p:cViewPr>
      <p:scale>
        <a:sx n="33" d="100"/>
        <a:sy n="33" d="100"/>
      </p:scale>
      <p:origin x="0" y="-93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58" d="100"/>
          <a:sy n="158" d="100"/>
        </p:scale>
        <p:origin x="5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otte Mebes" userId="87add3871aee31bc" providerId="LiveId" clId="{C19962F4-6344-41C7-8C90-C4EE86A62284}"/>
    <pc:docChg chg="undo custSel addSld modSld">
      <pc:chgData name="Charlotte Mebes" userId="87add3871aee31bc" providerId="LiveId" clId="{C19962F4-6344-41C7-8C90-C4EE86A62284}" dt="2026-07-12T11:31:13.523" v="883" actId="20577"/>
      <pc:docMkLst>
        <pc:docMk/>
      </pc:docMkLst>
      <pc:sldChg chg="addSp delSp modSp new mod modClrScheme chgLayout">
        <pc:chgData name="Charlotte Mebes" userId="87add3871aee31bc" providerId="LiveId" clId="{C19962F4-6344-41C7-8C90-C4EE86A62284}" dt="2026-07-12T11:31:13.523" v="883" actId="20577"/>
        <pc:sldMkLst>
          <pc:docMk/>
          <pc:sldMk cId="1344951757" sldId="266"/>
        </pc:sldMkLst>
        <pc:spChg chg="mod">
          <ac:chgData name="Charlotte Mebes" userId="87add3871aee31bc" providerId="LiveId" clId="{C19962F4-6344-41C7-8C90-C4EE86A62284}" dt="2026-07-12T11:27:28.767" v="762" actId="26606"/>
          <ac:spMkLst>
            <pc:docMk/>
            <pc:sldMk cId="1344951757" sldId="266"/>
            <ac:spMk id="2" creationId="{5DA7A829-8B7F-783B-9A0A-FB14D17F2F6E}"/>
          </ac:spMkLst>
        </pc:spChg>
        <pc:spChg chg="add del">
          <ac:chgData name="Charlotte Mebes" userId="87add3871aee31bc" providerId="LiveId" clId="{C19962F4-6344-41C7-8C90-C4EE86A62284}" dt="2026-07-12T11:27:28.767" v="762" actId="26606"/>
          <ac:spMkLst>
            <pc:docMk/>
            <pc:sldMk cId="1344951757" sldId="266"/>
            <ac:spMk id="3" creationId="{D53A4DB5-2BAA-1F7D-10F3-83A82B4E55AB}"/>
          </ac:spMkLst>
        </pc:spChg>
        <pc:spChg chg="mod">
          <ac:chgData name="Charlotte Mebes" userId="87add3871aee31bc" providerId="LiveId" clId="{C19962F4-6344-41C7-8C90-C4EE86A62284}" dt="2026-07-12T11:27:28.767" v="762" actId="26606"/>
          <ac:spMkLst>
            <pc:docMk/>
            <pc:sldMk cId="1344951757" sldId="266"/>
            <ac:spMk id="4" creationId="{244BA97B-0B08-FB06-F4E9-FCF97FEC5BA4}"/>
          </ac:spMkLst>
        </pc:spChg>
        <pc:spChg chg="mod ord">
          <ac:chgData name="Charlotte Mebes" userId="87add3871aee31bc" providerId="LiveId" clId="{C19962F4-6344-41C7-8C90-C4EE86A62284}" dt="2026-07-12T11:31:13.523" v="883" actId="20577"/>
          <ac:spMkLst>
            <pc:docMk/>
            <pc:sldMk cId="1344951757" sldId="266"/>
            <ac:spMk id="5" creationId="{8570588C-021B-B215-E2C9-712034654C81}"/>
          </ac:spMkLst>
        </pc:spChg>
        <pc:spChg chg="add del mod">
          <ac:chgData name="Charlotte Mebes" userId="87add3871aee31bc" providerId="LiveId" clId="{C19962F4-6344-41C7-8C90-C4EE86A62284}" dt="2026-07-12T11:27:28.761" v="761" actId="26606"/>
          <ac:spMkLst>
            <pc:docMk/>
            <pc:sldMk cId="1344951757" sldId="266"/>
            <ac:spMk id="9" creationId="{DA50B4B6-2CBD-BB3C-9E77-3ABE43908427}"/>
          </ac:spMkLst>
        </pc:spChg>
        <pc:spChg chg="add del mod">
          <ac:chgData name="Charlotte Mebes" userId="87add3871aee31bc" providerId="LiveId" clId="{C19962F4-6344-41C7-8C90-C4EE86A62284}" dt="2026-07-12T11:27:28.761" v="761" actId="26606"/>
          <ac:spMkLst>
            <pc:docMk/>
            <pc:sldMk cId="1344951757" sldId="266"/>
            <ac:spMk id="10" creationId="{0FE56A0D-0948-F467-CD2C-09CCC0E4AFA0}"/>
          </ac:spMkLst>
        </pc:spChg>
        <pc:spChg chg="add del mod">
          <ac:chgData name="Charlotte Mebes" userId="87add3871aee31bc" providerId="LiveId" clId="{C19962F4-6344-41C7-8C90-C4EE86A62284}" dt="2026-07-12T11:26:56.532" v="755" actId="26606"/>
          <ac:spMkLst>
            <pc:docMk/>
            <pc:sldMk cId="1344951757" sldId="266"/>
            <ac:spMk id="12" creationId="{19CB7F9D-3935-DFC0-1490-51639D1C8630}"/>
          </ac:spMkLst>
        </pc:spChg>
        <pc:spChg chg="add mod">
          <ac:chgData name="Charlotte Mebes" userId="87add3871aee31bc" providerId="LiveId" clId="{C19962F4-6344-41C7-8C90-C4EE86A62284}" dt="2026-07-12T11:27:28.767" v="762" actId="26606"/>
          <ac:spMkLst>
            <pc:docMk/>
            <pc:sldMk cId="1344951757" sldId="266"/>
            <ac:spMk id="13" creationId="{B28E6508-B831-2267-92D7-F8DC9BE5CBF6}"/>
          </ac:spMkLst>
        </pc:spChg>
        <pc:spChg chg="add del mod">
          <ac:chgData name="Charlotte Mebes" userId="87add3871aee31bc" providerId="LiveId" clId="{C19962F4-6344-41C7-8C90-C4EE86A62284}" dt="2026-07-12T11:26:56.532" v="755" actId="26606"/>
          <ac:spMkLst>
            <pc:docMk/>
            <pc:sldMk cId="1344951757" sldId="266"/>
            <ac:spMk id="14" creationId="{2599C8CD-56B6-5E09-71DA-8BBB7D5AD72F}"/>
          </ac:spMkLst>
        </pc:spChg>
        <pc:spChg chg="add mod">
          <ac:chgData name="Charlotte Mebes" userId="87add3871aee31bc" providerId="LiveId" clId="{C19962F4-6344-41C7-8C90-C4EE86A62284}" dt="2026-07-12T11:27:28.767" v="762" actId="26606"/>
          <ac:spMkLst>
            <pc:docMk/>
            <pc:sldMk cId="1344951757" sldId="266"/>
            <ac:spMk id="15" creationId="{2951D0A9-BFF9-2389-8BC6-A2D242A7B664}"/>
          </ac:spMkLst>
        </pc:spChg>
        <pc:spChg chg="add del mod">
          <ac:chgData name="Charlotte Mebes" userId="87add3871aee31bc" providerId="LiveId" clId="{C19962F4-6344-41C7-8C90-C4EE86A62284}" dt="2026-07-12T11:27:06.343" v="759" actId="26606"/>
          <ac:spMkLst>
            <pc:docMk/>
            <pc:sldMk cId="1344951757" sldId="266"/>
            <ac:spMk id="16" creationId="{D9EDC502-021B-0A6C-2A06-72DC76A64FC1}"/>
          </ac:spMkLst>
        </pc:spChg>
        <pc:spChg chg="add del mod">
          <ac:chgData name="Charlotte Mebes" userId="87add3871aee31bc" providerId="LiveId" clId="{C19962F4-6344-41C7-8C90-C4EE86A62284}" dt="2026-07-12T11:27:06.343" v="759" actId="26606"/>
          <ac:spMkLst>
            <pc:docMk/>
            <pc:sldMk cId="1344951757" sldId="266"/>
            <ac:spMk id="17" creationId="{B72DFF20-6EED-9DDA-747B-A3E586B2CA9C}"/>
          </ac:spMkLst>
        </pc:spChg>
        <pc:picChg chg="add mod">
          <ac:chgData name="Charlotte Mebes" userId="87add3871aee31bc" providerId="LiveId" clId="{C19962F4-6344-41C7-8C90-C4EE86A62284}" dt="2026-07-12T11:27:32.264" v="763" actId="1076"/>
          <ac:picMkLst>
            <pc:docMk/>
            <pc:sldMk cId="1344951757" sldId="266"/>
            <ac:picMk id="7" creationId="{9CDC58E6-3B87-248E-004F-B1F239EA459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BDED6AC-55F7-E147-AFC4-A3BDBFCC75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9D59C4-29AC-D341-B4D1-22B9DA375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4785B-15A5-6941-B203-15A17340AF8C}" type="datetimeFigureOut">
              <a:rPr lang="de-DE" smtClean="0"/>
              <a:t>12.07.2026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448B2D-EB51-AA41-A1D5-5D87A817BB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0A25665-AD21-FE4A-BE5F-E9A755F5D9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3842B-17F5-B44E-AEFD-F68DA92D85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22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E4EA47C3-D6D1-45C7-B7EF-A1183D105D1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olienbildplatzhalter 7">
            <a:extLst>
              <a:ext uri="{FF2B5EF4-FFF2-40B4-BE49-F238E27FC236}">
                <a16:creationId xmlns:a16="http://schemas.microsoft.com/office/drawing/2014/main" id="{B136A2F5-BC7E-47DC-9ED9-95EE5B00A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2279" y="467544"/>
            <a:ext cx="6490831" cy="3655323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10" name="Notizenplatzhalter 9">
            <a:extLst>
              <a:ext uri="{FF2B5EF4-FFF2-40B4-BE49-F238E27FC236}">
                <a16:creationId xmlns:a16="http://schemas.microsoft.com/office/drawing/2014/main" id="{16E3EB76-4D08-4C50-98FE-43C6F5867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2279" y="4400550"/>
            <a:ext cx="6490831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39692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3037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6074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9111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2149" algn="l" defTabSz="68607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5186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8223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1260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4297" algn="l" defTabSz="68607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31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6830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54279" y="2268082"/>
            <a:ext cx="4401108" cy="107000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4279" y="3494160"/>
            <a:ext cx="4401108" cy="60464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 dirty="0"/>
            </a:p>
          </p:txBody>
        </p:sp>
      </p:grp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19CBCE6-1CEE-2E4B-97C4-E36A3F437EC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0F391E70-C53F-8E44-AE6E-23719415C8B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E5E24761-2865-1D40-A92D-0F05793A1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6E2E5415-7F1B-EA4C-9A01-5E1F75F86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6B60F0-E3D6-3343-A074-965788DB84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15524F6-B2F6-E24E-91FE-A7BE6CEF8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8012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1" y="1422400"/>
            <a:ext cx="3167992" cy="3492500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35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899361"/>
            <a:ext cx="6399768" cy="540727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4546E641-A9D5-9A47-9F76-2734E5A68A2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0679E3DD-A5E0-9442-80E4-78F5371D29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2EF12A4D-9E8B-6D48-B319-03F9AB23CB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C9076294-3FF7-9C4E-9E9C-734FEDF8CD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402837B2-EE3A-BB49-8729-EE20976AD0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4" name="Textplatzhalter 22">
            <a:extLst>
              <a:ext uri="{FF2B5EF4-FFF2-40B4-BE49-F238E27FC236}">
                <a16:creationId xmlns:a16="http://schemas.microsoft.com/office/drawing/2014/main" id="{3F468D62-B29F-1948-8A54-6EE8881E37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307507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6399768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6399768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22" name="Bildplatzhalter 4">
            <a:extLst>
              <a:ext uri="{FF2B5EF4-FFF2-40B4-BE49-F238E27FC236}">
                <a16:creationId xmlns:a16="http://schemas.microsoft.com/office/drawing/2014/main" id="{03E97028-859A-C34B-BA69-FE65392BD5C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A992989-D88F-904A-82A9-2CECB1EC29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1D43BA97-CCC3-C745-9C93-62FFC1864A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49ABE06-6658-974E-AB25-5DDB34A0CD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76F20FCB-C090-BA4C-A643-DDAF7FA315D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BA467741-5272-AC4D-9B23-E74C3927F4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2057400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11673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4936563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331598"/>
            <a:ext cx="4936563" cy="1108490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20941" y="1088383"/>
            <a:ext cx="3523059" cy="3826517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180975" indent="0" algn="l">
              <a:lnSpc>
                <a:spcPct val="90000"/>
              </a:lnSpc>
              <a:buNone/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1600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32C3CFE1-9073-8745-BD09-80495049B6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A46737F8-B03F-0745-A5A9-B5476E203B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5E485192-2EF9-6641-A4FD-7903E499C7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26225" y="4151976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F92B4699-D079-5B46-A5E5-D0CE8B4FF5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30436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5" name="Textplatzhalter 22">
            <a:extLst>
              <a:ext uri="{FF2B5EF4-FFF2-40B4-BE49-F238E27FC236}">
                <a16:creationId xmlns:a16="http://schemas.microsoft.com/office/drawing/2014/main" id="{E88F2ABD-B4F2-BF45-B0C0-261F3A2EC7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541121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 (bearbeiten)</a:t>
            </a:r>
          </a:p>
        </p:txBody>
      </p:sp>
    </p:spTree>
    <p:extLst>
      <p:ext uri="{BB962C8B-B14F-4D97-AF65-F5344CB8AC3E}">
        <p14:creationId xmlns:p14="http://schemas.microsoft.com/office/powerpoint/2010/main" val="46692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2250489"/>
            <a:ext cx="2830329" cy="1189599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 (bearbeiten)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3512495"/>
            <a:ext cx="2830329" cy="60464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545886" y="1088383"/>
            <a:ext cx="5598114" cy="382651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B08885F2-1A5F-B44F-9FA4-22C52965E81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3609EE5A-0FD7-3E40-A359-B82C3079D7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B667A3A2-D04C-4844-BBA2-F27F285A2A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19555" y="4150658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8" name="Textplatzhalter 22">
            <a:extLst>
              <a:ext uri="{FF2B5EF4-FFF2-40B4-BE49-F238E27FC236}">
                <a16:creationId xmlns:a16="http://schemas.microsoft.com/office/drawing/2014/main" id="{F8DF472F-A7C0-6447-A12C-AB015A5D0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4459481"/>
            <a:ext cx="1169392" cy="274183"/>
          </a:xfrm>
        </p:spPr>
        <p:txBody>
          <a:bodyPr/>
          <a:lstStyle>
            <a:lvl1pPr marL="0" indent="0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5045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536" y="3818597"/>
            <a:ext cx="5341606" cy="567763"/>
          </a:xfrm>
        </p:spPr>
        <p:txBody>
          <a:bodyPr lIns="0" tIns="0" rIns="0" bIns="0" anchor="b">
            <a:noAutofit/>
          </a:bodyPr>
          <a:lstStyle>
            <a:lvl1pPr algn="l"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Titelfolie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6536" y="4458767"/>
            <a:ext cx="5341607" cy="27418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(bearbeiten)</a:t>
            </a:r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2799" y="385347"/>
            <a:ext cx="1528921" cy="584196"/>
            <a:chOff x="695325" y="516229"/>
            <a:chExt cx="2556359" cy="975572"/>
          </a:xfrm>
          <a:solidFill>
            <a:schemeClr val="tx2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grpFill/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422399"/>
            <a:ext cx="6678234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40999" y="1422400"/>
            <a:ext cx="2403000" cy="2396196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F7FE4B2A-DC36-0D4C-9F52-0C253A8928E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2439" y="380585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FCFEEB94-02FC-204B-B0CC-7FE7C62C17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822275" y="38534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CC219343-0397-9E4E-BD60-873C1713E34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40153" y="4159763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016D7102-C9CE-0D4A-85BF-0EC312730C6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16352" y="4150337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29" name="Textplatzhalter 22">
            <a:extLst>
              <a:ext uri="{FF2B5EF4-FFF2-40B4-BE49-F238E27FC236}">
                <a16:creationId xmlns:a16="http://schemas.microsoft.com/office/drawing/2014/main" id="{85B9FCEE-8B61-EE4E-8E60-A4B4C50E63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96335" y="4467117"/>
            <a:ext cx="1021127" cy="274183"/>
          </a:xfrm>
        </p:spPr>
        <p:txBody>
          <a:bodyPr/>
          <a:lstStyle>
            <a:lvl1pPr marL="0" indent="0" algn="r">
              <a:buNone/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7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88102" y="1422400"/>
            <a:ext cx="365589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4586288" cy="3492500"/>
          </a:xfrm>
        </p:spPr>
        <p:txBody>
          <a:bodyPr>
            <a:noAutofit/>
          </a:bodyPr>
          <a:lstStyle>
            <a:lvl1pPr marL="295275" indent="-295275">
              <a:spcBef>
                <a:spcPts val="1200"/>
              </a:spcBef>
              <a:buFont typeface="+mj-lt"/>
              <a:buAutoNum type="arabicPeriod"/>
              <a:defRPr/>
            </a:lvl1pPr>
            <a:lvl2pPr>
              <a:defRPr/>
            </a:lvl2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613049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ohne Untertitel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80962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927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810101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CD374-8E61-0A4C-83F0-76A0F8126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9373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(groß)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545752"/>
            <a:ext cx="8101012" cy="331152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3F9E275-8222-594E-AE4A-5DC2C6FC95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24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3254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ohne Unter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Zwei Inhalte ohne Untertitel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550" y="1422399"/>
            <a:ext cx="3941762" cy="34242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50" y="1422400"/>
            <a:ext cx="3943350" cy="3424238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617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tIns="0"/>
          <a:lstStyle/>
          <a:p>
            <a:r>
              <a:rPr lang="de-DE" dirty="0"/>
              <a:t>Zwei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3941762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37000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DAA57B84-07F8-564B-8DEA-600525150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9F477F5-428F-6D4A-B1D1-1A175E02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6300" y="1089025"/>
            <a:ext cx="393700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4657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Diagramme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8100219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E2B6C4B-5F28-AC4F-80E0-263199198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764643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1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0913" y="1422400"/>
            <a:ext cx="2590799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2288" y="1422400"/>
            <a:ext cx="531018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1B80552-8C75-CA4C-8B5A-9B2EBBE4E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30283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 userDrawn="1">
          <p15:clr>
            <a:srgbClr val="FBAE40"/>
          </p15:clr>
        </p15:guide>
        <p15:guide id="2" pos="379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Tabellen 2 (bearbeiten)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550" y="1422399"/>
            <a:ext cx="2590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311525" y="1422400"/>
            <a:ext cx="5310188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9B5CE0C-F0E5-4A46-8E54-A8BEBF35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16127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 userDrawn="1">
          <p15:clr>
            <a:srgbClr val="FBAE40"/>
          </p15:clr>
        </p15:guide>
        <p15:guide id="3" pos="20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Vier Inhalte (bearbeiten)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4224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79950" y="1422400"/>
            <a:ext cx="3941763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3187700"/>
            <a:ext cx="3941762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79950" y="3187701"/>
            <a:ext cx="3943350" cy="16383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8F97F85F-5214-3C4D-AECA-FAB96CDFB6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86960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Viel Text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2288" y="1422400"/>
            <a:ext cx="3941762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9950" y="1422400"/>
            <a:ext cx="394335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9BCD487A-0F7D-A741-B766-3DC58765E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11260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  <p15:guide id="2" pos="294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4051" y="330910"/>
            <a:ext cx="2889316" cy="452322"/>
          </a:xfrm>
        </p:spPr>
        <p:txBody>
          <a:bodyPr/>
          <a:lstStyle/>
          <a:p>
            <a:r>
              <a:rPr lang="de-DE" dirty="0"/>
              <a:t>Inhalt + Kopf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4464051" y="974732"/>
            <a:ext cx="288931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4050" y="1422400"/>
            <a:ext cx="4368800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43" name="Textplatzhalter 3">
            <a:extLst>
              <a:ext uri="{FF2B5EF4-FFF2-40B4-BE49-F238E27FC236}">
                <a16:creationId xmlns:a16="http://schemas.microsoft.com/office/drawing/2014/main" id="{9D7F55B5-520F-1846-9A54-FEA146BB9F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4050" y="1089025"/>
            <a:ext cx="4159250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07768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Bild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25577" y="1422400"/>
            <a:ext cx="4518422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550" y="1422399"/>
            <a:ext cx="3754437" cy="3492500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6EF6949-DF2A-6945-ACA6-6155BA68DF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557660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Inhalt + 2 Bilder rechts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25578" y="1422400"/>
            <a:ext cx="224194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21103" y="1422399"/>
            <a:ext cx="2222897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1422400"/>
            <a:ext cx="3754437" cy="3492500"/>
          </a:xfrm>
        </p:spPr>
        <p:txBody>
          <a:bodyPr/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169AC40-4AD9-954E-A54F-29F517D6CC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960897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 userDrawn="1">
          <p15:clr>
            <a:srgbClr val="FBAE40"/>
          </p15:clr>
        </p15:guide>
        <p15:guide id="2" pos="432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Bild links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6031" y="-1"/>
            <a:ext cx="4277280" cy="49149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3997722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C91C6619-4CF7-49A7-802B-6AF7FF4914DA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455B36EC-528F-4E97-93BF-21959E6FD9B9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91D309B1-63F8-4AB2-8EB2-1CAEF4C839A6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A36242A3-7F74-4857-8FF1-ADD22CCD327C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373027A2-4C51-4E71-A123-42FB987BF2B4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A909C168-98E6-4FA2-8D75-923A389A4E9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9A3716B3-558A-427F-BA0B-829497FC888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F8470D77-D85D-4975-9A60-9CE2E8808B2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BCF37C2F-5134-4162-BE90-58DA31D2F78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0B310A5-C7B4-461B-A746-BE06FBD16D5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41295C12-5E33-43EE-8872-7957A8D8536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0" name="Grafik 9">
              <a:extLst>
                <a:ext uri="{FF2B5EF4-FFF2-40B4-BE49-F238E27FC236}">
                  <a16:creationId xmlns:a16="http://schemas.microsoft.com/office/drawing/2014/main" id="{3A5FF387-F0B6-477E-998D-234DECE1DB1B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FE518397-1522-4A04-B6ED-00F9007F357A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10063F5E-0004-4BCF-97BF-1F768B2194CF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1A6F300E-3CC4-4B75-80D8-A919F613F4A3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2" name="Grafik 9">
              <a:extLst>
                <a:ext uri="{FF2B5EF4-FFF2-40B4-BE49-F238E27FC236}">
                  <a16:creationId xmlns:a16="http://schemas.microsoft.com/office/drawing/2014/main" id="{04AC514E-52CF-4856-ADD0-332C339C4D48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546461AE-92FF-428D-A949-FB0BA0C40486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965C189-A801-452A-859F-28368D6503E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B42D9CC-533D-471D-AE03-C7814754949F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8" name="Freihandform: Form 57">
              <a:extLst>
                <a:ext uri="{FF2B5EF4-FFF2-40B4-BE49-F238E27FC236}">
                  <a16:creationId xmlns:a16="http://schemas.microsoft.com/office/drawing/2014/main" id="{1CA820B0-ACB2-443B-BBD2-E5DA3D05A48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958C57C2-4634-4F2D-AAFF-837FFB064E0F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0" name="Grafik 9">
              <a:extLst>
                <a:ext uri="{FF2B5EF4-FFF2-40B4-BE49-F238E27FC236}">
                  <a16:creationId xmlns:a16="http://schemas.microsoft.com/office/drawing/2014/main" id="{FD7A4790-53F8-44AD-B4D7-867D12B3CFB1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360B4408-9AA2-45E3-BA56-27796B0DA924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4F7D52C-F51B-4EFD-812F-B2EE83A760E2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EC28B88-2DCA-403B-A59C-F6B806C02DBB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8EA9E0D8-953E-4386-A47D-85043DF818F8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B5D41B38-F074-CA45-A2A6-6B6A14B25E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5578" y="1089025"/>
            <a:ext cx="399772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2227148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5579" y="330910"/>
            <a:ext cx="2727787" cy="452322"/>
          </a:xfrm>
        </p:spPr>
        <p:txBody>
          <a:bodyPr/>
          <a:lstStyle/>
          <a:p>
            <a:r>
              <a:rPr lang="de-DE" dirty="0"/>
              <a:t>Inhalt + 2 Bilder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4625975" y="974732"/>
            <a:ext cx="272739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4276259" cy="243114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2493863"/>
            <a:ext cx="4276259" cy="2421037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5578" y="1422400"/>
            <a:ext cx="4000268" cy="3487738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Text (bearbeiten)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0"/>
            <a:r>
              <a:rPr lang="de-DE" dirty="0"/>
              <a:t>Text bearbeiten
Text bearbeiten 
Text bearbeiten 
Text bearbeiten</a:t>
            </a:r>
          </a:p>
        </p:txBody>
      </p:sp>
      <p:grpSp>
        <p:nvGrpSpPr>
          <p:cNvPr id="43" name="Grafik 9">
            <a:extLst>
              <a:ext uri="{FF2B5EF4-FFF2-40B4-BE49-F238E27FC236}">
                <a16:creationId xmlns:a16="http://schemas.microsoft.com/office/drawing/2014/main" id="{076F09CB-2CC2-4309-BDB1-67804947A214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5" name="Grafik 9">
              <a:extLst>
                <a:ext uri="{FF2B5EF4-FFF2-40B4-BE49-F238E27FC236}">
                  <a16:creationId xmlns:a16="http://schemas.microsoft.com/office/drawing/2014/main" id="{AE4D5FB2-1354-4A1C-9AC6-94BA47AFA65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FE59B463-359E-41D0-BD04-1F9F20933BC7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0FB2DBB2-6B23-44DE-BAFF-BA7815BDA3A9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0F2E9D98-4AD9-4DB8-99C6-0DF7955D45B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D351D8E0-4F29-4BBF-9D49-14AAEB93E919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DCB72BFE-8B60-40AD-87F8-487863D43F75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E0BA5A-CC65-4BB8-81BB-4CB15A4D8CF1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359051EF-44DD-407B-AE1C-A76EDF0E837C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7" name="Freihandform: Form 46">
              <a:extLst>
                <a:ext uri="{FF2B5EF4-FFF2-40B4-BE49-F238E27FC236}">
                  <a16:creationId xmlns:a16="http://schemas.microsoft.com/office/drawing/2014/main" id="{C0514696-52F1-48B2-96C8-A3E4798980D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E0DDF57D-AA32-45B9-BDC9-86A24A39DB9E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1" name="Grafik 9">
              <a:extLst>
                <a:ext uri="{FF2B5EF4-FFF2-40B4-BE49-F238E27FC236}">
                  <a16:creationId xmlns:a16="http://schemas.microsoft.com/office/drawing/2014/main" id="{E7679A7C-9589-4CF8-9F8D-7E3A97D84278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C32EB792-112B-4098-B905-0403E3AB3D3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364557F-298E-4BF1-8A6D-06EF159C2726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9C8A17D1-D5DE-42B7-8090-E7E649D8A805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3" name="Grafik 9">
              <a:extLst>
                <a:ext uri="{FF2B5EF4-FFF2-40B4-BE49-F238E27FC236}">
                  <a16:creationId xmlns:a16="http://schemas.microsoft.com/office/drawing/2014/main" id="{36D757E1-23B8-4B97-B880-F711EC0DB08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E1960764-ED10-4D2C-88D0-696068264BC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E6C9C067-792C-4C17-A5B3-D48C1665DD24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960872F2-485E-4F8B-8FCC-FC63006E79D3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4E07D7C9-0535-4673-8091-4F17D0B62650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B0B4093-9FAE-4FEC-9671-D0091528BD5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61" name="Grafik 9">
              <a:extLst>
                <a:ext uri="{FF2B5EF4-FFF2-40B4-BE49-F238E27FC236}">
                  <a16:creationId xmlns:a16="http://schemas.microsoft.com/office/drawing/2014/main" id="{D5D00B8F-439D-4A9C-AC31-D90D9CFAFF16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A0B59116-9AC3-488B-B418-57F05127DD42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ED6E8E7E-1035-4870-8608-70848BB2B703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A256F68-56C7-4D5B-BCCD-3A6858B05732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4EEEE710-875E-4346-9F6D-CFFB3EF72B3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28366CDA-53C4-C445-BB35-C76A6EF75D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32" y="1089025"/>
            <a:ext cx="4000268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47988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 userDrawn="1">
          <p15:clr>
            <a:srgbClr val="FBAE40"/>
          </p15:clr>
        </p15:guide>
        <p15:guide id="2" orient="horz" pos="153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2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99384" y="1422400"/>
            <a:ext cx="454461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FC4DC007-2365-A648-88B1-D6FDE125C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6269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97" userDrawn="1">
          <p15:clr>
            <a:srgbClr val="FBAE40"/>
          </p15:clr>
        </p15:guide>
        <p15:guide id="3" pos="28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3 Bilder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1422399"/>
            <a:ext cx="2978945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32522" y="1422400"/>
            <a:ext cx="3078956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65058" y="1422400"/>
            <a:ext cx="2978943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58BC8DE0-A3EE-804D-838F-898D4F788B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73676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 userDrawn="1">
          <p15:clr>
            <a:srgbClr val="FBAE40"/>
          </p15:clr>
        </p15:guide>
        <p15:guide id="3" pos="3850" userDrawn="1">
          <p15:clr>
            <a:srgbClr val="FBAE40"/>
          </p15:clr>
        </p15:guide>
        <p15:guide id="4" pos="3884" userDrawn="1">
          <p15:clr>
            <a:srgbClr val="FBAE40"/>
          </p15:clr>
        </p15:guide>
        <p15:guide id="5" pos="187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Großes Bild (bearbeiten)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422399"/>
            <a:ext cx="914400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75616D54-86F2-9449-AA54-99823697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368094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 userDrawn="1">
          <p15:clr>
            <a:srgbClr val="FBAE40"/>
          </p15:clr>
        </p15:guide>
        <p15:guide id="2" orient="horz" pos="2014" userDrawn="1">
          <p15:clr>
            <a:srgbClr val="FBAE40"/>
          </p15:clr>
        </p15:guide>
        <p15:guide id="3" pos="2863" userDrawn="1">
          <p15:clr>
            <a:srgbClr val="FBAE40"/>
          </p15:clr>
        </p15:guide>
        <p15:guide id="4" pos="2897" userDrawn="1">
          <p15:clr>
            <a:srgbClr val="FBAE40"/>
          </p15:clr>
        </p15:guide>
        <p15:guide id="5" pos="1928" userDrawn="1">
          <p15:clr>
            <a:srgbClr val="FBAE40"/>
          </p15:clr>
        </p15:guide>
        <p15:guide id="6" pos="1894" userDrawn="1">
          <p15:clr>
            <a:srgbClr val="FBAE40"/>
          </p15:clr>
        </p15:guide>
        <p15:guide id="7" pos="958" userDrawn="1">
          <p15:clr>
            <a:srgbClr val="FBAE40"/>
          </p15:clr>
        </p15:guide>
        <p15:guide id="8" pos="924" userDrawn="1">
          <p15:clr>
            <a:srgbClr val="FBAE40"/>
          </p15:clr>
        </p15:guide>
        <p15:guide id="9" pos="4309" userDrawn="1">
          <p15:clr>
            <a:srgbClr val="FBAE40"/>
          </p15:clr>
        </p15:guide>
        <p15:guide id="10" pos="434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803084A-5ADB-8145-8DBF-2148A08267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1089025"/>
            <a:ext cx="8101012" cy="333375"/>
          </a:xfrm>
        </p:spPr>
        <p:txBody>
          <a:bodyPr/>
          <a:lstStyle>
            <a:lvl1pPr marL="0" indent="0">
              <a:buNone/>
              <a:defRPr sz="1800">
                <a:solidFill>
                  <a:srgbClr val="006AB3"/>
                </a:solidFill>
              </a:defRPr>
            </a:lvl1pPr>
            <a:lvl5pPr marL="1074738" indent="0">
              <a:buNone/>
              <a:defRPr/>
            </a:lvl5pPr>
          </a:lstStyle>
          <a:p>
            <a:pPr lvl="0"/>
            <a:r>
              <a:rPr lang="de-DE" dirty="0"/>
              <a:t>Untertitel (bearbeiten)</a:t>
            </a:r>
          </a:p>
        </p:txBody>
      </p:sp>
    </p:spTree>
    <p:extLst>
      <p:ext uri="{BB962C8B-B14F-4D97-AF65-F5344CB8AC3E}">
        <p14:creationId xmlns:p14="http://schemas.microsoft.com/office/powerpoint/2010/main" val="1235274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Titel (bearbeiten)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3771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286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Heine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2920" y="3034543"/>
            <a:ext cx="4779587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3731958" cy="491490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4667E34A-CC7E-4835-9AC5-FE237F81C03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626385F0-EFB3-4177-8D2F-2F9907091087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6808F36E-77C0-40F5-86F8-7030FC5D0DFD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6CD7CF4-F97B-47E8-A3F8-5B427518485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5C9615FD-3950-4AAF-91D1-B7E0D1523EB1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6D61BCB8-A392-44BE-9B58-0C8894F2C6E3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5651F35B-CB90-42B4-A471-984346A049EA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8CE6B607-72CF-4173-94CC-C59F836899D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500087AB-383E-4624-A927-873B03065E80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22AA03D7-3F03-4C4F-A0C9-836B56272C8C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908EC93F-835E-4D0F-A675-2F99EC043AA5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2CEF44ED-A72E-4351-9881-F8B58E7CA517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38C57ED4-5249-44F6-A846-8A50E1B0A8A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A3174859-C1AB-4E2C-AD75-5F35D1D33C1A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2C5BCA75-4F93-46B4-878A-E68AC698764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BCECBBC6-DE4D-4DC8-8D21-F5528013426A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BCE4B876-F0A5-4F73-BBFF-C3F17D7B5C7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5E2AB3D-28C9-4DA2-9CAC-58EAE4EB09DB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DA3BF75-3E56-4B78-B7D6-F84532C639D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33376168-99F8-4715-AF4C-8EE786D54481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EC324BE3-07EF-4C6E-9A11-992391FDED69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2E5DE4CB-903E-4460-9F03-DE6427A3C0A8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44D50118-5ACB-41E0-AC63-9E2D51DEF863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8E08ECA6-CD33-45EB-90A7-60C724D72EE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4E5B9455-EFA6-4E2C-ADFA-01DEA81D9373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E6E39BDF-EF42-4AB6-B762-15EEF4205FD7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CE13B148-0823-5B43-8A0E-5E7CA97610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4989" y="400420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7" name="Bildplatzhalter 4">
            <a:extLst>
              <a:ext uri="{FF2B5EF4-FFF2-40B4-BE49-F238E27FC236}">
                <a16:creationId xmlns:a16="http://schemas.microsoft.com/office/drawing/2014/main" id="{D683DF22-D1D8-1E49-BAFA-D5A1DD9A84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43714" y="3944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299A59BA-AFBC-5240-9675-0BE075D174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6E20D846-4FF9-AC41-BF41-CEE6E2A08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A849AFAA-CFDD-4649-874D-F4E9C02357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22072670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7304" y="3034543"/>
            <a:ext cx="5735203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</p:spTree>
    <p:extLst>
      <p:ext uri="{BB962C8B-B14F-4D97-AF65-F5344CB8AC3E}">
        <p14:creationId xmlns:p14="http://schemas.microsoft.com/office/powerpoint/2010/main" val="36723533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  <a:solidFill>
            <a:schemeClr val="tx2"/>
          </a:solidFill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  <a:grpFill/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4279" y="3034543"/>
            <a:ext cx="4968228" cy="9192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 dirty="0" err="1"/>
              <a:t>Kapiteltrenner</a:t>
            </a:r>
            <a:r>
              <a:rPr lang="de-DE" dirty="0"/>
              <a:t> (bearbeiten)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grpSp>
        <p:nvGrpSpPr>
          <p:cNvPr id="42" name="Grafik 9">
            <a:extLst>
              <a:ext uri="{FF2B5EF4-FFF2-40B4-BE49-F238E27FC236}">
                <a16:creationId xmlns:a16="http://schemas.microsoft.com/office/drawing/2014/main" id="{28A21B8F-6E69-4E11-AFD3-54EC4D2DD560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43" name="Grafik 9">
              <a:extLst>
                <a:ext uri="{FF2B5EF4-FFF2-40B4-BE49-F238E27FC236}">
                  <a16:creationId xmlns:a16="http://schemas.microsoft.com/office/drawing/2014/main" id="{D38F2AA7-E6E5-436E-8E36-7603834951D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66" name="Freihandform: Form 65">
                <a:extLst>
                  <a:ext uri="{FF2B5EF4-FFF2-40B4-BE49-F238E27FC236}">
                    <a16:creationId xmlns:a16="http://schemas.microsoft.com/office/drawing/2014/main" id="{CEE46D69-7B6E-4033-9F52-F87603FD3DC4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BDAE65FC-F144-4EB4-BDE1-439A96EEE0C4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 dirty="0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D3DBEDEF-DBC0-4148-9FDD-21C8CA8A0A9D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32B50B26-A8AC-4560-90A5-3EA0F8790AC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E672BC32-FFA3-4CA6-A563-DD6F9BC119AB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71" name="Freihandform: Form 70">
                <a:extLst>
                  <a:ext uri="{FF2B5EF4-FFF2-40B4-BE49-F238E27FC236}">
                    <a16:creationId xmlns:a16="http://schemas.microsoft.com/office/drawing/2014/main" id="{9D229350-21C3-418C-96E5-56B9BC68276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B2C3CB2-9BD9-4C7F-A03D-9FAC1547D206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C34D53EC-E9A8-4321-AADF-45F3327CFD78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43A49C16-A28B-4031-A77C-89AAA332D02C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7" name="Grafik 9">
              <a:extLst>
                <a:ext uri="{FF2B5EF4-FFF2-40B4-BE49-F238E27FC236}">
                  <a16:creationId xmlns:a16="http://schemas.microsoft.com/office/drawing/2014/main" id="{6648D76C-F5E6-4559-8E7C-C8AC6A349ECC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72294CCB-ECFF-408E-9DE3-9CFD213367BB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8C858B51-A8C9-432A-9282-705400CDA1E4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850DEC09-33CF-46B7-8919-E68733DA60E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49" name="Grafik 9">
              <a:extLst>
                <a:ext uri="{FF2B5EF4-FFF2-40B4-BE49-F238E27FC236}">
                  <a16:creationId xmlns:a16="http://schemas.microsoft.com/office/drawing/2014/main" id="{76E6A984-C52F-41F6-89DA-473E7CC811C1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F56B1511-9094-47FA-A7FF-42BAE978C4B5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471AA2D1-C758-44FC-9F5A-F60912B8F482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C9FFC4BE-782B-4407-ABB2-26B7AB219685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85558C76-36A1-4709-91E4-31D73F769E5E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14203DE1-A9F0-4D64-93D7-6F1193FCCD92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351"/>
            </a:p>
          </p:txBody>
        </p:sp>
        <p:grpSp>
          <p:nvGrpSpPr>
            <p:cNvPr id="57" name="Grafik 9">
              <a:extLst>
                <a:ext uri="{FF2B5EF4-FFF2-40B4-BE49-F238E27FC236}">
                  <a16:creationId xmlns:a16="http://schemas.microsoft.com/office/drawing/2014/main" id="{C9404E57-FC61-463D-95D1-ADB8769BB660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98FC7513-1A8D-48DA-B31B-27CFF283C2A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C99C6873-07A7-4B6A-8391-A221663427C6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38E9FDA-632B-45E0-B5F5-238D39870ED1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  <p:sp>
            <p:nvSpPr>
              <p:cNvPr id="61" name="Freihandform: Form 60">
                <a:extLst>
                  <a:ext uri="{FF2B5EF4-FFF2-40B4-BE49-F238E27FC236}">
                    <a16:creationId xmlns:a16="http://schemas.microsoft.com/office/drawing/2014/main" id="{62FEBD5E-81F2-4B87-AF0E-C85931DA9405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351"/>
              </a:p>
            </p:txBody>
          </p:sp>
        </p:grpSp>
      </p:grp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CB4FCE89-4ECE-184E-897C-4631FB0C0D0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3312" y="394879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39" name="Bildplatzhalter 4">
            <a:extLst>
              <a:ext uri="{FF2B5EF4-FFF2-40B4-BE49-F238E27FC236}">
                <a16:creationId xmlns:a16="http://schemas.microsoft.com/office/drawing/2014/main" id="{1123C5FD-FD36-EF46-A7BE-730ECD0226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3259" y="394879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Logo gleichberechtigter Kooperationspartner (z.B. Partneruniversität). Bei Nichtbedarf löschen!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76763FB6-F29F-6E45-A8AF-56E9738E6C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708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41" name="Bildplatzhalter 4">
            <a:extLst>
              <a:ext uri="{FF2B5EF4-FFF2-40B4-BE49-F238E27FC236}">
                <a16:creationId xmlns:a16="http://schemas.microsoft.com/office/drawing/2014/main" id="{A1AF13E3-064D-6244-AEC0-7A7D21E29C7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654279" y="4151976"/>
            <a:ext cx="1528762" cy="582612"/>
          </a:xfrm>
          <a:noFill/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2" name="Bildplatzhalter 4">
            <a:extLst>
              <a:ext uri="{FF2B5EF4-FFF2-40B4-BE49-F238E27FC236}">
                <a16:creationId xmlns:a16="http://schemas.microsoft.com/office/drawing/2014/main" id="{1472E981-D1BB-BD49-8ED3-BA240E3D17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87479" y="4151052"/>
            <a:ext cx="1528762" cy="582612"/>
          </a:xfrm>
          <a:noFill/>
        </p:spPr>
        <p:txBody>
          <a:bodyPr/>
          <a:lstStyle>
            <a:lvl1pPr marL="0" indent="0" algn="ctr">
              <a:buNone/>
              <a:defRPr sz="800" baseline="0"/>
            </a:lvl1pPr>
          </a:lstStyle>
          <a:p>
            <a:r>
              <a:rPr lang="de-DE" dirty="0"/>
              <a:t>Sekundärlogo (z.B. Institut, Forschungsgruppe, o.Ä.). Bei Nichtbedarf löschen!</a:t>
            </a:r>
          </a:p>
        </p:txBody>
      </p:sp>
      <p:sp>
        <p:nvSpPr>
          <p:cNvPr id="73" name="Inhaltsplatzhalter 3">
            <a:extLst>
              <a:ext uri="{FF2B5EF4-FFF2-40B4-BE49-F238E27FC236}">
                <a16:creationId xmlns:a16="http://schemas.microsoft.com/office/drawing/2014/main" id="{EA02FDF1-F7DB-BE48-B1B0-7B94721FC31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0" y="1422400"/>
            <a:ext cx="3491880" cy="349250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180975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180975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180975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6474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4877" y="4950860"/>
            <a:ext cx="9148877" cy="198120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>
                <a:spcBef>
                  <a:spcPts val="5"/>
                </a:spcBef>
              </a:pPr>
              <a:r>
                <a:rPr lang="de-DE" spc="10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6594" y="330910"/>
            <a:ext cx="6826772" cy="45232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1550" y="1422399"/>
            <a:ext cx="8100956" cy="3423465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35496" y="4975579"/>
            <a:ext cx="337406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628650" y="4975579"/>
            <a:ext cx="7129704" cy="14868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521551" y="974732"/>
            <a:ext cx="5634625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7741437" y="394294"/>
            <a:ext cx="1049330" cy="621121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 dirty="0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351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351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4877" y="407792"/>
            <a:ext cx="337406" cy="294925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351"/>
          </a:p>
        </p:txBody>
      </p:sp>
    </p:spTree>
    <p:extLst>
      <p:ext uri="{BB962C8B-B14F-4D97-AF65-F5344CB8AC3E}">
        <p14:creationId xmlns:p14="http://schemas.microsoft.com/office/powerpoint/2010/main" val="183421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6" r:id="rId7"/>
    <p:sldLayoutId id="2147483697" r:id="rId8"/>
    <p:sldLayoutId id="2147483698" r:id="rId9"/>
    <p:sldLayoutId id="2147483721" r:id="rId10"/>
    <p:sldLayoutId id="2147483699" r:id="rId11"/>
    <p:sldLayoutId id="2147483700" r:id="rId12"/>
    <p:sldLayoutId id="2147483722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14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3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accent6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67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 2" panose="05020102010507070707" pitchFamily="18" charset="2"/>
        <a:buChar char="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1" userDrawn="1">
          <p15:clr>
            <a:srgbClr val="F26B43"/>
          </p15:clr>
        </p15:guide>
        <p15:guide id="4" pos="329" userDrawn="1">
          <p15:clr>
            <a:srgbClr val="F26B43"/>
          </p15:clr>
        </p15:guide>
        <p15:guide id="5" pos="5432" userDrawn="1">
          <p15:clr>
            <a:srgbClr val="F26B43"/>
          </p15:clr>
        </p15:guide>
        <p15:guide id="6" orient="horz" pos="686" userDrawn="1">
          <p15:clr>
            <a:srgbClr val="F26B43"/>
          </p15:clr>
        </p15:guide>
        <p15:guide id="7" orient="horz" pos="3096" userDrawn="1">
          <p15:clr>
            <a:srgbClr val="F26B43"/>
          </p15:clr>
        </p15:guide>
        <p15:guide id="9" orient="horz" pos="3121" userDrawn="1">
          <p15:clr>
            <a:srgbClr val="F26B43"/>
          </p15:clr>
        </p15:guide>
        <p15:guide id="10" orient="horz" pos="8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mp4"/><Relationship Id="rId7" Type="http://schemas.openxmlformats.org/officeDocument/2006/relationships/image" Target="../media/image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8.xml"/><Relationship Id="rId4" Type="http://schemas.openxmlformats.org/officeDocument/2006/relationships/video" Target="../media/media2.mp4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>
            <a:extLst>
              <a:ext uri="{FF2B5EF4-FFF2-40B4-BE49-F238E27FC236}">
                <a16:creationId xmlns:a16="http://schemas.microsoft.com/office/drawing/2014/main" id="{6ABA10D6-0652-4B42-A35F-CF9E0DD12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4279" y="1756792"/>
            <a:ext cx="4518121" cy="818133"/>
          </a:xfrm>
        </p:spPr>
        <p:txBody>
          <a:bodyPr/>
          <a:lstStyle/>
          <a:p>
            <a:r>
              <a:rPr lang="de-DE" sz="2000" dirty="0" err="1"/>
              <a:t>Plastic</a:t>
            </a:r>
            <a:r>
              <a:rPr lang="de-DE" sz="2000" dirty="0"/>
              <a:t> </a:t>
            </a:r>
            <a:r>
              <a:rPr lang="de-DE" sz="2000" dirty="0" err="1"/>
              <a:t>Behavior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3‑Bromo-5-chlorobenzoic </a:t>
            </a:r>
            <a:r>
              <a:rPr lang="de-DE" sz="2000" dirty="0" err="1"/>
              <a:t>acid</a:t>
            </a:r>
            <a:r>
              <a:rPr lang="de-DE" sz="2000" dirty="0"/>
              <a:t>: </a:t>
            </a:r>
            <a:r>
              <a:rPr lang="de-DE" sz="2000" dirty="0" err="1"/>
              <a:t>Structural</a:t>
            </a:r>
            <a:r>
              <a:rPr lang="de-DE" sz="2000" dirty="0"/>
              <a:t>, Thermal, and </a:t>
            </a:r>
            <a:r>
              <a:rPr lang="de-DE" sz="2000" dirty="0" err="1"/>
              <a:t>Plastic</a:t>
            </a:r>
            <a:r>
              <a:rPr lang="de-DE" sz="2000" dirty="0"/>
              <a:t> Deformation Analysis</a:t>
            </a:r>
          </a:p>
        </p:txBody>
      </p:sp>
      <p:sp>
        <p:nvSpPr>
          <p:cNvPr id="102" name="Untertitel 101">
            <a:extLst>
              <a:ext uri="{FF2B5EF4-FFF2-40B4-BE49-F238E27FC236}">
                <a16:creationId xmlns:a16="http://schemas.microsoft.com/office/drawing/2014/main" id="{A9C4E376-BA12-7D43-96B4-4F6C54848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4279" y="2684360"/>
            <a:ext cx="4401108" cy="346759"/>
          </a:xfrm>
        </p:spPr>
        <p:txBody>
          <a:bodyPr/>
          <a:lstStyle/>
          <a:p>
            <a:r>
              <a:rPr lang="de-DE" dirty="0" err="1"/>
              <a:t>by</a:t>
            </a:r>
            <a:r>
              <a:rPr lang="de-DE" dirty="0"/>
              <a:t> Deepak Rajput and Sameer V. Dalvi</a:t>
            </a:r>
          </a:p>
        </p:txBody>
      </p:sp>
      <p:sp>
        <p:nvSpPr>
          <p:cNvPr id="132" name="Textplatzhalter 131">
            <a:extLst>
              <a:ext uri="{FF2B5EF4-FFF2-40B4-BE49-F238E27FC236}">
                <a16:creationId xmlns:a16="http://schemas.microsoft.com/office/drawing/2014/main" id="{13915252-8486-BE43-A525-942B4DD0B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13.07.2026</a:t>
            </a:r>
          </a:p>
        </p:txBody>
      </p:sp>
      <p:sp>
        <p:nvSpPr>
          <p:cNvPr id="2" name="Untertitel 101">
            <a:extLst>
              <a:ext uri="{FF2B5EF4-FFF2-40B4-BE49-F238E27FC236}">
                <a16:creationId xmlns:a16="http://schemas.microsoft.com/office/drawing/2014/main" id="{92046F8F-9931-8D05-9C70-553813EE8D2D}"/>
              </a:ext>
            </a:extLst>
          </p:cNvPr>
          <p:cNvSpPr txBox="1">
            <a:spLocks/>
          </p:cNvSpPr>
          <p:nvPr/>
        </p:nvSpPr>
        <p:spPr>
          <a:xfrm>
            <a:off x="3654279" y="1350789"/>
            <a:ext cx="4401108" cy="296568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Paper review:</a:t>
            </a:r>
          </a:p>
        </p:txBody>
      </p:sp>
      <p:sp>
        <p:nvSpPr>
          <p:cNvPr id="3" name="Untertitel 101">
            <a:extLst>
              <a:ext uri="{FF2B5EF4-FFF2-40B4-BE49-F238E27FC236}">
                <a16:creationId xmlns:a16="http://schemas.microsoft.com/office/drawing/2014/main" id="{37047934-26BA-36D2-1D26-2F5C1022DC77}"/>
              </a:ext>
            </a:extLst>
          </p:cNvPr>
          <p:cNvSpPr txBox="1">
            <a:spLocks/>
          </p:cNvSpPr>
          <p:nvPr/>
        </p:nvSpPr>
        <p:spPr>
          <a:xfrm>
            <a:off x="3654279" y="3494160"/>
            <a:ext cx="4401108" cy="604640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Wingdings 2" panose="05020102010507070707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 2" panose="050201020105070707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vorgestellt von Lena Aßmann &amp; Charlotte Mebes</a:t>
            </a:r>
          </a:p>
        </p:txBody>
      </p:sp>
    </p:spTree>
    <p:extLst>
      <p:ext uri="{BB962C8B-B14F-4D97-AF65-F5344CB8AC3E}">
        <p14:creationId xmlns:p14="http://schemas.microsoft.com/office/powerpoint/2010/main" val="1701597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1F137F-362C-E924-B440-50BB7F8B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des Papers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13DE0E-695D-25A6-CD15-82A59F19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F77977-7473-DC30-40C2-5049E3654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1322D7-E576-66B0-16DC-C9550D22B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550" y="1350789"/>
            <a:ext cx="8096250" cy="3564110"/>
          </a:xfrm>
        </p:spPr>
        <p:txBody>
          <a:bodyPr/>
          <a:lstStyle/>
          <a:p>
            <a:r>
              <a:rPr lang="de-DE" dirty="0"/>
              <a:t>Was bedeutet plastisches Verhalten und wodurch entsteht es?</a:t>
            </a:r>
          </a:p>
          <a:p>
            <a:r>
              <a:rPr lang="de-DE" dirty="0" err="1"/>
              <a:t>Einkristallzucht</a:t>
            </a:r>
            <a:r>
              <a:rPr lang="de-DE" dirty="0"/>
              <a:t> des betrachteten Moleküls </a:t>
            </a:r>
          </a:p>
          <a:p>
            <a:pPr lvl="1"/>
            <a:r>
              <a:rPr lang="de-DE" dirty="0"/>
              <a:t>11 verschiedene Lösungsmittel</a:t>
            </a:r>
          </a:p>
          <a:p>
            <a:r>
              <a:rPr lang="de-DE" dirty="0"/>
              <a:t>Analytik:</a:t>
            </a:r>
          </a:p>
          <a:p>
            <a:pPr lvl="1"/>
            <a:r>
              <a:rPr lang="de-DE" i="1" dirty="0" err="1"/>
              <a:t>Three</a:t>
            </a:r>
            <a:r>
              <a:rPr lang="de-DE" i="1" dirty="0"/>
              <a:t>-Point Bending Test</a:t>
            </a:r>
          </a:p>
          <a:p>
            <a:pPr lvl="1"/>
            <a:r>
              <a:rPr lang="de-DE" dirty="0"/>
              <a:t>PXRD und SCXRD</a:t>
            </a:r>
          </a:p>
          <a:p>
            <a:pPr lvl="1"/>
            <a:r>
              <a:rPr lang="de-DE" dirty="0"/>
              <a:t>Thermisches Verhalten via DSC und TGA</a:t>
            </a:r>
          </a:p>
          <a:p>
            <a:pPr lvl="1"/>
            <a:r>
              <a:rPr lang="de-DE" dirty="0"/>
              <a:t>Rechnungen: Molekülform – </a:t>
            </a:r>
            <a:r>
              <a:rPr lang="de-DE" dirty="0" err="1"/>
              <a:t>Sphärizität</a:t>
            </a:r>
            <a:endParaRPr lang="de-DE" dirty="0"/>
          </a:p>
          <a:p>
            <a:pPr lvl="1"/>
            <a:r>
              <a:rPr lang="de-DE" dirty="0"/>
              <a:t>Mechanische Eigenschaften über </a:t>
            </a:r>
            <a:r>
              <a:rPr lang="de-DE" i="1" dirty="0" err="1"/>
              <a:t>Nanoindentation</a:t>
            </a:r>
            <a:endParaRPr lang="de-DE" i="1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051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7A829-8B7F-783B-9A0A-FB14D17F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94" y="330910"/>
            <a:ext cx="6826772" cy="452322"/>
          </a:xfrm>
        </p:spPr>
        <p:txBody>
          <a:bodyPr anchor="b">
            <a:normAutofit/>
          </a:bodyPr>
          <a:lstStyle/>
          <a:p>
            <a:r>
              <a:rPr lang="de-DE" dirty="0"/>
              <a:t>Plastisches Verhalten von Kristallen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28E6508-B831-2267-92D7-F8DC9BE5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4975579"/>
            <a:ext cx="7129704" cy="148683"/>
          </a:xfr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4BA97B-0B08-FB06-F4E9-FCF97FEC5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496" y="4975579"/>
            <a:ext cx="337406" cy="14868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D195BCC-3514-4B1B-9C18-24F3D67EC549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CDC58E6-3B87-248E-004F-B1F239EA4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854845"/>
            <a:ext cx="4518422" cy="2372170"/>
          </a:xfrm>
          <a:prstGeom prst="rect">
            <a:avLst/>
          </a:prstGeom>
          <a:noFill/>
          <a:ln/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70588C-021B-B215-E2C9-712034654C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550" y="1422399"/>
            <a:ext cx="3754437" cy="3492500"/>
          </a:xfrm>
        </p:spPr>
        <p:txBody>
          <a:bodyPr>
            <a:normAutofit lnSpcReduction="10000"/>
          </a:bodyPr>
          <a:lstStyle/>
          <a:p>
            <a:r>
              <a:rPr lang="de-DE" sz="1200" dirty="0"/>
              <a:t>Partielle molekulare Beweglichkeit im Kristallsystem</a:t>
            </a:r>
          </a:p>
          <a:p>
            <a:r>
              <a:rPr lang="de-DE" sz="1200" dirty="0"/>
              <a:t>Elastische Verformung von Kristallen</a:t>
            </a:r>
          </a:p>
          <a:p>
            <a:r>
              <a:rPr lang="de-DE" sz="1200" dirty="0"/>
              <a:t>Kombination von schwachen und starken Wechselwirkungen</a:t>
            </a:r>
          </a:p>
          <a:p>
            <a:pPr lvl="1"/>
            <a:r>
              <a:rPr lang="de-DE" sz="1200" dirty="0"/>
              <a:t>Starke, anisotrope Wechselwirkungen bilden 2D-Blätter (</a:t>
            </a:r>
            <a:r>
              <a:rPr lang="de-DE" sz="1200" i="1" dirty="0" err="1"/>
              <a:t>slip</a:t>
            </a:r>
            <a:r>
              <a:rPr lang="de-DE" sz="1200" i="1" dirty="0"/>
              <a:t> planes</a:t>
            </a:r>
            <a:r>
              <a:rPr lang="de-DE" sz="1200" dirty="0"/>
              <a:t>)</a:t>
            </a:r>
          </a:p>
          <a:p>
            <a:pPr lvl="1"/>
            <a:r>
              <a:rPr lang="de-DE" sz="1200" dirty="0"/>
              <a:t>Schwache Wechselwirkungen erlauben verschieben der </a:t>
            </a:r>
            <a:r>
              <a:rPr lang="de-DE" sz="1200" i="1" dirty="0" err="1"/>
              <a:t>slip</a:t>
            </a:r>
            <a:r>
              <a:rPr lang="de-DE" sz="1200" i="1" dirty="0"/>
              <a:t> planes</a:t>
            </a:r>
          </a:p>
          <a:p>
            <a:r>
              <a:rPr lang="de-DE" sz="1200" dirty="0"/>
              <a:t>Plastische, organische Kristalle</a:t>
            </a:r>
          </a:p>
          <a:p>
            <a:pPr lvl="1"/>
            <a:r>
              <a:rPr lang="de-DE" sz="1200" dirty="0"/>
              <a:t>Meist kugelförmige Moleküle</a:t>
            </a:r>
          </a:p>
          <a:p>
            <a:pPr lvl="1"/>
            <a:r>
              <a:rPr lang="de-DE" sz="1200" dirty="0"/>
              <a:t>Schwache Wechselwirkungen im System</a:t>
            </a:r>
          </a:p>
          <a:p>
            <a:pPr lvl="1"/>
            <a:r>
              <a:rPr lang="de-DE" sz="1200" dirty="0"/>
              <a:t>Starke Wechselwirkungen können die Plastizität verringern</a:t>
            </a:r>
          </a:p>
          <a:p>
            <a:r>
              <a:rPr lang="de-DE" sz="1400" dirty="0"/>
              <a:t>Anwendung</a:t>
            </a:r>
          </a:p>
          <a:p>
            <a:pPr lvl="1"/>
            <a:r>
              <a:rPr lang="de-DE" sz="1200" dirty="0"/>
              <a:t>Mechanische Aktuatoren, organische Elektronik, Pharmazeutik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951D0A9-BFF9-2389-8BC6-A2D242A7B6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2288" y="1089025"/>
            <a:ext cx="8101012" cy="3333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5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E9DEB-84E4-F6EB-2636-0417BA39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Kristalleigenschaften von 3B5CBA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367B14-51C0-5E5E-9C12-73D5C51E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3042C4-BE67-BBD1-45BC-1B80CE93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4</a:t>
            </a:fld>
            <a:endParaRPr lang="de-DE"/>
          </a:p>
        </p:txBody>
      </p:sp>
      <p:graphicFrame>
        <p:nvGraphicFramePr>
          <p:cNvPr id="8" name="Objekt 7">
            <a:extLst>
              <a:ext uri="{FF2B5EF4-FFF2-40B4-BE49-F238E27FC236}">
                <a16:creationId xmlns:a16="http://schemas.microsoft.com/office/drawing/2014/main" id="{09215124-6C17-9E22-A356-72F24737C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328986"/>
              </p:ext>
            </p:extLst>
          </p:nvPr>
        </p:nvGraphicFramePr>
        <p:xfrm>
          <a:off x="1331640" y="1194812"/>
          <a:ext cx="1490743" cy="138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856131" imgH="792064" progId="ChemDraw_x64.Document.6.0">
                  <p:embed/>
                </p:oleObj>
              </mc:Choice>
              <mc:Fallback>
                <p:oleObj name="CS ChemDraw 64-bit Drawing" r:id="rId2" imgW="856131" imgH="792064" progId="ChemDraw_x64.Document.6.0">
                  <p:embed/>
                  <p:pic>
                    <p:nvPicPr>
                      <p:cNvPr id="8" name="Objekt 7">
                        <a:extLst>
                          <a:ext uri="{FF2B5EF4-FFF2-40B4-BE49-F238E27FC236}">
                            <a16:creationId xmlns:a16="http://schemas.microsoft.com/office/drawing/2014/main" id="{09215124-6C17-9E22-A356-72F24737C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1640" y="1194812"/>
                        <a:ext cx="1490743" cy="1380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 descr="Figure 1">
            <a:extLst>
              <a:ext uri="{FF2B5EF4-FFF2-40B4-BE49-F238E27FC236}">
                <a16:creationId xmlns:a16="http://schemas.microsoft.com/office/drawing/2014/main" id="{4C17003B-CF56-DEA4-62DA-5645EAC496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044"/>
          <a:stretch>
            <a:fillRect/>
          </a:stretch>
        </p:blipFill>
        <p:spPr>
          <a:xfrm>
            <a:off x="780867" y="2840711"/>
            <a:ext cx="2592288" cy="1869649"/>
          </a:xfrm>
          <a:prstGeom prst="rect">
            <a:avLst/>
          </a:prstGeom>
        </p:spPr>
      </p:pic>
      <p:pic>
        <p:nvPicPr>
          <p:cNvPr id="9" name="Grafik 8" descr="Figure 1">
            <a:extLst>
              <a:ext uri="{FF2B5EF4-FFF2-40B4-BE49-F238E27FC236}">
                <a16:creationId xmlns:a16="http://schemas.microsoft.com/office/drawing/2014/main" id="{E67FCF46-8D46-742E-DDF2-346852779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221" y="1541250"/>
            <a:ext cx="4287107" cy="2898084"/>
          </a:xfrm>
          <a:prstGeom prst="rect">
            <a:avLst/>
          </a:prstGeom>
        </p:spPr>
      </p:pic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36A9197-DEDE-D84C-2B46-BCA33AD7AE4C}"/>
              </a:ext>
            </a:extLst>
          </p:cNvPr>
          <p:cNvCxnSpPr/>
          <p:nvPr/>
        </p:nvCxnSpPr>
        <p:spPr>
          <a:xfrm>
            <a:off x="4860032" y="1350789"/>
            <a:ext cx="0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C0D21EF-9097-E56F-AEC4-0F4BAE02F87A}"/>
              </a:ext>
            </a:extLst>
          </p:cNvPr>
          <p:cNvSpPr txBox="1"/>
          <p:nvPr/>
        </p:nvSpPr>
        <p:spPr>
          <a:xfrm>
            <a:off x="3851920" y="1100538"/>
            <a:ext cx="2016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100" dirty="0"/>
              <a:t>Wasserstoffbrücken-Bindung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99AFBE6-4A35-0305-0896-D094EA7F9F6B}"/>
              </a:ext>
            </a:extLst>
          </p:cNvPr>
          <p:cNvCxnSpPr/>
          <p:nvPr/>
        </p:nvCxnSpPr>
        <p:spPr>
          <a:xfrm>
            <a:off x="3851920" y="1998861"/>
            <a:ext cx="648072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488D5BC-9860-2401-60BC-7C5F6EDE940F}"/>
              </a:ext>
            </a:extLst>
          </p:cNvPr>
          <p:cNvSpPr txBox="1"/>
          <p:nvPr/>
        </p:nvSpPr>
        <p:spPr>
          <a:xfrm>
            <a:off x="3013118" y="1815385"/>
            <a:ext cx="93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100" dirty="0"/>
              <a:t>Homodimer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AAB6309-CC48-6C53-8F22-42E8238F3E98}"/>
              </a:ext>
            </a:extLst>
          </p:cNvPr>
          <p:cNvCxnSpPr/>
          <p:nvPr/>
        </p:nvCxnSpPr>
        <p:spPr>
          <a:xfrm flipV="1">
            <a:off x="3851920" y="2286893"/>
            <a:ext cx="792088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E9ADCA2C-89A9-D8A2-7076-894563699774}"/>
              </a:ext>
            </a:extLst>
          </p:cNvPr>
          <p:cNvSpPr txBox="1"/>
          <p:nvPr/>
        </p:nvSpPr>
        <p:spPr>
          <a:xfrm>
            <a:off x="2771519" y="2283359"/>
            <a:ext cx="12032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050" dirty="0"/>
              <a:t>Halogenbindung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2537349-2C24-0EBC-CD85-D531131D0203}"/>
              </a:ext>
            </a:extLst>
          </p:cNvPr>
          <p:cNvSpPr/>
          <p:nvPr/>
        </p:nvSpPr>
        <p:spPr>
          <a:xfrm>
            <a:off x="4355976" y="3295005"/>
            <a:ext cx="432048" cy="113991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1C7E27E-05F7-2065-678B-98FC970A41D9}"/>
              </a:ext>
            </a:extLst>
          </p:cNvPr>
          <p:cNvSpPr txBox="1"/>
          <p:nvPr/>
        </p:nvSpPr>
        <p:spPr>
          <a:xfrm>
            <a:off x="4067944" y="4487631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l-GR" sz="1100" dirty="0"/>
              <a:t>π</a:t>
            </a:r>
            <a:r>
              <a:rPr lang="de-DE" sz="1100" dirty="0"/>
              <a:t>-</a:t>
            </a:r>
            <a:r>
              <a:rPr lang="el-GR" sz="1100" dirty="0"/>
              <a:t>π</a:t>
            </a:r>
            <a:r>
              <a:rPr lang="de-DE" sz="1100" dirty="0"/>
              <a:t>-Stacking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282C4F5-6C62-7F9B-3A2C-2F88E3638592}"/>
              </a:ext>
            </a:extLst>
          </p:cNvPr>
          <p:cNvSpPr txBox="1"/>
          <p:nvPr/>
        </p:nvSpPr>
        <p:spPr>
          <a:xfrm>
            <a:off x="4067944" y="4495487"/>
            <a:ext cx="20162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100" dirty="0"/>
              <a:t>2D-Blatt, hier auch </a:t>
            </a:r>
            <a:r>
              <a:rPr lang="de-DE" sz="1100" i="1" dirty="0" err="1"/>
              <a:t>slip</a:t>
            </a:r>
            <a:r>
              <a:rPr lang="de-DE" sz="1100" i="1" dirty="0"/>
              <a:t> plane</a:t>
            </a:r>
          </a:p>
        </p:txBody>
      </p:sp>
    </p:spTree>
    <p:extLst>
      <p:ext uri="{BB962C8B-B14F-4D97-AF65-F5344CB8AC3E}">
        <p14:creationId xmlns:p14="http://schemas.microsoft.com/office/powerpoint/2010/main" val="10409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9" grpId="0"/>
      <p:bldP spid="19" grpId="1"/>
      <p:bldP spid="22" grpId="0"/>
      <p:bldP spid="22" grpId="1"/>
      <p:bldP spid="23" grpId="0" animBg="1"/>
      <p:bldP spid="24" grpId="0"/>
      <p:bldP spid="24" grpId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FAFA01A-4336-4C33-AFB4-9EAD5C2A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Plastische Verformbarkeit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CF8CD75-853D-4E87-85E7-FED01010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882EAA44-67E8-47BB-9D50-268756FE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2" name="3B5CBA - Verformung">
            <a:hlinkClick r:id="" action="ppaction://media"/>
            <a:extLst>
              <a:ext uri="{FF2B5EF4-FFF2-40B4-BE49-F238E27FC236}">
                <a16:creationId xmlns:a16="http://schemas.microsoft.com/office/drawing/2014/main" id="{94DEE723-7918-FC1F-4176-75781F3E7D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14505" y="1206773"/>
            <a:ext cx="4015610" cy="2880000"/>
          </a:xfrm>
          <a:prstGeom prst="rect">
            <a:avLst/>
          </a:prstGeom>
        </p:spPr>
      </p:pic>
      <p:pic>
        <p:nvPicPr>
          <p:cNvPr id="5" name="3B5CBA - Bruch">
            <a:hlinkClick r:id="" action="ppaction://media"/>
            <a:extLst>
              <a:ext uri="{FF2B5EF4-FFF2-40B4-BE49-F238E27FC236}">
                <a16:creationId xmlns:a16="http://schemas.microsoft.com/office/drawing/2014/main" id="{587015A7-EA69-E9EE-318B-54549283D09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436096" y="1206773"/>
            <a:ext cx="2215384" cy="2880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452B821-18EF-89A7-A858-BFF72A13320F}"/>
              </a:ext>
            </a:extLst>
          </p:cNvPr>
          <p:cNvSpPr txBox="1"/>
          <p:nvPr/>
        </p:nvSpPr>
        <p:spPr>
          <a:xfrm>
            <a:off x="514505" y="4231109"/>
            <a:ext cx="401561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/>
              <a:t>Kraftauswirkung an der breiten Seite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FA41B21-98AA-564C-CAC4-EADFA719FBF4}"/>
              </a:ext>
            </a:extLst>
          </p:cNvPr>
          <p:cNvSpPr txBox="1"/>
          <p:nvPr/>
        </p:nvSpPr>
        <p:spPr>
          <a:xfrm>
            <a:off x="5345561" y="4231109"/>
            <a:ext cx="401561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/>
              <a:t>Kraftauswirkung an der schmalen Seite</a:t>
            </a:r>
          </a:p>
        </p:txBody>
      </p:sp>
    </p:spTree>
    <p:extLst>
      <p:ext uri="{BB962C8B-B14F-4D97-AF65-F5344CB8AC3E}">
        <p14:creationId xmlns:p14="http://schemas.microsoft.com/office/powerpoint/2010/main" val="253802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A4C074-BA22-31B0-C22D-68FE7823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Zusatzinformationen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DDE942-3D8E-2CF5-4F84-B767AC1B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AC10BE-39D7-B259-8DE2-6D1B3841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6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A967DF-6141-D40E-3E12-B0FBD44CA0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Kristallgrößen: 30-100 μm x 40-350 µm x 1500-2500 µm</a:t>
            </a:r>
          </a:p>
          <a:p>
            <a:r>
              <a:rPr lang="de-DE" dirty="0"/>
              <a:t>O−H···O : </a:t>
            </a:r>
            <a:r>
              <a:rPr lang="nn-NO" dirty="0"/>
              <a:t>D = 2,644 Å, d = 1,722 Å, θ = 178.25°</a:t>
            </a:r>
          </a:p>
          <a:p>
            <a:pPr lvl="1"/>
            <a:r>
              <a:rPr lang="de-DE" dirty="0"/>
              <a:t>Vorlesung – O−H···O−H, </a:t>
            </a:r>
            <a:r>
              <a:rPr lang="nn-NO" dirty="0"/>
              <a:t>stark: θ = 160 – 180°, d = 1,6 – 1,9 Å</a:t>
            </a:r>
          </a:p>
          <a:p>
            <a:r>
              <a:rPr lang="nn-NO" dirty="0"/>
              <a:t>C−Br···O : d = </a:t>
            </a:r>
            <a:r>
              <a:rPr lang="nn-NO"/>
              <a:t>3,055 Å, </a:t>
            </a:r>
            <a:r>
              <a:rPr lang="nn-NO" dirty="0"/>
              <a:t>θ = 175,354°, E</a:t>
            </a:r>
            <a:r>
              <a:rPr lang="nn-NO" baseline="-25000" dirty="0"/>
              <a:t>interaction</a:t>
            </a:r>
            <a:r>
              <a:rPr lang="nn-NO" dirty="0"/>
              <a:t> =  -79,6 kJ/mol</a:t>
            </a:r>
          </a:p>
          <a:p>
            <a:r>
              <a:rPr lang="el-GR" dirty="0"/>
              <a:t>π−π </a:t>
            </a:r>
            <a:r>
              <a:rPr lang="de-DE" dirty="0"/>
              <a:t>stacking: </a:t>
            </a:r>
          </a:p>
          <a:p>
            <a:pPr lvl="1"/>
            <a:r>
              <a:rPr lang="de-DE" dirty="0" err="1"/>
              <a:t>d</a:t>
            </a:r>
            <a:r>
              <a:rPr lang="de-DE" baseline="-25000" dirty="0" err="1"/>
              <a:t>centroid</a:t>
            </a:r>
            <a:r>
              <a:rPr lang="de-DE" dirty="0"/>
              <a:t> = 3,912 </a:t>
            </a:r>
            <a:r>
              <a:rPr lang="nn-NO" dirty="0"/>
              <a:t>Å</a:t>
            </a:r>
          </a:p>
          <a:p>
            <a:pPr lvl="2"/>
            <a:r>
              <a:rPr lang="nn-NO" dirty="0"/>
              <a:t>Vorlesung – Sandwich: </a:t>
            </a:r>
            <a:r>
              <a:rPr lang="de-DE" dirty="0" err="1"/>
              <a:t>d</a:t>
            </a:r>
            <a:r>
              <a:rPr lang="de-DE" baseline="-25000" dirty="0" err="1"/>
              <a:t>centroid</a:t>
            </a:r>
            <a:r>
              <a:rPr lang="de-DE" dirty="0"/>
              <a:t> = 3,6 – 4,0</a:t>
            </a:r>
            <a:r>
              <a:rPr lang="nn-NO" dirty="0"/>
              <a:t> Å</a:t>
            </a:r>
          </a:p>
          <a:p>
            <a:pPr lvl="1"/>
            <a:r>
              <a:rPr lang="nn-NO" dirty="0"/>
              <a:t>E</a:t>
            </a:r>
            <a:r>
              <a:rPr lang="nn-NO" baseline="-25000" dirty="0"/>
              <a:t>interaction</a:t>
            </a:r>
            <a:r>
              <a:rPr lang="nn-NO" dirty="0"/>
              <a:t> = -299,9 kJ/mol</a:t>
            </a:r>
          </a:p>
          <a:p>
            <a:pPr lvl="2"/>
            <a:r>
              <a:rPr lang="nn-NO" dirty="0"/>
              <a:t>Vorlesung – Sandwich: E</a:t>
            </a:r>
            <a:r>
              <a:rPr lang="nn-NO" baseline="-25000" dirty="0"/>
              <a:t>interaction </a:t>
            </a:r>
            <a:r>
              <a:rPr lang="nn-NO" dirty="0"/>
              <a:t>&lt; -10 kJ/mol</a:t>
            </a:r>
          </a:p>
          <a:p>
            <a:r>
              <a:rPr lang="nn-NO" dirty="0"/>
              <a:t>Härte: H = 217,48 ± 19,87 Mpa</a:t>
            </a:r>
          </a:p>
          <a:p>
            <a:r>
              <a:rPr lang="nn-NO" dirty="0"/>
              <a:t>Young’s modulus: E = 2,94 ± 0,35 GPa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9A2FBEE-024A-B4A0-3007-8D7657C8C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168649"/>
            <a:ext cx="3758795" cy="14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3153"/>
      </p:ext>
    </p:extLst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127.potx" id="{F3938B69-4255-4D03-9129-AB257F1BA87B}" vid="{D92A2462-9914-4D52-BB8D-CB7AB473941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302</Words>
  <Application>Microsoft Office PowerPoint</Application>
  <PresentationFormat>Benutzerdefiniert</PresentationFormat>
  <Paragraphs>54</Paragraphs>
  <Slides>6</Slides>
  <Notes>2</Notes>
  <HiddenSlides>0</HiddenSlides>
  <MMClips>2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Wingdings 2</vt:lpstr>
      <vt:lpstr>HHU_PPT_Vorlage</vt:lpstr>
      <vt:lpstr>CS ChemDraw 64-bit Drawing</vt:lpstr>
      <vt:lpstr>Plastic Behavior of 3‑Bromo-5-chlorobenzoic acid: Structural, Thermal, and Plastic Deformation Analysis</vt:lpstr>
      <vt:lpstr>Inhalte des Papers</vt:lpstr>
      <vt:lpstr>Plastisches Verhalten von Kristallen</vt:lpstr>
      <vt:lpstr>Kristalleigenschaften von 3B5CBA</vt:lpstr>
      <vt:lpstr>Plastische Verformbarkeit</vt:lpstr>
      <vt:lpstr>Zusatzinformationen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creator>Microsoft Office User</dc:creator>
  <cp:lastModifiedBy>Charlotte Mebes</cp:lastModifiedBy>
  <cp:revision>7</cp:revision>
  <dcterms:created xsi:type="dcterms:W3CDTF">2020-09-16T09:44:36Z</dcterms:created>
  <dcterms:modified xsi:type="dcterms:W3CDTF">2026-07-12T11:31:15Z</dcterms:modified>
</cp:coreProperties>
</file>